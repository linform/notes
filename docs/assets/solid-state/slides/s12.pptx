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7" r:id="rId2"/>
    <p:sldId id="261" r:id="rId3"/>
    <p:sldId id="262" r:id="rId4"/>
    <p:sldId id="263" r:id="rId5"/>
    <p:sldId id="264" r:id="rId6"/>
    <p:sldId id="293" r:id="rId7"/>
    <p:sldId id="265" r:id="rId8"/>
    <p:sldId id="267" r:id="rId9"/>
    <p:sldId id="270" r:id="rId10"/>
    <p:sldId id="269" r:id="rId11"/>
    <p:sldId id="268" r:id="rId12"/>
    <p:sldId id="271" r:id="rId13"/>
    <p:sldId id="272" r:id="rId14"/>
    <p:sldId id="273" r:id="rId15"/>
    <p:sldId id="274" r:id="rId16"/>
    <p:sldId id="275" r:id="rId17"/>
    <p:sldId id="294" r:id="rId18"/>
    <p:sldId id="276" r:id="rId19"/>
    <p:sldId id="278" r:id="rId20"/>
    <p:sldId id="280" r:id="rId21"/>
    <p:sldId id="282" r:id="rId22"/>
    <p:sldId id="281" r:id="rId23"/>
    <p:sldId id="283" r:id="rId24"/>
    <p:sldId id="284" r:id="rId25"/>
    <p:sldId id="285" r:id="rId26"/>
    <p:sldId id="286" r:id="rId27"/>
    <p:sldId id="287" r:id="rId28"/>
    <p:sldId id="288" r:id="rId29"/>
    <p:sldId id="290" r:id="rId30"/>
    <p:sldId id="291" r:id="rId31"/>
    <p:sldId id="29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4472C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5E260-0A3C-4C7F-808A-F88C3DF235D5}" v="1" dt="2026-10-13T11:35:36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modSld">
      <pc:chgData name="Zhi Wang" userId="7588ea56f58b19c7" providerId="LiveId" clId="{96B72205-E234-467C-A3DC-8BF4882781A8}" dt="2026-10-13T11:35:36.308" v="1"/>
      <pc:docMkLst>
        <pc:docMk/>
      </pc:docMkLst>
      <pc:sldChg chg="modSp mod">
        <pc:chgData name="Zhi Wang" userId="7588ea56f58b19c7" providerId="LiveId" clId="{96B72205-E234-467C-A3DC-8BF4882781A8}" dt="2026-10-13T11:35:06.538" v="0" actId="207"/>
        <pc:sldMkLst>
          <pc:docMk/>
          <pc:sldMk cId="431657256" sldId="257"/>
        </pc:sldMkLst>
        <pc:spChg chg="mod">
          <ac:chgData name="Zhi Wang" userId="7588ea56f58b19c7" providerId="LiveId" clId="{96B72205-E234-467C-A3DC-8BF4882781A8}" dt="2026-10-13T11:35:06.538" v="0" actId="207"/>
          <ac:spMkLst>
            <pc:docMk/>
            <pc:sldMk cId="431657256" sldId="257"/>
            <ac:spMk id="3" creationId="{0FBC71C4-AAF9-252F-52C3-C8A1AD8C5C53}"/>
          </ac:spMkLst>
        </pc:sp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413324664" sldId="261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413324664" sldId="261"/>
            <ac:graphicFrameMk id="3" creationId="{55168DC9-DA93-698A-32F2-E2D69DA2FB2D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064634504" sldId="262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064634504" sldId="262"/>
            <ac:graphicFrameMk id="2" creationId="{F19F7481-9A5E-FFAD-5258-BF17AF672C24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287901911" sldId="263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287901911" sldId="263"/>
            <ac:graphicFrameMk id="8" creationId="{A7894913-1C48-95B9-BC49-F0416D3BE96C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994724736" sldId="264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994724736" sldId="264"/>
            <ac:graphicFrameMk id="2" creationId="{D74E0D77-4F41-B969-BE01-EFDE32B1172E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931191492" sldId="265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931191492" sldId="265"/>
            <ac:graphicFrameMk id="11" creationId="{8D38209F-3C2B-4CA7-7D8E-932CAB391D20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618802427" sldId="267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618802427" sldId="267"/>
            <ac:graphicFrameMk id="2" creationId="{6857A0F3-1A22-38D7-E2E0-4FD57EEFFD1E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591861236" sldId="268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591861236" sldId="268"/>
            <ac:graphicFrameMk id="3" creationId="{90E252B1-FF85-AF02-FD83-63ADDD148BC3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207611299" sldId="269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207611299" sldId="269"/>
            <ac:graphicFrameMk id="2" creationId="{FE730A81-7B0A-E0D7-A976-1D46B0C13942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84357394" sldId="270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84357394" sldId="270"/>
            <ac:graphicFrameMk id="2" creationId="{11F380A3-4006-4F43-C086-D15A556CE083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183006923" sldId="271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183006923" sldId="271"/>
            <ac:graphicFrameMk id="2" creationId="{FBFC6B5B-B110-80B4-6AF1-0963BC4BD8B4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303154084" sldId="272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303154084" sldId="272"/>
            <ac:graphicFrameMk id="7" creationId="{612E38B9-D17D-D368-A170-17F78F8C1609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4078476733" sldId="273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4078476733" sldId="273"/>
            <ac:graphicFrameMk id="2" creationId="{FEB7D097-FCE0-0D8F-EF14-4058CDE73675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003319050" sldId="274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003319050" sldId="274"/>
            <ac:graphicFrameMk id="2" creationId="{FC5C275F-DECE-2FE8-4C0F-6AEBAEB3D5E2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4237984850" sldId="275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4237984850" sldId="275"/>
            <ac:graphicFrameMk id="2" creationId="{6CC10910-BC9C-2549-DCCA-ED9C8B9AD2F8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3100730380" sldId="276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3100730380" sldId="276"/>
            <ac:graphicFrameMk id="2" creationId="{F09E74F0-4C81-A56C-FB4F-135E23684F6B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928826276" sldId="278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928826276" sldId="278"/>
            <ac:graphicFrameMk id="8" creationId="{65ED7E6D-B121-11CF-7C93-529E6B8B0EB7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725886469" sldId="280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725886469" sldId="280"/>
            <ac:graphicFrameMk id="3" creationId="{A63EC415-6436-E1EB-0234-F69CFC582362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312601817" sldId="281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312601817" sldId="281"/>
            <ac:graphicFrameMk id="2" creationId="{858D50F4-E6B2-EC8C-AF6C-D3617AB249DF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849204479" sldId="282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849204479" sldId="282"/>
            <ac:graphicFrameMk id="2" creationId="{9B9FF2CF-EF00-CBB4-11DC-0B769768B17E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39619977" sldId="283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39619977" sldId="283"/>
            <ac:graphicFrameMk id="2" creationId="{75660635-42A4-3A0E-AC76-5EF91B67992F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3068249260" sldId="284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3068249260" sldId="284"/>
            <ac:graphicFrameMk id="2" creationId="{8E63416A-5575-B7BE-424A-8B97C27AFDBC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304772992" sldId="285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304772992" sldId="285"/>
            <ac:graphicFrameMk id="2" creationId="{36316E9D-E84A-BD57-47EA-01382D291174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421778288" sldId="286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421778288" sldId="286"/>
            <ac:graphicFrameMk id="2" creationId="{85C9A647-F319-0766-D34F-6222AA8E54B6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571226534" sldId="287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571226534" sldId="287"/>
            <ac:graphicFrameMk id="2" creationId="{22A82A1D-616B-C3F8-2099-03B092C7FCA9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73125537" sldId="288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73125537" sldId="288"/>
            <ac:graphicFrameMk id="2" creationId="{AE430D21-6AFF-D814-6B29-DF370C43F3F2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979403595" sldId="290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979403595" sldId="290"/>
            <ac:graphicFrameMk id="7" creationId="{71B38092-4393-833E-41A1-126A2A16813B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218084654" sldId="291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218084654" sldId="291"/>
            <ac:graphicFrameMk id="2" creationId="{D8455A88-CFA8-BEA3-2B12-5C5F400A5A61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1905117632" sldId="292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1905117632" sldId="292"/>
            <ac:graphicFrameMk id="2" creationId="{A563FF02-2705-8AF6-3FFE-C14D2AC29208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2233866623" sldId="293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2233866623" sldId="293"/>
            <ac:graphicFrameMk id="18" creationId="{38F6E88C-5E0C-E801-B0BA-3A04AE5A2934}"/>
          </ac:graphicFrameMkLst>
        </pc:graphicFrameChg>
      </pc:sldChg>
      <pc:sldChg chg="modSp">
        <pc:chgData name="Zhi Wang" userId="7588ea56f58b19c7" providerId="LiveId" clId="{96B72205-E234-467C-A3DC-8BF4882781A8}" dt="2026-10-13T11:35:36.308" v="1"/>
        <pc:sldMkLst>
          <pc:docMk/>
          <pc:sldMk cId="4106356559" sldId="294"/>
        </pc:sldMkLst>
        <pc:graphicFrameChg chg="mod">
          <ac:chgData name="Zhi Wang" userId="7588ea56f58b19c7" providerId="LiveId" clId="{96B72205-E234-467C-A3DC-8BF4882781A8}" dt="2026-10-13T11:35:36.308" v="1"/>
          <ac:graphicFrameMkLst>
            <pc:docMk/>
            <pc:sldMk cId="4106356559" sldId="294"/>
            <ac:graphicFrameMk id="4" creationId="{44E7DB06-D8A7-4DE2-9A73-A9841F94F46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722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335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833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9EEA7-C2FF-4300-8E0D-40E7CEFB244E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E458-0311-4A2C-90B5-DCB1811A047E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624A-4DB5-43C1-B6E8-E12D1F8F0874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585EB-85C6-403A-9123-A6469BD3A193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98EE2-9618-4DFA-9123-1058EF93D8E2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EEF4-D7F5-43CB-B0C3-079C5E7F1F39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3901-F4CE-4320-A807-758FCC7A4948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EDE47-57AA-4BFD-8FF5-11D4B7AD6E28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6503-0C0B-43C8-BD01-443820F435E9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A8040-E845-4734-AFE5-CEEABB19EB42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A797-BE6D-4DF2-A2D5-EFBAB276D35E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1C00D-108F-4E7E-8C3A-77679F581B5A}" type="datetime1">
              <a:rPr lang="en-US" altLang="zh-CN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王峙，魏大海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电子态密度，费米面，电子热容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第四章 能带理论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5168DC9-DA93-698A-32F2-E2D69DA2F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189771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声子的色散关系与态密度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8" y="1429172"/>
                <a:ext cx="5628861" cy="529630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b="1" dirty="0"/>
                  <a:t>声子态密度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</a:rPr>
                  <a:t>：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描述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【</a:t>
                </a:r>
                <a:r>
                  <a:rPr lang="zh-CN" altLang="en-US" sz="20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000" dirty="0"/>
                  <a:t>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000" dirty="0"/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频率范围内</a:t>
                </a:r>
                <a:r>
                  <a:rPr lang="zh-CN" altLang="en-US" sz="2000" dirty="0"/>
                  <a:t>存在的声子态（简正模）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数目</a:t>
                </a:r>
                <a:r>
                  <a:rPr lang="en-US" altLang="zh-CN" sz="2000" dirty="0"/>
                  <a:t>】</a:t>
                </a:r>
                <a:r>
                  <a:rPr lang="zh-CN" altLang="en-US" sz="2000" dirty="0"/>
                  <a:t>的物理量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换句话说，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声子态密度是声子态数目对频率的微分（</a:t>
                </a:r>
                <a:r>
                  <a:rPr lang="zh-CN" altLang="en-US" sz="20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为何不能说是“声子数”对频率微分？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）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highlight>
                      <a:srgbClr val="FFFF00"/>
                    </a:highlight>
                  </a:rPr>
                  <a:t>注意：</a:t>
                </a:r>
                <a:r>
                  <a:rPr lang="zh-CN" altLang="en-US" sz="2000" dirty="0"/>
                  <a:t>一般</a:t>
                </a:r>
                <a:r>
                  <a:rPr lang="zh-CN" altLang="en-US" sz="2000" dirty="0">
                    <a:highlight>
                      <a:srgbClr val="FFFF00"/>
                    </a:highlight>
                  </a:rPr>
                  <a:t>画出</a:t>
                </a:r>
                <a:r>
                  <a:rPr lang="zh-CN" altLang="en-US" sz="2000" dirty="0"/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声子色散关系（声子谱）</a:t>
                </a:r>
                <a:r>
                  <a:rPr lang="zh-CN" altLang="en-US" sz="2000" dirty="0"/>
                  <a:t>是画在布里渊区的</a:t>
                </a:r>
                <a:r>
                  <a:rPr lang="zh-CN" altLang="en-US" sz="2000" dirty="0">
                    <a:highlight>
                      <a:srgbClr val="FFFF00"/>
                    </a:highlight>
                  </a:rPr>
                  <a:t>某个一维路径</a:t>
                </a:r>
                <a:r>
                  <a:rPr lang="zh-CN" altLang="en-US" sz="2000" dirty="0"/>
                  <a:t>上，而计算态密度是在</a:t>
                </a:r>
                <a:r>
                  <a:rPr lang="zh-CN" altLang="en-US" sz="2000" dirty="0">
                    <a:highlight>
                      <a:srgbClr val="FFFF00"/>
                    </a:highlight>
                  </a:rPr>
                  <a:t>整个三维布里渊区</a:t>
                </a:r>
                <a:r>
                  <a:rPr lang="zh-CN" altLang="en-US" sz="2000" dirty="0"/>
                  <a:t>中进行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德拜近似：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</a:rPr>
                  <a:t>）附近</a:t>
                </a:r>
                <a:r>
                  <a:rPr lang="zh-CN" altLang="en-US" sz="2000" dirty="0"/>
                  <a:t>，三维晶格的色散关系为线性的</a:t>
                </a:r>
                <a:endParaRPr lang="en-US" altLang="zh-CN" sz="20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此时声子态密度为</a:t>
                </a:r>
                <a:endParaRPr lang="en-US" altLang="zh-CN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̄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8" y="1429172"/>
                <a:ext cx="5628861" cy="5296305"/>
              </a:xfrm>
              <a:blipFill>
                <a:blip r:embed="rId2"/>
                <a:stretch>
                  <a:fillRect l="-975" t="-806" r="-33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示&#10;&#10;描述已自动生成">
            <a:extLst>
              <a:ext uri="{FF2B5EF4-FFF2-40B4-BE49-F238E27FC236}">
                <a16:creationId xmlns:a16="http://schemas.microsoft.com/office/drawing/2014/main" id="{C3AD5AB9-AFBE-3D7D-12FF-466F12B54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990" y="1674633"/>
            <a:ext cx="5108364" cy="332806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8427917-014C-9018-5CD6-318BD5141BBC}"/>
              </a:ext>
            </a:extLst>
          </p:cNvPr>
          <p:cNvSpPr txBox="1"/>
          <p:nvPr/>
        </p:nvSpPr>
        <p:spPr>
          <a:xfrm>
            <a:off x="478409" y="5261873"/>
            <a:ext cx="521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图：金属铝的声子谱；</a:t>
            </a:r>
            <a:r>
              <a:rPr lang="en-US" altLang="zh-CN" dirty="0"/>
              <a:t>(</a:t>
            </a:r>
            <a:r>
              <a:rPr lang="zh-CN" altLang="en-US" dirty="0"/>
              <a:t>左</a:t>
            </a:r>
            <a:r>
              <a:rPr lang="en-US" altLang="zh-CN" dirty="0"/>
              <a:t>) </a:t>
            </a:r>
            <a:r>
              <a:rPr lang="zh-CN" altLang="en-US" dirty="0"/>
              <a:t>色散关系；</a:t>
            </a:r>
            <a:r>
              <a:rPr lang="en-US" altLang="zh-CN" dirty="0"/>
              <a:t>(</a:t>
            </a:r>
            <a:r>
              <a:rPr lang="zh-CN" altLang="en-US" dirty="0"/>
              <a:t>右</a:t>
            </a:r>
            <a:r>
              <a:rPr lang="en-US" altLang="zh-CN" dirty="0"/>
              <a:t>) </a:t>
            </a:r>
            <a:r>
              <a:rPr lang="zh-CN" altLang="en-US" dirty="0"/>
              <a:t>态密度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3F9EC5-9F1A-DBFA-54BA-A8DC1BDD964B}"/>
              </a:ext>
            </a:extLst>
          </p:cNvPr>
          <p:cNvSpPr/>
          <p:nvPr/>
        </p:nvSpPr>
        <p:spPr>
          <a:xfrm>
            <a:off x="797504" y="3642412"/>
            <a:ext cx="4573878" cy="103262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9E7094-D615-F96D-DA42-E0907EC10DB9}"/>
              </a:ext>
            </a:extLst>
          </p:cNvPr>
          <p:cNvSpPr/>
          <p:nvPr/>
        </p:nvSpPr>
        <p:spPr>
          <a:xfrm>
            <a:off x="797504" y="3312875"/>
            <a:ext cx="4573878" cy="103262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19F7481-9A5E-FFAD-5258-BF17AF672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63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电子态密度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8" y="1429173"/>
                <a:ext cx="5628861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b="1" dirty="0"/>
                  <a:t>电子态密度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ctrlPr>
                          <a:rPr lang="zh-CN" alt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d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</a:rPr>
                  <a:t>：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描述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【</a:t>
                </a:r>
                <a:r>
                  <a:rPr lang="zh-CN" altLang="en-US" sz="2000" dirty="0"/>
                  <a:t>在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000" dirty="0"/>
                  <a:t>到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000" dirty="0"/>
                  <a:t>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能量范围内</a:t>
                </a:r>
                <a:r>
                  <a:rPr lang="zh-CN" altLang="en-US" sz="2000" dirty="0"/>
                  <a:t>存在的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电子态数目</a:t>
                </a:r>
                <a:r>
                  <a:rPr lang="en-US" altLang="zh-CN" sz="2000" dirty="0"/>
                  <a:t>】</a:t>
                </a:r>
                <a:r>
                  <a:rPr lang="zh-CN" altLang="en-US" sz="2000" dirty="0"/>
                  <a:t>的物理量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电子态密度 </a:t>
                </a:r>
                <a:r>
                  <a:rPr lang="en-US" altLang="zh-CN" sz="2000" dirty="0">
                    <a:sym typeface="Wingdings" panose="05000000000000000000" pitchFamily="2" charset="2"/>
                  </a:rPr>
                  <a:t>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电子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态数目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对能量的微分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以三维自由电子为例，将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色散关系</m:t>
                    </m:r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+mn-ea"/>
                  </a:rPr>
                  <a:t>代入下式（</a:t>
                </a:r>
                <a:r>
                  <a:rPr lang="zh-CN" altLang="en-US" sz="2000" u="sng" dirty="0"/>
                  <a:t>无磁性、无外场、忽略相对论性效应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+mn-ea"/>
                  </a:rPr>
                  <a:t>）</a:t>
                </a:r>
                <a:endParaRPr lang="en-US" altLang="zh-CN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nary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nary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得到三维自由电子态密度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00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en-US" altLang="zh-CN" sz="20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rad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8" y="1429173"/>
                <a:ext cx="5628861" cy="4985174"/>
              </a:xfrm>
              <a:blipFill>
                <a:blip r:embed="rId2"/>
                <a:stretch>
                  <a:fillRect l="-975" t="-856" r="-33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63A7608D-9F8F-F8CD-E41E-5B6FAE526DFB}"/>
              </a:ext>
            </a:extLst>
          </p:cNvPr>
          <p:cNvSpPr txBox="1"/>
          <p:nvPr/>
        </p:nvSpPr>
        <p:spPr>
          <a:xfrm>
            <a:off x="9192302" y="4479152"/>
            <a:ext cx="2852063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与声子相比多了一个系数</a:t>
            </a:r>
            <a:r>
              <a:rPr lang="en-US" altLang="zh-CN" sz="1600" dirty="0"/>
              <a:t>2</a:t>
            </a:r>
          </a:p>
          <a:p>
            <a:r>
              <a:rPr lang="zh-CN" altLang="en-US" sz="1600" dirty="0"/>
              <a:t>因为电子有额外的自旋简并度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3C828BE-F533-129C-A631-ABD99C7813B5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8534400" y="4287078"/>
            <a:ext cx="657902" cy="484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图表, 折线图&#10;&#10;描述已自动生成">
            <a:extLst>
              <a:ext uri="{FF2B5EF4-FFF2-40B4-BE49-F238E27FC236}">
                <a16:creationId xmlns:a16="http://schemas.microsoft.com/office/drawing/2014/main" id="{04A6BD1D-BC58-D069-46B2-65AC211B9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29173"/>
            <a:ext cx="3498576" cy="4840214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7894913-1C48-95B9-BC49-F0416D3BE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90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5108C46-2568-8996-6C7A-DAA45299E476}"/>
              </a:ext>
            </a:extLst>
          </p:cNvPr>
          <p:cNvSpPr/>
          <p:nvPr/>
        </p:nvSpPr>
        <p:spPr>
          <a:xfrm>
            <a:off x="1115813" y="1429173"/>
            <a:ext cx="1117180" cy="382728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EF05DDE-2C3F-7728-5D94-07B02901FEC1}"/>
              </a:ext>
            </a:extLst>
          </p:cNvPr>
          <p:cNvSpPr/>
          <p:nvPr/>
        </p:nvSpPr>
        <p:spPr>
          <a:xfrm>
            <a:off x="4760160" y="2730160"/>
            <a:ext cx="1335839" cy="584775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D5E8428-0B3E-E892-8224-6FA1C16B1CC7}"/>
              </a:ext>
            </a:extLst>
          </p:cNvPr>
          <p:cNvSpPr/>
          <p:nvPr/>
        </p:nvSpPr>
        <p:spPr>
          <a:xfrm>
            <a:off x="5045082" y="4625261"/>
            <a:ext cx="2154600" cy="1384599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765663D-1602-EC5D-F231-557F7A4E93FF}"/>
              </a:ext>
            </a:extLst>
          </p:cNvPr>
          <p:cNvSpPr/>
          <p:nvPr/>
        </p:nvSpPr>
        <p:spPr>
          <a:xfrm>
            <a:off x="1115813" y="4618636"/>
            <a:ext cx="2154600" cy="1384599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b="1" dirty="0"/>
                  <a:t>通用公式：</a:t>
                </a:r>
                <a:r>
                  <a:rPr lang="zh-CN" altLang="en-US" sz="20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维空间</a:t>
                </a:r>
                <a:r>
                  <a:rPr lang="zh-CN" altLang="en-US" sz="2000" dirty="0"/>
                  <a:t>中，色散关系为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的粒子，其态密度为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000" dirty="0"/>
                  <a:t>            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sSup>
                      <m:sSup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f>
                          <m:f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2000" dirty="0"/>
                  <a:t>是一个与晶格体积、粒子简并度等有关的系数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三维空间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德拜</a:t>
                </a:r>
                <a:r>
                  <a:rPr lang="zh-CN" altLang="en-US" sz="2000" dirty="0"/>
                  <a:t>声子：</a:t>
                </a:r>
                <a:r>
                  <a:rPr lang="en-US" altLang="zh-CN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=3,  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一维空间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自由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电子：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二维空间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自由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电子：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Const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三维空间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自由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电子：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=3,  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  <a:blipFill>
                <a:blip r:embed="rId3"/>
                <a:stretch>
                  <a:fillRect l="-638" t="-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99946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/>
                  <a:t>律</a:t>
                </a:r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999465"/>
              </a:xfrm>
              <a:blipFill>
                <a:blip r:embed="rId4"/>
                <a:stretch>
                  <a:fillRect t="-8537" b="-9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3778A7B-CE41-2143-0E25-2DC51142B067}"/>
              </a:ext>
            </a:extLst>
          </p:cNvPr>
          <p:cNvSpPr txBox="1"/>
          <p:nvPr/>
        </p:nvSpPr>
        <p:spPr>
          <a:xfrm>
            <a:off x="4669968" y="1811901"/>
            <a:ext cx="1933543" cy="584775"/>
          </a:xfrm>
          <a:prstGeom prst="rect">
            <a:avLst/>
          </a:prstGeom>
          <a:solidFill>
            <a:srgbClr val="4472C4"/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P=1</a:t>
            </a:r>
            <a:r>
              <a:rPr lang="zh-CN" altLang="en-US" sz="1600" dirty="0">
                <a:solidFill>
                  <a:schemeClr val="bg1"/>
                </a:solidFill>
              </a:rPr>
              <a:t>：线性色散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en-US" altLang="zh-CN" sz="1600" dirty="0">
                <a:solidFill>
                  <a:schemeClr val="bg1"/>
                </a:solidFill>
              </a:rPr>
              <a:t>P=2</a:t>
            </a:r>
            <a:r>
              <a:rPr lang="zh-CN" altLang="en-US" sz="1600" dirty="0">
                <a:solidFill>
                  <a:schemeClr val="bg1"/>
                </a:solidFill>
              </a:rPr>
              <a:t>：抛物线型色散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D8A9F54-41D6-A751-C112-C7FD2B1F0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715" y="112311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99A5AFE-A310-FAE7-95CE-0201B2110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715" y="2336893"/>
            <a:ext cx="2143960" cy="21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3BF39DE-646C-1911-32F1-4B01D62029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5715" y="4561475"/>
            <a:ext cx="2154600" cy="2160000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74E0D77-4F41-B969-BE01-EFDE32B11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72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F6F30-FEA2-5869-1CD1-82B16E4F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真实晶体中的态密度很复杂！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>
                <a:extLst>
                  <a:ext uri="{FF2B5EF4-FFF2-40B4-BE49-F238E27FC236}">
                    <a16:creationId xmlns:a16="http://schemas.microsoft.com/office/drawing/2014/main" id="{6A738605-1425-50C9-EE5F-068EB5C2D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0" y="1825625"/>
                <a:ext cx="4953000" cy="435133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在</a:t>
                </a:r>
                <a:r>
                  <a:rPr lang="en-US" altLang="zh-CN" sz="2000" dirty="0"/>
                  <a:t>K</a:t>
                </a:r>
                <a:r>
                  <a:rPr lang="zh-CN" altLang="en-US" sz="2000" dirty="0"/>
                  <a:t>点的</a:t>
                </a:r>
                <a:r>
                  <a:rPr lang="en-US" altLang="zh-CN" sz="2000" dirty="0"/>
                  <a:t>Dirac</a:t>
                </a:r>
                <a:r>
                  <a:rPr lang="zh-CN" altLang="en-US" sz="2000" dirty="0"/>
                  <a:t>点附近，能带线性色散 </a:t>
                </a:r>
                <a:r>
                  <a:rPr lang="en-US" altLang="zh-CN" sz="2000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sz="2000" dirty="0">
                    <a:sym typeface="Wingdings" panose="05000000000000000000" pitchFamily="2" charset="2"/>
                  </a:rPr>
                  <a:t>态密度为线性，</a:t>
                </a:r>
                <a:r>
                  <a:rPr lang="zh-CN" altLang="en-US" sz="2000" dirty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符合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zh-CN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000" dirty="0">
                    <a:solidFill>
                      <a:srgbClr val="00B050"/>
                    </a:solidFill>
                  </a:rPr>
                  <a:t>律</a:t>
                </a:r>
                <a:endParaRPr lang="en-US" altLang="zh-CN" sz="2000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在</a:t>
                </a:r>
                <a:r>
                  <a:rPr lang="en-US" altLang="zh-CN" sz="2000" dirty="0"/>
                  <a:t>M</a:t>
                </a:r>
                <a:r>
                  <a:rPr lang="zh-CN" altLang="en-US" sz="2000" dirty="0"/>
                  <a:t>点的鞍点附近，能带各向异性，色散关系可写为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sSub>
                        <m:sSub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Sup>
                        <m:sSubSupPr>
                          <m:ctrl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此时态密度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不符合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律</a:t>
                </a:r>
                <a:r>
                  <a:rPr lang="zh-CN" altLang="en-US" sz="2000" dirty="0"/>
                  <a:t>，而是对数发散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num>
                            <m:den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内容占位符 7">
                <a:extLst>
                  <a:ext uri="{FF2B5EF4-FFF2-40B4-BE49-F238E27FC236}">
                    <a16:creationId xmlns:a16="http://schemas.microsoft.com/office/drawing/2014/main" id="{6A738605-1425-50C9-EE5F-068EB5C2D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0" y="1825625"/>
                <a:ext cx="4953000" cy="4351337"/>
              </a:xfrm>
              <a:blipFill>
                <a:blip r:embed="rId2"/>
                <a:stretch>
                  <a:fillRect l="-1230" t="-1120" r="-1107" b="-7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, 工程绘图&#10;&#10;AI 生成的内容可能不正确。">
            <a:extLst>
              <a:ext uri="{FF2B5EF4-FFF2-40B4-BE49-F238E27FC236}">
                <a16:creationId xmlns:a16="http://schemas.microsoft.com/office/drawing/2014/main" id="{59223B37-3321-FC36-90E6-9B69FF0C3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49" y="1636091"/>
            <a:ext cx="5290951" cy="46064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2C2E713-2E1A-C623-7063-95334143C7E8}"/>
              </a:ext>
            </a:extLst>
          </p:cNvPr>
          <p:cNvSpPr txBox="1"/>
          <p:nvPr/>
        </p:nvSpPr>
        <p:spPr>
          <a:xfrm>
            <a:off x="301468" y="6377523"/>
            <a:ext cx="7043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石墨烯能带结构和态密度，来自 </a:t>
            </a:r>
            <a:r>
              <a:rPr lang="en-US" altLang="zh-CN" dirty="0"/>
              <a:t>PHYSICAL REVIEW B 86, 245430 (2012)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FCF1CEE-07C4-872E-8AAD-2F5FADF4C3CE}"/>
              </a:ext>
            </a:extLst>
          </p:cNvPr>
          <p:cNvCxnSpPr>
            <a:cxnSpLocks/>
          </p:cNvCxnSpPr>
          <p:nvPr/>
        </p:nvCxnSpPr>
        <p:spPr>
          <a:xfrm flipH="1">
            <a:off x="4326835" y="2027583"/>
            <a:ext cx="2206487" cy="14842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4E24FD8-73E7-1F9C-7EB0-B38FAAD9D58A}"/>
              </a:ext>
            </a:extLst>
          </p:cNvPr>
          <p:cNvCxnSpPr>
            <a:cxnSpLocks/>
          </p:cNvCxnSpPr>
          <p:nvPr/>
        </p:nvCxnSpPr>
        <p:spPr>
          <a:xfrm flipH="1">
            <a:off x="4757530" y="3213652"/>
            <a:ext cx="1775792" cy="6350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图表, 表面图&#10;&#10;AI 生成的内容可能不正确。">
            <a:extLst>
              <a:ext uri="{FF2B5EF4-FFF2-40B4-BE49-F238E27FC236}">
                <a16:creationId xmlns:a16="http://schemas.microsoft.com/office/drawing/2014/main" id="{85C71B64-051F-1F69-52DA-626828733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703" y="3387198"/>
            <a:ext cx="1328394" cy="1104279"/>
          </a:xfrm>
          <a:prstGeom prst="rect">
            <a:avLst/>
          </a:prstGeom>
        </p:spPr>
      </p:pic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8F6E88C-5E0C-E801-B0BA-3A04AE5A2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866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示&#10;&#10;描述已自动生成">
            <a:extLst>
              <a:ext uri="{FF2B5EF4-FFF2-40B4-BE49-F238E27FC236}">
                <a16:creationId xmlns:a16="http://schemas.microsoft.com/office/drawing/2014/main" id="{39C5F67C-7121-814A-5305-11CF65826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054" y="571500"/>
            <a:ext cx="7362825" cy="5715000"/>
          </a:xfrm>
          <a:prstGeom prst="rect">
            <a:avLst/>
          </a:prstGeom>
        </p:spPr>
      </p:pic>
      <p:pic>
        <p:nvPicPr>
          <p:cNvPr id="9" name="π-+.pdf" descr="π-+.pdf">
            <a:extLst>
              <a:ext uri="{FF2B5EF4-FFF2-40B4-BE49-F238E27FC236}">
                <a16:creationId xmlns:a16="http://schemas.microsoft.com/office/drawing/2014/main" id="{739156AE-2778-CDDF-CB1B-806C34F82C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570" r="26082"/>
          <a:stretch/>
        </p:blipFill>
        <p:spPr>
          <a:xfrm>
            <a:off x="1541647" y="3429000"/>
            <a:ext cx="2915502" cy="2227286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3743854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在接近布里渊区边界的过程中，与自由电子情况相比，态密度先增大再减小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有带隙的情况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9CAF02-42E3-D157-AA1F-565106FB3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32753" y="4146284"/>
            <a:ext cx="974035" cy="89625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4DAF1F5-9B94-B013-BC8D-94C61259DEF1}"/>
              </a:ext>
            </a:extLst>
          </p:cNvPr>
          <p:cNvSpPr/>
          <p:nvPr/>
        </p:nvSpPr>
        <p:spPr>
          <a:xfrm>
            <a:off x="553508" y="4044229"/>
            <a:ext cx="988139" cy="1110868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D38209F-3C2B-4CA7-7D8E-932CAB391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191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835EB4-6F6C-B090-15F7-3DA7718786F8}"/>
              </a:ext>
            </a:extLst>
          </p:cNvPr>
          <p:cNvSpPr/>
          <p:nvPr/>
        </p:nvSpPr>
        <p:spPr>
          <a:xfrm>
            <a:off x="1068876" y="4346416"/>
            <a:ext cx="3046490" cy="1573969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不考虑自旋</a:t>
                </a:r>
                <a:r>
                  <a:rPr lang="zh-CN" altLang="en-US" sz="2000" dirty="0"/>
                  <a:t>带来的额外简并度，根据泡利不相容原理，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每个电子态上仅可容纳一个电子，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个电子必须占据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个不同的电子态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绝对零度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时系统的“基态”，即能量最小的状态，电子是从最低能量的电子态开始，一个个往能量高的</a:t>
                </a:r>
                <a:r>
                  <a:rPr lang="zh-CN" altLang="en-US" sz="2000" dirty="0"/>
                  <a:t>电子态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填充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即，当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电子系统处于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T=0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的基态时，</a:t>
                </a:r>
                <a:r>
                  <a:rPr lang="zh-CN" altLang="en-US" sz="2000" dirty="0"/>
                  <a:t>总存在一个能量，能量低于它的态都被电子占据（满的），能量高于它的态都没有电子（空的）。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这个能量称为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费米能量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(Fermi energy)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，在能带中费米能量对应的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等能面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费米面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(Fermi surface)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注意，费米能量仅在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T=0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时有严格定义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  <a:blipFill>
                <a:blip r:embed="rId2"/>
                <a:stretch>
                  <a:fillRect l="-522" t="-978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费米面 </a:t>
            </a:r>
            <a:r>
              <a:rPr lang="en-US" altLang="zh-CN" dirty="0"/>
              <a:t>(Fermi surface)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0809A-7FB4-0D6C-823D-2C982A25A8F4}"/>
                  </a:ext>
                </a:extLst>
              </p:cNvPr>
              <p:cNvSpPr txBox="1"/>
              <p:nvPr/>
            </p:nvSpPr>
            <p:spPr>
              <a:xfrm>
                <a:off x="1068876" y="4461845"/>
                <a:ext cx="3283226" cy="1458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使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【</a:t>
                </a:r>
                <a:r>
                  <a:rPr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态密度积分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zh-CN" altLang="en-US" sz="1800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总电子数</a:t>
                </a:r>
                <a:r>
                  <a:rPr lang="en-US" altLang="zh-CN" sz="1800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】</a:t>
                </a:r>
                <a:r>
                  <a:rPr lang="zh-CN" altLang="en-US" sz="1800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的积分上限即为费米能</a:t>
                </a:r>
                <a:endParaRPr lang="en-US" altLang="zh-CN" sz="1800" b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sup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nary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altLang="zh-CN" sz="18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40809A-7FB4-0D6C-823D-2C982A25A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876" y="4461845"/>
                <a:ext cx="3283226" cy="1458541"/>
              </a:xfrm>
              <a:prstGeom prst="rect">
                <a:avLst/>
              </a:prstGeom>
              <a:blipFill>
                <a:blip r:embed="rId3"/>
                <a:stretch>
                  <a:fillRect l="-1484" t="-3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示&#10;&#10;描述已自动生成">
            <a:extLst>
              <a:ext uri="{FF2B5EF4-FFF2-40B4-BE49-F238E27FC236}">
                <a16:creationId xmlns:a16="http://schemas.microsoft.com/office/drawing/2014/main" id="{8BE3571B-049D-1F89-EB42-FB72AE7CB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1" r="48481" b="52430"/>
          <a:stretch/>
        </p:blipFill>
        <p:spPr>
          <a:xfrm>
            <a:off x="4552121" y="4346416"/>
            <a:ext cx="2619297" cy="1837487"/>
          </a:xfrm>
          <a:prstGeom prst="rect">
            <a:avLst/>
          </a:prstGeom>
        </p:spPr>
      </p:pic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F311B95D-7BE0-5AEB-493D-A6011DB78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" t="54551" r="51167" b="3080"/>
          <a:stretch/>
        </p:blipFill>
        <p:spPr>
          <a:xfrm>
            <a:off x="7171418" y="4118809"/>
            <a:ext cx="2356896" cy="183748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F271DBA-F88E-462E-D983-33FB85F6F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8333" y="4221035"/>
            <a:ext cx="2062222" cy="175101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2F17CB0-3D35-E893-E7CE-B6F9A9E1A382}"/>
              </a:ext>
            </a:extLst>
          </p:cNvPr>
          <p:cNvSpPr txBox="1"/>
          <p:nvPr/>
        </p:nvSpPr>
        <p:spPr>
          <a:xfrm>
            <a:off x="5602960" y="6229681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图：从左至右，一维、二维、三维自由电子的费米面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857A0F3-1A22-38D7-E2E0-4FD57EEFF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80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38A7326-B770-C4BB-95C3-2AB3847A8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556" y="1263213"/>
            <a:ext cx="6467997" cy="37991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FF0171F-F9CB-18BE-A8EB-CE4B72FFF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03" y="1023868"/>
            <a:ext cx="3958581" cy="3700532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1F380A3-4006-4F43-C086-D15A556CE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5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日历&#10;&#10;描述已自动生成">
            <a:extLst>
              <a:ext uri="{FF2B5EF4-FFF2-40B4-BE49-F238E27FC236}">
                <a16:creationId xmlns:a16="http://schemas.microsoft.com/office/drawing/2014/main" id="{8B8A75F5-A2BB-6C83-8CC6-E4CEA8767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442"/>
            <a:ext cx="12192000" cy="4533900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E730A81-7B0A-E0D7-A976-1D46B0C13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61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实际上，电子分布满足费米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狄拉克统计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zh-CN" alt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US" altLang="zh-CN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称为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化学势（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chemical potential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，是温度的函数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其物理意义是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体系粒子数增加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所需要的自由能</a:t>
                </a:r>
                <a:endParaRPr lang="en-US" altLang="zh-CN" sz="18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时，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zh-CN" sz="18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=0时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，费米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狄拉克函数变为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阶梯函数</a:t>
                </a:r>
                <a:endParaRPr lang="en-US" altLang="zh-CN" sz="18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CN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CN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因此，</a:t>
                </a:r>
                <a:r>
                  <a:rPr lang="en-US" altLang="zh-CN" sz="18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</a:rPr>
                  <a:t>的化学势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</a:rPr>
                  <a:t>就是体系的费米能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量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，注意，</a:t>
                </a:r>
                <a:r>
                  <a:rPr lang="zh-CN" altLang="en-US" sz="1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费米能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量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仅在</a:t>
                </a:r>
                <a:r>
                  <a:rPr lang="en-US" altLang="zh-CN" sz="1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T=0</a:t>
                </a:r>
                <a:r>
                  <a:rPr lang="zh-CN" altLang="en-US" sz="1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时定义，不随温度变化，而化学势是温度的函数。</a:t>
                </a:r>
                <a:endParaRPr lang="en-US" altLang="zh-CN" sz="1800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在很多地方，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化学势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又称为费米能级（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Fermi level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）</a:t>
                </a:r>
                <a:r>
                  <a:rPr lang="zh-CN" altLang="en-US" sz="1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注意不是费米能量！</a:t>
                </a:r>
                <a:endParaRPr lang="en-US" altLang="zh-CN" sz="1800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  <a:blipFill>
                <a:blip r:embed="rId3"/>
                <a:stretch>
                  <a:fillRect l="-1020" t="-978" r="-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费米</a:t>
            </a:r>
            <a:r>
              <a:rPr lang="en-US" altLang="zh-CN" dirty="0"/>
              <a:t>-</a:t>
            </a:r>
            <a:r>
              <a:rPr lang="zh-CN" altLang="en-US" dirty="0"/>
              <a:t>狄拉克分布 </a:t>
            </a:r>
            <a:r>
              <a:rPr lang="en-US" altLang="zh-CN" dirty="0"/>
              <a:t>(Fermi-Dirac distribution)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E167C2D-4AB0-535E-AC99-A743C88B5E20}"/>
              </a:ext>
            </a:extLst>
          </p:cNvPr>
          <p:cNvSpPr/>
          <p:nvPr/>
        </p:nvSpPr>
        <p:spPr>
          <a:xfrm>
            <a:off x="2135676" y="1775495"/>
            <a:ext cx="2840515" cy="676158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34E652-E222-AFB7-73CA-D7960B1F5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97301"/>
            <a:ext cx="5742996" cy="3663398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0E252B1-FF85-AF02-FD83-63ADDD148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86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时，费米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狄拉克分布和玻色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爱因斯坦分布均趋近于麦克斯韦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玻尔兹曼分布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groupChr>
                        <m:groupChrPr>
                          <m:chr m:val="→"/>
                          <m:pos m:val="bot"/>
                          <m:vertJc m:val="bot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borderBox>
                            <m:borderBox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borderBox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≫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borderBox>
                        </m:e>
                      </m:groupCh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这称为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经典极限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经典极限代表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很小，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一般有两种情况：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1. 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体系电子密度低（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低密度极限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），对应费米能级低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小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2. 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体系温度高（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高温极限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），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随温度升高而减小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  <a:blipFill>
                <a:blip r:embed="rId2"/>
                <a:stretch>
                  <a:fillRect l="-1020" t="-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几种统计分布的对比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3406B2C-723A-EBD7-EAD6-EA9D5AD49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452" y="979703"/>
            <a:ext cx="4957348" cy="4898594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BFC6B5B-B110-80B4-6AF1-0963BC4BD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006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351DC4E-D34E-168A-CFD7-7964BCCB8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64" y="1020417"/>
            <a:ext cx="9301872" cy="4817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C2AB2DB2-6DAC-7C79-320D-3724695575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28179"/>
              </a:xfrm>
            </p:spPr>
            <p:txBody>
              <a:bodyPr/>
              <a:lstStyle/>
              <a:p>
                <a:r>
                  <a:rPr lang="zh-CN" altLang="en-US" dirty="0"/>
                  <a:t>化学势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dirty="0"/>
                  <a:t>的温度依赖性</a:t>
                </a:r>
                <a:endParaRPr lang="zh-CN" altLang="en-US" b="1" dirty="0"/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C2AB2DB2-6DAC-7C79-320D-372469557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28179"/>
              </a:xfrm>
              <a:blipFill>
                <a:blip r:embed="rId3"/>
                <a:stretch>
                  <a:fillRect l="-2377" t="-29412" b="-33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12E38B9-D17D-D368-A170-17F78F8C1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154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体系总电子数可写为态密度与费米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狄拉克分布乘积的积分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对三维自由电子，使用索末菲展开 </a:t>
                </a:r>
                <a:r>
                  <a:rPr lang="en-US" altLang="zh-CN" sz="2000" dirty="0"/>
                  <a:t>(Sommerfeld expansion)</a:t>
                </a:r>
                <a:r>
                  <a:rPr lang="zh-CN" altLang="en-US" sz="2000" dirty="0"/>
                  <a:t>，近似可得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可以看到， 三维自由电子气的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化学势随着温度的升高而降低（负的抛物线型）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考虑到一般情况下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，实际上化学势的变化量很小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  <a:blipFill>
                <a:blip r:embed="rId2"/>
                <a:stretch>
                  <a:fillRect l="-1020" t="-978" r="-5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738928"/>
              </a:xfrm>
            </p:spPr>
            <p:txBody>
              <a:bodyPr/>
              <a:lstStyle/>
              <a:p>
                <a:r>
                  <a:rPr lang="zh-CN" altLang="en-US" dirty="0"/>
                  <a:t>化学势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dirty="0"/>
                  <a:t>的温度依赖性</a:t>
                </a:r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738928"/>
              </a:xfrm>
              <a:blipFill>
                <a:blip r:embed="rId3"/>
                <a:stretch>
                  <a:fillRect l="-2377" t="-28099" b="-32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33E840CD-93D2-A2DB-5475-EB1957170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834" y="1186070"/>
            <a:ext cx="4567966" cy="4900424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EB7D097-FCE0-0D8F-EF14-4058CDE73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476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如何定性理解化学势随温度上升而降低</a:t>
                </a:r>
                <a:r>
                  <a:rPr lang="zh-CN" altLang="en-US" sz="2000" dirty="0"/>
                  <a:t>？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因为体系总电子数不变，因此在任意温度下，</a:t>
                </a:r>
                <a:r>
                  <a:rPr lang="zh-CN" altLang="en-US" sz="2000" dirty="0">
                    <a:solidFill>
                      <a:srgbClr val="4472C4"/>
                    </a:solidFill>
                  </a:rPr>
                  <a:t>费米能量以下的空穴数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应与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费米能量以上的电子数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相等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对于三维电子</a:t>
                </a:r>
                <a:r>
                  <a:rPr lang="zh-CN" altLang="en-US" sz="2000" dirty="0"/>
                  <a:t>，态密度在费米能量两侧不对称，费米能量以下的态密度小于费米能量以上的态密度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为了确保上述等式成立，在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2000" dirty="0"/>
                  <a:t>处，必须有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，因此必须有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  <a:blipFill>
                <a:blip r:embed="rId3"/>
                <a:stretch>
                  <a:fillRect l="-1020" t="-978" r="-3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738928"/>
              </a:xfrm>
            </p:spPr>
            <p:txBody>
              <a:bodyPr/>
              <a:lstStyle/>
              <a:p>
                <a:r>
                  <a:rPr lang="zh-CN" altLang="en-US" dirty="0"/>
                  <a:t>化学势</a:t>
                </a:r>
                <a14:m>
                  <m:oMath xmlns:m="http://schemas.openxmlformats.org/officeDocument/2006/math">
                    <m:r>
                      <a:rPr lang="zh-CN" altLang="en-US" sz="4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dirty="0"/>
                  <a:t>的温度依赖性</a:t>
                </a:r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738928"/>
              </a:xfrm>
              <a:blipFill>
                <a:blip r:embed="rId4"/>
                <a:stretch>
                  <a:fillRect l="-2377" t="-28099" b="-32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FB624498-70D2-D00C-A36F-44CDF66B3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143" y="1767104"/>
            <a:ext cx="4636662" cy="40759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4B2997-AF7E-F6EE-2593-EC807D3C5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3312" y="2882554"/>
            <a:ext cx="3746845" cy="831957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C5C275F-DECE-2FE8-4C0F-6AEBAEB3D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319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5377070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其他维度的电子呢</a:t>
            </a:r>
            <a:r>
              <a:rPr lang="zh-CN" altLang="en-US" sz="2000" dirty="0"/>
              <a:t>？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738928"/>
              </a:xfrm>
            </p:spPr>
            <p:txBody>
              <a:bodyPr/>
              <a:lstStyle/>
              <a:p>
                <a:r>
                  <a:rPr lang="zh-CN" altLang="en-US" dirty="0"/>
                  <a:t>化学势</a:t>
                </a:r>
                <a14:m>
                  <m:oMath xmlns:m="http://schemas.openxmlformats.org/officeDocument/2006/math">
                    <m:r>
                      <a:rPr lang="zh-CN" altLang="en-US" sz="4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dirty="0"/>
                  <a:t>的温度依赖性</a:t>
                </a:r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E495BB59-F2F0-F06C-674E-CE9E97A24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738928"/>
              </a:xfrm>
              <a:blipFill>
                <a:blip r:embed="rId2"/>
                <a:stretch>
                  <a:fillRect l="-2377" t="-28099" b="-32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69DD18B8-4CAA-3ABF-94FD-7FB7BEB12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948" y="1989331"/>
            <a:ext cx="7595152" cy="4204459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CC10910-BC9C-2549-DCCA-ED9C8B9AD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984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4E7DB06-D8A7-4DE2-9A73-A9841F94F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686985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16B6B1-3D09-4901-32A3-F44803437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659053"/>
              </p:ext>
            </p:extLst>
          </p:nvPr>
        </p:nvGraphicFramePr>
        <p:xfrm>
          <a:off x="813117" y="2349000"/>
          <a:ext cx="10565766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268">
                  <a:extLst>
                    <a:ext uri="{9D8B030D-6E8A-4147-A177-3AD203B41FA5}">
                      <a16:colId xmlns:a16="http://schemas.microsoft.com/office/drawing/2014/main" val="2796224768"/>
                    </a:ext>
                  </a:extLst>
                </a:gridCol>
                <a:gridCol w="4121468">
                  <a:extLst>
                    <a:ext uri="{9D8B030D-6E8A-4147-A177-3AD203B41FA5}">
                      <a16:colId xmlns:a16="http://schemas.microsoft.com/office/drawing/2014/main" val="693918058"/>
                    </a:ext>
                  </a:extLst>
                </a:gridCol>
                <a:gridCol w="5066030">
                  <a:extLst>
                    <a:ext uri="{9D8B030D-6E8A-4147-A177-3AD203B41FA5}">
                      <a16:colId xmlns:a16="http://schemas.microsoft.com/office/drawing/2014/main" val="118479455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费米能量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化学势（费米能级）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83856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定义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零温下电子最高占据态的能量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电子占据该能级的概率为</a:t>
                      </a:r>
                      <a:r>
                        <a:rPr lang="en-US" altLang="zh-CN" dirty="0"/>
                        <a:t>50%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1/2</a:t>
                      </a:r>
                      <a:r>
                        <a:rPr lang="zh-CN" altLang="en-US" dirty="0"/>
                        <a:t>）的能量位置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4196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温度相关性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同一体系、同一密度下，不随温度变化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随温度变化，金属中较小，半导体中不可忽略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946297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物理意义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化学势的零温极限，定义费米面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增加一个电子所需要的自由能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235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356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5377070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自由电子气总能量可写为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/>
              <a:t>利用索末菲展开，考虑三维自由电子情形，近似解得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则三维自由电子热容为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电子热容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3A090A-BD81-D1F8-9223-284CA3137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8" y="1803823"/>
            <a:ext cx="2530337" cy="9524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4BCBCFD-0F49-3E33-2641-9DA0422BF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965" y="3429000"/>
            <a:ext cx="4769540" cy="156972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9EDBCA-5301-6AA6-1673-D4C1F1D44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965" y="5668617"/>
            <a:ext cx="5766377" cy="68773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F7464C6-E93C-94EA-70D2-EC56F23B0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820" y="734590"/>
            <a:ext cx="4692745" cy="444701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EB5AF7B-E081-3C5F-BD93-43F7B05BC7C1}"/>
              </a:ext>
            </a:extLst>
          </p:cNvPr>
          <p:cNvSpPr txBox="1"/>
          <p:nvPr/>
        </p:nvSpPr>
        <p:spPr>
          <a:xfrm>
            <a:off x="7657892" y="5117537"/>
            <a:ext cx="39445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热容中的与温度呈</a:t>
            </a:r>
            <a:r>
              <a:rPr lang="zh-CN" altLang="en-US" dirty="0">
                <a:solidFill>
                  <a:srgbClr val="4472C4"/>
                </a:solidFill>
              </a:rPr>
              <a:t>三次方项由晶格振动（声子）贡献</a:t>
            </a:r>
            <a:r>
              <a:rPr lang="zh-CN" altLang="en-US" dirty="0"/>
              <a:t>，与</a:t>
            </a:r>
            <a:r>
              <a:rPr lang="zh-CN" altLang="en-US" dirty="0">
                <a:solidFill>
                  <a:srgbClr val="FF0000"/>
                </a:solidFill>
              </a:rPr>
              <a:t>温度呈线性项由电子贡献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只有在极低温下（几开到十几开），电子贡献才显著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9E74F0-4C81-A56C-FB4F-135E23684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730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定性理解电子热容与温度的关系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由于电子遵循费米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–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狄拉克统计，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只有位于化学势（费米能级）附近的少数电子才能受到热激发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，被激发的热电子数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𝑒𝑥𝑐𝑖</m:t>
                          </m:r>
                        </m:sup>
                      </m:sSubSup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𝑘𝑇</m:t>
                      </m:r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近似应用能量均分定理，每个电子的平均能量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𝑘𝑇</m:t>
                      </m:r>
                    </m:oMath>
                  </m:oMathPara>
                </a14:m>
                <a:endParaRPr lang="en-US" altLang="zh-CN" sz="2000" b="0" i="0" dirty="0">
                  <a:latin typeface="FandolHei-Regular-Identity-H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b="0" i="0" dirty="0">
                    <a:solidFill>
                      <a:srgbClr val="000000"/>
                    </a:solidFill>
                    <a:effectLst/>
                    <a:latin typeface="FandolHei-Regular-Identity-H"/>
                  </a:rPr>
                  <a:t>于是总能</a:t>
                </a:r>
                <a:endParaRPr lang="en-US" altLang="zh-CN" sz="2000" b="0" i="0" dirty="0">
                  <a:solidFill>
                    <a:srgbClr val="000000"/>
                  </a:solidFill>
                  <a:effectLst/>
                  <a:latin typeface="FandolHei-Regular-Identity-H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𝑒𝑥𝑐𝑖</m:t>
                          </m:r>
                        </m:sup>
                      </m:sSubSup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𝑘𝑇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b="0" i="0" dirty="0">
                  <a:solidFill>
                    <a:srgbClr val="000000"/>
                  </a:solidFill>
                  <a:effectLst/>
                  <a:latin typeface="FandolHei-Regular-Identity-H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/>
                  <a:t>对</a:t>
                </a:r>
                <a:r>
                  <a:rPr lang="en-US" altLang="zh-CN" sz="2000" dirty="0"/>
                  <a:t>T</a:t>
                </a:r>
                <a:r>
                  <a:rPr lang="zh-CN" altLang="en-US" sz="2000" dirty="0"/>
                  <a:t>求导得到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  <a:blipFill>
                <a:blip r:embed="rId2"/>
                <a:stretch>
                  <a:fillRect l="-1247" t="-978" r="-1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电子热容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F7464C6-E93C-94EA-70D2-EC56F23B0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820" y="734590"/>
            <a:ext cx="4692745" cy="4447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D61F24D-02E1-6246-D23F-CE957C2CD3E2}"/>
                  </a:ext>
                </a:extLst>
              </p:cNvPr>
              <p:cNvSpPr txBox="1"/>
              <p:nvPr/>
            </p:nvSpPr>
            <p:spPr>
              <a:xfrm>
                <a:off x="5192981" y="5697932"/>
                <a:ext cx="5780008" cy="102354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能均分定理挺好的，因为更精确的索末菲展开也只得到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D61F24D-02E1-6246-D23F-CE957C2CD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981" y="5697932"/>
                <a:ext cx="5780008" cy="102354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5ED7E6D-B121-11CF-7C93-529E6B8B0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826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1709738"/>
            <a:ext cx="10883624" cy="28527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 导体、绝缘体和半导体的能带解释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第四章 能带理论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63EC415-6436-E1EB-0234-F69CFC582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886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4462670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导体：没有带隙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/>
              <a:t>绝缘体：具有较大带隙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半导体：具有较小带隙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满带：电子已填满了能带中所有的能态</a:t>
            </a: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导带：一个能带中只有部分能态填有电子，而其余的能态为没有电子填充的空态。</a:t>
            </a: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近满带：一个能带的绝大部分能态已填有电子，只有少数能态是空的。</a:t>
            </a:r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导体、绝缘体和半导体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496883-9E34-FEDF-ECE8-509B34623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558461"/>
              </p:ext>
            </p:extLst>
          </p:nvPr>
        </p:nvGraphicFramePr>
        <p:xfrm>
          <a:off x="7081077" y="1657258"/>
          <a:ext cx="416369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393">
                  <a:extLst>
                    <a:ext uri="{9D8B030D-6E8A-4147-A177-3AD203B41FA5}">
                      <a16:colId xmlns:a16="http://schemas.microsoft.com/office/drawing/2014/main" val="1935593272"/>
                    </a:ext>
                  </a:extLst>
                </a:gridCol>
                <a:gridCol w="695643">
                  <a:extLst>
                    <a:ext uri="{9D8B030D-6E8A-4147-A177-3AD203B41FA5}">
                      <a16:colId xmlns:a16="http://schemas.microsoft.com/office/drawing/2014/main" val="127636174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6917768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1141529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费米能级附近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绝缘体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半导体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5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零温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满带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满带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有限温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~</a:t>
                      </a:r>
                      <a:r>
                        <a:rPr lang="zh-CN" altLang="en-US" dirty="0"/>
                        <a:t>满带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近满带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46373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1C767E87-7164-A0CD-8D6E-53336B26A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760" y="3062873"/>
            <a:ext cx="6418639" cy="3568805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B9FF2CF-EF00-CBB4-11DC-0B769768B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204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当电子把整个能带占满时：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（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）没有外加电场时，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能带中电子的总群速度为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0</a:t>
                </a:r>
                <a:r>
                  <a:rPr lang="zh-CN" altLang="en-US" sz="2000" dirty="0"/>
                  <a:t>，故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宏观的总电流为零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（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）在外加电场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𝑒𝑥</m:t>
                        </m:r>
                      </m:sub>
                    </m:sSub>
                  </m:oMath>
                </a14:m>
                <a:r>
                  <a:rPr lang="zh-CN" altLang="en-US" sz="2000" dirty="0"/>
                  <a:t>下，电子被电场加速，准动量随时间的变化满足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电子在倒空间中发生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整体移动</a:t>
                </a:r>
                <a:r>
                  <a:rPr lang="zh-CN" altLang="en-US" sz="2000" dirty="0"/>
                  <a:t>，由于布里渊区的周期性，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从一侧离开布里渊区的电子会从另一侧重新进入</a:t>
                </a:r>
                <a:r>
                  <a:rPr lang="zh-CN" altLang="en-US" sz="2000" dirty="0"/>
                  <a:t>，电子的总群速度依然为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，故宏观的总电流也依然为零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  <a:blipFill>
                <a:blip r:embed="rId2"/>
                <a:stretch>
                  <a:fillRect l="-1247" t="-978" r="-1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满带电子不导电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FC246A-66F9-D5DA-5446-758B2C1BC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506" y="1916484"/>
            <a:ext cx="4680294" cy="10658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91776B2-B6BF-C8D8-B824-93980E9D4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515" y="3794791"/>
            <a:ext cx="4797285" cy="1119593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58D50F4-E6B2-EC8C-AF6C-D3617AB24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601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当电子部分填充能带时：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（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）没有外加电场时，能带中电子的总群速度为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，故宏观的总电流为零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（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）在外加电场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𝑒𝑥</m:t>
                        </m:r>
                      </m:sub>
                    </m:sSub>
                  </m:oMath>
                </a14:m>
                <a:r>
                  <a:rPr lang="zh-CN" altLang="en-US" sz="2000" dirty="0"/>
                  <a:t>下，电子被电场加速，准动量随时间的变化满足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电子在倒空间中发生整体移动，由于布里渊区的周期性，从一侧离开布里渊区的电子会从另一侧重新进入，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电子的总群速度随时间发生变化，不再恒为零，呈现非零的宏观电流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5377070" cy="4985174"/>
              </a:xfrm>
              <a:blipFill>
                <a:blip r:embed="rId2"/>
                <a:stretch>
                  <a:fillRect l="-1247" t="-978" r="-1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导带、近满带电子导电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66B51B-A9DA-0B56-FA54-FC74F069E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418" y="1495219"/>
            <a:ext cx="5648117" cy="12686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BA56A2A-9B4A-DF53-31EE-93A102CC3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418" y="3720547"/>
            <a:ext cx="5648117" cy="127821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5660635-42A4-3A0E-AC76-5EF91B679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19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9638"/>
                <a:ext cx="10515600" cy="493849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恒定电场下，布洛赫电子的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准动量随时间线性增加</a:t>
                </a:r>
                <a:r>
                  <a:rPr lang="zh-CN" altLang="en-US" sz="2000" dirty="0"/>
                  <a:t>，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𝑒𝑥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但布洛赫电子的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群速度由色散关系决定</a:t>
                </a:r>
                <a:r>
                  <a:rPr lang="zh-CN" altLang="en-US" sz="20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ℏ</m:t>
                        </m:r>
                      </m:den>
                    </m:f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𝑑𝑘</m:t>
                        </m:r>
                      </m:den>
                    </m:f>
                  </m:oMath>
                </a14:m>
                <a:endParaRPr lang="en-US" altLang="zh-CN" sz="20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因为带隙的存在，群速度在布里渊区内并不恒定，正负号会改变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宏观电流（漂移电流部分）和电子群速度成正比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考虑能带中只有一个电子的情况，在恒定电场下，电子位置以及宏观电流都会呈现振荡的特性，而</a:t>
                </a:r>
                <a:r>
                  <a:rPr lang="zh-CN" altLang="en-US" sz="2000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不产生净电流</a:t>
                </a:r>
                <a:r>
                  <a:rPr lang="zh-CN" altLang="en-US" sz="2000" dirty="0"/>
                  <a:t>，称为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布洛赫振荡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(Bloch oscillation)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9638"/>
                <a:ext cx="10515600" cy="4938497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准动量、群速度与布洛赫振荡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A68445-95A3-087C-5193-078B9ACC9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29" y="3618886"/>
            <a:ext cx="6309194" cy="23466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F518610-96C9-40FE-6182-D0B1F36D5A96}"/>
              </a:ext>
            </a:extLst>
          </p:cNvPr>
          <p:cNvSpPr txBox="1"/>
          <p:nvPr/>
        </p:nvSpPr>
        <p:spPr>
          <a:xfrm>
            <a:off x="7439208" y="4402784"/>
            <a:ext cx="3745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在外加电场下，若不考虑晶格散射与带间跃迁，晶格中的电子在实空间的运动是有界的！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63416A-5575-B7BE-424A-8B97C27AF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249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173"/>
            <a:ext cx="6655904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布洛赫振荡周期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布洛赫振荡实际上很难观察到，晶体里存在各种散射，平均两次散射的时间间隔</a:t>
            </a:r>
            <a:r>
              <a:rPr lang="en-US" altLang="zh-CN" sz="2000" dirty="0">
                <a:solidFill>
                  <a:schemeClr val="tx1"/>
                </a:solidFill>
              </a:rPr>
              <a:t>~10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-14</a:t>
            </a:r>
            <a:r>
              <a:rPr lang="en-US" altLang="zh-CN" sz="2000" dirty="0">
                <a:solidFill>
                  <a:schemeClr val="tx1"/>
                </a:solidFill>
              </a:rPr>
              <a:t> s</a:t>
            </a:r>
            <a:r>
              <a:rPr lang="zh-CN" altLang="en-US" sz="2000" dirty="0">
                <a:solidFill>
                  <a:schemeClr val="tx1"/>
                </a:solidFill>
              </a:rPr>
              <a:t>，要想观测到布洛赫振荡，需要布洛赫振荡周期 𝑇 </a:t>
            </a:r>
            <a:r>
              <a:rPr lang="en-US" altLang="zh-CN" sz="2000" dirty="0">
                <a:solidFill>
                  <a:schemeClr val="tx1"/>
                </a:solidFill>
              </a:rPr>
              <a:t>= 2</a:t>
            </a:r>
            <a:r>
              <a:rPr lang="zh-CN" altLang="en-US" sz="2000" dirty="0">
                <a:solidFill>
                  <a:schemeClr val="tx1"/>
                </a:solidFill>
              </a:rPr>
              <a:t>𝜋</a:t>
            </a:r>
            <a:r>
              <a:rPr lang="en-US" altLang="zh-CN" sz="2000" dirty="0">
                <a:solidFill>
                  <a:schemeClr val="tx1"/>
                </a:solidFill>
              </a:rPr>
              <a:t>ℏ/(</a:t>
            </a:r>
            <a:r>
              <a:rPr lang="zh-CN" altLang="en-US" sz="2000" dirty="0">
                <a:solidFill>
                  <a:schemeClr val="tx1"/>
                </a:solidFill>
              </a:rPr>
              <a:t>𝑒𝐸𝑎</a:t>
            </a:r>
            <a:r>
              <a:rPr lang="en-US" altLang="zh-CN" sz="2000" dirty="0">
                <a:solidFill>
                  <a:schemeClr val="tx1"/>
                </a:solidFill>
              </a:rPr>
              <a:t>) &lt; 10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-14</a:t>
            </a:r>
            <a:r>
              <a:rPr lang="en-US" altLang="zh-CN" sz="2000" dirty="0">
                <a:solidFill>
                  <a:schemeClr val="tx1"/>
                </a:solidFill>
              </a:rPr>
              <a:t> s</a:t>
            </a:r>
          </a:p>
          <a:p>
            <a:pPr>
              <a:lnSpc>
                <a:spcPct val="100000"/>
              </a:lnSpc>
            </a:pPr>
            <a:r>
              <a:rPr lang="zh-CN" altLang="en-US" sz="2000" dirty="0"/>
              <a:t>取晶格常数𝑎 </a:t>
            </a:r>
            <a:r>
              <a:rPr lang="en-US" altLang="zh-CN" sz="2000" dirty="0"/>
              <a:t>= 3Å</a:t>
            </a:r>
            <a:r>
              <a:rPr lang="zh-CN" altLang="en-US" sz="2000" dirty="0"/>
              <a:t>，要求电场强度𝐸 ≳ </a:t>
            </a:r>
            <a:r>
              <a:rPr lang="en-US" altLang="zh-CN" sz="2000" dirty="0"/>
              <a:t>1.4×10</a:t>
            </a:r>
            <a:r>
              <a:rPr lang="en-US" altLang="zh-CN" sz="2000" baseline="30000" dirty="0"/>
              <a:t>7</a:t>
            </a:r>
            <a:r>
              <a:rPr lang="en-US" altLang="zh-CN" sz="2000" dirty="0"/>
              <a:t> V/cm</a:t>
            </a:r>
            <a:r>
              <a:rPr lang="zh-CN" altLang="en-US" sz="2000" dirty="0"/>
              <a:t>，绝大多数</a:t>
            </a:r>
            <a:r>
              <a:rPr lang="zh-CN" altLang="en-US" sz="2000" dirty="0">
                <a:solidFill>
                  <a:srgbClr val="FF0000"/>
                </a:solidFill>
              </a:rPr>
              <a:t>材料无法承受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半导体超晶格𝑎 ∼ </a:t>
            </a:r>
            <a:r>
              <a:rPr lang="en-US" altLang="zh-CN" sz="2000" dirty="0">
                <a:solidFill>
                  <a:srgbClr val="FF0000"/>
                </a:solidFill>
              </a:rPr>
              <a:t>10 nm</a:t>
            </a:r>
            <a:r>
              <a:rPr lang="zh-CN" altLang="en-US" sz="2000" dirty="0">
                <a:solidFill>
                  <a:schemeClr val="tx1"/>
                </a:solidFill>
              </a:rPr>
              <a:t>，同时提高晶体质量，优化实验方案，使</a:t>
            </a:r>
            <a:r>
              <a:rPr lang="zh-CN" altLang="en-US" sz="2000" dirty="0">
                <a:solidFill>
                  <a:srgbClr val="FF0000"/>
                </a:solidFill>
              </a:rPr>
              <a:t>散射时间增加至</a:t>
            </a:r>
            <a:r>
              <a:rPr lang="en-US" altLang="zh-CN" sz="2000" dirty="0">
                <a:solidFill>
                  <a:srgbClr val="FF0000"/>
                </a:solidFill>
              </a:rPr>
              <a:t>10</a:t>
            </a:r>
            <a:r>
              <a:rPr lang="en-US" altLang="zh-CN" sz="2000" baseline="30000" dirty="0">
                <a:solidFill>
                  <a:srgbClr val="FF0000"/>
                </a:solidFill>
              </a:rPr>
              <a:t>-13</a:t>
            </a:r>
            <a:r>
              <a:rPr lang="en-US" altLang="zh-CN" sz="2000" dirty="0">
                <a:solidFill>
                  <a:srgbClr val="FF0000"/>
                </a:solidFill>
              </a:rPr>
              <a:t> s</a:t>
            </a:r>
            <a:r>
              <a:rPr lang="zh-CN" altLang="en-US" sz="2000" dirty="0"/>
              <a:t>，此时</a:t>
            </a:r>
            <a:r>
              <a:rPr lang="zh-CN" altLang="en-US" sz="2000" dirty="0">
                <a:solidFill>
                  <a:schemeClr val="tx1"/>
                </a:solidFill>
              </a:rPr>
              <a:t>要观察到布洛赫振荡，所需场强减小至 𝐸∼</a:t>
            </a:r>
            <a:r>
              <a:rPr lang="en-US" altLang="zh-CN" sz="2000" dirty="0">
                <a:solidFill>
                  <a:schemeClr val="tx1"/>
                </a:solidFill>
              </a:rPr>
              <a:t>10 kV/cm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</a:rPr>
              <a:t>可以实现！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/>
              <a:t>在实际晶体中，电子会被</a:t>
            </a:r>
            <a:r>
              <a:rPr lang="zh-CN" altLang="en-US" sz="2000" dirty="0">
                <a:solidFill>
                  <a:srgbClr val="FF0000"/>
                </a:solidFill>
              </a:rPr>
              <a:t>快速散射回到低能态</a:t>
            </a:r>
            <a:r>
              <a:rPr lang="zh-CN" altLang="en-US" sz="2000" dirty="0"/>
              <a:t>而不会有机会遍历布里渊区，</a:t>
            </a:r>
            <a:r>
              <a:rPr lang="zh-CN" altLang="en-US" sz="2000" dirty="0">
                <a:solidFill>
                  <a:srgbClr val="FF0000"/>
                </a:solidFill>
              </a:rPr>
              <a:t>净电流因此产生</a:t>
            </a:r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准动量、群速度与布洛赫振荡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87BF29-5210-DA25-06A0-A130483A7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633" y="1912878"/>
            <a:ext cx="1932126" cy="6662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E165AEF-F09D-202F-A9B9-6D381D6B7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791" y="2846861"/>
            <a:ext cx="4083977" cy="2432891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6316E9D-E84A-BD57-47EA-01382D291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72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我们来看零场下位于能带结构上某一点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2000" dirty="0"/>
                  <a:t>的电子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因为散射的存在，这个电子在外场作用下，一般只会在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附近运动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考虑这样一个电子它的“质量”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dirty="0"/>
                  <a:t>、群速度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dirty="0"/>
                  <a:t>、受力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000" dirty="0"/>
                  <a:t>满足牛顿方程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𝑒𝐸</m:t>
                      </m:r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b="0" dirty="0">
                    <a:solidFill>
                      <a:schemeClr val="tx1"/>
                    </a:solidFill>
                  </a:rPr>
                  <a:t>等式左边：</a:t>
                </a:r>
                <a:endParaRPr lang="en-US" altLang="zh-CN" sz="2000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𝑑𝑘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𝑑𝑘𝑑𝑡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𝑑𝑘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>
                    <a:latin typeface="Cambria Math" panose="02040503050406030204" pitchFamily="18" charset="0"/>
                  </a:rPr>
                  <a:t>等式右边</a:t>
                </a:r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𝑒𝐸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𝑑𝑘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>
                    <a:latin typeface="Cambria Math" panose="02040503050406030204" pitchFamily="18" charset="0"/>
                  </a:rPr>
                  <a:t>两边联立，消去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𝑑𝑘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称为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电子的有效质量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  <a:blipFill>
                <a:blip r:embed="rId2"/>
                <a:stretch>
                  <a:fillRect l="-406" t="-1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有效质量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5C9A647-F319-0766-D34F-6222AA8E5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778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对于不同方向的电场，电子的响应也不同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den>
                      </m:f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 …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故有效质量是一个张量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𝑥𝑥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𝑦𝑦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𝑦𝑧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𝑧𝑦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𝑧𝑧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num>
                                  <m:den>
                                    <m: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有效质量的物理意义在于，晶体中的电子对外加电场的响应，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犹如一个具有质量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的粒子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EC6FEDEC-CCC6-95EE-375E-E0D73B0A3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173"/>
                <a:ext cx="10515600" cy="4985174"/>
              </a:xfrm>
              <a:blipFill>
                <a:blip r:embed="rId2"/>
                <a:stretch>
                  <a:fillRect l="-522" t="-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有效质量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2A82A1D-616B-C3F8-2099-03B092C7F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226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62866B-0A67-90A2-626F-EFBE3C65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785" y="144394"/>
            <a:ext cx="6246597" cy="24453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D438CF1-EB1F-C37A-5DB5-A730248CD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528" y="3112106"/>
            <a:ext cx="5677112" cy="344740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E430D21-6AFF-D814-6B29-DF370C43F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25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9173"/>
            <a:ext cx="5879697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晶格中的电子受到外场和晶格势场的</a:t>
            </a:r>
            <a:r>
              <a:rPr lang="zh-CN" altLang="en-US" sz="2000" dirty="0">
                <a:solidFill>
                  <a:srgbClr val="FF0000"/>
                </a:solidFill>
              </a:rPr>
              <a:t>共同作用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/>
              <a:t>考虑一维简单晶格势场中，布里渊区边界处的电子态，由于晶格势场的影响，退简并成为两个驻波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现在让我们加一个向右的电场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4472C4"/>
                </a:solidFill>
              </a:rPr>
              <a:t>对于能量较低的驻波态：</a:t>
            </a:r>
            <a:r>
              <a:rPr lang="zh-CN" altLang="en-US" sz="2000" dirty="0"/>
              <a:t>电子倾向于聚集在离子实附近，加电场时，离子实中心沿电场方向向右偏移，在距离离子实很近的范围内，电子受离子实牵引力大于外电场力，</a:t>
            </a:r>
            <a:r>
              <a:rPr lang="zh-CN" altLang="en-US" sz="2000" dirty="0">
                <a:solidFill>
                  <a:srgbClr val="4472C4"/>
                </a:solidFill>
              </a:rPr>
              <a:t>电子向右移动，与自由电子运动方向相反，有效质量为负值</a:t>
            </a:r>
            <a:endParaRPr lang="en-US" altLang="zh-CN" sz="2000" dirty="0">
              <a:solidFill>
                <a:srgbClr val="4472C4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对于能量较高的驻波态：</a:t>
            </a:r>
            <a:r>
              <a:rPr lang="zh-CN" altLang="en-US" sz="2000" dirty="0"/>
              <a:t>电子分布远离离子实，加电场时，电子受离子实牵引力较小，主要受外电场力，</a:t>
            </a:r>
            <a:r>
              <a:rPr lang="zh-CN" altLang="en-US" sz="2000" dirty="0">
                <a:solidFill>
                  <a:srgbClr val="FF0000"/>
                </a:solidFill>
              </a:rPr>
              <a:t>电子向左移动，与自由电子运动方向相同，有效质量为正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2000" dirty="0">
              <a:solidFill>
                <a:srgbClr val="4472C4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有效质量的一种直观理解</a:t>
            </a:r>
          </a:p>
        </p:txBody>
      </p:sp>
      <p:pic>
        <p:nvPicPr>
          <p:cNvPr id="2" name="potentialionicxa  densityprobability2(+)|ψ|2(-)|ψ|.pdf" descr="potentialionicxa  densityprobability2(+)|ψ|2(-)|ψ|.pdf">
            <a:extLst>
              <a:ext uri="{FF2B5EF4-FFF2-40B4-BE49-F238E27FC236}">
                <a16:creationId xmlns:a16="http://schemas.microsoft.com/office/drawing/2014/main" id="{39262B53-411A-3798-0806-129567AD3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896" y="1132405"/>
            <a:ext cx="5162901" cy="2137847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3" name="π-+.pdf" descr="π-+.pdf">
            <a:extLst>
              <a:ext uri="{FF2B5EF4-FFF2-40B4-BE49-F238E27FC236}">
                <a16:creationId xmlns:a16="http://schemas.microsoft.com/office/drawing/2014/main" id="{32FF9588-379C-197A-74A3-00A4A152B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913" y="3298603"/>
            <a:ext cx="2358868" cy="278606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1B38092-4393-833E-41A1-126A2A168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403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6FEDEC-CCC6-95EE-375E-E0D73B0A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9173"/>
            <a:ext cx="10515600" cy="498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借助有效质量，我们可以大幅简化晶格作用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晶格势场较为复杂，一般不好求解，也不像外场那么容易控制，但一般而言较为稳定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化为有效质量后，电子的有效质量可认为不随时间和外场改变，它的行为可借用自由电子运动方程类比描述，尤其是在价带顶或者导带底时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有效质量可通过实验测量，认可度较高的方法包括电子热容、回旋共振 </a:t>
            </a:r>
            <a:r>
              <a:rPr lang="en-US" altLang="zh-CN" sz="2000" dirty="0"/>
              <a:t>(cyclotron resonance)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highlight>
                  <a:srgbClr val="FFFF00"/>
                </a:highlight>
              </a:rPr>
              <a:t>注意：不同实验，涉及到的过程并不相同，因此得到的有效质量可能不同，尤其在各向异性的材料中</a:t>
            </a:r>
            <a:endParaRPr lang="en-US" altLang="zh-CN" sz="1600" dirty="0">
              <a:highlight>
                <a:srgbClr val="FFFF00"/>
              </a:highlight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495BB59-F2F0-F06C-674E-CE9E97A2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8928"/>
          </a:xfrm>
        </p:spPr>
        <p:txBody>
          <a:bodyPr/>
          <a:lstStyle/>
          <a:p>
            <a:r>
              <a:rPr lang="zh-CN" altLang="en-US" dirty="0"/>
              <a:t>引入有效质量的优点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8455A88-CFA8-BEA3-2B12-5C5F400A5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084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66CF2236-7BC7-0DAA-0EDC-D28A4FD82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42" y="660400"/>
            <a:ext cx="7382934" cy="55372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FD9F836-4ECD-04D1-AC32-1CE37940FF6E}"/>
              </a:ext>
            </a:extLst>
          </p:cNvPr>
          <p:cNvSpPr txBox="1"/>
          <p:nvPr/>
        </p:nvSpPr>
        <p:spPr>
          <a:xfrm>
            <a:off x="5850805" y="5710019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频率足够高：在碰撞之前电子需要绕行足够多圈</a:t>
            </a:r>
            <a:endParaRPr lang="en-US" altLang="zh-CN" dirty="0"/>
          </a:p>
          <a:p>
            <a:r>
              <a:rPr lang="zh-CN" altLang="en-US" dirty="0"/>
              <a:t>（一般是微波波段，近年来更精确的测量使用红外波段）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30E828-1676-1544-0040-60A479002F1F}"/>
              </a:ext>
            </a:extLst>
          </p:cNvPr>
          <p:cNvSpPr txBox="1"/>
          <p:nvPr/>
        </p:nvSpPr>
        <p:spPr>
          <a:xfrm>
            <a:off x="7928507" y="2311190"/>
            <a:ext cx="3877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测量的是费米面附近的电子</a:t>
            </a:r>
            <a:endParaRPr lang="en-US" altLang="zh-CN" dirty="0"/>
          </a:p>
          <a:p>
            <a:r>
              <a:rPr lang="zh-CN" altLang="en-US" dirty="0"/>
              <a:t>可通过调整样品的</a:t>
            </a:r>
            <a:r>
              <a:rPr lang="en-US" altLang="zh-CN" dirty="0"/>
              <a:t>n/p</a:t>
            </a:r>
            <a:r>
              <a:rPr lang="zh-CN" altLang="en-US" dirty="0"/>
              <a:t>型掺杂使得费米面靠近导带</a:t>
            </a:r>
            <a:r>
              <a:rPr lang="en-US" altLang="zh-CN" dirty="0"/>
              <a:t>/</a:t>
            </a:r>
            <a:r>
              <a:rPr lang="zh-CN" altLang="en-US" dirty="0"/>
              <a:t>价带，对应测量电子</a:t>
            </a:r>
            <a:r>
              <a:rPr lang="en-US" altLang="zh-CN" dirty="0"/>
              <a:t>/</a:t>
            </a:r>
            <a:r>
              <a:rPr lang="zh-CN" altLang="en-US" dirty="0"/>
              <a:t>空穴有效质量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563FF02-2705-8AF6-3FFE-C14D2AC29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42843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11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3600</TotalTime>
  <Words>4272</Words>
  <Application>Microsoft Office PowerPoint</Application>
  <PresentationFormat>宽屏</PresentationFormat>
  <Paragraphs>313</Paragraphs>
  <Slides>31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FandolHei-Regular-Identity-H</vt:lpstr>
      <vt:lpstr>黑体</vt:lpstr>
      <vt:lpstr>微软雅黑</vt:lpstr>
      <vt:lpstr>Aptos</vt:lpstr>
      <vt:lpstr>Arial</vt:lpstr>
      <vt:lpstr>Calibri</vt:lpstr>
      <vt:lpstr>Cambria Math</vt:lpstr>
      <vt:lpstr>Wingdings</vt:lpstr>
      <vt:lpstr>Office 2013 - 2022 主题</vt:lpstr>
      <vt:lpstr>固体物理（2班） Solid state physics</vt:lpstr>
      <vt:lpstr>电子态密度，费米面，电子热容</vt:lpstr>
      <vt:lpstr>声子的色散关系与态密度</vt:lpstr>
      <vt:lpstr>电子态密度</vt:lpstr>
      <vt:lpstr>N/P-1律</vt:lpstr>
      <vt:lpstr>真实晶体中的态密度很复杂！</vt:lpstr>
      <vt:lpstr>有带隙的情况</vt:lpstr>
      <vt:lpstr>费米面 (Fermi surface)</vt:lpstr>
      <vt:lpstr>PowerPoint 演示文稿</vt:lpstr>
      <vt:lpstr>PowerPoint 演示文稿</vt:lpstr>
      <vt:lpstr>费米-狄拉克分布 (Fermi-Dirac distribution)</vt:lpstr>
      <vt:lpstr>几种统计分布的对比</vt:lpstr>
      <vt:lpstr>化学势μ(T)的温度依赖性</vt:lpstr>
      <vt:lpstr>化学势μ(T)的温度依赖性</vt:lpstr>
      <vt:lpstr>化学势μ(T)的温度依赖性</vt:lpstr>
      <vt:lpstr>化学势μ(T)的温度依赖性</vt:lpstr>
      <vt:lpstr>PowerPoint 演示文稿</vt:lpstr>
      <vt:lpstr>电子热容</vt:lpstr>
      <vt:lpstr>电子热容</vt:lpstr>
      <vt:lpstr> 导体、绝缘体和半导体的能带解释</vt:lpstr>
      <vt:lpstr>导体、绝缘体和半导体</vt:lpstr>
      <vt:lpstr>满带电子不导电</vt:lpstr>
      <vt:lpstr>导带、近满带电子导电</vt:lpstr>
      <vt:lpstr>准动量、群速度与布洛赫振荡</vt:lpstr>
      <vt:lpstr>准动量、群速度与布洛赫振荡</vt:lpstr>
      <vt:lpstr>有效质量</vt:lpstr>
      <vt:lpstr>有效质量</vt:lpstr>
      <vt:lpstr>PowerPoint 演示文稿</vt:lpstr>
      <vt:lpstr>有效质量的一种直观理解</vt:lpstr>
      <vt:lpstr>引入有效质量的优点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2</cp:revision>
  <dcterms:created xsi:type="dcterms:W3CDTF">2024-09-10T08:37:43Z</dcterms:created>
  <dcterms:modified xsi:type="dcterms:W3CDTF">2026-10-13T11:35:46Z</dcterms:modified>
</cp:coreProperties>
</file>