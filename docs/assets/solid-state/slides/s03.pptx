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7" r:id="rId2"/>
    <p:sldId id="261" r:id="rId3"/>
    <p:sldId id="262" r:id="rId4"/>
    <p:sldId id="263" r:id="rId5"/>
    <p:sldId id="264" r:id="rId6"/>
    <p:sldId id="394" r:id="rId7"/>
    <p:sldId id="267" r:id="rId8"/>
    <p:sldId id="395" r:id="rId9"/>
    <p:sldId id="265" r:id="rId10"/>
    <p:sldId id="396" r:id="rId11"/>
    <p:sldId id="269" r:id="rId12"/>
    <p:sldId id="271" r:id="rId13"/>
    <p:sldId id="272" r:id="rId14"/>
    <p:sldId id="390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344" r:id="rId24"/>
    <p:sldId id="388" r:id="rId25"/>
    <p:sldId id="280" r:id="rId26"/>
    <p:sldId id="299" r:id="rId27"/>
    <p:sldId id="378" r:id="rId28"/>
    <p:sldId id="300" r:id="rId29"/>
    <p:sldId id="379" r:id="rId30"/>
    <p:sldId id="301" r:id="rId31"/>
    <p:sldId id="380" r:id="rId32"/>
    <p:sldId id="392" r:id="rId33"/>
    <p:sldId id="387" r:id="rId34"/>
    <p:sldId id="302" r:id="rId35"/>
    <p:sldId id="303" r:id="rId36"/>
    <p:sldId id="391" r:id="rId37"/>
    <p:sldId id="393" r:id="rId38"/>
    <p:sldId id="3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4452D-6F8D-4A36-941E-42737D1FD4DE}" v="322" dt="2026-09-15T08:04:40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>
      <p:cViewPr varScale="1">
        <p:scale>
          <a:sx n="152" d="100"/>
          <a:sy n="152" d="100"/>
        </p:scale>
        <p:origin x="207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modSld">
      <pc:chgData name="Zhi Wang" userId="7588ea56f58b19c7" providerId="LiveId" clId="{96B72205-E234-467C-A3DC-8BF4882781A8}" dt="2026-09-13T12:51:25.268" v="8"/>
      <pc:docMkLst>
        <pc:docMk/>
      </pc:docMkLst>
      <pc:sldChg chg="modSp mod">
        <pc:chgData name="Zhi Wang" userId="7588ea56f58b19c7" providerId="LiveId" clId="{96B72205-E234-467C-A3DC-8BF4882781A8}" dt="2026-09-13T12:47:14.284" v="2" actId="20577"/>
        <pc:sldMkLst>
          <pc:docMk/>
          <pc:sldMk cId="413324664" sldId="261"/>
        </pc:sldMkLst>
        <pc:graphicFrameChg chg="modGraphic">
          <ac:chgData name="Zhi Wang" userId="7588ea56f58b19c7" providerId="LiveId" clId="{96B72205-E234-467C-A3DC-8BF4882781A8}" dt="2026-09-13T12:47:14.284" v="2" actId="20577"/>
          <ac:graphicFrameMkLst>
            <pc:docMk/>
            <pc:sldMk cId="413324664" sldId="261"/>
            <ac:graphicFrameMk id="3" creationId="{C04B0B90-7389-ED6B-176B-27A6B46DC12D}"/>
          </ac:graphicFrameMkLst>
        </pc:graphicFrameChg>
      </pc:sldChg>
      <pc:sldChg chg="modSp">
        <pc:chgData name="Zhi Wang" userId="7588ea56f58b19c7" providerId="LiveId" clId="{96B72205-E234-467C-A3DC-8BF4882781A8}" dt="2026-09-13T12:51:01.298" v="3"/>
        <pc:sldMkLst>
          <pc:docMk/>
          <pc:sldMk cId="1216858420" sldId="262"/>
        </pc:sldMkLst>
        <pc:graphicFrameChg chg="mod">
          <ac:chgData name="Zhi Wang" userId="7588ea56f58b19c7" providerId="LiveId" clId="{96B72205-E234-467C-A3DC-8BF4882781A8}" dt="2026-09-13T12:51:01.298" v="3"/>
          <ac:graphicFrameMkLst>
            <pc:docMk/>
            <pc:sldMk cId="1216858420" sldId="262"/>
            <ac:graphicFrameMk id="3" creationId="{B118BFA9-77E2-AC0C-4449-C41C48650991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471971529" sldId="263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471971529" sldId="263"/>
            <ac:graphicFrameMk id="4" creationId="{15B06F32-AAED-4A6D-E7B0-81EB68F97C8F}"/>
          </ac:graphicFrameMkLst>
        </pc:graphicFrameChg>
      </pc:sldChg>
      <pc:sldChg chg="modSp">
        <pc:chgData name="Zhi Wang" userId="7588ea56f58b19c7" providerId="LiveId" clId="{96B72205-E234-467C-A3DC-8BF4882781A8}" dt="2026-09-13T12:51:05.160" v="5"/>
        <pc:sldMkLst>
          <pc:docMk/>
          <pc:sldMk cId="2305266643" sldId="264"/>
        </pc:sldMkLst>
        <pc:graphicFrameChg chg="mod">
          <ac:chgData name="Zhi Wang" userId="7588ea56f58b19c7" providerId="LiveId" clId="{96B72205-E234-467C-A3DC-8BF4882781A8}" dt="2026-09-13T12:51:05.160" v="5"/>
          <ac:graphicFrameMkLst>
            <pc:docMk/>
            <pc:sldMk cId="2305266643" sldId="264"/>
            <ac:graphicFrameMk id="4" creationId="{15252772-D0C3-1B0B-8951-EF6C3870351B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316479647" sldId="265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316479647" sldId="265"/>
            <ac:graphicFrameMk id="4" creationId="{F1C82363-FE06-7EB7-D45F-B18AA7A163B0}"/>
          </ac:graphicFrameMkLst>
        </pc:graphicFrameChg>
      </pc:sldChg>
      <pc:sldChg chg="modSp">
        <pc:chgData name="Zhi Wang" userId="7588ea56f58b19c7" providerId="LiveId" clId="{96B72205-E234-467C-A3DC-8BF4882781A8}" dt="2026-09-13T12:51:08.784" v="7"/>
        <pc:sldMkLst>
          <pc:docMk/>
          <pc:sldMk cId="2885078208" sldId="267"/>
        </pc:sldMkLst>
        <pc:graphicFrameChg chg="mod">
          <ac:chgData name="Zhi Wang" userId="7588ea56f58b19c7" providerId="LiveId" clId="{96B72205-E234-467C-A3DC-8BF4882781A8}" dt="2026-09-13T12:51:08.784" v="7"/>
          <ac:graphicFrameMkLst>
            <pc:docMk/>
            <pc:sldMk cId="2885078208" sldId="267"/>
            <ac:graphicFrameMk id="7" creationId="{4030A735-BEC5-333E-2766-68BAF9A9DF49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267349032" sldId="269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267349032" sldId="269"/>
            <ac:graphicFrameMk id="3" creationId="{1046C7B0-B449-A15C-382C-236A957648D2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719474711" sldId="270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719474711" sldId="270"/>
            <ac:graphicFrameMk id="3" creationId="{C4EDC36D-9FC6-EC2D-9047-ED9D1317B5E1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675938675" sldId="271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675938675" sldId="271"/>
            <ac:graphicFrameMk id="8" creationId="{6167B5C3-44B4-B3E7-5EB5-1E68DA7A4A58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778900633" sldId="272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778900633" sldId="272"/>
            <ac:graphicFrameMk id="5" creationId="{49E189E4-F4F6-5EC7-13F4-FFE5ECD8DD3E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034326471" sldId="273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034326471" sldId="273"/>
            <ac:graphicFrameMk id="5" creationId="{28AED9D8-EFCE-AB48-3ED7-F0D41DAD7D7A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5008419" sldId="274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5008419" sldId="274"/>
            <ac:graphicFrameMk id="4" creationId="{EF1C0978-B96B-8A37-EF5D-859208CB5CD5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693636990" sldId="275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693636990" sldId="275"/>
            <ac:graphicFrameMk id="4" creationId="{6F061C0E-4136-3151-9BF5-C5E81761612C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701534042" sldId="276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701534042" sldId="276"/>
            <ac:graphicFrameMk id="4" creationId="{473AC468-91AA-6DD5-D6D8-55AE312DCB97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802711248" sldId="277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802711248" sldId="277"/>
            <ac:graphicFrameMk id="5" creationId="{63AEB6EB-17AF-5468-4516-0110A3F87FF9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305070587" sldId="278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305070587" sldId="278"/>
            <ac:graphicFrameMk id="4" creationId="{2C0634A9-9C7A-87FF-CC9F-FCC293310659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544338880" sldId="279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544338880" sldId="279"/>
            <ac:graphicFrameMk id="5" creationId="{AD85CD21-04A0-F7B4-73C4-C59491C425CB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095197388" sldId="280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095197388" sldId="280"/>
            <ac:graphicFrameMk id="4" creationId="{A537F985-44DE-C716-E367-06365AC995B6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0" sldId="299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0" sldId="299"/>
            <ac:graphicFrameMk id="3" creationId="{2B5F74D6-855A-1060-6EA7-76D570D35E2B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0" sldId="300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0" sldId="300"/>
            <ac:graphicFrameMk id="3" creationId="{213EE450-531A-61F1-EB25-F1C2AD08BD23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0" sldId="301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0" sldId="301"/>
            <ac:graphicFrameMk id="3" creationId="{02BF407B-2598-2328-072D-0E2AD96493E8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0" sldId="302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0" sldId="302"/>
            <ac:graphicFrameMk id="4" creationId="{FF03FB5E-99C2-D217-010C-D6354325D7BE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0" sldId="303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0" sldId="303"/>
            <ac:graphicFrameMk id="6" creationId="{5B561119-C032-D556-2260-06101CCEE302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394849968" sldId="344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394849968" sldId="344"/>
            <ac:graphicFrameMk id="3" creationId="{8826872D-0DFC-24CB-08CA-6F627D1B72A3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110276518" sldId="378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110276518" sldId="378"/>
            <ac:graphicFrameMk id="2" creationId="{C3675275-FBB6-2D70-7EE1-9C0CDF906FB7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792524146" sldId="379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792524146" sldId="379"/>
            <ac:graphicFrameMk id="2" creationId="{0D37BB06-C1F5-AAE4-021E-52FD06FE2197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465741382" sldId="380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465741382" sldId="380"/>
            <ac:graphicFrameMk id="2" creationId="{1A4A27DC-6730-7612-4B3B-0F3A5E7BCD26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718374751" sldId="387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718374751" sldId="387"/>
            <ac:graphicFrameMk id="4" creationId="{F3F06A44-FE55-4F2A-B9C4-8B5C1F37E78B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981374566" sldId="388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981374566" sldId="388"/>
            <ac:graphicFrameMk id="7" creationId="{DE53498F-43E5-85D6-FED2-172FC1C383F3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0" sldId="389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0" sldId="389"/>
            <ac:graphicFrameMk id="4" creationId="{EFD3609B-C99D-44D0-4EA3-CFEBB16216BF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008157760" sldId="390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008157760" sldId="390"/>
            <ac:graphicFrameMk id="4" creationId="{E14A2288-1EDB-53B2-0B76-3594F6C9EF14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453802605" sldId="391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453802605" sldId="391"/>
            <ac:graphicFrameMk id="3" creationId="{2F6B0177-CF31-BA8C-EF1B-8B26C12FBBA0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2803688971" sldId="392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2803688971" sldId="392"/>
            <ac:graphicFrameMk id="2" creationId="{C3792E42-094B-1114-EFBC-1175A5A7293D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3620511800" sldId="393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3620511800" sldId="393"/>
            <ac:graphicFrameMk id="2" creationId="{00775010-D90E-A841-E56F-0DE90E012424}"/>
          </ac:graphicFrameMkLst>
        </pc:graphicFrameChg>
      </pc:sldChg>
      <pc:sldChg chg="modSp">
        <pc:chgData name="Zhi Wang" userId="7588ea56f58b19c7" providerId="LiveId" clId="{96B72205-E234-467C-A3DC-8BF4882781A8}" dt="2026-09-13T12:51:06.946" v="6"/>
        <pc:sldMkLst>
          <pc:docMk/>
          <pc:sldMk cId="2490643131" sldId="394"/>
        </pc:sldMkLst>
        <pc:graphicFrameChg chg="mod">
          <ac:chgData name="Zhi Wang" userId="7588ea56f58b19c7" providerId="LiveId" clId="{96B72205-E234-467C-A3DC-8BF4882781A8}" dt="2026-09-13T12:51:06.946" v="6"/>
          <ac:graphicFrameMkLst>
            <pc:docMk/>
            <pc:sldMk cId="2490643131" sldId="394"/>
            <ac:graphicFrameMk id="79" creationId="{1CE9E692-2CAC-7D6C-1E91-EC24B7A9C23E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788016762" sldId="395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788016762" sldId="395"/>
            <ac:graphicFrameMk id="5" creationId="{51E2477E-4028-BB63-4304-1D3DF3AB9D7A}"/>
          </ac:graphicFrameMkLst>
        </pc:graphicFrameChg>
      </pc:sldChg>
      <pc:sldChg chg="modSp">
        <pc:chgData name="Zhi Wang" userId="7588ea56f58b19c7" providerId="LiveId" clId="{96B72205-E234-467C-A3DC-8BF4882781A8}" dt="2026-09-13T12:51:25.268" v="8"/>
        <pc:sldMkLst>
          <pc:docMk/>
          <pc:sldMk cId="1289090359" sldId="396"/>
        </pc:sldMkLst>
        <pc:graphicFrameChg chg="mod">
          <ac:chgData name="Zhi Wang" userId="7588ea56f58b19c7" providerId="LiveId" clId="{96B72205-E234-467C-A3DC-8BF4882781A8}" dt="2026-09-13T12:51:25.268" v="8"/>
          <ac:graphicFrameMkLst>
            <pc:docMk/>
            <pc:sldMk cId="1289090359" sldId="396"/>
            <ac:graphicFrameMk id="8" creationId="{B9733273-AD26-1DC2-EBE4-9B6A0F1BFF7D}"/>
          </ac:graphicFrameMkLst>
        </pc:graphicFrameChg>
      </pc:sldChg>
    </pc:docChg>
  </pc:docChgLst>
  <pc:docChgLst>
    <pc:chgData name="Zhi Wang" userId="7588ea56f58b19c7" providerId="LiveId" clId="{774C7CDD-8B60-419F-A773-E1B9126FB4F0}"/>
    <pc:docChg chg="undo custSel modSld">
      <pc:chgData name="Zhi Wang" userId="7588ea56f58b19c7" providerId="LiveId" clId="{774C7CDD-8B60-419F-A773-E1B9126FB4F0}" dt="2026-09-15T08:04:40.405" v="727"/>
      <pc:docMkLst>
        <pc:docMk/>
      </pc:docMkLst>
      <pc:sldChg chg="addSp modSp mod">
        <pc:chgData name="Zhi Wang" userId="7588ea56f58b19c7" providerId="LiveId" clId="{774C7CDD-8B60-419F-A773-E1B9126FB4F0}" dt="2026-09-15T07:16:17.207" v="87" actId="208"/>
        <pc:sldMkLst>
          <pc:docMk/>
          <pc:sldMk cId="3471971529" sldId="263"/>
        </pc:sldMkLst>
        <pc:spChg chg="mod">
          <ac:chgData name="Zhi Wang" userId="7588ea56f58b19c7" providerId="LiveId" clId="{774C7CDD-8B60-419F-A773-E1B9126FB4F0}" dt="2026-09-15T07:15:15.612" v="80"/>
          <ac:spMkLst>
            <pc:docMk/>
            <pc:sldMk cId="3471971529" sldId="263"/>
            <ac:spMk id="3" creationId="{7F084C21-F0C2-ECE0-C2C8-692545763318}"/>
          </ac:spMkLst>
        </pc:spChg>
        <pc:spChg chg="add mod ord">
          <ac:chgData name="Zhi Wang" userId="7588ea56f58b19c7" providerId="LiveId" clId="{774C7CDD-8B60-419F-A773-E1B9126FB4F0}" dt="2026-09-15T07:16:17.207" v="87" actId="208"/>
          <ac:spMkLst>
            <pc:docMk/>
            <pc:sldMk cId="3471971529" sldId="263"/>
            <ac:spMk id="6" creationId="{C0EB8C6F-F745-CDD3-52CE-4A2087E25E6B}"/>
          </ac:spMkLst>
        </pc:spChg>
      </pc:sldChg>
      <pc:sldChg chg="modSp mod">
        <pc:chgData name="Zhi Wang" userId="7588ea56f58b19c7" providerId="LiveId" clId="{774C7CDD-8B60-419F-A773-E1B9126FB4F0}" dt="2026-09-15T07:14:46.583" v="78" actId="20577"/>
        <pc:sldMkLst>
          <pc:docMk/>
          <pc:sldMk cId="2305266643" sldId="264"/>
        </pc:sldMkLst>
        <pc:spChg chg="mod">
          <ac:chgData name="Zhi Wang" userId="7588ea56f58b19c7" providerId="LiveId" clId="{774C7CDD-8B60-419F-A773-E1B9126FB4F0}" dt="2026-09-15T07:14:46.583" v="78" actId="20577"/>
          <ac:spMkLst>
            <pc:docMk/>
            <pc:sldMk cId="2305266643" sldId="264"/>
            <ac:spMk id="3" creationId="{48936FC1-6899-C2EA-7961-A7EFC70FF3DA}"/>
          </ac:spMkLst>
        </pc:spChg>
      </pc:sldChg>
      <pc:sldChg chg="modSp mod">
        <pc:chgData name="Zhi Wang" userId="7588ea56f58b19c7" providerId="LiveId" clId="{774C7CDD-8B60-419F-A773-E1B9126FB4F0}" dt="2026-09-15T07:18:28.119" v="114" actId="1076"/>
        <pc:sldMkLst>
          <pc:docMk/>
          <pc:sldMk cId="1267349032" sldId="269"/>
        </pc:sldMkLst>
        <pc:spChg chg="mod">
          <ac:chgData name="Zhi Wang" userId="7588ea56f58b19c7" providerId="LiveId" clId="{774C7CDD-8B60-419F-A773-E1B9126FB4F0}" dt="2026-09-15T07:18:28.119" v="114" actId="1076"/>
          <ac:spMkLst>
            <pc:docMk/>
            <pc:sldMk cId="1267349032" sldId="269"/>
            <ac:spMk id="6" creationId="{C4887C79-1DA8-FA80-83E1-4F917EC3F2F9}"/>
          </ac:spMkLst>
        </pc:spChg>
        <pc:spChg chg="mod">
          <ac:chgData name="Zhi Wang" userId="7588ea56f58b19c7" providerId="LiveId" clId="{774C7CDD-8B60-419F-A773-E1B9126FB4F0}" dt="2026-09-15T07:18:13.521" v="110" actId="1076"/>
          <ac:spMkLst>
            <pc:docMk/>
            <pc:sldMk cId="1267349032" sldId="269"/>
            <ac:spMk id="9" creationId="{8A527E15-348B-C7EC-E214-901C614BB6D0}"/>
          </ac:spMkLst>
        </pc:spChg>
      </pc:sldChg>
      <pc:sldChg chg="addSp modSp mod">
        <pc:chgData name="Zhi Wang" userId="7588ea56f58b19c7" providerId="LiveId" clId="{774C7CDD-8B60-419F-A773-E1B9126FB4F0}" dt="2026-09-15T07:40:07.846" v="388" actId="1582"/>
        <pc:sldMkLst>
          <pc:docMk/>
          <pc:sldMk cId="3719474711" sldId="270"/>
        </pc:sldMkLst>
        <pc:spChg chg="add mod">
          <ac:chgData name="Zhi Wang" userId="7588ea56f58b19c7" providerId="LiveId" clId="{774C7CDD-8B60-419F-A773-E1B9126FB4F0}" dt="2026-09-15T07:38:51.837" v="367" actId="1076"/>
          <ac:spMkLst>
            <pc:docMk/>
            <pc:sldMk cId="3719474711" sldId="270"/>
            <ac:spMk id="10" creationId="{53F6EB4E-3034-33A5-4528-019CCD87CA05}"/>
          </ac:spMkLst>
        </pc:spChg>
        <pc:spChg chg="add mod">
          <ac:chgData name="Zhi Wang" userId="7588ea56f58b19c7" providerId="LiveId" clId="{774C7CDD-8B60-419F-A773-E1B9126FB4F0}" dt="2026-09-15T07:39:14.705" v="378" actId="20577"/>
          <ac:spMkLst>
            <pc:docMk/>
            <pc:sldMk cId="3719474711" sldId="270"/>
            <ac:spMk id="14" creationId="{66CF50E8-C3BF-1E17-78BC-F922D93DF2E9}"/>
          </ac:spMkLst>
        </pc:spChg>
        <pc:spChg chg="mod">
          <ac:chgData name="Zhi Wang" userId="7588ea56f58b19c7" providerId="LiveId" clId="{774C7CDD-8B60-419F-A773-E1B9126FB4F0}" dt="2026-09-15T07:39:40.290" v="384"/>
          <ac:spMkLst>
            <pc:docMk/>
            <pc:sldMk cId="3719474711" sldId="270"/>
            <ac:spMk id="18" creationId="{BF64A9BF-FCFF-32DE-9E82-1A712A649776}"/>
          </ac:spMkLst>
        </pc:spChg>
        <pc:spChg chg="mod">
          <ac:chgData name="Zhi Wang" userId="7588ea56f58b19c7" providerId="LiveId" clId="{774C7CDD-8B60-419F-A773-E1B9126FB4F0}" dt="2026-09-15T07:37:06.612" v="343" actId="1076"/>
          <ac:spMkLst>
            <pc:docMk/>
            <pc:sldMk cId="3719474711" sldId="270"/>
            <ac:spMk id="21" creationId="{17D2A6FB-36C3-9C74-3B2E-6393DC791FEA}"/>
          </ac:spMkLst>
        </pc:spChg>
        <pc:spChg chg="mod">
          <ac:chgData name="Zhi Wang" userId="7588ea56f58b19c7" providerId="LiveId" clId="{774C7CDD-8B60-419F-A773-E1B9126FB4F0}" dt="2026-09-15T07:37:06.612" v="343" actId="1076"/>
          <ac:spMkLst>
            <pc:docMk/>
            <pc:sldMk cId="3719474711" sldId="270"/>
            <ac:spMk id="22" creationId="{F17AD4B8-3115-3B1C-9298-F54EF125CB7A}"/>
          </ac:spMkLst>
        </pc:spChg>
        <pc:picChg chg="add mod modCrop">
          <ac:chgData name="Zhi Wang" userId="7588ea56f58b19c7" providerId="LiveId" clId="{774C7CDD-8B60-419F-A773-E1B9126FB4F0}" dt="2026-09-15T07:37:06.612" v="343" actId="1076"/>
          <ac:picMkLst>
            <pc:docMk/>
            <pc:sldMk cId="3719474711" sldId="270"/>
            <ac:picMk id="5" creationId="{66562339-7DFC-7F87-F692-DFC287D5C9C6}"/>
          </ac:picMkLst>
        </pc:picChg>
        <pc:picChg chg="mod">
          <ac:chgData name="Zhi Wang" userId="7588ea56f58b19c7" providerId="LiveId" clId="{774C7CDD-8B60-419F-A773-E1B9126FB4F0}" dt="2026-09-15T07:37:56.611" v="360" actId="1037"/>
          <ac:picMkLst>
            <pc:docMk/>
            <pc:sldMk cId="3719474711" sldId="270"/>
            <ac:picMk id="13" creationId="{206DB404-78B4-354D-B8FA-406B9651D33C}"/>
          </ac:picMkLst>
        </pc:picChg>
        <pc:picChg chg="mod">
          <ac:chgData name="Zhi Wang" userId="7588ea56f58b19c7" providerId="LiveId" clId="{774C7CDD-8B60-419F-A773-E1B9126FB4F0}" dt="2026-09-15T07:36:59.933" v="342" actId="1076"/>
          <ac:picMkLst>
            <pc:docMk/>
            <pc:sldMk cId="3719474711" sldId="270"/>
            <ac:picMk id="15" creationId="{D0129B12-F20A-C498-0D8C-DDE8D20B3E7F}"/>
          </ac:picMkLst>
        </pc:picChg>
        <pc:cxnChg chg="add mod">
          <ac:chgData name="Zhi Wang" userId="7588ea56f58b19c7" providerId="LiveId" clId="{774C7CDD-8B60-419F-A773-E1B9126FB4F0}" dt="2026-09-15T07:37:33.011" v="349" actId="14100"/>
          <ac:cxnSpMkLst>
            <pc:docMk/>
            <pc:sldMk cId="3719474711" sldId="270"/>
            <ac:cxnSpMk id="7" creationId="{39582D82-0CD0-BFCF-9E2E-77693BDD83F1}"/>
          </ac:cxnSpMkLst>
        </pc:cxnChg>
        <pc:cxnChg chg="add mod">
          <ac:chgData name="Zhi Wang" userId="7588ea56f58b19c7" providerId="LiveId" clId="{774C7CDD-8B60-419F-A773-E1B9126FB4F0}" dt="2026-09-15T07:40:07.846" v="388" actId="1582"/>
          <ac:cxnSpMkLst>
            <pc:docMk/>
            <pc:sldMk cId="3719474711" sldId="270"/>
            <ac:cxnSpMk id="17" creationId="{538491AE-ADAA-BA3C-4E43-695B7FA475A2}"/>
          </ac:cxnSpMkLst>
        </pc:cxnChg>
      </pc:sldChg>
      <pc:sldChg chg="addSp delSp modSp mod">
        <pc:chgData name="Zhi Wang" userId="7588ea56f58b19c7" providerId="LiveId" clId="{774C7CDD-8B60-419F-A773-E1B9126FB4F0}" dt="2026-09-15T07:24:46.242" v="223" actId="207"/>
        <pc:sldMkLst>
          <pc:docMk/>
          <pc:sldMk cId="2675938675" sldId="271"/>
        </pc:sldMkLst>
        <pc:spChg chg="del">
          <ac:chgData name="Zhi Wang" userId="7588ea56f58b19c7" providerId="LiveId" clId="{774C7CDD-8B60-419F-A773-E1B9126FB4F0}" dt="2026-09-15T07:18:58.107" v="115" actId="478"/>
          <ac:spMkLst>
            <pc:docMk/>
            <pc:sldMk cId="2675938675" sldId="271"/>
            <ac:spMk id="2" creationId="{FB9BE560-7819-CDB6-2A91-1F81969D51C5}"/>
          </ac:spMkLst>
        </pc:spChg>
        <pc:spChg chg="mod">
          <ac:chgData name="Zhi Wang" userId="7588ea56f58b19c7" providerId="LiveId" clId="{774C7CDD-8B60-419F-A773-E1B9126FB4F0}" dt="2026-09-15T07:19:50.643" v="128" actId="21"/>
          <ac:spMkLst>
            <pc:docMk/>
            <pc:sldMk cId="2675938675" sldId="271"/>
            <ac:spMk id="3" creationId="{C00048AA-0BE0-DE0E-8B5F-EC3241E9BDAA}"/>
          </ac:spMkLst>
        </pc:spChg>
        <pc:spChg chg="mod">
          <ac:chgData name="Zhi Wang" userId="7588ea56f58b19c7" providerId="LiveId" clId="{774C7CDD-8B60-419F-A773-E1B9126FB4F0}" dt="2026-09-15T07:24:46.242" v="223" actId="207"/>
          <ac:spMkLst>
            <pc:docMk/>
            <pc:sldMk cId="2675938675" sldId="271"/>
            <ac:spMk id="5" creationId="{0BE7F3EB-4702-F01C-AD06-9B7600E37209}"/>
          </ac:spMkLst>
        </pc:spChg>
        <pc:spChg chg="del">
          <ac:chgData name="Zhi Wang" userId="7588ea56f58b19c7" providerId="LiveId" clId="{774C7CDD-8B60-419F-A773-E1B9126FB4F0}" dt="2026-09-15T07:19:01.399" v="117" actId="478"/>
          <ac:spMkLst>
            <pc:docMk/>
            <pc:sldMk cId="2675938675" sldId="271"/>
            <ac:spMk id="7" creationId="{E0A9EF07-1D91-E2A6-A642-EF923171C42F}"/>
          </ac:spMkLst>
        </pc:spChg>
        <pc:spChg chg="add del mod">
          <ac:chgData name="Zhi Wang" userId="7588ea56f58b19c7" providerId="LiveId" clId="{774C7CDD-8B60-419F-A773-E1B9126FB4F0}" dt="2026-09-15T07:19:00.304" v="116" actId="478"/>
          <ac:spMkLst>
            <pc:docMk/>
            <pc:sldMk cId="2675938675" sldId="271"/>
            <ac:spMk id="10" creationId="{B2C368B9-C937-9BF4-8E2C-3CA9337289CD}"/>
          </ac:spMkLst>
        </pc:spChg>
        <pc:spChg chg="add mod">
          <ac:chgData name="Zhi Wang" userId="7588ea56f58b19c7" providerId="LiveId" clId="{774C7CDD-8B60-419F-A773-E1B9126FB4F0}" dt="2026-09-15T07:19:48.001" v="127" actId="1076"/>
          <ac:spMkLst>
            <pc:docMk/>
            <pc:sldMk cId="2675938675" sldId="271"/>
            <ac:spMk id="12" creationId="{9C56928C-8E7C-019A-BD42-C198C8273EBF}"/>
          </ac:spMkLst>
        </pc:spChg>
        <pc:picChg chg="mod">
          <ac:chgData name="Zhi Wang" userId="7588ea56f58b19c7" providerId="LiveId" clId="{774C7CDD-8B60-419F-A773-E1B9126FB4F0}" dt="2026-09-15T07:19:43.471" v="125" actId="1076"/>
          <ac:picMkLst>
            <pc:docMk/>
            <pc:sldMk cId="2675938675" sldId="271"/>
            <ac:picMk id="4" creationId="{70B834FD-5054-6D3C-F96B-8A6E244AFFA2}"/>
          </ac:picMkLst>
        </pc:picChg>
        <pc:picChg chg="mod">
          <ac:chgData name="Zhi Wang" userId="7588ea56f58b19c7" providerId="LiveId" clId="{774C7CDD-8B60-419F-A773-E1B9126FB4F0}" dt="2026-09-15T07:23:23.856" v="202" actId="1076"/>
          <ac:picMkLst>
            <pc:docMk/>
            <pc:sldMk cId="2675938675" sldId="271"/>
            <ac:picMk id="6" creationId="{3894B337-5186-685D-BE33-19016BE48FA6}"/>
          </ac:picMkLst>
        </pc:picChg>
      </pc:sldChg>
      <pc:sldChg chg="addSp delSp modSp mod">
        <pc:chgData name="Zhi Wang" userId="7588ea56f58b19c7" providerId="LiveId" clId="{774C7CDD-8B60-419F-A773-E1B9126FB4F0}" dt="2026-09-15T07:50:13.405" v="594" actId="14100"/>
        <pc:sldMkLst>
          <pc:docMk/>
          <pc:sldMk cId="2778900633" sldId="272"/>
        </pc:sldMkLst>
        <pc:spChg chg="del mod">
          <ac:chgData name="Zhi Wang" userId="7588ea56f58b19c7" providerId="LiveId" clId="{774C7CDD-8B60-419F-A773-E1B9126FB4F0}" dt="2026-09-15T07:29:00.590" v="255"/>
          <ac:spMkLst>
            <pc:docMk/>
            <pc:sldMk cId="2778900633" sldId="272"/>
            <ac:spMk id="3" creationId="{BAF4A402-F2F4-2FC1-D850-4F7D47AEBAA0}"/>
          </ac:spMkLst>
        </pc:spChg>
        <pc:spChg chg="mod">
          <ac:chgData name="Zhi Wang" userId="7588ea56f58b19c7" providerId="LiveId" clId="{774C7CDD-8B60-419F-A773-E1B9126FB4F0}" dt="2026-09-15T07:50:03.978" v="592"/>
          <ac:spMkLst>
            <pc:docMk/>
            <pc:sldMk cId="2778900633" sldId="272"/>
            <ac:spMk id="6" creationId="{68C828C2-2C59-E424-57FC-417967600883}"/>
          </ac:spMkLst>
        </pc:spChg>
        <pc:spChg chg="del mod">
          <ac:chgData name="Zhi Wang" userId="7588ea56f58b19c7" providerId="LiveId" clId="{774C7CDD-8B60-419F-A773-E1B9126FB4F0}" dt="2026-09-15T07:29:00.589" v="253"/>
          <ac:spMkLst>
            <pc:docMk/>
            <pc:sldMk cId="2778900633" sldId="272"/>
            <ac:spMk id="8" creationId="{5399137A-A4B6-E1FA-43C6-946103D68E87}"/>
          </ac:spMkLst>
        </pc:spChg>
        <pc:spChg chg="mod">
          <ac:chgData name="Zhi Wang" userId="7588ea56f58b19c7" providerId="LiveId" clId="{774C7CDD-8B60-419F-A773-E1B9126FB4F0}" dt="2026-09-15T07:31:42.317" v="266" actId="20577"/>
          <ac:spMkLst>
            <pc:docMk/>
            <pc:sldMk cId="2778900633" sldId="272"/>
            <ac:spMk id="9" creationId="{BC42A570-063C-B53B-540D-ABBF9C6301A9}"/>
          </ac:spMkLst>
        </pc:spChg>
        <pc:spChg chg="add mod ord">
          <ac:chgData name="Zhi Wang" userId="7588ea56f58b19c7" providerId="LiveId" clId="{774C7CDD-8B60-419F-A773-E1B9126FB4F0}" dt="2026-09-15T07:50:13.405" v="594" actId="14100"/>
          <ac:spMkLst>
            <pc:docMk/>
            <pc:sldMk cId="2778900633" sldId="272"/>
            <ac:spMk id="10" creationId="{A0EBEBA9-4F36-E9FE-A69A-23F25E91ECD3}"/>
          </ac:spMkLst>
        </pc:spChg>
        <pc:spChg chg="mod">
          <ac:chgData name="Zhi Wang" userId="7588ea56f58b19c7" providerId="LiveId" clId="{774C7CDD-8B60-419F-A773-E1B9126FB4F0}" dt="2026-09-15T07:31:59.850" v="269" actId="1076"/>
          <ac:spMkLst>
            <pc:docMk/>
            <pc:sldMk cId="2778900633" sldId="272"/>
            <ac:spMk id="11" creationId="{F9D0C1C9-F915-EB28-D29C-7FB13FB2026C}"/>
          </ac:spMkLst>
        </pc:spChg>
      </pc:sldChg>
      <pc:sldChg chg="addSp modSp mod">
        <pc:chgData name="Zhi Wang" userId="7588ea56f58b19c7" providerId="LiveId" clId="{774C7CDD-8B60-419F-A773-E1B9126FB4F0}" dt="2026-09-15T07:48:10.941" v="530"/>
        <pc:sldMkLst>
          <pc:docMk/>
          <pc:sldMk cId="2034326471" sldId="273"/>
        </pc:sldMkLst>
        <pc:spChg chg="mod">
          <ac:chgData name="Zhi Wang" userId="7588ea56f58b19c7" providerId="LiveId" clId="{774C7CDD-8B60-419F-A773-E1B9126FB4F0}" dt="2026-09-15T07:48:10.941" v="530"/>
          <ac:spMkLst>
            <pc:docMk/>
            <pc:sldMk cId="2034326471" sldId="273"/>
            <ac:spMk id="3" creationId="{76942BE6-42EC-49DE-E187-495146676EB4}"/>
          </ac:spMkLst>
        </pc:spChg>
        <pc:picChg chg="add mod">
          <ac:chgData name="Zhi Wang" userId="7588ea56f58b19c7" providerId="LiveId" clId="{774C7CDD-8B60-419F-A773-E1B9126FB4F0}" dt="2026-09-15T07:42:31.149" v="451" actId="1076"/>
          <ac:picMkLst>
            <pc:docMk/>
            <pc:sldMk cId="2034326471" sldId="273"/>
            <ac:picMk id="7" creationId="{5679BAE4-528E-EF8D-8D37-3468AC747087}"/>
          </ac:picMkLst>
        </pc:picChg>
        <pc:picChg chg="mod">
          <ac:chgData name="Zhi Wang" userId="7588ea56f58b19c7" providerId="LiveId" clId="{774C7CDD-8B60-419F-A773-E1B9126FB4F0}" dt="2026-09-15T07:42:26.597" v="448" actId="1076"/>
          <ac:picMkLst>
            <pc:docMk/>
            <pc:sldMk cId="2034326471" sldId="273"/>
            <ac:picMk id="10" creationId="{4EFC9EA4-7AF5-4546-55F9-92C072262CDD}"/>
          </ac:picMkLst>
        </pc:picChg>
      </pc:sldChg>
      <pc:sldChg chg="addSp delSp modSp mod">
        <pc:chgData name="Zhi Wang" userId="7588ea56f58b19c7" providerId="LiveId" clId="{774C7CDD-8B60-419F-A773-E1B9126FB4F0}" dt="2026-09-15T07:45:37.376" v="513"/>
        <pc:sldMkLst>
          <pc:docMk/>
          <pc:sldMk cId="35008419" sldId="274"/>
        </pc:sldMkLst>
        <pc:spChg chg="mod">
          <ac:chgData name="Zhi Wang" userId="7588ea56f58b19c7" providerId="LiveId" clId="{774C7CDD-8B60-419F-A773-E1B9126FB4F0}" dt="2026-09-15T07:45:37.376" v="513"/>
          <ac:spMkLst>
            <pc:docMk/>
            <pc:sldMk cId="35008419" sldId="274"/>
            <ac:spMk id="3" creationId="{76942BE6-42EC-49DE-E187-495146676EB4}"/>
          </ac:spMkLst>
        </pc:spChg>
        <pc:picChg chg="add">
          <ac:chgData name="Zhi Wang" userId="7588ea56f58b19c7" providerId="LiveId" clId="{774C7CDD-8B60-419F-A773-E1B9126FB4F0}" dt="2026-09-15T07:43:22.531" v="468" actId="22"/>
          <ac:picMkLst>
            <pc:docMk/>
            <pc:sldMk cId="35008419" sldId="274"/>
            <ac:picMk id="6" creationId="{71DD2A07-F5FF-9547-B400-116C4AF1F456}"/>
          </ac:picMkLst>
        </pc:picChg>
        <pc:picChg chg="del">
          <ac:chgData name="Zhi Wang" userId="7588ea56f58b19c7" providerId="LiveId" clId="{774C7CDD-8B60-419F-A773-E1B9126FB4F0}" dt="2026-09-15T07:43:22.121" v="467" actId="478"/>
          <ac:picMkLst>
            <pc:docMk/>
            <pc:sldMk cId="35008419" sldId="274"/>
            <ac:picMk id="8" creationId="{67160FF5-60AD-5691-B0DF-758D668AABC6}"/>
          </ac:picMkLst>
        </pc:picChg>
        <pc:picChg chg="add">
          <ac:chgData name="Zhi Wang" userId="7588ea56f58b19c7" providerId="LiveId" clId="{774C7CDD-8B60-419F-A773-E1B9126FB4F0}" dt="2026-09-15T07:43:22.531" v="468" actId="22"/>
          <ac:picMkLst>
            <pc:docMk/>
            <pc:sldMk cId="35008419" sldId="274"/>
            <ac:picMk id="10" creationId="{F8644EF4-8395-11DA-40E9-ECF2AECC7742}"/>
          </ac:picMkLst>
        </pc:picChg>
      </pc:sldChg>
      <pc:sldChg chg="addSp delSp modSp mod">
        <pc:chgData name="Zhi Wang" userId="7588ea56f58b19c7" providerId="LiveId" clId="{774C7CDD-8B60-419F-A773-E1B9126FB4F0}" dt="2026-09-15T07:51:00.163" v="596" actId="478"/>
        <pc:sldMkLst>
          <pc:docMk/>
          <pc:sldMk cId="1693636990" sldId="275"/>
        </pc:sldMkLst>
        <pc:spChg chg="mod">
          <ac:chgData name="Zhi Wang" userId="7588ea56f58b19c7" providerId="LiveId" clId="{774C7CDD-8B60-419F-A773-E1B9126FB4F0}" dt="2026-09-15T07:46:23.345" v="518"/>
          <ac:spMkLst>
            <pc:docMk/>
            <pc:sldMk cId="1693636990" sldId="275"/>
            <ac:spMk id="3" creationId="{6FB49D07-B4D9-E50E-768A-806B9AAF5758}"/>
          </ac:spMkLst>
        </pc:spChg>
        <pc:spChg chg="add del">
          <ac:chgData name="Zhi Wang" userId="7588ea56f58b19c7" providerId="LiveId" clId="{774C7CDD-8B60-419F-A773-E1B9126FB4F0}" dt="2026-09-15T07:51:00.163" v="596" actId="478"/>
          <ac:spMkLst>
            <pc:docMk/>
            <pc:sldMk cId="1693636990" sldId="275"/>
            <ac:spMk id="5" creationId="{7869CBD2-F590-CA8C-1EC3-A1065691095E}"/>
          </ac:spMkLst>
        </pc:spChg>
      </pc:sldChg>
      <pc:sldChg chg="modSp">
        <pc:chgData name="Zhi Wang" userId="7588ea56f58b19c7" providerId="LiveId" clId="{774C7CDD-8B60-419F-A773-E1B9126FB4F0}" dt="2026-09-15T07:52:30.492" v="598" actId="20577"/>
        <pc:sldMkLst>
          <pc:docMk/>
          <pc:sldMk cId="701534042" sldId="276"/>
        </pc:sldMkLst>
        <pc:spChg chg="mod">
          <ac:chgData name="Zhi Wang" userId="7588ea56f58b19c7" providerId="LiveId" clId="{774C7CDD-8B60-419F-A773-E1B9126FB4F0}" dt="2026-09-15T07:52:30.492" v="598" actId="20577"/>
          <ac:spMkLst>
            <pc:docMk/>
            <pc:sldMk cId="701534042" sldId="276"/>
            <ac:spMk id="3" creationId="{B104B926-56E9-88D7-E840-68033E70CE10}"/>
          </ac:spMkLst>
        </pc:spChg>
      </pc:sldChg>
      <pc:sldChg chg="modSp mod">
        <pc:chgData name="Zhi Wang" userId="7588ea56f58b19c7" providerId="LiveId" clId="{774C7CDD-8B60-419F-A773-E1B9126FB4F0}" dt="2026-09-15T07:53:58.657" v="642" actId="1076"/>
        <pc:sldMkLst>
          <pc:docMk/>
          <pc:sldMk cId="1802711248" sldId="277"/>
        </pc:sldMkLst>
        <pc:spChg chg="mod">
          <ac:chgData name="Zhi Wang" userId="7588ea56f58b19c7" providerId="LiveId" clId="{774C7CDD-8B60-419F-A773-E1B9126FB4F0}" dt="2026-09-15T07:53:50.117" v="641" actId="20577"/>
          <ac:spMkLst>
            <pc:docMk/>
            <pc:sldMk cId="1802711248" sldId="277"/>
            <ac:spMk id="3" creationId="{B104B926-56E9-88D7-E840-68033E70CE10}"/>
          </ac:spMkLst>
        </pc:spChg>
        <pc:spChg chg="mod">
          <ac:chgData name="Zhi Wang" userId="7588ea56f58b19c7" providerId="LiveId" clId="{774C7CDD-8B60-419F-A773-E1B9126FB4F0}" dt="2026-09-15T07:53:58.657" v="642" actId="1076"/>
          <ac:spMkLst>
            <pc:docMk/>
            <pc:sldMk cId="1802711248" sldId="277"/>
            <ac:spMk id="4" creationId="{39E52B4B-ADDD-9A5D-DF2F-BC3C9BA8012E}"/>
          </ac:spMkLst>
        </pc:spChg>
      </pc:sldChg>
      <pc:sldChg chg="modSp mod">
        <pc:chgData name="Zhi Wang" userId="7588ea56f58b19c7" providerId="LiveId" clId="{774C7CDD-8B60-419F-A773-E1B9126FB4F0}" dt="2026-09-15T07:56:20.610" v="646" actId="20577"/>
        <pc:sldMkLst>
          <pc:docMk/>
          <pc:sldMk cId="3305070587" sldId="278"/>
        </pc:sldMkLst>
        <pc:spChg chg="mod">
          <ac:chgData name="Zhi Wang" userId="7588ea56f58b19c7" providerId="LiveId" clId="{774C7CDD-8B60-419F-A773-E1B9126FB4F0}" dt="2026-09-15T07:56:20.610" v="646" actId="20577"/>
          <ac:spMkLst>
            <pc:docMk/>
            <pc:sldMk cId="3305070587" sldId="278"/>
            <ac:spMk id="3" creationId="{EAF272E8-D658-34BE-94B7-24C4C2DD95E7}"/>
          </ac:spMkLst>
        </pc:spChg>
      </pc:sldChg>
      <pc:sldChg chg="addSp modSp mod">
        <pc:chgData name="Zhi Wang" userId="7588ea56f58b19c7" providerId="LiveId" clId="{774C7CDD-8B60-419F-A773-E1B9126FB4F0}" dt="2026-09-15T07:56:51.147" v="661" actId="1036"/>
        <pc:sldMkLst>
          <pc:docMk/>
          <pc:sldMk cId="1544338880" sldId="279"/>
        </pc:sldMkLst>
        <pc:spChg chg="add mod ord">
          <ac:chgData name="Zhi Wang" userId="7588ea56f58b19c7" providerId="LiveId" clId="{774C7CDD-8B60-419F-A773-E1B9126FB4F0}" dt="2026-09-15T07:56:51.147" v="661" actId="1036"/>
          <ac:spMkLst>
            <pc:docMk/>
            <pc:sldMk cId="1544338880" sldId="279"/>
            <ac:spMk id="7" creationId="{411C42CA-912D-6528-14C9-571C7730E417}"/>
          </ac:spMkLst>
        </pc:spChg>
      </pc:sldChg>
      <pc:sldChg chg="modSp mod">
        <pc:chgData name="Zhi Wang" userId="7588ea56f58b19c7" providerId="LiveId" clId="{774C7CDD-8B60-419F-A773-E1B9126FB4F0}" dt="2026-09-15T07:57:18.950" v="664" actId="27636"/>
        <pc:sldMkLst>
          <pc:docMk/>
          <pc:sldMk cId="2095197388" sldId="280"/>
        </pc:sldMkLst>
        <pc:spChg chg="mod">
          <ac:chgData name="Zhi Wang" userId="7588ea56f58b19c7" providerId="LiveId" clId="{774C7CDD-8B60-419F-A773-E1B9126FB4F0}" dt="2026-09-15T07:57:18.950" v="664" actId="27636"/>
          <ac:spMkLst>
            <pc:docMk/>
            <pc:sldMk cId="2095197388" sldId="280"/>
            <ac:spMk id="3" creationId="{6C6ED879-6576-30DF-FF7F-B08CFAE47DE5}"/>
          </ac:spMkLst>
        </pc:spChg>
      </pc:sldChg>
      <pc:sldChg chg="modSp mod">
        <pc:chgData name="Zhi Wang" userId="7588ea56f58b19c7" providerId="LiveId" clId="{774C7CDD-8B60-419F-A773-E1B9126FB4F0}" dt="2026-09-15T08:04:40.405" v="727"/>
        <pc:sldMkLst>
          <pc:docMk/>
          <pc:sldMk cId="2718374751" sldId="387"/>
        </pc:sldMkLst>
        <pc:spChg chg="mod">
          <ac:chgData name="Zhi Wang" userId="7588ea56f58b19c7" providerId="LiveId" clId="{774C7CDD-8B60-419F-A773-E1B9126FB4F0}" dt="2026-09-15T08:04:40.405" v="727"/>
          <ac:spMkLst>
            <pc:docMk/>
            <pc:sldMk cId="2718374751" sldId="387"/>
            <ac:spMk id="3" creationId="{00000000-0000-0000-0000-000000000000}"/>
          </ac:spMkLst>
        </pc:spChg>
      </pc:sldChg>
      <pc:sldChg chg="modSp mod">
        <pc:chgData name="Zhi Wang" userId="7588ea56f58b19c7" providerId="LiveId" clId="{774C7CDD-8B60-419F-A773-E1B9126FB4F0}" dt="2026-09-15T07:47:48.388" v="528"/>
        <pc:sldMkLst>
          <pc:docMk/>
          <pc:sldMk cId="1008157760" sldId="390"/>
        </pc:sldMkLst>
        <pc:spChg chg="mod">
          <ac:chgData name="Zhi Wang" userId="7588ea56f58b19c7" providerId="LiveId" clId="{774C7CDD-8B60-419F-A773-E1B9126FB4F0}" dt="2026-09-15T07:47:48.388" v="528"/>
          <ac:spMkLst>
            <pc:docMk/>
            <pc:sldMk cId="1008157760" sldId="390"/>
            <ac:spMk id="3" creationId="{AB434AC2-9835-7346-B87D-0E46BE9307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9CE24-6AE1-4E1E-B2E8-15837F885C4C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A6E1F-410B-44CA-9071-CB362EFAA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81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）举个二维晶格的倒格子的例子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）注意各基矢的正交关系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）虽然画在一个图上，但两者并不存在同一个空间里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68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）简单立方的倒格子仍然是简单立方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）注意倒格矢的变化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893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）体心立方的倒格子，先计算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）正好是一个面心立方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225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2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）面心立方的倒格子，计算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）正好是一个体心立方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）体心立方和面心立方互为倒易格子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）注意晶格常数的变化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638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）定理：倒格矢与正空间的晶面正交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）注意晶面将基矢等分的定义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）一个倒格矢与一族晶面对应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129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）倒格矢的长度与正格子晶面族的距离成反比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）证明技巧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32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18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68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69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01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02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9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7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5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57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8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98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7D697-67F9-425E-8A8B-F751BECC0F7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EC706-2F46-4E23-8FB6-E596A6C97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1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gif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5" Type="http://schemas.openxmlformats.org/officeDocument/2006/relationships/image" Target="../media/image390.png"/><Relationship Id="rId10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</a:t>
            </a:r>
            <a:r>
              <a:rPr lang="zh-CN" altLang="en-US" b="1" dirty="0">
                <a:solidFill>
                  <a:srgbClr val="FF0000"/>
                </a:solidFill>
              </a:rPr>
              <a:t>王峙</a:t>
            </a:r>
            <a:r>
              <a:rPr lang="zh-CN" altLang="en-US" b="1" dirty="0"/>
              <a:t>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</a:t>
            </a:r>
            <a:r>
              <a:rPr lang="en-US" altLang="zh-CN" b="1" dirty="0">
                <a:solidFill>
                  <a:srgbClr val="FF0000"/>
                </a:solidFill>
              </a:rPr>
              <a:t>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3" y="1289888"/>
            <a:ext cx="5854698" cy="4278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第一章 晶体结构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AAE2FF-96E1-56DE-7288-65B63ACD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8221" y="1289889"/>
            <a:ext cx="2989891" cy="4278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晶体衍射与倒格子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04B0B90-7389-ED6B-176B-27A6B46D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99184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911F1A0-34F3-5813-B442-C03E1D9F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晶体内部结构的观测方法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18CEFD4A-41B4-3428-A14D-378DF1A3AB7D}"/>
              </a:ext>
            </a:extLst>
          </p:cNvPr>
          <p:cNvSpPr/>
          <p:nvPr/>
        </p:nvSpPr>
        <p:spPr>
          <a:xfrm>
            <a:off x="325882" y="2249318"/>
            <a:ext cx="815292" cy="350520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581C2AB9-1748-BF5A-AB7D-0EF9BDDE124F}"/>
              </a:ext>
            </a:extLst>
          </p:cNvPr>
          <p:cNvSpPr/>
          <p:nvPr/>
        </p:nvSpPr>
        <p:spPr>
          <a:xfrm>
            <a:off x="1013792" y="2250345"/>
            <a:ext cx="7404070" cy="350520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箭头: V 形 7">
            <a:extLst>
              <a:ext uri="{FF2B5EF4-FFF2-40B4-BE49-F238E27FC236}">
                <a16:creationId xmlns:a16="http://schemas.microsoft.com/office/drawing/2014/main" id="{1219ACC5-8EA2-B448-4488-0568139DE8B9}"/>
              </a:ext>
            </a:extLst>
          </p:cNvPr>
          <p:cNvSpPr/>
          <p:nvPr/>
        </p:nvSpPr>
        <p:spPr>
          <a:xfrm>
            <a:off x="9737615" y="2249318"/>
            <a:ext cx="532820" cy="350520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26CDA8B0-31BC-77E7-7AC9-9B0271638EFC}"/>
              </a:ext>
            </a:extLst>
          </p:cNvPr>
          <p:cNvSpPr/>
          <p:nvPr/>
        </p:nvSpPr>
        <p:spPr>
          <a:xfrm>
            <a:off x="10151002" y="2249318"/>
            <a:ext cx="1776447" cy="35052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DD103B-00E7-78C9-19B1-7F994AE336FA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29" name="箭头: V 形 28">
            <a:extLst>
              <a:ext uri="{FF2B5EF4-FFF2-40B4-BE49-F238E27FC236}">
                <a16:creationId xmlns:a16="http://schemas.microsoft.com/office/drawing/2014/main" id="{8597F2A2-FFA5-5C3A-BF09-BD368C81EC18}"/>
              </a:ext>
            </a:extLst>
          </p:cNvPr>
          <p:cNvSpPr/>
          <p:nvPr/>
        </p:nvSpPr>
        <p:spPr>
          <a:xfrm>
            <a:off x="8305565" y="2249318"/>
            <a:ext cx="1560677" cy="350520"/>
          </a:xfrm>
          <a:prstGeom prst="chevron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015A155-DA16-4BF6-56FC-C3F9FC32A1C0}"/>
              </a:ext>
            </a:extLst>
          </p:cNvPr>
          <p:cNvGrpSpPr/>
          <p:nvPr/>
        </p:nvGrpSpPr>
        <p:grpSpPr>
          <a:xfrm>
            <a:off x="113308" y="3129276"/>
            <a:ext cx="2076016" cy="2536660"/>
            <a:chOff x="208487" y="2912467"/>
            <a:chExt cx="2076016" cy="2536660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6395C6-5BC9-37A0-5CA7-542527733369}"/>
                </a:ext>
              </a:extLst>
            </p:cNvPr>
            <p:cNvSpPr txBox="1"/>
            <p:nvPr/>
          </p:nvSpPr>
          <p:spPr>
            <a:xfrm>
              <a:off x="208487" y="2912467"/>
              <a:ext cx="2076016" cy="593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1611</a:t>
              </a:r>
              <a:r>
                <a:rPr lang="zh-CN" altLang="en-US" b="1" dirty="0"/>
                <a:t>年</a:t>
              </a:r>
              <a:endParaRPr lang="en-US" altLang="zh-CN" b="1" dirty="0"/>
            </a:p>
            <a:p>
              <a:pPr algn="ctr"/>
              <a:r>
                <a:rPr lang="zh-CN" altLang="en-US" dirty="0"/>
                <a:t>密堆积与开普勒猜想</a:t>
              </a:r>
            </a:p>
          </p:txBody>
        </p:sp>
        <p:pic>
          <p:nvPicPr>
            <p:cNvPr id="15" name="图片 14" descr="人的照片上写着字&#10;&#10;描述已自动生成">
              <a:extLst>
                <a:ext uri="{FF2B5EF4-FFF2-40B4-BE49-F238E27FC236}">
                  <a16:creationId xmlns:a16="http://schemas.microsoft.com/office/drawing/2014/main" id="{61D7B15F-DCA5-E73F-57F0-31FF4BE7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2974" y="3505614"/>
              <a:ext cx="1287042" cy="1656473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FE06124-105E-17ED-2885-2C9826403FC6}"/>
                </a:ext>
              </a:extLst>
            </p:cNvPr>
            <p:cNvSpPr txBox="1"/>
            <p:nvPr/>
          </p:nvSpPr>
          <p:spPr>
            <a:xfrm>
              <a:off x="459015" y="5110185"/>
              <a:ext cx="1574959" cy="338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Johannes Kepler</a:t>
              </a:r>
              <a:endParaRPr lang="zh-CN" altLang="en-US" dirty="0"/>
            </a:p>
          </p:txBody>
        </p:sp>
      </p:grpSp>
      <p:graphicFrame>
        <p:nvGraphicFramePr>
          <p:cNvPr id="81" name="表格 80">
            <a:extLst>
              <a:ext uri="{FF2B5EF4-FFF2-40B4-BE49-F238E27FC236}">
                <a16:creationId xmlns:a16="http://schemas.microsoft.com/office/drawing/2014/main" id="{D54EFFC8-7BF4-5055-0EBE-9468554FF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917456"/>
              </p:ext>
            </p:extLst>
          </p:nvPr>
        </p:nvGraphicFramePr>
        <p:xfrm>
          <a:off x="831571" y="1996795"/>
          <a:ext cx="10515603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7869263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8608519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3898878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26093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31712164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13923688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0015961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663712"/>
                  </a:ext>
                </a:extLst>
              </a:tr>
            </a:tbl>
          </a:graphicData>
        </a:graphic>
      </p:graphicFrame>
      <p:sp>
        <p:nvSpPr>
          <p:cNvPr id="84" name="文本框 83">
            <a:extLst>
              <a:ext uri="{FF2B5EF4-FFF2-40B4-BE49-F238E27FC236}">
                <a16:creationId xmlns:a16="http://schemas.microsoft.com/office/drawing/2014/main" id="{4D5D17E9-0370-E2F2-F857-D97718A6F7FC}"/>
              </a:ext>
            </a:extLst>
          </p:cNvPr>
          <p:cNvSpPr txBox="1"/>
          <p:nvPr/>
        </p:nvSpPr>
        <p:spPr>
          <a:xfrm>
            <a:off x="498573" y="169480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1600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9AA1B56-9620-7825-DEF8-71F09D2A643F}"/>
              </a:ext>
            </a:extLst>
          </p:cNvPr>
          <p:cNvSpPr txBox="1"/>
          <p:nvPr/>
        </p:nvSpPr>
        <p:spPr>
          <a:xfrm>
            <a:off x="3506920" y="170681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1700</a:t>
            </a:r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19CDB81-6684-3060-8252-3E394BCAA3A3}"/>
              </a:ext>
            </a:extLst>
          </p:cNvPr>
          <p:cNvSpPr txBox="1"/>
          <p:nvPr/>
        </p:nvSpPr>
        <p:spPr>
          <a:xfrm>
            <a:off x="6515267" y="169904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1800</a:t>
            </a:r>
            <a:endParaRPr lang="zh-CN" altLang="en-US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F30EF0E-137E-6C15-3074-8366FA072276}"/>
              </a:ext>
            </a:extLst>
          </p:cNvPr>
          <p:cNvSpPr txBox="1"/>
          <p:nvPr/>
        </p:nvSpPr>
        <p:spPr>
          <a:xfrm>
            <a:off x="9523614" y="171164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1900</a:t>
            </a:r>
            <a:endParaRPr lang="zh-CN" altLang="en-US" dirty="0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F5085298-574B-B2E7-6F24-16999A77BAF9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080052" y="2676245"/>
            <a:ext cx="71264" cy="45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E054E49F-E1A5-2207-5DD3-7C03B4F410F0}"/>
              </a:ext>
            </a:extLst>
          </p:cNvPr>
          <p:cNvGrpSpPr/>
          <p:nvPr/>
        </p:nvGrpSpPr>
        <p:grpSpPr>
          <a:xfrm>
            <a:off x="2376969" y="3129276"/>
            <a:ext cx="1661610" cy="2567050"/>
            <a:chOff x="415690" y="2912467"/>
            <a:chExt cx="1661610" cy="2567050"/>
          </a:xfrm>
        </p:grpSpPr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2120610A-FED8-1C10-A0BC-8E76A45D4989}"/>
                </a:ext>
              </a:extLst>
            </p:cNvPr>
            <p:cNvSpPr txBox="1"/>
            <p:nvPr/>
          </p:nvSpPr>
          <p:spPr>
            <a:xfrm>
              <a:off x="573073" y="2912467"/>
              <a:ext cx="13468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1850</a:t>
              </a:r>
              <a:r>
                <a:rPr lang="zh-CN" altLang="en-US" b="1" dirty="0"/>
                <a:t>年</a:t>
              </a:r>
            </a:p>
            <a:p>
              <a:pPr algn="ctr"/>
              <a:r>
                <a:rPr lang="zh-CN" altLang="en-US" dirty="0"/>
                <a:t>布拉维格子</a:t>
              </a:r>
            </a:p>
          </p:txBody>
        </p:sp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120178DE-ED0C-F17F-2A84-E1855BBFE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1151" r="11151"/>
            <a:stretch/>
          </p:blipFill>
          <p:spPr>
            <a:xfrm>
              <a:off x="602974" y="3505614"/>
              <a:ext cx="1287042" cy="1656473"/>
            </a:xfrm>
            <a:prstGeom prst="rect">
              <a:avLst/>
            </a:prstGeom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258551E9-F556-19F5-C7F3-47BED3172A8E}"/>
                </a:ext>
              </a:extLst>
            </p:cNvPr>
            <p:cNvSpPr txBox="1"/>
            <p:nvPr/>
          </p:nvSpPr>
          <p:spPr>
            <a:xfrm>
              <a:off x="415690" y="5110185"/>
              <a:ext cx="16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Auguste Bravais</a:t>
              </a: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1816047-E50B-3D52-A702-06EF76755F72}"/>
              </a:ext>
            </a:extLst>
          </p:cNvPr>
          <p:cNvGrpSpPr/>
          <p:nvPr/>
        </p:nvGrpSpPr>
        <p:grpSpPr>
          <a:xfrm>
            <a:off x="4277264" y="3129276"/>
            <a:ext cx="3029775" cy="2863608"/>
            <a:chOff x="4531367" y="3109717"/>
            <a:chExt cx="3029775" cy="2863608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F6952F6-29F2-0376-2EE9-D310725FFB0C}"/>
                </a:ext>
              </a:extLst>
            </p:cNvPr>
            <p:cNvSpPr txBox="1"/>
            <p:nvPr/>
          </p:nvSpPr>
          <p:spPr>
            <a:xfrm>
              <a:off x="4848625" y="3109717"/>
              <a:ext cx="26132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1891</a:t>
              </a:r>
              <a:r>
                <a:rPr lang="zh-CN" altLang="en-US" b="1" dirty="0"/>
                <a:t>年</a:t>
              </a:r>
            </a:p>
            <a:p>
              <a:pPr algn="ctr"/>
              <a:r>
                <a:rPr lang="zh-CN" altLang="en-US" dirty="0"/>
                <a:t>三维空间的</a:t>
              </a:r>
              <a:r>
                <a:rPr lang="en-US" altLang="zh-CN" dirty="0"/>
                <a:t>230</a:t>
              </a:r>
              <a:r>
                <a:rPr lang="zh-CN" altLang="en-US" dirty="0"/>
                <a:t>个空间群</a:t>
              </a:r>
            </a:p>
          </p:txBody>
        </p: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B5DA9748-0C46-E453-A756-752D63C38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74119" y="3722423"/>
              <a:ext cx="1287042" cy="1656473"/>
            </a:xfrm>
            <a:prstGeom prst="rect">
              <a:avLst/>
            </a:prstGeom>
          </p:spPr>
        </p:pic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07FCFBD-FCAF-2323-8126-90C770D9C1FB}"/>
                </a:ext>
              </a:extLst>
            </p:cNvPr>
            <p:cNvSpPr txBox="1"/>
            <p:nvPr/>
          </p:nvSpPr>
          <p:spPr>
            <a:xfrm>
              <a:off x="4531367" y="5326994"/>
              <a:ext cx="1572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Evgraf Fedorov</a:t>
              </a:r>
            </a:p>
          </p:txBody>
        </p:sp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051D3CE6-689C-A4B2-126D-3E32B40E4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55233" y="3722423"/>
              <a:ext cx="1287042" cy="1656473"/>
            </a:xfrm>
            <a:prstGeom prst="rect">
              <a:avLst/>
            </a:prstGeom>
          </p:spPr>
        </p:pic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DB6FC56-4CA9-783F-0BDD-5CA5FE545334}"/>
                </a:ext>
              </a:extLst>
            </p:cNvPr>
            <p:cNvSpPr txBox="1"/>
            <p:nvPr/>
          </p:nvSpPr>
          <p:spPr>
            <a:xfrm>
              <a:off x="6036366" y="5326994"/>
              <a:ext cx="15247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Arthur Moritz </a:t>
              </a:r>
            </a:p>
            <a:p>
              <a:pPr algn="ctr"/>
              <a:r>
                <a:rPr lang="en-US" altLang="zh-CN" dirty="0" err="1"/>
                <a:t>Schoenflies</a:t>
              </a:r>
              <a:endParaRPr lang="en-US" altLang="zh-CN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4152F18-B679-AD73-21F3-F0FDB5E5A087}"/>
              </a:ext>
            </a:extLst>
          </p:cNvPr>
          <p:cNvGrpSpPr/>
          <p:nvPr/>
        </p:nvGrpSpPr>
        <p:grpSpPr>
          <a:xfrm>
            <a:off x="7596354" y="3110299"/>
            <a:ext cx="4535735" cy="2845995"/>
            <a:chOff x="7369155" y="3124249"/>
            <a:chExt cx="4535735" cy="2845995"/>
          </a:xfrm>
        </p:grpSpPr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D83E1DA5-A879-1AEF-6690-F0F93FD6A262}"/>
                </a:ext>
              </a:extLst>
            </p:cNvPr>
            <p:cNvSpPr txBox="1"/>
            <p:nvPr/>
          </p:nvSpPr>
          <p:spPr>
            <a:xfrm>
              <a:off x="8205723" y="3124249"/>
              <a:ext cx="28440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/>
                <a:t>1912-1913</a:t>
              </a:r>
              <a:r>
                <a:rPr lang="zh-CN" altLang="en-US" b="1" dirty="0"/>
                <a:t>年</a:t>
              </a:r>
            </a:p>
            <a:p>
              <a:pPr algn="ctr"/>
              <a:r>
                <a:rPr lang="en-US" altLang="zh-CN" dirty="0"/>
                <a:t>X</a:t>
              </a:r>
              <a:r>
                <a:rPr lang="zh-CN" altLang="en-US" dirty="0"/>
                <a:t>射线衍射法表征晶体结构</a:t>
              </a:r>
            </a:p>
          </p:txBody>
        </p:sp>
        <p:pic>
          <p:nvPicPr>
            <p:cNvPr id="105" name="图片 104">
              <a:extLst>
                <a:ext uri="{FF2B5EF4-FFF2-40B4-BE49-F238E27FC236}">
                  <a16:creationId xmlns:a16="http://schemas.microsoft.com/office/drawing/2014/main" id="{9F36CB4E-E74A-2A4F-C176-32519D043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69075" y="3751120"/>
              <a:ext cx="1287042" cy="1656473"/>
            </a:xfrm>
            <a:prstGeom prst="rect">
              <a:avLst/>
            </a:prstGeom>
          </p:spPr>
        </p:pic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A3FD70DD-B7ED-6033-16ED-82D274D81192}"/>
                </a:ext>
              </a:extLst>
            </p:cNvPr>
            <p:cNvSpPr txBox="1"/>
            <p:nvPr/>
          </p:nvSpPr>
          <p:spPr>
            <a:xfrm>
              <a:off x="7369155" y="5355691"/>
              <a:ext cx="14868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Max von Laue</a:t>
              </a:r>
            </a:p>
          </p:txBody>
        </p: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002EA4C0-8F6E-B6FE-713E-2D66A1C67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50189" y="3751120"/>
              <a:ext cx="1287042" cy="1656473"/>
            </a:xfrm>
            <a:prstGeom prst="rect">
              <a:avLst/>
            </a:prstGeom>
          </p:spPr>
        </p:pic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3E5C4899-DC48-92D2-3379-42AFD275EFF2}"/>
                </a:ext>
              </a:extLst>
            </p:cNvPr>
            <p:cNvSpPr txBox="1"/>
            <p:nvPr/>
          </p:nvSpPr>
          <p:spPr>
            <a:xfrm>
              <a:off x="8905081" y="5385469"/>
              <a:ext cx="13655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/>
                <a:t>William Henry</a:t>
              </a:r>
            </a:p>
            <a:p>
              <a:pPr algn="ctr"/>
              <a:r>
                <a:rPr lang="en-US" altLang="zh-CN" sz="1600" dirty="0"/>
                <a:t>Bragg</a:t>
              </a:r>
            </a:p>
          </p:txBody>
        </p:sp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FA109F64-701C-4CC9-6BF6-EC063C69F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31303" y="3741982"/>
              <a:ext cx="1287042" cy="1656473"/>
            </a:xfrm>
            <a:prstGeom prst="rect">
              <a:avLst/>
            </a:prstGeom>
          </p:spPr>
        </p:pic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023930CD-C6FB-7B68-E4AF-2FA01355FF81}"/>
                </a:ext>
              </a:extLst>
            </p:cNvPr>
            <p:cNvSpPr txBox="1"/>
            <p:nvPr/>
          </p:nvSpPr>
          <p:spPr>
            <a:xfrm>
              <a:off x="10244757" y="5385469"/>
              <a:ext cx="16601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/>
                <a:t>William Lawrence</a:t>
              </a:r>
            </a:p>
            <a:p>
              <a:pPr algn="ctr"/>
              <a:r>
                <a:rPr lang="en-US" altLang="zh-CN" sz="1600" dirty="0"/>
                <a:t>Bragg</a:t>
              </a:r>
            </a:p>
          </p:txBody>
        </p:sp>
      </p:grp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F3FDAC9-D831-0C7F-6988-68DF430D23D3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3207774" y="2676245"/>
            <a:ext cx="5044242" cy="45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C31133C7-D13A-AC28-8C36-DD237C8F9A57}"/>
              </a:ext>
            </a:extLst>
          </p:cNvPr>
          <p:cNvCxnSpPr>
            <a:cxnSpLocks/>
            <a:stCxn id="97" idx="0"/>
          </p:cNvCxnSpPr>
          <p:nvPr/>
        </p:nvCxnSpPr>
        <p:spPr>
          <a:xfrm flipV="1">
            <a:off x="5901130" y="2675218"/>
            <a:ext cx="3737634" cy="454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81B69FB-7D31-4E1F-DAF8-CB97557781DE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9854946" y="2639001"/>
            <a:ext cx="243211" cy="471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77ED4DAB-9187-F0BA-A748-BA9BD815408F}"/>
              </a:ext>
            </a:extLst>
          </p:cNvPr>
          <p:cNvCxnSpPr>
            <a:cxnSpLocks/>
          </p:cNvCxnSpPr>
          <p:nvPr/>
        </p:nvCxnSpPr>
        <p:spPr>
          <a:xfrm>
            <a:off x="2286000" y="3200400"/>
            <a:ext cx="0" cy="25106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A0179A11-61CF-41C5-4AD7-3156D443CAC1}"/>
              </a:ext>
            </a:extLst>
          </p:cNvPr>
          <p:cNvCxnSpPr>
            <a:cxnSpLocks/>
          </p:cNvCxnSpPr>
          <p:nvPr/>
        </p:nvCxnSpPr>
        <p:spPr>
          <a:xfrm>
            <a:off x="4159663" y="3185653"/>
            <a:ext cx="0" cy="25106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53AC2ECD-F5E1-1B6C-B73F-A7F4F4425035}"/>
              </a:ext>
            </a:extLst>
          </p:cNvPr>
          <p:cNvCxnSpPr>
            <a:cxnSpLocks/>
          </p:cNvCxnSpPr>
          <p:nvPr/>
        </p:nvCxnSpPr>
        <p:spPr>
          <a:xfrm>
            <a:off x="7446202" y="3155263"/>
            <a:ext cx="0" cy="25106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6985D59-33D5-C860-BEC4-3474051AC187}"/>
              </a:ext>
            </a:extLst>
          </p:cNvPr>
          <p:cNvSpPr txBox="1"/>
          <p:nvPr/>
        </p:nvSpPr>
        <p:spPr>
          <a:xfrm>
            <a:off x="219594" y="5804170"/>
            <a:ext cx="18634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/>
              <a:t>三维空间中空间利用率最高的堆积是面心立方与六方密堆积</a:t>
            </a:r>
            <a:endParaRPr lang="en-US" sz="1400" i="1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118BFA9-77E2-AC0C-4449-C41C48650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8416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5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C0EB8C6F-F745-CDD3-52CE-4A2087E25E6B}"/>
              </a:ext>
            </a:extLst>
          </p:cNvPr>
          <p:cNvSpPr/>
          <p:nvPr/>
        </p:nvSpPr>
        <p:spPr>
          <a:xfrm>
            <a:off x="1236000" y="3249000"/>
            <a:ext cx="9900000" cy="78559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283374A-A099-62DB-A480-DA60B8A9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晶体内部结构的观测方法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084C21-F0C2-ECE0-C2C8-6925457633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3349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很长一段时间里，人类都无法直接观测晶体内部结构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000" dirty="0"/>
                  <a:t>可见光显微镜受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分辨率的限制</a:t>
                </a:r>
                <a:r>
                  <a:rPr lang="zh-CN" altLang="en-US" sz="2000" dirty="0"/>
                  <a:t>，无法用于观测原子排列</a:t>
                </a: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000" b="0" dirty="0">
                    <a:solidFill>
                      <a:srgbClr val="FF0000"/>
                    </a:solidFill>
                  </a:rPr>
                  <a:t>瑞利公式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=1.22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</m:oMath>
                </a14:m>
                <a:r>
                  <a:rPr lang="zh-CN" altLang="en-US" sz="2000" dirty="0"/>
                  <a:t>，</a:t>
                </a:r>
                <a:r>
                  <a:rPr lang="el-GR" altLang="zh-CN" sz="2000" dirty="0"/>
                  <a:t>δ</a:t>
                </a:r>
                <a:r>
                  <a:rPr lang="zh-CN" altLang="en-US" sz="2000" dirty="0"/>
                  <a:t>极限分辨率，</a:t>
                </a:r>
                <a:r>
                  <a:rPr lang="el-GR" altLang="zh-CN" sz="2000" dirty="0"/>
                  <a:t>λ</a:t>
                </a:r>
                <a:r>
                  <a:rPr lang="zh-CN" altLang="en-US" sz="2000" dirty="0"/>
                  <a:t>波长，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光路折射率，</a:t>
                </a:r>
                <a:r>
                  <a:rPr lang="el-GR" altLang="zh-CN" sz="2000" dirty="0"/>
                  <a:t>α</a:t>
                </a:r>
                <a:r>
                  <a:rPr lang="zh-CN" altLang="en-US" sz="2000" dirty="0"/>
                  <a:t>透镜孔径角</a:t>
                </a: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000" dirty="0">
                    <a:highlight>
                      <a:srgbClr val="FFFF00"/>
                    </a:highlight>
                  </a:rPr>
                  <a:t>思考：</a:t>
                </a:r>
                <a:r>
                  <a:rPr lang="zh-CN" altLang="en-US" sz="2000" dirty="0"/>
                  <a:t>波长为</a:t>
                </a:r>
                <a:r>
                  <a:rPr lang="en-US" altLang="zh-CN" sz="2000" dirty="0"/>
                  <a:t>400nm</a:t>
                </a:r>
                <a:r>
                  <a:rPr lang="zh-CN" altLang="en-US" sz="2000" dirty="0"/>
                  <a:t>的紫光，其观测极限分辨率是多少？要观测晶格常数为</a:t>
                </a:r>
                <a:r>
                  <a:rPr lang="en-US" altLang="zh-CN" sz="2000" dirty="0"/>
                  <a:t>0.5nm</a:t>
                </a:r>
                <a:r>
                  <a:rPr lang="zh-CN" altLang="en-US" sz="2000" dirty="0"/>
                  <a:t>的晶格（硅晶格常数），需要观测光波长为多少？</a:t>
                </a:r>
                <a:r>
                  <a:rPr lang="en-US" altLang="zh-CN" sz="2000" dirty="0"/>
                  <a:t>(Tips: </a:t>
                </a:r>
                <a:r>
                  <a:rPr lang="zh-CN" altLang="en-US" sz="2000" dirty="0"/>
                  <a:t>可取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func>
                  </m:oMath>
                </a14:m>
                <a:r>
                  <a:rPr lang="en-US" altLang="zh-CN" sz="2000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000" dirty="0"/>
                  <a:t>不幸的是，对于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射线，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各种材料的折射率都接近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000" dirty="0"/>
                  <a:t>，很难做透镜！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084C21-F0C2-ECE0-C2C8-692545763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3349"/>
              </a:xfrm>
              <a:blipFill>
                <a:blip r:embed="rId2"/>
                <a:stretch>
                  <a:fillRect l="-696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表, 直方图&#10;&#10;描述已自动生成">
            <a:extLst>
              <a:ext uri="{FF2B5EF4-FFF2-40B4-BE49-F238E27FC236}">
                <a16:creationId xmlns:a16="http://schemas.microsoft.com/office/drawing/2014/main" id="{9A07C736-43C8-C67C-CAAD-2EBBEE85EA6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45473" y="4169532"/>
            <a:ext cx="11565534" cy="1618827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5B06F32-AAED-4A6D-E7B0-81EB68F97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578425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97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E8C2B-35F1-0563-58A4-A2391F31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晶体内部结构的观测方法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36FC1-6899-C2EA-7961-A7EFC70FF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1912</a:t>
            </a:r>
            <a:r>
              <a:rPr lang="zh-CN" altLang="en-US" sz="2400" dirty="0"/>
              <a:t>年</a:t>
            </a:r>
            <a:r>
              <a:rPr lang="en-US" altLang="zh-CN" sz="2400" dirty="0"/>
              <a:t>Laue</a:t>
            </a:r>
            <a:r>
              <a:rPr lang="zh-CN" altLang="en-US" sz="2400" dirty="0"/>
              <a:t>发现了</a:t>
            </a:r>
            <a:r>
              <a:rPr lang="zh-CN" altLang="en-US" sz="2400" dirty="0">
                <a:solidFill>
                  <a:srgbClr val="FF0000"/>
                </a:solidFill>
              </a:rPr>
              <a:t>晶体</a:t>
            </a:r>
            <a:r>
              <a:rPr lang="en-US" altLang="zh-CN" sz="2400" dirty="0">
                <a:solidFill>
                  <a:srgbClr val="FF0000"/>
                </a:solidFill>
              </a:rPr>
              <a:t>X</a:t>
            </a:r>
            <a:r>
              <a:rPr lang="zh-CN" altLang="en-US" sz="2400" dirty="0">
                <a:solidFill>
                  <a:srgbClr val="FF0000"/>
                </a:solidFill>
              </a:rPr>
              <a:t>射线衍射现象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1938</a:t>
            </a:r>
            <a:r>
              <a:rPr lang="zh-CN" altLang="en-US" sz="2400" dirty="0"/>
              <a:t>年扫描电子显微镜 </a:t>
            </a:r>
            <a:r>
              <a:rPr lang="en-US" altLang="zh-CN" sz="2400" dirty="0"/>
              <a:t>(SEM) </a:t>
            </a:r>
            <a:r>
              <a:rPr lang="zh-CN" altLang="en-US" sz="2400" dirty="0"/>
              <a:t>被制作出来，但由于物质对电子的强烈吸收作用，多用于观察晶体表面原子的分布</a:t>
            </a:r>
            <a:endParaRPr lang="en-US" altLang="zh-CN" sz="2400" dirty="0"/>
          </a:p>
          <a:p>
            <a:r>
              <a:rPr lang="en-US" altLang="zh-CN" sz="2400" dirty="0"/>
              <a:t>1981</a:t>
            </a:r>
            <a:r>
              <a:rPr lang="zh-CN" altLang="en-US" sz="2400" dirty="0"/>
              <a:t>年扫描隧道显微镜 </a:t>
            </a:r>
            <a:r>
              <a:rPr lang="en-US" altLang="zh-CN" sz="2400" dirty="0"/>
              <a:t>(STM) </a:t>
            </a:r>
            <a:r>
              <a:rPr lang="zh-CN" altLang="en-US" sz="2400" dirty="0"/>
              <a:t>被发明，使表面原子分辨成像成为可能，但它主要提供表面电子结构信息</a:t>
            </a:r>
            <a:endParaRPr lang="en-US" altLang="zh-CN" sz="2400" dirty="0"/>
          </a:p>
          <a:p>
            <a:r>
              <a:rPr lang="zh-CN" altLang="en-US" sz="2400" dirty="0">
                <a:highlight>
                  <a:srgbClr val="FFFF00"/>
                </a:highlight>
              </a:rPr>
              <a:t>直到今日，对晶体内部结构的观测也大量依靠衍射现象来进行</a:t>
            </a:r>
            <a:endParaRPr lang="zh-CN" altLang="en-US" sz="2400" dirty="0"/>
          </a:p>
          <a:p>
            <a:endParaRPr lang="zh-CN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5252772-D0C3-1B0B-8951-EF6C38703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28403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26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C1C66-41E8-D91B-C663-58B30E464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3375"/>
          </a:xfrm>
        </p:spPr>
        <p:txBody>
          <a:bodyPr wrap="square">
            <a:noAutofit/>
          </a:bodyPr>
          <a:lstStyle/>
          <a:p>
            <a:r>
              <a:rPr lang="zh-CN" altLang="en-US" sz="2000" dirty="0"/>
              <a:t>主要和电子发生相互作用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弹性散射：</a:t>
            </a:r>
            <a:r>
              <a:rPr lang="en-US" altLang="zh-CN" sz="2000" dirty="0"/>
              <a:t>X</a:t>
            </a:r>
            <a:r>
              <a:rPr lang="zh-CN" altLang="en-US" sz="2000" dirty="0"/>
              <a:t>射线方向发生偏转，能量不变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低能过程，衍射的主要来源</a:t>
            </a:r>
            <a:endParaRPr lang="en-US" altLang="zh-CN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光电效应：</a:t>
            </a:r>
            <a:r>
              <a:rPr lang="zh-CN" altLang="en-US" sz="2000" dirty="0"/>
              <a:t>原子内壳层电子吸收</a:t>
            </a:r>
            <a:r>
              <a:rPr lang="en-US" altLang="zh-CN" sz="2000" dirty="0"/>
              <a:t>X</a:t>
            </a:r>
            <a:r>
              <a:rPr lang="zh-CN" altLang="en-US" sz="2000" dirty="0"/>
              <a:t>射线光子的能量形成光电子</a:t>
            </a:r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康普顿效应： </a:t>
            </a:r>
            <a:r>
              <a:rPr lang="en-US" altLang="zh-CN" sz="2000" dirty="0"/>
              <a:t>X</a:t>
            </a:r>
            <a:r>
              <a:rPr lang="zh-CN" altLang="en-US" sz="2000" dirty="0"/>
              <a:t>射线将外壳层的电子打出，同时损失一部分能量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高能过程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9156D4-B0E3-112A-6E56-FA6DA2DF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射线与物质相互作用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465163E-D7A5-7E1A-E68F-6BAF1F518760}"/>
              </a:ext>
            </a:extLst>
          </p:cNvPr>
          <p:cNvGrpSpPr/>
          <p:nvPr/>
        </p:nvGrpSpPr>
        <p:grpSpPr>
          <a:xfrm>
            <a:off x="696000" y="2529000"/>
            <a:ext cx="11180824" cy="3273284"/>
            <a:chOff x="696000" y="2529000"/>
            <a:chExt cx="11180824" cy="3273284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0D5C1B1E-6A83-8178-9CC9-FA432E824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2598" y="3061902"/>
              <a:ext cx="2451995" cy="2041560"/>
            </a:xfrm>
            <a:prstGeom prst="rect">
              <a:avLst/>
            </a:prstGeom>
          </p:spPr>
        </p:pic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167AE3C0-738E-896D-DA56-CE9F4016E8F4}"/>
                </a:ext>
              </a:extLst>
            </p:cNvPr>
            <p:cNvSpPr/>
            <p:nvPr/>
          </p:nvSpPr>
          <p:spPr>
            <a:xfrm rot="1561538">
              <a:off x="10228846" y="4224071"/>
              <a:ext cx="590877" cy="7557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85504A42-43A3-D636-0E44-94D557228E52}"/>
                </a:ext>
              </a:extLst>
            </p:cNvPr>
            <p:cNvSpPr/>
            <p:nvPr/>
          </p:nvSpPr>
          <p:spPr>
            <a:xfrm rot="1561538">
              <a:off x="9940496" y="4901752"/>
              <a:ext cx="590877" cy="7557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77F3F3C-DF02-1ABB-9FE1-ADA2F798C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7406" y="3061902"/>
              <a:ext cx="2451995" cy="2041560"/>
            </a:xfrm>
            <a:prstGeom prst="rect">
              <a:avLst/>
            </a:prstGeom>
          </p:spPr>
        </p:pic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8C2DED1A-FF4B-9055-4C12-BA2D545D198C}"/>
                </a:ext>
              </a:extLst>
            </p:cNvPr>
            <p:cNvGrpSpPr/>
            <p:nvPr/>
          </p:nvGrpSpPr>
          <p:grpSpPr>
            <a:xfrm>
              <a:off x="696000" y="3107023"/>
              <a:ext cx="1992825" cy="180000"/>
              <a:chOff x="4836000" y="2986903"/>
              <a:chExt cx="2819426" cy="352546"/>
            </a:xfrm>
            <a:solidFill>
              <a:schemeClr val="bg1"/>
            </a:solidFill>
          </p:grpSpPr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23E44813-05C1-DA24-9334-34DDAD21C783}"/>
                  </a:ext>
                </a:extLst>
              </p:cNvPr>
              <p:cNvSpPr/>
              <p:nvPr/>
            </p:nvSpPr>
            <p:spPr>
              <a:xfrm>
                <a:off x="4836000" y="2986906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07F19E96-F680-7186-01FA-12A8D90FF923}"/>
                  </a:ext>
                </a:extLst>
              </p:cNvPr>
              <p:cNvSpPr/>
              <p:nvPr/>
            </p:nvSpPr>
            <p:spPr>
              <a:xfrm>
                <a:off x="6950569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53FD8906-F3C3-4405-A535-B0C08F7759C6}"/>
                  </a:ext>
                </a:extLst>
              </p:cNvPr>
              <p:cNvSpPr/>
              <p:nvPr/>
            </p:nvSpPr>
            <p:spPr>
              <a:xfrm>
                <a:off x="5540856" y="2986904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D9A588A6-84A9-9330-CB00-E228407F2D38}"/>
                  </a:ext>
                </a:extLst>
              </p:cNvPr>
              <p:cNvSpPr/>
              <p:nvPr/>
            </p:nvSpPr>
            <p:spPr>
              <a:xfrm>
                <a:off x="6245713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8CAA303-8B54-888A-FAB7-B14B8A639F5B}"/>
                </a:ext>
              </a:extLst>
            </p:cNvPr>
            <p:cNvGrpSpPr/>
            <p:nvPr/>
          </p:nvGrpSpPr>
          <p:grpSpPr>
            <a:xfrm rot="20392976">
              <a:off x="2754739" y="2769806"/>
              <a:ext cx="1992825" cy="180000"/>
              <a:chOff x="4836000" y="2986903"/>
              <a:chExt cx="2819426" cy="352546"/>
            </a:xfrm>
            <a:solidFill>
              <a:schemeClr val="bg1"/>
            </a:solidFill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1A3B2898-B60C-C647-5E72-672A3AB284F9}"/>
                  </a:ext>
                </a:extLst>
              </p:cNvPr>
              <p:cNvSpPr/>
              <p:nvPr/>
            </p:nvSpPr>
            <p:spPr>
              <a:xfrm>
                <a:off x="4836000" y="2986906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08C70BD8-E833-D842-6772-B3D94B91D657}"/>
                  </a:ext>
                </a:extLst>
              </p:cNvPr>
              <p:cNvSpPr/>
              <p:nvPr/>
            </p:nvSpPr>
            <p:spPr>
              <a:xfrm>
                <a:off x="6950569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2451A79D-4CDC-DDA6-6682-9C4793C6A938}"/>
                  </a:ext>
                </a:extLst>
              </p:cNvPr>
              <p:cNvSpPr/>
              <p:nvPr/>
            </p:nvSpPr>
            <p:spPr>
              <a:xfrm>
                <a:off x="5540856" y="2986904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1D0CC6D1-293A-7BDF-C55C-4AA6EA28B1A1}"/>
                  </a:ext>
                </a:extLst>
              </p:cNvPr>
              <p:cNvSpPr/>
              <p:nvPr/>
            </p:nvSpPr>
            <p:spPr>
              <a:xfrm>
                <a:off x="6245713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8512747-3959-1784-EC12-AA27A5CC54F7}"/>
                </a:ext>
              </a:extLst>
            </p:cNvPr>
            <p:cNvCxnSpPr/>
            <p:nvPr/>
          </p:nvCxnSpPr>
          <p:spPr>
            <a:xfrm>
              <a:off x="1194206" y="3392921"/>
              <a:ext cx="581794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D2F6B04D-3794-A0FC-E695-558A1DCD3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1623" y="2809461"/>
              <a:ext cx="534238" cy="20197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E490788C-91DD-3516-43B6-4C7EEE83C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0002" y="3061902"/>
              <a:ext cx="2451995" cy="2041560"/>
            </a:xfrm>
            <a:prstGeom prst="rect">
              <a:avLst/>
            </a:prstGeom>
          </p:spPr>
        </p:pic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C9E275FA-329D-8495-66C4-7B5E4B7D5D76}"/>
                </a:ext>
              </a:extLst>
            </p:cNvPr>
            <p:cNvGrpSpPr/>
            <p:nvPr/>
          </p:nvGrpSpPr>
          <p:grpSpPr>
            <a:xfrm>
              <a:off x="4477658" y="3556672"/>
              <a:ext cx="1992825" cy="180000"/>
              <a:chOff x="4836000" y="2986903"/>
              <a:chExt cx="2819426" cy="352546"/>
            </a:xfrm>
            <a:solidFill>
              <a:schemeClr val="bg1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2E83BC5F-FBD7-2BD4-F8BD-043BB2E06A8D}"/>
                  </a:ext>
                </a:extLst>
              </p:cNvPr>
              <p:cNvSpPr/>
              <p:nvPr/>
            </p:nvSpPr>
            <p:spPr>
              <a:xfrm>
                <a:off x="4836000" y="2986906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88BD8B2F-E070-B4FD-8CC4-5CCBBE605CFA}"/>
                  </a:ext>
                </a:extLst>
              </p:cNvPr>
              <p:cNvSpPr/>
              <p:nvPr/>
            </p:nvSpPr>
            <p:spPr>
              <a:xfrm>
                <a:off x="6950569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F0F29D95-71B3-DB97-1028-E6D04DC05C63}"/>
                  </a:ext>
                </a:extLst>
              </p:cNvPr>
              <p:cNvSpPr/>
              <p:nvPr/>
            </p:nvSpPr>
            <p:spPr>
              <a:xfrm>
                <a:off x="5540856" y="2986904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F24187C4-2FDE-E23B-ADDC-1595F626D3EC}"/>
                  </a:ext>
                </a:extLst>
              </p:cNvPr>
              <p:cNvSpPr/>
              <p:nvPr/>
            </p:nvSpPr>
            <p:spPr>
              <a:xfrm>
                <a:off x="6245713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069EDAA7-EC15-4DDC-2550-1BA63C7C4234}"/>
                </a:ext>
              </a:extLst>
            </p:cNvPr>
            <p:cNvCxnSpPr/>
            <p:nvPr/>
          </p:nvCxnSpPr>
          <p:spPr>
            <a:xfrm>
              <a:off x="4511711" y="3838623"/>
              <a:ext cx="581794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57881A2B-F757-BF8E-D576-AE4ED1C043E9}"/>
                </a:ext>
              </a:extLst>
            </p:cNvPr>
            <p:cNvCxnSpPr/>
            <p:nvPr/>
          </p:nvCxnSpPr>
          <p:spPr>
            <a:xfrm flipV="1">
              <a:off x="6566346" y="2976964"/>
              <a:ext cx="1080000" cy="73869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AB2BF508-B7C6-DC78-D548-DE94B5C9C95D}"/>
                </a:ext>
              </a:extLst>
            </p:cNvPr>
            <p:cNvSpPr/>
            <p:nvPr/>
          </p:nvSpPr>
          <p:spPr>
            <a:xfrm>
              <a:off x="7650229" y="2877544"/>
              <a:ext cx="99420" cy="9942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E454C32-E966-6D02-DBE5-411AB5CB7895}"/>
                </a:ext>
              </a:extLst>
            </p:cNvPr>
            <p:cNvSpPr txBox="1"/>
            <p:nvPr/>
          </p:nvSpPr>
          <p:spPr>
            <a:xfrm>
              <a:off x="5520570" y="2529000"/>
              <a:ext cx="1150858" cy="419338"/>
            </a:xfrm>
            <a:prstGeom prst="roundRect">
              <a:avLst>
                <a:gd name="adj" fmla="val 21532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</a:rPr>
                <a:t>光电效应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33DCB73-1C1D-5190-A682-9FF1BDE17397}"/>
                </a:ext>
              </a:extLst>
            </p:cNvPr>
            <p:cNvSpPr txBox="1"/>
            <p:nvPr/>
          </p:nvSpPr>
          <p:spPr>
            <a:xfrm>
              <a:off x="2207974" y="2529000"/>
              <a:ext cx="1150858" cy="419338"/>
            </a:xfrm>
            <a:prstGeom prst="roundRect">
              <a:avLst>
                <a:gd name="adj" fmla="val 21532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</a:rPr>
                <a:t>弹性散射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AA0C1B8-B45F-88A1-EEC1-73DC86B09F1B}"/>
                </a:ext>
              </a:extLst>
            </p:cNvPr>
            <p:cNvSpPr txBox="1"/>
            <p:nvPr/>
          </p:nvSpPr>
          <p:spPr>
            <a:xfrm>
              <a:off x="8719759" y="2529000"/>
              <a:ext cx="1377672" cy="419338"/>
            </a:xfrm>
            <a:prstGeom prst="roundRect">
              <a:avLst>
                <a:gd name="adj" fmla="val 21532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</a:rPr>
                <a:t>康普顿效应</a:t>
              </a:r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349FF714-3E9B-050C-9E8E-33FDF4533EA5}"/>
                </a:ext>
              </a:extLst>
            </p:cNvPr>
            <p:cNvGrpSpPr/>
            <p:nvPr/>
          </p:nvGrpSpPr>
          <p:grpSpPr>
            <a:xfrm>
              <a:off x="7993199" y="4671379"/>
              <a:ext cx="1992825" cy="180000"/>
              <a:chOff x="4836000" y="2986903"/>
              <a:chExt cx="2819426" cy="352546"/>
            </a:xfrm>
            <a:solidFill>
              <a:schemeClr val="bg1"/>
            </a:solidFill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38261B83-17B2-2512-D7D3-20FEFDA00091}"/>
                  </a:ext>
                </a:extLst>
              </p:cNvPr>
              <p:cNvSpPr/>
              <p:nvPr/>
            </p:nvSpPr>
            <p:spPr>
              <a:xfrm>
                <a:off x="4836000" y="2986906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F95F6C98-3517-DB3E-5403-7480584CBEC0}"/>
                  </a:ext>
                </a:extLst>
              </p:cNvPr>
              <p:cNvSpPr/>
              <p:nvPr/>
            </p:nvSpPr>
            <p:spPr>
              <a:xfrm>
                <a:off x="6950569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73F5AD08-1227-E283-83E9-41DC8EE1FC74}"/>
                  </a:ext>
                </a:extLst>
              </p:cNvPr>
              <p:cNvSpPr/>
              <p:nvPr/>
            </p:nvSpPr>
            <p:spPr>
              <a:xfrm>
                <a:off x="5540856" y="2986904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E3734026-5F32-EE64-C8E5-FCB476E6C369}"/>
                  </a:ext>
                </a:extLst>
              </p:cNvPr>
              <p:cNvSpPr/>
              <p:nvPr/>
            </p:nvSpPr>
            <p:spPr>
              <a:xfrm>
                <a:off x="6245713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85C2EDAD-576B-B719-976B-FC9C0D84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8139" y="4296115"/>
              <a:ext cx="735853" cy="51432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4EB3ECD-AA81-823C-B232-4C22097F751D}"/>
                </a:ext>
              </a:extLst>
            </p:cNvPr>
            <p:cNvSpPr/>
            <p:nvPr/>
          </p:nvSpPr>
          <p:spPr>
            <a:xfrm>
              <a:off x="10823992" y="4225346"/>
              <a:ext cx="99420" cy="994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3265DAB1-5B08-B7FB-0B7C-F0CD2D0E4D85}"/>
                </a:ext>
              </a:extLst>
            </p:cNvPr>
            <p:cNvGrpSpPr/>
            <p:nvPr/>
          </p:nvGrpSpPr>
          <p:grpSpPr>
            <a:xfrm rot="1800000">
              <a:off x="10040929" y="5200430"/>
              <a:ext cx="1835895" cy="153139"/>
              <a:chOff x="4836000" y="2986903"/>
              <a:chExt cx="2114570" cy="352546"/>
            </a:xfrm>
            <a:solidFill>
              <a:schemeClr val="bg1"/>
            </a:solidFill>
          </p:grpSpPr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94218B8E-D1FB-BA32-A1B0-7BC95CECDEC3}"/>
                  </a:ext>
                </a:extLst>
              </p:cNvPr>
              <p:cNvSpPr/>
              <p:nvPr/>
            </p:nvSpPr>
            <p:spPr>
              <a:xfrm>
                <a:off x="4836000" y="2986906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5273663A-3898-5E76-10CB-A4A29FE0741C}"/>
                  </a:ext>
                </a:extLst>
              </p:cNvPr>
              <p:cNvSpPr/>
              <p:nvPr/>
            </p:nvSpPr>
            <p:spPr>
              <a:xfrm>
                <a:off x="5540856" y="2986904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8B4DDDF9-D499-09F9-A5CE-B6369DC50B8F}"/>
                  </a:ext>
                </a:extLst>
              </p:cNvPr>
              <p:cNvSpPr/>
              <p:nvPr/>
            </p:nvSpPr>
            <p:spPr>
              <a:xfrm>
                <a:off x="6245713" y="2986903"/>
                <a:ext cx="704857" cy="352543"/>
              </a:xfrm>
              <a:custGeom>
                <a:avLst/>
                <a:gdLst>
                  <a:gd name="connsiteX0" fmla="*/ 352225 w 704857"/>
                  <a:gd name="connsiteY0" fmla="*/ 0 h 352543"/>
                  <a:gd name="connsiteX1" fmla="*/ 685470 w 704857"/>
                  <a:gd name="connsiteY1" fmla="*/ 349165 h 352543"/>
                  <a:gd name="connsiteX2" fmla="*/ 704857 w 704857"/>
                  <a:gd name="connsiteY2" fmla="*/ 352543 h 352543"/>
                  <a:gd name="connsiteX3" fmla="*/ 0 w 704857"/>
                  <a:gd name="connsiteY3" fmla="*/ 351547 h 352543"/>
                  <a:gd name="connsiteX4" fmla="*/ 14097 w 704857"/>
                  <a:gd name="connsiteY4" fmla="*/ 349025 h 352543"/>
                  <a:gd name="connsiteX5" fmla="*/ 352225 w 704857"/>
                  <a:gd name="connsiteY5" fmla="*/ 0 h 35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857" h="352543">
                    <a:moveTo>
                      <a:pt x="352225" y="0"/>
                    </a:moveTo>
                    <a:cubicBezTo>
                      <a:pt x="464144" y="0"/>
                      <a:pt x="573830" y="310679"/>
                      <a:pt x="685470" y="349165"/>
                    </a:cubicBezTo>
                    <a:lnTo>
                      <a:pt x="704857" y="352543"/>
                    </a:lnTo>
                    <a:lnTo>
                      <a:pt x="0" y="351547"/>
                    </a:lnTo>
                    <a:lnTo>
                      <a:pt x="14097" y="349025"/>
                    </a:lnTo>
                    <a:cubicBezTo>
                      <a:pt x="126900" y="309935"/>
                      <a:pt x="240306" y="0"/>
                      <a:pt x="352225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9AA2EE6-63CF-F83C-75CF-4EFB7538F74D}"/>
                </a:ext>
              </a:extLst>
            </p:cNvPr>
            <p:cNvCxnSpPr/>
            <p:nvPr/>
          </p:nvCxnSpPr>
          <p:spPr>
            <a:xfrm>
              <a:off x="8076000" y="4964743"/>
              <a:ext cx="581794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55DE6EE0-634E-D488-07CB-3EF673692A41}"/>
                </a:ext>
              </a:extLst>
            </p:cNvPr>
            <p:cNvCxnSpPr>
              <a:cxnSpLocks/>
            </p:cNvCxnSpPr>
            <p:nvPr/>
          </p:nvCxnSpPr>
          <p:spPr>
            <a:xfrm>
              <a:off x="11016908" y="5511462"/>
              <a:ext cx="521459" cy="290822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1CE9E692-2CAC-7D6C-1E91-EC24B7A9C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81833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643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92C29-A456-D94B-B97A-F18D8BC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晶体</a:t>
            </a:r>
            <a:r>
              <a:rPr lang="en-US" altLang="zh-CN" dirty="0"/>
              <a:t>X</a:t>
            </a:r>
            <a:r>
              <a:rPr lang="zh-CN" altLang="en-US" dirty="0"/>
              <a:t>射线衍射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55759-53B3-B9B8-3F5B-92458C94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9000"/>
            <a:ext cx="4177800" cy="329811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具有周期性的空间结构或者光学性能（如透射率、折射率）的衍射屏，统称</a:t>
            </a:r>
            <a:r>
              <a:rPr lang="zh-CN" altLang="en-US" sz="2000" dirty="0">
                <a:solidFill>
                  <a:srgbClr val="FF0000"/>
                </a:solidFill>
              </a:rPr>
              <a:t>光栅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固体的晶格在三维空间里具有周期性结构，是天然的三维衍射光栅</a:t>
            </a:r>
            <a:endParaRPr lang="en-US" altLang="zh-CN" sz="2000" dirty="0"/>
          </a:p>
        </p:txBody>
      </p:sp>
      <p:pic>
        <p:nvPicPr>
          <p:cNvPr id="4" name="内容占位符 3" descr="exprimental-X-Ray-Diffraction.GIF">
            <a:extLst>
              <a:ext uri="{FF2B5EF4-FFF2-40B4-BE49-F238E27FC236}">
                <a16:creationId xmlns:a16="http://schemas.microsoft.com/office/drawing/2014/main" id="{567BE1D3-834F-63F6-08F4-2B0EFFB5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000" y="2808813"/>
            <a:ext cx="5526094" cy="36840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A886B6-5BBC-8C7E-6CCD-9D9274CD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047" y="822844"/>
            <a:ext cx="4476000" cy="173568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030A735-BEC5-333E-2766-68BAF9A9D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494305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07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E886A-5922-3A48-D3A8-06EFDE8F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 X-ray View of Martian Soil</a:t>
            </a:r>
            <a:endParaRPr lang="zh-CN" altLang="en-US" dirty="0"/>
          </a:p>
        </p:txBody>
      </p:sp>
      <p:pic>
        <p:nvPicPr>
          <p:cNvPr id="1026" name="Picture 2" descr="This graphic shows results of the first analysis of Martian soil by the Chemistry and Mineralogy (CheMin) experiment on NASA's Curiosity rover.">
            <a:extLst>
              <a:ext uri="{FF2B5EF4-FFF2-40B4-BE49-F238E27FC236}">
                <a16:creationId xmlns:a16="http://schemas.microsoft.com/office/drawing/2014/main" id="{FF7C50B4-7A8D-0EB2-1874-474BBC514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00" y="1629000"/>
            <a:ext cx="4680000" cy="482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C6C730-2B5F-DFD2-E1F7-20B7BFF3254E}"/>
              </a:ext>
            </a:extLst>
          </p:cNvPr>
          <p:cNvSpPr txBox="1"/>
          <p:nvPr/>
        </p:nvSpPr>
        <p:spPr>
          <a:xfrm>
            <a:off x="0" y="6455708"/>
            <a:ext cx="244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NASA, October 30, 2012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1E2477E-4028-BB63-4304-1D3DF3AB9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016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63C26-59FF-50F4-39EA-E4631C70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9000"/>
            <a:ext cx="10515600" cy="720000"/>
          </a:xfrm>
        </p:spPr>
        <p:txBody>
          <a:bodyPr/>
          <a:lstStyle/>
          <a:p>
            <a:r>
              <a:rPr lang="zh-CN" altLang="en-US" dirty="0"/>
              <a:t>晶体</a:t>
            </a:r>
            <a:r>
              <a:rPr lang="en-US" altLang="zh-CN" dirty="0"/>
              <a:t>X</a:t>
            </a:r>
            <a:r>
              <a:rPr lang="zh-CN" altLang="en-US" dirty="0"/>
              <a:t>射线衍射</a:t>
            </a:r>
          </a:p>
        </p:txBody>
      </p:sp>
      <p:pic>
        <p:nvPicPr>
          <p:cNvPr id="5" name="videoplayback">
            <a:hlinkClick r:id="" action="ppaction://media"/>
            <a:extLst>
              <a:ext uri="{FF2B5EF4-FFF2-40B4-BE49-F238E27FC236}">
                <a16:creationId xmlns:a16="http://schemas.microsoft.com/office/drawing/2014/main" id="{101E03A6-9C9B-8E47-729A-9888B95D0C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0196" y="1629000"/>
            <a:ext cx="8281647" cy="4658426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348C6-3F4B-5B4C-33F9-6CAE56F62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2417" y="2004816"/>
            <a:ext cx="3238353" cy="45723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衍射图样的特点：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衍射斑点间距与实空间晶格常数</a:t>
            </a:r>
            <a:r>
              <a:rPr lang="zh-CN" altLang="en-US" sz="2000" dirty="0">
                <a:solidFill>
                  <a:srgbClr val="FF0000"/>
                </a:solidFill>
              </a:rPr>
              <a:t>负相关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单晶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/>
              <a:t>周期性点阵；多晶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衍射环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与晶格和基元均相关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C82363-FE06-7EB7-D45F-B18AA7A16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47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2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, 示意图&#10;&#10;AI 生成的内容可能不正确。">
            <a:extLst>
              <a:ext uri="{FF2B5EF4-FFF2-40B4-BE49-F238E27FC236}">
                <a16:creationId xmlns:a16="http://schemas.microsoft.com/office/drawing/2014/main" id="{02AD7D21-C8C6-BC21-218F-3CD4432D9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" y="466880"/>
            <a:ext cx="11160002" cy="58861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47FF92-0328-2975-55BD-501F3B7E86BB}"/>
              </a:ext>
            </a:extLst>
          </p:cNvPr>
          <p:cNvSpPr txBox="1"/>
          <p:nvPr/>
        </p:nvSpPr>
        <p:spPr>
          <a:xfrm>
            <a:off x="0" y="6515111"/>
            <a:ext cx="11068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</a:rPr>
              <a:t>How to GIWAXS: Grazing Incidence Wide Angle X-Ray Scattering Applied to Metal Halide Perovskite Thin Films. </a:t>
            </a:r>
            <a:r>
              <a:rPr lang="en-US" altLang="zh-CN" sz="1400" i="1" dirty="0">
                <a:solidFill>
                  <a:schemeClr val="accent1"/>
                </a:solidFill>
              </a:rPr>
              <a:t>Adv. Energy Mater.</a:t>
            </a:r>
            <a:r>
              <a:rPr lang="en-US" altLang="zh-CN" sz="1400" dirty="0">
                <a:solidFill>
                  <a:schemeClr val="accent1"/>
                </a:solidFill>
              </a:rPr>
              <a:t> 2023, 13, 2300760.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9733273-AD26-1DC2-EBE4-9B6A0F1BF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6459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090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表&#10;&#10;描述已自动生成">
            <a:extLst>
              <a:ext uri="{FF2B5EF4-FFF2-40B4-BE49-F238E27FC236}">
                <a16:creationId xmlns:a16="http://schemas.microsoft.com/office/drawing/2014/main" id="{85D8D057-2A4B-5136-9B35-EC19DFB8D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783" y="1598396"/>
            <a:ext cx="8746434" cy="443881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A88B882-E524-BEDF-0553-CDF7858A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Bragg</a:t>
            </a:r>
            <a:r>
              <a:rPr lang="zh-CN" altLang="en-US" dirty="0"/>
              <a:t>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40299C-846C-BC67-B82A-1CD8FC4AB35E}"/>
                  </a:ext>
                </a:extLst>
              </p:cNvPr>
              <p:cNvSpPr txBox="1"/>
              <p:nvPr/>
            </p:nvSpPr>
            <p:spPr>
              <a:xfrm>
                <a:off x="1722783" y="5615278"/>
                <a:ext cx="526297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Wave 1&amp;2 </a:t>
                </a:r>
                <a:r>
                  <a:rPr lang="zh-CN" altLang="en-US" dirty="0"/>
                  <a:t>光程差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当光程差等于整数倍波长时，干涉相长，出现信号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40299C-846C-BC67-B82A-1CD8FC4AB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3" y="5615278"/>
                <a:ext cx="5262979" cy="646331"/>
              </a:xfrm>
              <a:prstGeom prst="rect">
                <a:avLst/>
              </a:prstGeom>
              <a:blipFill>
                <a:blip r:embed="rId3"/>
                <a:stretch>
                  <a:fillRect l="-1043" t="-7547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887C79-1DA8-FA80-83E1-4F917EC3F2F9}"/>
                  </a:ext>
                </a:extLst>
              </p:cNvPr>
              <p:cNvSpPr txBox="1"/>
              <p:nvPr/>
            </p:nvSpPr>
            <p:spPr>
              <a:xfrm>
                <a:off x="7064945" y="5747769"/>
                <a:ext cx="4197304" cy="57888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</a:rPr>
                  <a:t>Bragg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条件：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zh-CN" altLang="en-US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887C79-1DA8-FA80-83E1-4F917EC3F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945" y="5747769"/>
                <a:ext cx="4197304" cy="578882"/>
              </a:xfrm>
              <a:prstGeom prst="roundRect">
                <a:avLst/>
              </a:prstGeom>
              <a:blipFill>
                <a:blip r:embed="rId4"/>
                <a:stretch>
                  <a:fillRect l="-2174" t="-9278" b="-24742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A527E15-348B-C7EC-E214-901C614BB6D0}"/>
              </a:ext>
            </a:extLst>
          </p:cNvPr>
          <p:cNvSpPr txBox="1"/>
          <p:nvPr/>
        </p:nvSpPr>
        <p:spPr>
          <a:xfrm>
            <a:off x="3576000" y="668593"/>
            <a:ext cx="6296894" cy="71508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考虑如下简单情形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二维简式晶格：</a:t>
            </a:r>
            <a:r>
              <a:rPr lang="zh-CN" altLang="en-US" dirty="0"/>
              <a:t>每个布拉维格点都是一个相同的点散射中心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046C7B0-B449-A15C-382C-236A95764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34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894B337-5186-685D-BE33-19016BE48FA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8702" y="3969000"/>
            <a:ext cx="4264366" cy="25260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内容占位符 3" descr="LaueXZ.jpg">
            <a:extLst>
              <a:ext uri="{FF2B5EF4-FFF2-40B4-BE49-F238E27FC236}">
                <a16:creationId xmlns:a16="http://schemas.microsoft.com/office/drawing/2014/main" id="{70B834FD-5054-6D3C-F96B-8A6E244AF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000" y="1629000"/>
            <a:ext cx="4248071" cy="44078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BE7F3EB-4702-F01C-AD06-9B7600E372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36000" y="531716"/>
                <a:ext cx="5760000" cy="3257284"/>
              </a:xfrm>
              <a:prstGeom prst="roundRect">
                <a:avLst>
                  <a:gd name="adj" fmla="val 9473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4">
                    <a:lumMod val="50000"/>
                  </a:schemeClr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注意！</a:t>
                </a:r>
                <a:endParaRPr lang="en-US" altLang="zh-CN" sz="2000" dirty="0">
                  <a:solidFill>
                    <a:srgbClr val="FF0000"/>
                  </a:solidFill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  <a:p>
                <a:pPr marL="360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实验测量的衍射角为入射光偏离的角度 </a:t>
                </a:r>
                <a:r>
                  <a:rPr lang="en-US" altLang="zh-CN" sz="2000" b="1" dirty="0">
                    <a:latin typeface="Calibri" panose="020F0502020204030204" pitchFamily="34" charset="0"/>
                    <a:ea typeface="黑体" panose="02010609060101010101" pitchFamily="49" charset="-122"/>
                    <a:sym typeface="Wingdings" panose="05000000000000000000" pitchFamily="2" charset="2"/>
                  </a:rPr>
                  <a:t>=</a:t>
                </a:r>
                <a:r>
                  <a:rPr lang="zh-CN" altLang="en-US" sz="2000" b="1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 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  <a:r>
                  <a:rPr lang="el-GR" altLang="zh-CN" sz="2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θ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！</a:t>
                </a:r>
                <a:endParaRPr lang="en-US" altLang="zh-CN" sz="2000" b="1" dirty="0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  <a:p>
                <a:pPr marL="360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每个晶面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都对应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一系列的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Bragg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峰</a:t>
                </a: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n=1,2,3,…</a:t>
                </a: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峰</a:t>
                </a:r>
                <a:endParaRPr lang="en-US" altLang="zh-CN" sz="2000" dirty="0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  <a:p>
                <a:pPr marL="360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面间距 </a:t>
                </a:r>
                <a:r>
                  <a:rPr lang="en-US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d </a:t>
                </a: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越小，对应的 </a:t>
                </a:r>
                <a:r>
                  <a:rPr lang="el-GR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θ</a:t>
                </a:r>
                <a:r>
                  <a:rPr lang="en-US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越大</a:t>
                </a:r>
                <a:endParaRPr lang="en-US" altLang="zh-CN" sz="2000" dirty="0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  <a:p>
                <a:pPr marL="360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n </a:t>
                </a: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越大，对应的 </a:t>
                </a:r>
                <a:r>
                  <a:rPr lang="el-GR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θ</a:t>
                </a:r>
                <a:r>
                  <a:rPr lang="en-US" altLang="zh-CN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>
                    <a:latin typeface="Calibri" panose="020F0502020204030204" pitchFamily="34" charset="0"/>
                    <a:ea typeface="黑体" panose="02010609060101010101" pitchFamily="49" charset="-122"/>
                  </a:rPr>
                  <a:t>越大</a:t>
                </a:r>
                <a:endParaRPr lang="en-US" altLang="zh-CN" sz="2000" dirty="0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  <a:p>
                <a:pPr marL="360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sym typeface="Wingdings" panose="05000000000000000000" pitchFamily="2" charset="2"/>
                  </a:rPr>
                  <a:t>在现代晶体学中通常把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sym typeface="Wingdings" panose="05000000000000000000" pitchFamily="2" charset="2"/>
                  </a:rPr>
                  <a:t>n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sym typeface="Wingdings" panose="05000000000000000000" pitchFamily="2" charset="2"/>
                  </a:rPr>
                  <a:t>吸收到密勒指数里，统一写成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ℎ𝑘𝑙</m:t>
                        </m:r>
                      </m:sub>
                    </m:sSub>
                    <m:func>
                      <m:funcPr>
                        <m:ctrl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sin</m:t>
                        </m:r>
                      </m:fName>
                      <m:e>
                        <m:r>
                          <a:rPr lang="zh-CN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</m:func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BE7F3EB-4702-F01C-AD06-9B7600E37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000" y="531716"/>
                <a:ext cx="5760000" cy="3257284"/>
              </a:xfrm>
              <a:prstGeom prst="roundRect">
                <a:avLst>
                  <a:gd name="adj" fmla="val 9473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048AA-0BE0-DE0E-8B5F-EC3241E9BDAA}"/>
              </a:ext>
            </a:extLst>
          </p:cNvPr>
          <p:cNvSpPr txBox="1">
            <a:spLocks/>
          </p:cNvSpPr>
          <p:nvPr/>
        </p:nvSpPr>
        <p:spPr>
          <a:xfrm>
            <a:off x="9336000" y="1207841"/>
            <a:ext cx="4737604" cy="1214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167B5C3-44B4-B3E7-5EB5-1E68DA7A4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C56928C-8E7C-019A-BD42-C198C8273EBF}"/>
                  </a:ext>
                </a:extLst>
              </p:cNvPr>
              <p:cNvSpPr txBox="1"/>
              <p:nvPr/>
            </p:nvSpPr>
            <p:spPr>
              <a:xfrm>
                <a:off x="746767" y="531716"/>
                <a:ext cx="4197304" cy="57888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</a:rPr>
                  <a:t>Bragg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条件：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zh-CN" altLang="en-US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C56928C-8E7C-019A-BD42-C198C8273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7" y="531716"/>
                <a:ext cx="4197304" cy="578882"/>
              </a:xfrm>
              <a:prstGeom prst="roundRect">
                <a:avLst/>
              </a:prstGeom>
              <a:blipFill>
                <a:blip r:embed="rId5"/>
                <a:stretch>
                  <a:fillRect l="-2174" t="-9278" b="-24742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938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0EBEBA9-4F36-E9FE-A69A-23F25E91ECD3}"/>
              </a:ext>
            </a:extLst>
          </p:cNvPr>
          <p:cNvSpPr txBox="1">
            <a:spLocks/>
          </p:cNvSpPr>
          <p:nvPr/>
        </p:nvSpPr>
        <p:spPr>
          <a:xfrm>
            <a:off x="7277288" y="3069000"/>
            <a:ext cx="4680000" cy="821930"/>
          </a:xfrm>
          <a:prstGeom prst="roundRect">
            <a:avLst>
              <a:gd name="adj" fmla="val 947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>
              <a:solidFill>
                <a:schemeClr val="tx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D4DAE19-A4FF-398A-9B70-0F0570BD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Laue</a:t>
            </a:r>
            <a:r>
              <a:rPr lang="zh-CN" altLang="en-US" dirty="0"/>
              <a:t>方程</a:t>
            </a:r>
          </a:p>
        </p:txBody>
      </p:sp>
      <p:pic>
        <p:nvPicPr>
          <p:cNvPr id="4" name="内容占位符 5">
            <a:extLst>
              <a:ext uri="{FF2B5EF4-FFF2-40B4-BE49-F238E27FC236}">
                <a16:creationId xmlns:a16="http://schemas.microsoft.com/office/drawing/2014/main" id="{2E0230E6-4FE7-E378-F098-98204974D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115" y="2544074"/>
            <a:ext cx="6366761" cy="3954738"/>
          </a:xfrm>
          <a:ln>
            <a:solidFill>
              <a:schemeClr val="tx1"/>
            </a:solidFill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68C828C2-2C59-E424-57FC-4179676008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6000" y="905318"/>
                <a:ext cx="4680000" cy="43236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2000" dirty="0"/>
                  <a:t>Wave 1&amp;2 </a:t>
                </a:r>
                <a:r>
                  <a:rPr lang="zh-CN" altLang="en-US" sz="2000" dirty="0"/>
                  <a:t>光程差：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l-GR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kumimoji="0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0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kumimoji="0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0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func>
                    </m:oMath>
                  </m:oMathPara>
                </a14:m>
                <a:endPara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altLang="zh-CN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kumimoji="0" lang="el-GR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el-GR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l-GR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光程差等于整数倍波长时，干涉相长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Laue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方程：</a:t>
                </a:r>
                <a:endParaRPr lang="en-US" altLang="zh-CN" sz="20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kumimoji="0" lang="el-GR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满足上述条件时，发生干涉相长，出现信号</a:t>
                </a:r>
              </a:p>
            </p:txBody>
          </p:sp>
        </mc:Choice>
        <mc:Fallback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68C828C2-2C59-E424-57FC-417967600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000" y="905318"/>
                <a:ext cx="4680000" cy="4323682"/>
              </a:xfrm>
              <a:prstGeom prst="rect">
                <a:avLst/>
              </a:prstGeom>
              <a:blipFill>
                <a:blip r:embed="rId3"/>
                <a:stretch>
                  <a:fillRect l="-143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C42A570-063C-B53B-540D-ABBF9C6301A9}"/>
                  </a:ext>
                </a:extLst>
              </p:cNvPr>
              <p:cNvSpPr txBox="1"/>
              <p:nvPr/>
            </p:nvSpPr>
            <p:spPr>
              <a:xfrm>
                <a:off x="4158417" y="977298"/>
                <a:ext cx="2845459" cy="1190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/>
                  <a:t>d</a:t>
                </a:r>
                <a:r>
                  <a:rPr lang="zh-CN" altLang="en-US" sz="2000" dirty="0"/>
                  <a:t>为布拉维格矢，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sz="2000" dirty="0"/>
              </a:p>
              <a:p>
                <a:r>
                  <a:rPr lang="en-US" altLang="zh-CN" sz="2000" i="1" dirty="0"/>
                  <a:t>k</a:t>
                </a:r>
                <a:r>
                  <a:rPr lang="zh-CN" altLang="en-US" sz="2000" dirty="0"/>
                  <a:t>为波矢，定义为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altLang="zh-CN" sz="2000" dirty="0"/>
              </a:p>
              <a:p>
                <a:r>
                  <a:rPr lang="en-US" altLang="zh-CN" sz="2000" i="1" dirty="0"/>
                  <a:t>n</a:t>
                </a:r>
                <a:r>
                  <a:rPr lang="zh-CN" altLang="en-US" sz="2000" dirty="0"/>
                  <a:t>为单位向量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C42A570-063C-B53B-540D-ABBF9C630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417" y="977298"/>
                <a:ext cx="2845459" cy="1190326"/>
              </a:xfrm>
              <a:prstGeom prst="rect">
                <a:avLst/>
              </a:prstGeom>
              <a:blipFill>
                <a:blip r:embed="rId4"/>
                <a:stretch>
                  <a:fillRect l="-2141" t="-6633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F9D0C1C9-F915-EB28-D29C-7FB13FB2026C}"/>
              </a:ext>
            </a:extLst>
          </p:cNvPr>
          <p:cNvSpPr txBox="1"/>
          <p:nvPr/>
        </p:nvSpPr>
        <p:spPr>
          <a:xfrm>
            <a:off x="7254284" y="5444849"/>
            <a:ext cx="432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Laue</a:t>
            </a:r>
            <a:r>
              <a:rPr lang="zh-CN" altLang="en-US" sz="2000" dirty="0"/>
              <a:t>方程</a:t>
            </a:r>
            <a:r>
              <a:rPr lang="zh-CN" altLang="en-US" sz="2000" dirty="0">
                <a:solidFill>
                  <a:srgbClr val="FF0000"/>
                </a:solidFill>
              </a:rPr>
              <a:t>矢量、普适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Bragg</a:t>
            </a:r>
            <a:r>
              <a:rPr lang="zh-CN" altLang="en-US" sz="2000" dirty="0"/>
              <a:t>条件是其在</a:t>
            </a:r>
            <a:r>
              <a:rPr lang="zh-CN" altLang="en-US" sz="2000" dirty="0">
                <a:solidFill>
                  <a:srgbClr val="FF0000"/>
                </a:solidFill>
              </a:rPr>
              <a:t>单色、给定晶面族情形下的标量化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9E189E4-F4F6-5EC7-13F4-FFE5ECD8D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900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9F71E-F707-37A2-E474-AF1EE484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作业（需要上交）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434AC2-9835-7346-B87D-0E46BE930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使用 </a:t>
            </a:r>
            <a:r>
              <a:rPr lang="el-GR" altLang="zh-CN" dirty="0"/>
              <a:t>λ</a:t>
            </a:r>
            <a:r>
              <a:rPr lang="en-US" altLang="zh-CN" dirty="0"/>
              <a:t> = 0.154 nm </a:t>
            </a:r>
            <a:r>
              <a:rPr lang="zh-CN" altLang="en-US" dirty="0"/>
              <a:t>的 </a:t>
            </a:r>
            <a:r>
              <a:rPr lang="en-US" altLang="zh-CN" dirty="0"/>
              <a:t>X </a:t>
            </a:r>
            <a:r>
              <a:rPr lang="zh-CN" altLang="en-US" dirty="0"/>
              <a:t>射线（</a:t>
            </a:r>
            <a:r>
              <a:rPr lang="en-US" altLang="zh-CN" dirty="0"/>
              <a:t>Cu K</a:t>
            </a:r>
            <a:r>
              <a:rPr lang="el-GR" altLang="zh-CN" dirty="0"/>
              <a:t>α</a:t>
            </a:r>
            <a:r>
              <a:rPr lang="zh-CN" altLang="en-US" dirty="0"/>
              <a:t>）照射晶体：</a:t>
            </a:r>
          </a:p>
          <a:p>
            <a:r>
              <a:rPr lang="en-US" altLang="zh-CN" dirty="0"/>
              <a:t>1.1 </a:t>
            </a:r>
            <a:r>
              <a:rPr lang="zh-CN" altLang="en-US" dirty="0"/>
              <a:t>已知具有 </a:t>
            </a:r>
            <a:r>
              <a:rPr lang="en-US" altLang="zh-CN" dirty="0"/>
              <a:t>FCC </a:t>
            </a:r>
            <a:r>
              <a:rPr lang="zh-CN" altLang="en-US" dirty="0"/>
              <a:t>结构的 </a:t>
            </a:r>
            <a:r>
              <a:rPr lang="en-US" altLang="zh-CN" dirty="0"/>
              <a:t>Al </a:t>
            </a:r>
            <a:r>
              <a:rPr lang="zh-CN" altLang="en-US" dirty="0"/>
              <a:t> </a:t>
            </a:r>
            <a:r>
              <a:rPr lang="en-US" altLang="zh-CN" dirty="0"/>
              <a:t>(111)</a:t>
            </a:r>
            <a:r>
              <a:rPr lang="zh-CN" altLang="en-US" dirty="0"/>
              <a:t> 面的衍射角为 </a:t>
            </a:r>
            <a:r>
              <a:rPr lang="en-US" altLang="zh-CN" dirty="0"/>
              <a:t>38.4 </a:t>
            </a:r>
            <a:r>
              <a:rPr lang="zh-CN" altLang="en-US" dirty="0"/>
              <a:t>度，求</a:t>
            </a:r>
            <a:r>
              <a:rPr lang="en-US" altLang="zh-CN" dirty="0"/>
              <a:t>Al</a:t>
            </a:r>
            <a:r>
              <a:rPr lang="zh-CN" altLang="en-US" dirty="0"/>
              <a:t> </a:t>
            </a:r>
            <a:r>
              <a:rPr lang="en-US" altLang="zh-CN" dirty="0"/>
              <a:t>(111)</a:t>
            </a:r>
            <a:r>
              <a:rPr lang="zh-CN" altLang="en-US" dirty="0"/>
              <a:t> 面的面间距；</a:t>
            </a:r>
          </a:p>
          <a:p>
            <a:r>
              <a:rPr lang="en-US" altLang="zh-CN" dirty="0"/>
              <a:t>1.2 </a:t>
            </a:r>
            <a:r>
              <a:rPr lang="zh-CN" altLang="en-US" dirty="0"/>
              <a:t>已知具有</a:t>
            </a:r>
            <a:r>
              <a:rPr lang="en-US" altLang="zh-CN" dirty="0"/>
              <a:t> BCC </a:t>
            </a:r>
            <a:r>
              <a:rPr lang="zh-CN" altLang="en-US" dirty="0"/>
              <a:t>结构的 </a:t>
            </a:r>
            <a:r>
              <a:rPr lang="en-US" altLang="zh-CN" dirty="0"/>
              <a:t>Fe (110) </a:t>
            </a:r>
            <a:r>
              <a:rPr lang="zh-CN" altLang="en-US" dirty="0"/>
              <a:t>面的衍射角为 </a:t>
            </a:r>
            <a:r>
              <a:rPr lang="en-US" altLang="zh-CN" dirty="0"/>
              <a:t>44.6 </a:t>
            </a:r>
            <a:r>
              <a:rPr lang="zh-CN" altLang="en-US" dirty="0"/>
              <a:t>度，求其单胞晶格常数。</a:t>
            </a:r>
            <a:endParaRPr lang="en-US" altLang="zh-CN" dirty="0"/>
          </a:p>
          <a:p>
            <a:r>
              <a:rPr lang="en-US" altLang="zh-CN" dirty="0"/>
              <a:t>Tips: (1) </a:t>
            </a:r>
            <a:r>
              <a:rPr lang="zh-CN" altLang="en-US" dirty="0"/>
              <a:t>注意衍射角与</a:t>
            </a:r>
            <a:r>
              <a:rPr lang="el-GR" altLang="zh-CN" dirty="0"/>
              <a:t>θ</a:t>
            </a:r>
            <a:r>
              <a:rPr lang="zh-CN" altLang="en-US" dirty="0"/>
              <a:t>的关系；</a:t>
            </a:r>
            <a:r>
              <a:rPr lang="en-US" altLang="zh-CN" dirty="0"/>
              <a:t>(2) </a:t>
            </a:r>
            <a:r>
              <a:rPr lang="zh-CN" altLang="en-US" dirty="0"/>
              <a:t>注意面间距与晶格常数的关系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4A2288-1EDB-53B2-0B76-3594F6C9E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15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E5C89016-8F35-F428-33BA-80E66CA6B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衍射图样中的格点是什么？有何物理意义？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29E68AA-8FCD-2B69-40AF-F599C624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倒易空间与倒格子</a:t>
            </a:r>
          </a:p>
        </p:txBody>
      </p:sp>
      <p:pic>
        <p:nvPicPr>
          <p:cNvPr id="13" name="图片 12" descr="图示&#10;&#10;描述已自动生成">
            <a:extLst>
              <a:ext uri="{FF2B5EF4-FFF2-40B4-BE49-F238E27FC236}">
                <a16:creationId xmlns:a16="http://schemas.microsoft.com/office/drawing/2014/main" id="{206DB404-78B4-354D-B8FA-406B9651D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60" y="2414225"/>
            <a:ext cx="4537710" cy="3327654"/>
          </a:xfrm>
          <a:prstGeom prst="rect">
            <a:avLst/>
          </a:prstGeom>
        </p:spPr>
      </p:pic>
      <p:pic>
        <p:nvPicPr>
          <p:cNvPr id="15" name="图片 14" descr="手机屏幕截图&#10;&#10;描述已自动生成">
            <a:extLst>
              <a:ext uri="{FF2B5EF4-FFF2-40B4-BE49-F238E27FC236}">
                <a16:creationId xmlns:a16="http://schemas.microsoft.com/office/drawing/2014/main" id="{D0129B12-F20A-C498-0D8C-DDE8D20B3E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5675" y="2757314"/>
            <a:ext cx="2973493" cy="30871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F64A9BF-FCFF-32DE-9E82-1A712A649776}"/>
                  </a:ext>
                </a:extLst>
              </p:cNvPr>
              <p:cNvSpPr txBox="1"/>
              <p:nvPr/>
            </p:nvSpPr>
            <p:spPr>
              <a:xfrm>
                <a:off x="7794550" y="2569016"/>
                <a:ext cx="4146413" cy="35618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在图样上，亮斑坐标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满足</a:t>
                </a:r>
                <a:endParaRPr lang="en-US" altLang="zh-CN" sz="2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d>
                  </m:oMath>
                </a14:m>
                <a:endParaRPr lang="en-US" altLang="zh-CN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zh-CN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altLang="zh-CN" sz="2000" b="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∝∆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altLang="zh-CN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Laue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条件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l-GR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20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猜测</m:t>
                    </m:r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  <m:r>
                      <a:rPr lang="el-GR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b="0" dirty="0">
                    <a:solidFill>
                      <a:srgbClr val="FF0000"/>
                    </a:solidFill>
                  </a:rPr>
                  <a:t>？</a:t>
                </a:r>
                <a:endParaRPr lang="en-US" altLang="zh-CN" sz="20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F64A9BF-FCFF-32DE-9E82-1A712A649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550" y="2569016"/>
                <a:ext cx="4146413" cy="3561809"/>
              </a:xfrm>
              <a:prstGeom prst="rect">
                <a:avLst/>
              </a:prstGeom>
              <a:blipFill>
                <a:blip r:embed="rId4"/>
                <a:stretch>
                  <a:fillRect l="-3529" t="-513" b="-2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7D2A6FB-36C3-9C74-3B2E-6393DC791FEA}"/>
                  </a:ext>
                </a:extLst>
              </p:cNvPr>
              <p:cNvSpPr txBox="1"/>
              <p:nvPr/>
            </p:nvSpPr>
            <p:spPr>
              <a:xfrm>
                <a:off x="2680098" y="3501840"/>
                <a:ext cx="412750" cy="425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7D2A6FB-36C3-9C74-3B2E-6393DC79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098" y="3501840"/>
                <a:ext cx="412750" cy="425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17AD4B8-3115-3B1C-9298-F54EF125CB7A}"/>
                  </a:ext>
                </a:extLst>
              </p:cNvPr>
              <p:cNvSpPr txBox="1"/>
              <p:nvPr/>
            </p:nvSpPr>
            <p:spPr>
              <a:xfrm>
                <a:off x="1680185" y="3524731"/>
                <a:ext cx="412750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17AD4B8-3115-3B1C-9298-F54EF125C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185" y="3524731"/>
                <a:ext cx="412750" cy="4029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4EDC36D-9FC6-EC2D-9047-ED9D1317B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5" name="图片 4" descr="手机屏幕截图&#10;&#10;描述已自动生成">
            <a:extLst>
              <a:ext uri="{FF2B5EF4-FFF2-40B4-BE49-F238E27FC236}">
                <a16:creationId xmlns:a16="http://schemas.microsoft.com/office/drawing/2014/main" id="{66562339-7DFC-7F87-F692-DFC287D5C9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56" r="6642" b="12162"/>
          <a:stretch>
            <a:fillRect/>
          </a:stretch>
        </p:blipFill>
        <p:spPr>
          <a:xfrm>
            <a:off x="3430280" y="3281386"/>
            <a:ext cx="1736463" cy="1743949"/>
          </a:xfrm>
          <a:prstGeom prst="rect">
            <a:avLst/>
          </a:prstGeom>
          <a:scene3d>
            <a:camera prst="isometricOffAxis1Left">
              <a:rot lat="1200000" lon="4200000" rev="0"/>
            </a:camera>
            <a:lightRig rig="threePt" dir="t"/>
          </a:scene3d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9582D82-0CD0-BFCF-9E2E-77693BDD83F1}"/>
              </a:ext>
            </a:extLst>
          </p:cNvPr>
          <p:cNvCxnSpPr>
            <a:cxnSpLocks/>
          </p:cNvCxnSpPr>
          <p:nvPr/>
        </p:nvCxnSpPr>
        <p:spPr>
          <a:xfrm>
            <a:off x="2496000" y="4149000"/>
            <a:ext cx="180000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3F6EB4E-3034-33A5-4528-019CCD87CA05}"/>
              </a:ext>
            </a:extLst>
          </p:cNvPr>
          <p:cNvSpPr txBox="1"/>
          <p:nvPr/>
        </p:nvSpPr>
        <p:spPr>
          <a:xfrm>
            <a:off x="35916" y="3399627"/>
            <a:ext cx="7665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zh-CN" altLang="en-US" dirty="0"/>
              <a:t>光源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CF50E8-C3BF-1E17-78BC-F922D93DF2E9}"/>
              </a:ext>
            </a:extLst>
          </p:cNvPr>
          <p:cNvSpPr txBox="1"/>
          <p:nvPr/>
        </p:nvSpPr>
        <p:spPr>
          <a:xfrm>
            <a:off x="3742002" y="2662913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成像屏幕</a:t>
            </a:r>
            <a:endParaRPr lang="en-US" altLang="zh-CN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38491AE-ADAA-BA3C-4E43-695B7FA475A2}"/>
              </a:ext>
            </a:extLst>
          </p:cNvPr>
          <p:cNvCxnSpPr>
            <a:cxnSpLocks/>
          </p:cNvCxnSpPr>
          <p:nvPr/>
        </p:nvCxnSpPr>
        <p:spPr>
          <a:xfrm flipV="1">
            <a:off x="6318819" y="3146797"/>
            <a:ext cx="208105" cy="983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47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1AA4E-3D90-2A55-42B4-0134361B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倒易空间与倒格子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942BE6-42EC-49DE-E187-495146676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95636"/>
                <a:ext cx="10823712" cy="206961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000" dirty="0"/>
                  <a:t>考虑衍射图样上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任意一点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zh-CN" altLang="en-US" sz="2000" dirty="0"/>
                  <a:t>（连续分布，不止是亮点），到达此处的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射线中，被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000" dirty="0"/>
                  <a:t>的晶格格点所散射的部分，比被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原点</a:t>
                </a:r>
                <a:r>
                  <a:rPr lang="zh-CN" altLang="en-US" sz="2000" dirty="0"/>
                  <a:t>晶格格点所散射的部分，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多走了一段路程，</a:t>
                </a:r>
                <a:r>
                  <a:rPr lang="zh-CN" altLang="en-US" sz="2000" dirty="0"/>
                  <a:t>多走的这段路程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带来的相位差为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⃗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acc>
                      </m:sup>
                    </m:sSup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r>
                  <a:rPr lang="zh-CN" altLang="en-US" sz="2000" dirty="0"/>
                  <a:t>两个波叠加后的波动方程为</a:t>
                </a:r>
                <a:endParaRPr lang="en-US" altLang="zh-CN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为基元对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射线的散射振幅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942BE6-42EC-49DE-E187-495146676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95636"/>
                <a:ext cx="10823712" cy="2069618"/>
              </a:xfrm>
              <a:blipFill>
                <a:blip r:embed="rId2"/>
                <a:stretch>
                  <a:fillRect l="-507" t="-7375" b="-5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5E4141AF-E1F6-F02C-1AE7-197E1171B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265863"/>
            <a:ext cx="4537710" cy="3327654"/>
          </a:xfrm>
          <a:prstGeom prst="rect">
            <a:avLst/>
          </a:prstGeom>
        </p:spPr>
      </p:pic>
      <p:pic>
        <p:nvPicPr>
          <p:cNvPr id="10" name="图片 9" descr="黑暗中的灯光&#10;&#10;低可信度描述已自动生成">
            <a:extLst>
              <a:ext uri="{FF2B5EF4-FFF2-40B4-BE49-F238E27FC236}">
                <a16:creationId xmlns:a16="http://schemas.microsoft.com/office/drawing/2014/main" id="{4EFC9EA4-7AF5-4546-55F9-92C072262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758623">
            <a:off x="5548260" y="1649690"/>
            <a:ext cx="5495238" cy="295238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8AED9D8-EFCE-AB48-3ED7-F0D41DAD7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7" name="图片 6" descr="手机屏幕截图&#10;&#10;描述已自动生成">
            <a:extLst>
              <a:ext uri="{FF2B5EF4-FFF2-40B4-BE49-F238E27FC236}">
                <a16:creationId xmlns:a16="http://schemas.microsoft.com/office/drawing/2014/main" id="{5679BAE4-528E-EF8D-8D37-3468AC7470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6000" y="392057"/>
            <a:ext cx="2207339" cy="22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2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1AA4E-3D90-2A55-42B4-0134361B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倒易空间与倒格子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942BE6-42EC-49DE-E187-495146676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4851399"/>
                <a:ext cx="10823712" cy="18475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所有</m:t>
                    </m:r>
                    <m:r>
                      <a:rPr lang="zh-CN" alt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布拉维格点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  <m:r>
                      <a:rPr lang="zh-CN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求和</m:t>
                    </m:r>
                    <m:r>
                      <a:rPr lang="zh-CN" alt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使用晶格密度函数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取代晶格坐标，将对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的求和改写为积分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得到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i="0" dirty="0">
                        <a:solidFill>
                          <a:schemeClr val="tx1"/>
                        </a:solidFill>
                      </a:rPr>
                      <m:t>衍射图样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上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点处的亮度</a:t>
                </a:r>
                <a:r>
                  <a:rPr lang="zh-CN" altLang="en-US" sz="2000" dirty="0"/>
                  <a:t>（密度）函数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（省略前置系数）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  <m:r>
                                    <a:rPr lang="el-GR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942BE6-42EC-49DE-E187-495146676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4851399"/>
                <a:ext cx="10823712" cy="1847575"/>
              </a:xfrm>
              <a:blipFill>
                <a:blip r:embed="rId2"/>
                <a:stretch>
                  <a:fillRect l="-507" t="-3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68B81371-79FC-EE01-1FBD-AD56CA2F9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265863"/>
            <a:ext cx="4537710" cy="332765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1C0978-B96B-8A37-EF5D-859208CB5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6" name="图片 5" descr="黑暗中的灯光&#10;&#10;低可信度描述已自动生成">
            <a:extLst>
              <a:ext uri="{FF2B5EF4-FFF2-40B4-BE49-F238E27FC236}">
                <a16:creationId xmlns:a16="http://schemas.microsoft.com/office/drawing/2014/main" id="{71DD2A07-F5FF-9547-B400-116C4AF1F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758623">
            <a:off x="5548260" y="1649690"/>
            <a:ext cx="5495238" cy="2952381"/>
          </a:xfrm>
          <a:prstGeom prst="rect">
            <a:avLst/>
          </a:prstGeom>
        </p:spPr>
      </p:pic>
      <p:pic>
        <p:nvPicPr>
          <p:cNvPr id="10" name="图片 9" descr="手机屏幕截图&#10;&#10;描述已自动生成">
            <a:extLst>
              <a:ext uri="{FF2B5EF4-FFF2-40B4-BE49-F238E27FC236}">
                <a16:creationId xmlns:a16="http://schemas.microsoft.com/office/drawing/2014/main" id="{F8644EF4-8395-11DA-40E9-ECF2AECC77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6000" y="392057"/>
            <a:ext cx="2207339" cy="22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B7C6B-D393-E715-B8C7-85124DC2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倒易空间与倒格子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B49D07-B4D9-E50E-768A-806B9AAF5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衍射图样密度函数（衍射格子）和晶格密度函数（晶格格子）互为对方的傅里叶变换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el-GR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el-GR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称实空间</a:t>
                </a:r>
                <a:r>
                  <a:rPr lang="en-US" altLang="zh-CN" sz="2400" dirty="0"/>
                  <a:t>(real space)</a:t>
                </a:r>
                <a:r>
                  <a:rPr lang="zh-CN" altLang="en-US" sz="2400" dirty="0"/>
                  <a:t>中的布拉维格子为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正格子</a:t>
                </a:r>
                <a:r>
                  <a:rPr lang="zh-CN" altLang="en-US" sz="2400" dirty="0"/>
                  <a:t>，衍射图样所在的倒易空间</a:t>
                </a:r>
                <a:r>
                  <a:rPr lang="en-US" altLang="zh-CN" sz="2400" dirty="0"/>
                  <a:t>(reciprocal space)</a:t>
                </a:r>
                <a:r>
                  <a:rPr lang="zh-CN" altLang="en-US" sz="2400" dirty="0"/>
                  <a:t>中的格子为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倒格子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(reciprocal lattice)</a:t>
                </a:r>
              </a:p>
              <a:p>
                <a:r>
                  <a:rPr lang="zh-CN" altLang="en-US" sz="2400" dirty="0"/>
                  <a:t>正格子的格矢为布拉维格矢，</a:t>
                </a:r>
                <a:r>
                  <a:rPr lang="zh-CN" altLang="en-US" sz="24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倒格矢和正格矢有何种关系？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B49D07-B4D9-E50E-768A-806B9AAF5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061C0E-4136-3151-9BF5-C5E817616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636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CDABC-6942-7F0F-D05B-94108C30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倒格子格矢（</a:t>
            </a:r>
            <a:r>
              <a:rPr lang="en-US" altLang="zh-CN" dirty="0"/>
              <a:t>reciprocal lattice vector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04B926-56E9-88D7-E840-68033E70C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88901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实空间中，晶体具有晶格平移不变性，其平移矢量为布拉维格矢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倒格矢可用相同方法定义，即，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晶体倒易空间具有倒格子平移不变性，其平移矢量为倒格子格矢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04B926-56E9-88D7-E840-68033E70C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88901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73AC468-91AA-6DD5-D6D8-55AE312DC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534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E52B4B-ADDD-9A5D-DF2F-BC3C9BA8012E}"/>
              </a:ext>
            </a:extLst>
          </p:cNvPr>
          <p:cNvSpPr/>
          <p:nvPr/>
        </p:nvSpPr>
        <p:spPr>
          <a:xfrm>
            <a:off x="4820478" y="5949000"/>
            <a:ext cx="2551044" cy="6559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9CDABC-6942-7F0F-D05B-94108C30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倒格子格矢（</a:t>
            </a:r>
            <a:r>
              <a:rPr lang="en-US" altLang="zh-CN" dirty="0"/>
              <a:t>reciprocal lattice vector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04B926-56E9-88D7-E840-68033E70C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889015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由傅里叶关系得</a:t>
                </a:r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</m:d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⃑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，所以必须有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即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l-GR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简写为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04B926-56E9-88D7-E840-68033E70C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889015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3AEB6EB-17AF-5468-4516-0110A3F87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711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05C8A-DDBA-5C07-57F0-1BE9BD61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倒格子基矢（</a:t>
            </a:r>
            <a:r>
              <a:rPr lang="en-US" altLang="zh-CN" dirty="0"/>
              <a:t>reciprocal primitive vector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F272E8-D658-34BE-94B7-24C4C2DD9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类似布拉维格矢</a:t>
                </a:r>
                <a:r>
                  <a:rPr lang="en-US" altLang="zh-CN" dirty="0"/>
                  <a:t>R</a:t>
                </a:r>
                <a:r>
                  <a:rPr lang="en-US" altLang="zh-CN" baseline="-25000" dirty="0"/>
                  <a:t>n</a:t>
                </a:r>
                <a:r>
                  <a:rPr lang="zh-CN" altLang="en-US" dirty="0"/>
                  <a:t>可以用三个基矢展开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倒格子格矢</a:t>
                </a:r>
                <a:r>
                  <a:rPr lang="en-US" altLang="zh-CN" dirty="0" err="1"/>
                  <a:t>G</a:t>
                </a:r>
                <a:r>
                  <a:rPr lang="en-US" altLang="zh-CN" baseline="-25000" dirty="0" err="1"/>
                  <a:t>h</a:t>
                </a:r>
                <a:r>
                  <a:rPr lang="zh-CN" altLang="en-US" dirty="0"/>
                  <a:t>也可以用三个基矢展开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其中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b1, b2, b3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称为倒格子基矢 </a:t>
                </a:r>
                <a:r>
                  <a:rPr lang="en-US" altLang="zh-CN" dirty="0"/>
                  <a:t>(reciprocal primitive vector)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F272E8-D658-34BE-94B7-24C4C2DD9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C0634A9-9C7A-87FF-CC9F-FCC293310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070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1C42CA-912D-6528-14C9-571C7730E417}"/>
              </a:ext>
            </a:extLst>
          </p:cNvPr>
          <p:cNvSpPr/>
          <p:nvPr/>
        </p:nvSpPr>
        <p:spPr>
          <a:xfrm>
            <a:off x="4804956" y="2677470"/>
            <a:ext cx="2551044" cy="6559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505C8A-DDBA-5C07-57F0-1BE9BD61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倒格子基矢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F272E8-D658-34BE-94B7-24C4C2DD9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正格子基矢</a:t>
                </a:r>
                <a:r>
                  <a:rPr lang="en-US" altLang="zh-CN" i="1" dirty="0"/>
                  <a:t>a</a:t>
                </a:r>
                <a:r>
                  <a:rPr lang="en-US" altLang="zh-CN" i="1" baseline="-25000" dirty="0"/>
                  <a:t>n</a:t>
                </a:r>
                <a:r>
                  <a:rPr lang="zh-CN" altLang="en-US" dirty="0"/>
                  <a:t>与倒格子基矢</a:t>
                </a:r>
                <a:r>
                  <a:rPr lang="en-US" altLang="zh-CN" i="1" dirty="0" err="1"/>
                  <a:t>b</a:t>
                </a:r>
                <a:r>
                  <a:rPr lang="en-US" altLang="zh-CN" i="1" baseline="-25000" dirty="0" err="1"/>
                  <a:t>h</a:t>
                </a:r>
                <a:r>
                  <a:rPr lang="zh-CN" altLang="en-US" dirty="0"/>
                  <a:t>之间的关系是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即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F272E8-D658-34BE-94B7-24C4C2DD9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E580A814-3111-4F7F-6775-26038A35B073}"/>
                  </a:ext>
                </a:extLst>
              </p:cNvPr>
              <p:cNvSpPr txBox="1"/>
              <p:nvPr/>
            </p:nvSpPr>
            <p:spPr bwMode="auto">
              <a:xfrm>
                <a:off x="1620838" y="3887788"/>
                <a:ext cx="6378575" cy="2520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  <m:oMath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E580A814-3111-4F7F-6775-26038A35B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0838" y="3887788"/>
                <a:ext cx="6378575" cy="2520950"/>
              </a:xfrm>
              <a:prstGeom prst="rect">
                <a:avLst/>
              </a:prstGeom>
              <a:blipFill>
                <a:blip r:embed="rId3"/>
                <a:stretch>
                  <a:fillRect r="-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D85CD21-04A0-F7B4-73C4-C59491C42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338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二维晶格的倒格子</a:t>
            </a: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6167439" y="3069233"/>
            <a:ext cx="720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6528048" y="1602379"/>
          <a:ext cx="3084512" cy="367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228092" imgH="2654589" progId="Photoshop.Image.6">
                  <p:embed/>
                </p:oleObj>
              </mc:Choice>
              <mc:Fallback>
                <p:oleObj name="Image" r:id="rId3" imgW="2228092" imgH="2654589" progId="Photoshop.Image.6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1602379"/>
                        <a:ext cx="3084512" cy="367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2"/>
              <p:cNvSpPr txBox="1"/>
              <p:nvPr/>
            </p:nvSpPr>
            <p:spPr bwMode="auto">
              <a:xfrm>
                <a:off x="7623722" y="3267770"/>
                <a:ext cx="344487" cy="449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3722" y="3267770"/>
                <a:ext cx="344487" cy="449263"/>
              </a:xfrm>
              <a:prstGeom prst="rect">
                <a:avLst/>
              </a:prstGeom>
              <a:blipFill>
                <a:blip r:embed="rId5"/>
                <a:stretch>
                  <a:fillRect t="-18919" r="-196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7319962" y="3296242"/>
            <a:ext cx="71438" cy="142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4"/>
              <p:cNvSpPr txBox="1"/>
              <p:nvPr/>
            </p:nvSpPr>
            <p:spPr bwMode="auto">
              <a:xfrm>
                <a:off x="7454306" y="2475682"/>
                <a:ext cx="369887" cy="4492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4306" y="2475682"/>
                <a:ext cx="369887" cy="449262"/>
              </a:xfrm>
              <a:prstGeom prst="rect">
                <a:avLst/>
              </a:prstGeom>
              <a:blipFill>
                <a:blip r:embed="rId6"/>
                <a:stretch>
                  <a:fillRect t="-18919" r="-18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5"/>
              <p:cNvSpPr txBox="1"/>
              <p:nvPr/>
            </p:nvSpPr>
            <p:spPr bwMode="auto">
              <a:xfrm>
                <a:off x="7751762" y="3943941"/>
                <a:ext cx="319088" cy="4492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1762" y="3943941"/>
                <a:ext cx="319088" cy="449262"/>
              </a:xfrm>
              <a:prstGeom prst="rect">
                <a:avLst/>
              </a:prstGeom>
              <a:blipFill>
                <a:blip r:embed="rId7"/>
                <a:stretch>
                  <a:fillRect r="-1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6"/>
              <p:cNvSpPr txBox="1"/>
              <p:nvPr/>
            </p:nvSpPr>
            <p:spPr bwMode="auto">
              <a:xfrm>
                <a:off x="6096000" y="2359616"/>
                <a:ext cx="4318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2359616"/>
                <a:ext cx="431800" cy="520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2639616" y="1549941"/>
            <a:ext cx="24482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二维情况下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8"/>
              <p:cNvSpPr txBox="1"/>
              <p:nvPr/>
            </p:nvSpPr>
            <p:spPr bwMode="auto">
              <a:xfrm>
                <a:off x="2752857" y="4581129"/>
                <a:ext cx="2896609" cy="648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2857" y="4581129"/>
                <a:ext cx="2896609" cy="6483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3"/>
              <p:cNvSpPr txBox="1"/>
              <p:nvPr/>
            </p:nvSpPr>
            <p:spPr bwMode="auto">
              <a:xfrm>
                <a:off x="2711450" y="3011488"/>
                <a:ext cx="3240088" cy="627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3011488"/>
                <a:ext cx="3240088" cy="6270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4"/>
              <p:cNvSpPr txBox="1"/>
              <p:nvPr/>
            </p:nvSpPr>
            <p:spPr bwMode="auto">
              <a:xfrm>
                <a:off x="2711450" y="3797300"/>
                <a:ext cx="3025775" cy="639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3797300"/>
                <a:ext cx="3025775" cy="6397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/>
              <p:cNvSpPr txBox="1"/>
              <p:nvPr/>
            </p:nvSpPr>
            <p:spPr bwMode="auto">
              <a:xfrm>
                <a:off x="2711450" y="2160588"/>
                <a:ext cx="2428875" cy="757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2160588"/>
                <a:ext cx="2428875" cy="7572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826872D-0DFC-24CB-08CA-6F627D1B7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849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712B7-2338-2B5C-64B8-10CB2433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如何寻找倒格子基矢</a:t>
            </a:r>
            <a:r>
              <a:rPr lang="en-US" altLang="zh-CN" dirty="0"/>
              <a:t>b1 b2 b3?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2D2EBF-471C-CE15-631A-F216AADFA4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矢量运算法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430A9B-E6AC-0615-AE23-63961A5AF7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几何法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以寻找</a:t>
            </a:r>
            <a:r>
              <a:rPr lang="en-US" altLang="zh-CN" dirty="0"/>
              <a:t>b1</a:t>
            </a:r>
            <a:r>
              <a:rPr lang="zh-CN" altLang="en-US" dirty="0"/>
              <a:t>为例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找到</a:t>
            </a:r>
            <a:r>
              <a:rPr lang="en-US" altLang="zh-CN" dirty="0"/>
              <a:t>a2</a:t>
            </a:r>
            <a:r>
              <a:rPr lang="zh-CN" altLang="en-US" dirty="0"/>
              <a:t>与</a:t>
            </a:r>
            <a:r>
              <a:rPr lang="en-US" altLang="zh-CN" dirty="0"/>
              <a:t>a3</a:t>
            </a:r>
            <a:r>
              <a:rPr lang="zh-CN" altLang="en-US" dirty="0"/>
              <a:t>构成的平面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该平面的法线方向即为</a:t>
            </a:r>
            <a:r>
              <a:rPr lang="en-US" altLang="zh-CN" dirty="0">
                <a:solidFill>
                  <a:srgbClr val="FF0000"/>
                </a:solidFill>
              </a:rPr>
              <a:t>b1</a:t>
            </a:r>
            <a:r>
              <a:rPr lang="zh-CN" altLang="en-US" dirty="0">
                <a:solidFill>
                  <a:srgbClr val="FF0000"/>
                </a:solidFill>
              </a:rPr>
              <a:t>的方向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找到</a:t>
            </a:r>
            <a:r>
              <a:rPr lang="en-US" altLang="zh-CN" dirty="0">
                <a:solidFill>
                  <a:srgbClr val="FF0000"/>
                </a:solidFill>
              </a:rPr>
              <a:t>a1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b1</a:t>
            </a:r>
            <a:r>
              <a:rPr lang="zh-CN" altLang="en-US" dirty="0">
                <a:solidFill>
                  <a:srgbClr val="FF0000"/>
                </a:solidFill>
              </a:rPr>
              <a:t>夹角</a:t>
            </a:r>
            <a:r>
              <a:rPr lang="el-GR" altLang="zh-CN" dirty="0">
                <a:solidFill>
                  <a:srgbClr val="FF0000"/>
                </a:solidFill>
              </a:rPr>
              <a:t>φ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计算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l-GR" altLang="zh-CN" dirty="0">
                <a:solidFill>
                  <a:srgbClr val="FF0000"/>
                </a:solidFill>
              </a:rPr>
              <a:t>π</a:t>
            </a:r>
            <a:r>
              <a:rPr lang="en-US" altLang="zh-CN" dirty="0">
                <a:solidFill>
                  <a:srgbClr val="FF0000"/>
                </a:solidFill>
              </a:rPr>
              <a:t>/|a1|/cos</a:t>
            </a:r>
            <a:r>
              <a:rPr lang="el-GR" altLang="zh-CN" dirty="0">
                <a:solidFill>
                  <a:srgbClr val="FF0000"/>
                </a:solidFill>
              </a:rPr>
              <a:t>φ</a:t>
            </a:r>
            <a:r>
              <a:rPr lang="zh-CN" altLang="en-US" dirty="0"/>
              <a:t>的大小，该数值即为</a:t>
            </a:r>
            <a:r>
              <a:rPr lang="en-US" altLang="zh-CN" dirty="0">
                <a:solidFill>
                  <a:srgbClr val="FF0000"/>
                </a:solidFill>
              </a:rPr>
              <a:t>b1</a:t>
            </a:r>
            <a:r>
              <a:rPr lang="zh-CN" altLang="en-US" dirty="0">
                <a:solidFill>
                  <a:srgbClr val="FF0000"/>
                </a:solidFill>
              </a:rPr>
              <a:t>的长度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429FB803-08CF-F58E-6246-C156E7856A99}"/>
                  </a:ext>
                </a:extLst>
              </p:cNvPr>
              <p:cNvSpPr txBox="1"/>
              <p:nvPr/>
            </p:nvSpPr>
            <p:spPr bwMode="auto">
              <a:xfrm>
                <a:off x="1714195" y="2372832"/>
                <a:ext cx="3168352" cy="307607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f>
                                  <m:f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⃑"/>
                                                <m:ctrlP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⃑"/>
                                                <m:ctrlP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f>
                                  <m:f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⃑"/>
                                                <m:ctrlP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⃑"/>
                                                <m:ctrlP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f>
                                  <m:f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⃑"/>
                                                <m:ctrlP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⃑"/>
                                                <m:ctrlP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alt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429FB803-08CF-F58E-6246-C156E7856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195" y="2372832"/>
                <a:ext cx="3168352" cy="30760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0250B876-0C3F-4D0E-D64E-FEE75168730D}"/>
                  </a:ext>
                </a:extLst>
              </p:cNvPr>
              <p:cNvSpPr txBox="1"/>
              <p:nvPr/>
            </p:nvSpPr>
            <p:spPr bwMode="auto">
              <a:xfrm>
                <a:off x="1714195" y="5110971"/>
                <a:ext cx="3857625" cy="15351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⃑"/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0250B876-0C3F-4D0E-D64E-FEE751687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195" y="5110971"/>
                <a:ext cx="3857625" cy="1535112"/>
              </a:xfrm>
              <a:prstGeom prst="rect">
                <a:avLst/>
              </a:prstGeom>
              <a:blipFill>
                <a:blip r:embed="rId3"/>
                <a:stretch>
                  <a:fillRect r="-9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E53498F-43E5-85D6-FED2-172FC1C38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374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714D3-30D5-FAD8-BAB4-A757D7E38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倒格子是倒易空间的布拉维格子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6ED879-6576-30DF-FF7F-B08CFAE47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倒格子与正格子具有相同的点群对称性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WARNING: </a:t>
            </a:r>
            <a:r>
              <a:rPr lang="zh-CN" altLang="en-US" dirty="0"/>
              <a:t>这里</a:t>
            </a:r>
            <a:r>
              <a:rPr lang="zh-CN" altLang="en-US" dirty="0">
                <a:solidFill>
                  <a:srgbClr val="FF0000"/>
                </a:solidFill>
              </a:rPr>
              <a:t>不包括基元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仅是晶格的点群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若考虑基元，整个晶体的对称性可能会进一步降低（例如破坏中心反演对称）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倒易空间中的</a:t>
            </a:r>
            <a:r>
              <a:rPr lang="en-US" altLang="zh-CN" dirty="0">
                <a:solidFill>
                  <a:srgbClr val="FF0000"/>
                </a:solidFill>
              </a:rPr>
              <a:t>Wigner-Seitz</a:t>
            </a:r>
            <a:r>
              <a:rPr lang="zh-CN" altLang="en-US" dirty="0">
                <a:solidFill>
                  <a:srgbClr val="FF0000"/>
                </a:solidFill>
              </a:rPr>
              <a:t>原胞</a:t>
            </a:r>
            <a:r>
              <a:rPr lang="zh-CN" altLang="en-US" dirty="0"/>
              <a:t>被称为</a:t>
            </a:r>
            <a:r>
              <a:rPr lang="zh-CN" altLang="en-US" dirty="0">
                <a:solidFill>
                  <a:srgbClr val="FF0000"/>
                </a:solidFill>
              </a:rPr>
              <a:t>第一布里渊区 </a:t>
            </a:r>
            <a:r>
              <a:rPr lang="en-US" altLang="zh-CN" dirty="0">
                <a:solidFill>
                  <a:srgbClr val="FF0000"/>
                </a:solidFill>
              </a:rPr>
              <a:t>(first Brillouin zone)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537F985-44DE-C716-E367-06365AC99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197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简单立方晶格的倒格子</a:t>
            </a:r>
          </a:p>
        </p:txBody>
      </p:sp>
      <p:pic>
        <p:nvPicPr>
          <p:cNvPr id="4" name="图片 3" descr="Simple cubic latt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332" y="1285861"/>
            <a:ext cx="5476875" cy="2847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298" name="Object 2"/>
              <p:cNvSpPr txBox="1"/>
              <p:nvPr/>
            </p:nvSpPr>
            <p:spPr bwMode="auto">
              <a:xfrm>
                <a:off x="3741349" y="4305775"/>
                <a:ext cx="4709301" cy="74357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529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1349" y="4305775"/>
                <a:ext cx="4709301" cy="743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299" name="Object 3"/>
              <p:cNvSpPr txBox="1"/>
              <p:nvPr/>
            </p:nvSpPr>
            <p:spPr bwMode="auto">
              <a:xfrm>
                <a:off x="3441977" y="5221288"/>
                <a:ext cx="7108825" cy="12715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52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977" y="5221288"/>
                <a:ext cx="7108825" cy="12715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B5F74D6-855A-1060-6EA7-76D570D35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135560" y="548681"/>
            <a:ext cx="57246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/>
              <a:t>简单立方晶格第一布里渊区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968" y="1772817"/>
            <a:ext cx="4088481" cy="3991813"/>
          </a:xfrm>
          <a:prstGeom prst="rect">
            <a:avLst/>
          </a:prstGeom>
        </p:spPr>
      </p:pic>
      <p:pic>
        <p:nvPicPr>
          <p:cNvPr id="9" name="内容占位符 5" descr="ws-cell.jpg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79527" y="1785392"/>
            <a:ext cx="3842146" cy="400052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2727599" y="3198659"/>
                <a:ext cx="360040" cy="5700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99" y="3198659"/>
                <a:ext cx="360040" cy="570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4671815" y="3226271"/>
                <a:ext cx="360040" cy="5700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815" y="3226271"/>
                <a:ext cx="360040" cy="570063"/>
              </a:xfrm>
              <a:prstGeom prst="rect">
                <a:avLst/>
              </a:prstGeom>
              <a:blipFill>
                <a:blip r:embed="rId5"/>
                <a:stretch>
                  <a:fillRect r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4023743" y="2132857"/>
                <a:ext cx="362462" cy="4908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743" y="2132857"/>
                <a:ext cx="362462" cy="4908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3675275-FBB6-2D70-7EE1-9C0CDF906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276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体心立方晶格的倒格子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"/>
              <p:cNvSpPr txBox="1"/>
              <p:nvPr/>
            </p:nvSpPr>
            <p:spPr bwMode="auto">
              <a:xfrm>
                <a:off x="6548334" y="1690688"/>
                <a:ext cx="3108824" cy="201952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8334" y="1690688"/>
                <a:ext cx="3108824" cy="2019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0549" y="2343958"/>
            <a:ext cx="3723119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323" name="Object 3"/>
              <p:cNvSpPr txBox="1"/>
              <p:nvPr/>
            </p:nvSpPr>
            <p:spPr bwMode="auto">
              <a:xfrm>
                <a:off x="6366481" y="3989515"/>
                <a:ext cx="3566465" cy="231189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⃐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632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6481" y="3989515"/>
                <a:ext cx="3566465" cy="23118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13EE450-531A-61F1-EB25-F1C2AD08B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5561" y="1820704"/>
            <a:ext cx="4136099" cy="376853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1138" y="1820704"/>
            <a:ext cx="3945493" cy="3768536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008079" y="332656"/>
            <a:ext cx="8229600" cy="1143000"/>
          </a:xfrm>
        </p:spPr>
        <p:txBody>
          <a:bodyPr/>
          <a:lstStyle/>
          <a:p>
            <a:r>
              <a:rPr lang="zh-CN" altLang="en-US" dirty="0"/>
              <a:t>体心立方晶格第一布里渊区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D37BB06-C1F5-AAE4-021E-52FD06FE2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524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面心立方晶格的倒格子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46" name="Object 2"/>
              <p:cNvSpPr txBox="1"/>
              <p:nvPr/>
            </p:nvSpPr>
            <p:spPr bwMode="auto">
              <a:xfrm>
                <a:off x="6041538" y="4030042"/>
                <a:ext cx="3394075" cy="233762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⃐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34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1538" y="4030042"/>
                <a:ext cx="3394075" cy="2337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83278" y="2339971"/>
            <a:ext cx="3594830" cy="2757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347" name="Object 3"/>
              <p:cNvSpPr txBox="1"/>
              <p:nvPr/>
            </p:nvSpPr>
            <p:spPr bwMode="auto">
              <a:xfrm>
                <a:off x="6041538" y="1548552"/>
                <a:ext cx="2144712" cy="21703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34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1538" y="1548552"/>
                <a:ext cx="2144712" cy="2170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2BF407B-2598-2328-072D-0E2AD9649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269" y="1700808"/>
            <a:ext cx="4537278" cy="4320480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008079" y="332656"/>
            <a:ext cx="8229600" cy="1143000"/>
          </a:xfrm>
        </p:spPr>
        <p:txBody>
          <a:bodyPr/>
          <a:lstStyle/>
          <a:p>
            <a:r>
              <a:rPr lang="zh-CN" altLang="en-US" dirty="0"/>
              <a:t>面心立方晶格第一布里渊区</a:t>
            </a:r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0221" y="1675174"/>
            <a:ext cx="4397313" cy="4397313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A4A27DC-6730-7612-4B3B-0F3A5E7BC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741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DEE0A1E-9649-FECA-E0D6-BFF984145C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7272" y="3934025"/>
            <a:ext cx="1605946" cy="14616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BB576F-78B9-5BCF-D705-090425C97E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7602" y="5345381"/>
            <a:ext cx="1605946" cy="1461671"/>
          </a:xfrm>
          <a:prstGeom prst="rect">
            <a:avLst/>
          </a:prstGeom>
        </p:spPr>
      </p:pic>
      <p:pic>
        <p:nvPicPr>
          <p:cNvPr id="10" name="内容占位符 3">
            <a:extLst>
              <a:ext uri="{FF2B5EF4-FFF2-40B4-BE49-F238E27FC236}">
                <a16:creationId xmlns:a16="http://schemas.microsoft.com/office/drawing/2014/main" id="{F9BCE742-88A7-5364-D9D6-59B8F590B8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9739" y="3883710"/>
            <a:ext cx="1461671" cy="1461671"/>
          </a:xfrm>
          <a:prstGeom prst="rect">
            <a:avLst/>
          </a:prstGeom>
        </p:spPr>
      </p:pic>
      <p:pic>
        <p:nvPicPr>
          <p:cNvPr id="11" name="内容占位符 3">
            <a:extLst>
              <a:ext uri="{FF2B5EF4-FFF2-40B4-BE49-F238E27FC236}">
                <a16:creationId xmlns:a16="http://schemas.microsoft.com/office/drawing/2014/main" id="{55E05BE3-BF88-3D8C-9C30-868071C5882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2408" y="5345381"/>
            <a:ext cx="1461671" cy="14616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E729701-F00D-02C6-9E40-94EA8138AE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891725"/>
                  </p:ext>
                </p:extLst>
              </p:nvPr>
            </p:nvGraphicFramePr>
            <p:xfrm>
              <a:off x="876000" y="481823"/>
              <a:ext cx="10246868" cy="61926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06868">
                      <a:extLst>
                        <a:ext uri="{9D8B030D-6E8A-4147-A177-3AD203B41FA5}">
                          <a16:colId xmlns:a16="http://schemas.microsoft.com/office/drawing/2014/main" val="2253544823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3650659306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8493368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dirty="0"/>
                            <a:t>FCC</a:t>
                          </a:r>
                          <a:endParaRPr lang="zh-CN" altLang="en-US" sz="3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dirty="0"/>
                            <a:t>BCC</a:t>
                          </a:r>
                          <a:endParaRPr lang="zh-CN" altLang="en-US" sz="3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0470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/>
                            <a:t>正格基矢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1408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/>
                            <a:t>倒格基矢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⃐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⃐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zh-CN" altLang="en-US"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0749486"/>
                      </a:ext>
                    </a:extLst>
                  </a:tr>
                  <a:tr h="14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WS</a:t>
                          </a:r>
                          <a:r>
                            <a:rPr lang="zh-CN" altLang="en-US" b="1" dirty="0"/>
                            <a:t>原胞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0346141"/>
                      </a:ext>
                    </a:extLst>
                  </a:tr>
                  <a:tr h="14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/>
                            <a:t>第一布里渊区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1623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E729701-F00D-02C6-9E40-94EA8138AE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891725"/>
                  </p:ext>
                </p:extLst>
              </p:nvPr>
            </p:nvGraphicFramePr>
            <p:xfrm>
              <a:off x="876000" y="481823"/>
              <a:ext cx="10246868" cy="61926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06868">
                      <a:extLst>
                        <a:ext uri="{9D8B030D-6E8A-4147-A177-3AD203B41FA5}">
                          <a16:colId xmlns:a16="http://schemas.microsoft.com/office/drawing/2014/main" val="2253544823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3650659306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849336848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dirty="0"/>
                            <a:t>FCC</a:t>
                          </a:r>
                          <a:endParaRPr lang="zh-CN" altLang="en-US" sz="3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dirty="0"/>
                            <a:t>BCC</a:t>
                          </a:r>
                          <a:endParaRPr lang="zh-CN" altLang="en-US" sz="3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0470666"/>
                      </a:ext>
                    </a:extLst>
                  </a:tr>
                  <a:tr h="1339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/>
                            <a:t>正格基矢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7377" t="-49091" r="-100282" b="-31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7377" t="-49091" r="-282" b="-319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1408411"/>
                      </a:ext>
                    </a:extLst>
                  </a:tr>
                  <a:tr h="14658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/>
                            <a:t>倒格基矢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7377" t="-136667" r="-100282" b="-192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7377" t="-136667" r="-282" b="-192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749486"/>
                      </a:ext>
                    </a:extLst>
                  </a:tr>
                  <a:tr h="14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WS</a:t>
                          </a:r>
                          <a:r>
                            <a:rPr lang="zh-CN" altLang="en-US" b="1" dirty="0"/>
                            <a:t>原胞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0346141"/>
                      </a:ext>
                    </a:extLst>
                  </a:tr>
                  <a:tr h="14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/>
                            <a:t>第一布里渊区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162373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3792E42-094B-1114-EFBC-1175A5A72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688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作业（需要上交）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考虑面心立方和体心立方格子</a:t>
            </a:r>
            <a:endParaRPr lang="en-US" altLang="zh-CN" dirty="0"/>
          </a:p>
          <a:p>
            <a:r>
              <a:rPr lang="en-US" altLang="zh-CN" dirty="0"/>
              <a:t>2.1 </a:t>
            </a:r>
            <a:r>
              <a:rPr lang="zh-CN" altLang="en-US" dirty="0"/>
              <a:t>证明面心立方格子的倒格子是体心立方格子</a:t>
            </a:r>
          </a:p>
          <a:p>
            <a:r>
              <a:rPr lang="zh-CN" altLang="en-US" dirty="0"/>
              <a:t>​</a:t>
            </a:r>
            <a:r>
              <a:rPr lang="en-US" altLang="zh-CN" dirty="0"/>
              <a:t>2.2 </a:t>
            </a:r>
            <a:r>
              <a:rPr lang="zh-CN" altLang="en-US" dirty="0"/>
              <a:t>面心立方的正格子晶格常数和倒格子晶格常数之间，有什么关系？体心立方呢？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F06A44-FE55-4F2A-B9C4-8B5C1F37E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374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026" y="304903"/>
            <a:ext cx="10515600" cy="748645"/>
          </a:xfrm>
        </p:spPr>
        <p:txBody>
          <a:bodyPr/>
          <a:lstStyle/>
          <a:p>
            <a:r>
              <a:rPr lang="zh-CN" altLang="en-US" dirty="0"/>
              <a:t>倒格矢与晶面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46922" y="1202222"/>
                <a:ext cx="4712638" cy="154328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</a:rPr>
                  <a:t>倒格矢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ℎ𝑘𝑙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/>
                  <a:t>与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晶面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ℎ𝑘𝑙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</a:rPr>
                  <a:t> 正交</a:t>
                </a:r>
                <a:endParaRPr lang="en-US" altLang="zh-CN" sz="2400" dirty="0"/>
              </a:p>
              <a:p>
                <a:r>
                  <a:rPr lang="zh-CN" altLang="en-US" sz="2400" dirty="0"/>
                  <a:t>即晶面的法线方向与倒格矢平行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6922" y="1202222"/>
                <a:ext cx="4712638" cy="1543289"/>
              </a:xfrm>
              <a:blipFill>
                <a:blip r:embed="rId3"/>
                <a:stretch>
                  <a:fillRect l="-1811" t="-7115" r="-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45095" y="2894184"/>
            <a:ext cx="4212945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Object 3"/>
              <p:cNvSpPr txBox="1"/>
              <p:nvPr/>
            </p:nvSpPr>
            <p:spPr bwMode="auto">
              <a:xfrm>
                <a:off x="4640720" y="436837"/>
                <a:ext cx="2181219" cy="4847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0720" y="436837"/>
                <a:ext cx="2181219" cy="4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2" name="Object 4"/>
              <p:cNvSpPr txBox="1"/>
              <p:nvPr/>
            </p:nvSpPr>
            <p:spPr bwMode="auto">
              <a:xfrm>
                <a:off x="6092826" y="1202221"/>
                <a:ext cx="5125139" cy="51924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</a:rPr>
                  <a:t>晶面指数之比为截距的倒数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𝑂𝐴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285750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</a:rPr>
                  <a:t>可以取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285750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有</a:t>
                </a:r>
                <a:endParaRPr lang="en-US" altLang="zh-CN" dirty="0"/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pPr algn="just">
                  <a:lnSpc>
                    <a:spcPct val="120000"/>
                  </a:lnSpc>
                </a:pPr>
                <a:endParaRPr lang="en-US" altLang="zh-CN" dirty="0"/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dirty="0"/>
                  <a:t>同理</a:t>
                </a: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有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37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826" y="1202221"/>
                <a:ext cx="5125139" cy="5192425"/>
              </a:xfrm>
              <a:prstGeom prst="rect">
                <a:avLst/>
              </a:prstGeom>
              <a:blipFill>
                <a:blip r:embed="rId6"/>
                <a:stretch>
                  <a:fillRect l="-951" t="-352" b="-2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F03FB5E-99C2-D217-010C-D6354325D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倒格矢与晶面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8229600" cy="2757493"/>
              </a:xfrm>
            </p:spPr>
            <p:txBody>
              <a:bodyPr>
                <a:normAutofit/>
              </a:bodyPr>
              <a:lstStyle/>
              <a:p>
                <a:pPr marL="2160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晶面间距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ℎ𝑘𝑙</m:t>
                        </m:r>
                      </m:sub>
                    </m:sSub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倒格矢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zh-CN" altLang="en-US" sz="2400" dirty="0"/>
                  <a:t>长度相乘等于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ℎ𝑘𝑙</m:t>
                          </m:r>
                        </m:sub>
                      </m:sSub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ℎ𝑘𝑙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𝑘𝑙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𝑘𝑙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ℎ𝑘𝑙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8229600" cy="2757493"/>
              </a:xfrm>
              <a:blipFill>
                <a:blip r:embed="rId3"/>
                <a:stretch>
                  <a:fillRect l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811777" y="3929808"/>
            <a:ext cx="8568445" cy="138499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倒格子的每个格矢都和正格子中的一个晶面对应；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它的方向是该晶面的法线方向，而它的大小是</a:t>
            </a:r>
            <a:r>
              <a:rPr lang="en-US" altLang="zh-CN" sz="2800" dirty="0">
                <a:solidFill>
                  <a:srgbClr val="FF0000"/>
                </a:solidFill>
              </a:rPr>
              <a:t>2π</a:t>
            </a:r>
            <a:r>
              <a:rPr lang="zh-CN" altLang="en-US" sz="2800" dirty="0">
                <a:solidFill>
                  <a:srgbClr val="FF0000"/>
                </a:solidFill>
              </a:rPr>
              <a:t>除以该晶面面间距。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B561119-C032-D556-2260-06101CCEE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3C712B7-2338-2B5C-64B8-10CB2433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Seek-Path online toolkit - Materials Cloud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734628EA-FAC4-E530-966B-C927F071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77156"/>
            <a:ext cx="7214616" cy="40762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D0C823D-B28A-5E43-8902-6CA75C1C92C7}"/>
              </a:ext>
            </a:extLst>
          </p:cNvPr>
          <p:cNvSpPr txBox="1"/>
          <p:nvPr/>
        </p:nvSpPr>
        <p:spPr>
          <a:xfrm>
            <a:off x="638881" y="4631161"/>
            <a:ext cx="4165031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https://tools.materialscloud.org/seekpath/</a:t>
            </a:r>
          </a:p>
        </p:txBody>
      </p:sp>
      <p:sp>
        <p:nvSpPr>
          <p:cNvPr id="12" name="标注: 弯曲线形 11">
            <a:extLst>
              <a:ext uri="{FF2B5EF4-FFF2-40B4-BE49-F238E27FC236}">
                <a16:creationId xmlns:a16="http://schemas.microsoft.com/office/drawing/2014/main" id="{3F3566A2-8851-0506-218E-6705DCF5EEE0}"/>
              </a:ext>
            </a:extLst>
          </p:cNvPr>
          <p:cNvSpPr/>
          <p:nvPr/>
        </p:nvSpPr>
        <p:spPr>
          <a:xfrm>
            <a:off x="9654209" y="571552"/>
            <a:ext cx="1924707" cy="576469"/>
          </a:xfrm>
          <a:prstGeom prst="borderCallout2">
            <a:avLst>
              <a:gd name="adj1" fmla="val 18750"/>
              <a:gd name="adj2" fmla="val -396"/>
              <a:gd name="adj3" fmla="val 18750"/>
              <a:gd name="adj4" fmla="val -16667"/>
              <a:gd name="adj5" fmla="val 392960"/>
              <a:gd name="adj6" fmla="val -48244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支持</a:t>
            </a:r>
            <a:r>
              <a:rPr lang="en-US" altLang="zh-CN" dirty="0" err="1">
                <a:solidFill>
                  <a:schemeClr val="tx1"/>
                </a:solidFill>
              </a:rPr>
              <a:t>cif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xyz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xsf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pdb</a:t>
            </a:r>
            <a:r>
              <a:rPr lang="zh-CN" altLang="en-US" dirty="0">
                <a:solidFill>
                  <a:schemeClr val="tx1"/>
                </a:solidFill>
              </a:rPr>
              <a:t>等常见格式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F6B0177-CF31-BA8C-EF1B-8B26C12FB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802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A84352-8D75-6E10-9B7F-E63E6BF5D3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7094"/>
            <a:ext cx="12192000" cy="61438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791549-925B-4305-25BA-8B79240DFAFB}"/>
              </a:ext>
            </a:extLst>
          </p:cNvPr>
          <p:cNvSpPr txBox="1"/>
          <p:nvPr/>
        </p:nvSpPr>
        <p:spPr>
          <a:xfrm>
            <a:off x="9508435" y="3061252"/>
            <a:ext cx="1920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闪锌矿</a:t>
            </a:r>
            <a:r>
              <a:rPr lang="en-US" altLang="zh-CN" dirty="0"/>
              <a:t>CdSe</a:t>
            </a:r>
          </a:p>
          <a:p>
            <a:r>
              <a:rPr lang="zh-CN" altLang="en-US" dirty="0"/>
              <a:t>布拉维格子：</a:t>
            </a:r>
            <a:r>
              <a:rPr lang="en-US" altLang="zh-CN" dirty="0"/>
              <a:t>FCC</a:t>
            </a:r>
          </a:p>
          <a:p>
            <a:r>
              <a:rPr lang="zh-CN" altLang="en-US" dirty="0"/>
              <a:t>空间群：</a:t>
            </a:r>
            <a:r>
              <a:rPr lang="en-US" altLang="zh-CN" dirty="0"/>
              <a:t>F-43m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08D5AD-6892-A360-C2DD-81EAA36A4F86}"/>
              </a:ext>
            </a:extLst>
          </p:cNvPr>
          <p:cNvSpPr txBox="1"/>
          <p:nvPr/>
        </p:nvSpPr>
        <p:spPr>
          <a:xfrm>
            <a:off x="3843130" y="366141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第一布里渊区</a:t>
            </a:r>
            <a:endParaRPr lang="en-US" altLang="zh-CN" dirty="0"/>
          </a:p>
          <a:p>
            <a:r>
              <a:rPr lang="zh-CN" altLang="en-US" dirty="0"/>
              <a:t>高对称点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C40714-D719-1A5B-3FC5-88C934A00853}"/>
              </a:ext>
            </a:extLst>
          </p:cNvPr>
          <p:cNvSpPr txBox="1"/>
          <p:nvPr/>
        </p:nvSpPr>
        <p:spPr>
          <a:xfrm>
            <a:off x="4194313" y="21440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倒格子基矢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775010-D90E-A841-E56F-0DE90E012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511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晶格衍射：布拉格条件，劳厄条件</a:t>
            </a:r>
            <a:endParaRPr lang="en-US" altLang="zh-CN" dirty="0"/>
          </a:p>
          <a:p>
            <a:r>
              <a:rPr lang="zh-CN" altLang="en-US" dirty="0"/>
              <a:t>倒易空间：倒格子，倒格子格矢，倒格子基矢</a:t>
            </a:r>
            <a:endParaRPr lang="en-US" altLang="zh-CN" dirty="0"/>
          </a:p>
          <a:p>
            <a:r>
              <a:rPr lang="zh-CN" altLang="en-US" dirty="0"/>
              <a:t>如何寻找倒格子基矢，倒格子和正格子的关系</a:t>
            </a:r>
            <a:endParaRPr lang="en-US" altLang="zh-CN" dirty="0"/>
          </a:p>
          <a:p>
            <a:r>
              <a:rPr lang="zh-CN" altLang="en-US" dirty="0"/>
              <a:t>第一布里渊区，立方晶系的第一布里渊区</a:t>
            </a:r>
            <a:endParaRPr lang="en-US" altLang="zh-CN" dirty="0"/>
          </a:p>
          <a:p>
            <a:r>
              <a:rPr lang="zh-CN" altLang="en-US" dirty="0"/>
              <a:t>倒格矢与晶面的关系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D3609B-C99D-44D0-4EA3-CFEBB1621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Calibri Light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2003</TotalTime>
  <Words>3638</Words>
  <Application>Microsoft Office PowerPoint</Application>
  <PresentationFormat>宽屏</PresentationFormat>
  <Paragraphs>391</Paragraphs>
  <Slides>38</Slides>
  <Notes>8</Notes>
  <HiddenSlides>0</HiddenSlides>
  <MMClips>1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等线</vt:lpstr>
      <vt:lpstr>微软雅黑</vt:lpstr>
      <vt:lpstr>Arial</vt:lpstr>
      <vt:lpstr>Calibri</vt:lpstr>
      <vt:lpstr>Calibri Light</vt:lpstr>
      <vt:lpstr>Cambria Math</vt:lpstr>
      <vt:lpstr>Wingdings</vt:lpstr>
      <vt:lpstr>Office 2013 - 2022 主题</vt:lpstr>
      <vt:lpstr>Image</vt:lpstr>
      <vt:lpstr>固体物理（2班） Solid state physics</vt:lpstr>
      <vt:lpstr>第一章 晶体结构</vt:lpstr>
      <vt:lpstr>晶体内部结构的观测方法</vt:lpstr>
      <vt:lpstr>晶体内部结构的观测方法</vt:lpstr>
      <vt:lpstr>晶体内部结构的观测方法</vt:lpstr>
      <vt:lpstr>X射线与物质相互作用</vt:lpstr>
      <vt:lpstr>晶体X射线衍射</vt:lpstr>
      <vt:lpstr>First X-ray View of Martian Soil</vt:lpstr>
      <vt:lpstr>晶体X射线衍射</vt:lpstr>
      <vt:lpstr>PowerPoint 演示文稿</vt:lpstr>
      <vt:lpstr>Bragg条件</vt:lpstr>
      <vt:lpstr>PowerPoint 演示文稿</vt:lpstr>
      <vt:lpstr>Laue方程</vt:lpstr>
      <vt:lpstr>作业（需要上交）</vt:lpstr>
      <vt:lpstr>倒易空间与倒格子</vt:lpstr>
      <vt:lpstr>倒易空间与倒格子</vt:lpstr>
      <vt:lpstr>倒易空间与倒格子</vt:lpstr>
      <vt:lpstr>倒易空间与倒格子</vt:lpstr>
      <vt:lpstr>倒格子格矢（reciprocal lattice vector）</vt:lpstr>
      <vt:lpstr>倒格子格矢（reciprocal lattice vector）</vt:lpstr>
      <vt:lpstr>倒格子基矢（reciprocal primitive vector）</vt:lpstr>
      <vt:lpstr>倒格子基矢</vt:lpstr>
      <vt:lpstr>二维晶格的倒格子</vt:lpstr>
      <vt:lpstr>如何寻找倒格子基矢b1 b2 b3?</vt:lpstr>
      <vt:lpstr>倒格子是倒易空间的布拉维格子</vt:lpstr>
      <vt:lpstr>简单立方晶格的倒格子</vt:lpstr>
      <vt:lpstr>PowerPoint 演示文稿</vt:lpstr>
      <vt:lpstr>体心立方晶格的倒格子</vt:lpstr>
      <vt:lpstr>体心立方晶格第一布里渊区</vt:lpstr>
      <vt:lpstr>面心立方晶格的倒格子</vt:lpstr>
      <vt:lpstr>面心立方晶格第一布里渊区</vt:lpstr>
      <vt:lpstr>PowerPoint 演示文稿</vt:lpstr>
      <vt:lpstr>作业（需要上交）</vt:lpstr>
      <vt:lpstr>倒格矢与晶面</vt:lpstr>
      <vt:lpstr>倒格矢与晶面</vt:lpstr>
      <vt:lpstr>Seek-Path online toolkit - Materials Cloud</vt:lpstr>
      <vt:lpstr>PowerPoint 演示文稿</vt:lpstr>
      <vt:lpstr>本课小结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1</cp:revision>
  <dcterms:created xsi:type="dcterms:W3CDTF">2024-09-07T19:33:03Z</dcterms:created>
  <dcterms:modified xsi:type="dcterms:W3CDTF">2026-09-15T08:04:48Z</dcterms:modified>
</cp:coreProperties>
</file>