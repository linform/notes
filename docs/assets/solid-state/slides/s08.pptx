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sldIdLst>
    <p:sldId id="257" r:id="rId2"/>
    <p:sldId id="497" r:id="rId3"/>
    <p:sldId id="540" r:id="rId4"/>
    <p:sldId id="541" r:id="rId5"/>
    <p:sldId id="543" r:id="rId6"/>
    <p:sldId id="545" r:id="rId7"/>
    <p:sldId id="503" r:id="rId8"/>
    <p:sldId id="544" r:id="rId9"/>
    <p:sldId id="547" r:id="rId10"/>
    <p:sldId id="546" r:id="rId11"/>
    <p:sldId id="548" r:id="rId12"/>
    <p:sldId id="549" r:id="rId13"/>
    <p:sldId id="550" r:id="rId14"/>
    <p:sldId id="551" r:id="rId15"/>
    <p:sldId id="498" r:id="rId16"/>
    <p:sldId id="499" r:id="rId17"/>
    <p:sldId id="500" r:id="rId18"/>
    <p:sldId id="534" r:id="rId19"/>
    <p:sldId id="501" r:id="rId20"/>
    <p:sldId id="504" r:id="rId21"/>
    <p:sldId id="505" r:id="rId22"/>
    <p:sldId id="535" r:id="rId23"/>
    <p:sldId id="517" r:id="rId24"/>
    <p:sldId id="516" r:id="rId25"/>
    <p:sldId id="507" r:id="rId26"/>
    <p:sldId id="508" r:id="rId27"/>
    <p:sldId id="509" r:id="rId28"/>
    <p:sldId id="510" r:id="rId29"/>
    <p:sldId id="536" r:id="rId30"/>
    <p:sldId id="515" r:id="rId31"/>
    <p:sldId id="518" r:id="rId32"/>
    <p:sldId id="519" r:id="rId33"/>
    <p:sldId id="520" r:id="rId34"/>
    <p:sldId id="521" r:id="rId35"/>
    <p:sldId id="522" r:id="rId36"/>
    <p:sldId id="537" r:id="rId37"/>
    <p:sldId id="523" r:id="rId38"/>
    <p:sldId id="525" r:id="rId39"/>
    <p:sldId id="524" r:id="rId40"/>
    <p:sldId id="539" r:id="rId41"/>
    <p:sldId id="538" r:id="rId42"/>
    <p:sldId id="527" r:id="rId43"/>
    <p:sldId id="406" r:id="rId44"/>
    <p:sldId id="533" r:id="rId4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9215FC-6AC8-409B-87DC-5E882926AF83}" v="860" dt="2026-09-27T12:14:20.8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p:scale>
          <a:sx n="125" d="100"/>
          <a:sy n="125" d="100"/>
        </p:scale>
        <p:origin x="1458" y="6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i Wang" userId="7588ea56f58b19c7" providerId="LiveId" clId="{96B72205-E234-467C-A3DC-8BF4882781A8}"/>
    <pc:docChg chg="undo redo custSel addSld delSld modSld sldOrd">
      <pc:chgData name="Zhi Wang" userId="7588ea56f58b19c7" providerId="LiveId" clId="{96B72205-E234-467C-A3DC-8BF4882781A8}" dt="2026-09-27T12:14:20.823" v="4966" actId="20577"/>
      <pc:docMkLst>
        <pc:docMk/>
      </pc:docMkLst>
      <pc:sldChg chg="modSp mod">
        <pc:chgData name="Zhi Wang" userId="7588ea56f58b19c7" providerId="LiveId" clId="{96B72205-E234-467C-A3DC-8BF4882781A8}" dt="2026-09-27T09:42:49.531" v="1" actId="207"/>
        <pc:sldMkLst>
          <pc:docMk/>
          <pc:sldMk cId="431657256" sldId="257"/>
        </pc:sldMkLst>
        <pc:spChg chg="mod">
          <ac:chgData name="Zhi Wang" userId="7588ea56f58b19c7" providerId="LiveId" clId="{96B72205-E234-467C-A3DC-8BF4882781A8}" dt="2026-09-27T09:42:49.531" v="1" actId="207"/>
          <ac:spMkLst>
            <pc:docMk/>
            <pc:sldMk cId="431657256" sldId="257"/>
            <ac:spMk id="3" creationId="{0FBC71C4-AAF9-252F-52C3-C8A1AD8C5C53}"/>
          </ac:spMkLst>
        </pc:spChg>
      </pc:sldChg>
      <pc:sldChg chg="modSp mod">
        <pc:chgData name="Zhi Wang" userId="7588ea56f58b19c7" providerId="LiveId" clId="{96B72205-E234-467C-A3DC-8BF4882781A8}" dt="2026-09-27T12:14:20.823" v="4966" actId="20577"/>
        <pc:sldMkLst>
          <pc:docMk/>
          <pc:sldMk cId="0" sldId="406"/>
        </pc:sldMkLst>
        <pc:spChg chg="mod">
          <ac:chgData name="Zhi Wang" userId="7588ea56f58b19c7" providerId="LiveId" clId="{96B72205-E234-467C-A3DC-8BF4882781A8}" dt="2026-09-27T12:14:20.823" v="4966" actId="20577"/>
          <ac:spMkLst>
            <pc:docMk/>
            <pc:sldMk cId="0" sldId="406"/>
            <ac:spMk id="3" creationId="{00000000-0000-0000-0000-000000000000}"/>
          </ac:spMkLst>
        </pc:spChg>
        <pc:graphicFrameChg chg="mod">
          <ac:chgData name="Zhi Wang" userId="7588ea56f58b19c7" providerId="LiveId" clId="{96B72205-E234-467C-A3DC-8BF4882781A8}" dt="2026-09-27T09:42:41.659" v="0"/>
          <ac:graphicFrameMkLst>
            <pc:docMk/>
            <pc:sldMk cId="0" sldId="406"/>
            <ac:graphicFrameMk id="4" creationId="{AF8F275A-D01A-D3AC-FD98-D1C23853F65F}"/>
          </ac:graphicFrameMkLst>
        </pc:graphicFrameChg>
      </pc:sldChg>
      <pc:sldChg chg="modSp">
        <pc:chgData name="Zhi Wang" userId="7588ea56f58b19c7" providerId="LiveId" clId="{96B72205-E234-467C-A3DC-8BF4882781A8}" dt="2026-09-27T09:42:41.659" v="0"/>
        <pc:sldMkLst>
          <pc:docMk/>
          <pc:sldMk cId="4248297914" sldId="497"/>
        </pc:sldMkLst>
        <pc:graphicFrameChg chg="mod">
          <ac:chgData name="Zhi Wang" userId="7588ea56f58b19c7" providerId="LiveId" clId="{96B72205-E234-467C-A3DC-8BF4882781A8}" dt="2026-09-27T09:42:41.659" v="0"/>
          <ac:graphicFrameMkLst>
            <pc:docMk/>
            <pc:sldMk cId="4248297914" sldId="497"/>
            <ac:graphicFrameMk id="5" creationId="{F03149DB-DE0B-F220-F1A2-C89BB8A5512D}"/>
          </ac:graphicFrameMkLst>
        </pc:graphicFrameChg>
      </pc:sldChg>
      <pc:sldChg chg="modSp mod">
        <pc:chgData name="Zhi Wang" userId="7588ea56f58b19c7" providerId="LiveId" clId="{96B72205-E234-467C-A3DC-8BF4882781A8}" dt="2026-09-27T12:04:22.289" v="4690" actId="20577"/>
        <pc:sldMkLst>
          <pc:docMk/>
          <pc:sldMk cId="2486927841" sldId="498"/>
        </pc:sldMkLst>
        <pc:spChg chg="mod">
          <ac:chgData name="Zhi Wang" userId="7588ea56f58b19c7" providerId="LiveId" clId="{96B72205-E234-467C-A3DC-8BF4882781A8}" dt="2026-09-27T12:04:22.289" v="4690" actId="20577"/>
          <ac:spMkLst>
            <pc:docMk/>
            <pc:sldMk cId="2486927841" sldId="498"/>
            <ac:spMk id="6" creationId="{DAC7E898-93D3-1669-D66C-13E2FF28B8A3}"/>
          </ac:spMkLst>
        </pc:spChg>
        <pc:graphicFrameChg chg="mod">
          <ac:chgData name="Zhi Wang" userId="7588ea56f58b19c7" providerId="LiveId" clId="{96B72205-E234-467C-A3DC-8BF4882781A8}" dt="2026-09-27T09:42:41.659" v="0"/>
          <ac:graphicFrameMkLst>
            <pc:docMk/>
            <pc:sldMk cId="2486927841" sldId="498"/>
            <ac:graphicFrameMk id="2" creationId="{FF35C542-1A8D-4152-AB27-0104EB042880}"/>
          </ac:graphicFrameMkLst>
        </pc:graphicFrameChg>
      </pc:sldChg>
      <pc:sldChg chg="modSp">
        <pc:chgData name="Zhi Wang" userId="7588ea56f58b19c7" providerId="LiveId" clId="{96B72205-E234-467C-A3DC-8BF4882781A8}" dt="2026-09-27T09:42:41.659" v="0"/>
        <pc:sldMkLst>
          <pc:docMk/>
          <pc:sldMk cId="3517561536" sldId="499"/>
        </pc:sldMkLst>
        <pc:graphicFrameChg chg="mod">
          <ac:chgData name="Zhi Wang" userId="7588ea56f58b19c7" providerId="LiveId" clId="{96B72205-E234-467C-A3DC-8BF4882781A8}" dt="2026-09-27T09:42:41.659" v="0"/>
          <ac:graphicFrameMkLst>
            <pc:docMk/>
            <pc:sldMk cId="3517561536" sldId="499"/>
            <ac:graphicFrameMk id="2" creationId="{2035DDD2-EC73-EB46-3F79-B1AEA888A1C1}"/>
          </ac:graphicFrameMkLst>
        </pc:graphicFrameChg>
      </pc:sldChg>
      <pc:sldChg chg="modSp mod modAnim">
        <pc:chgData name="Zhi Wang" userId="7588ea56f58b19c7" providerId="LiveId" clId="{96B72205-E234-467C-A3DC-8BF4882781A8}" dt="2026-09-27T12:04:43.261" v="4692" actId="207"/>
        <pc:sldMkLst>
          <pc:docMk/>
          <pc:sldMk cId="2756915867" sldId="500"/>
        </pc:sldMkLst>
        <pc:spChg chg="mod">
          <ac:chgData name="Zhi Wang" userId="7588ea56f58b19c7" providerId="LiveId" clId="{96B72205-E234-467C-A3DC-8BF4882781A8}" dt="2026-09-27T12:04:37.548" v="4691" actId="207"/>
          <ac:spMkLst>
            <pc:docMk/>
            <pc:sldMk cId="2756915867" sldId="500"/>
            <ac:spMk id="2" creationId="{B6C62B4A-11C0-D17A-8953-B692BB49980D}"/>
          </ac:spMkLst>
        </pc:spChg>
        <pc:spChg chg="mod">
          <ac:chgData name="Zhi Wang" userId="7588ea56f58b19c7" providerId="LiveId" clId="{96B72205-E234-467C-A3DC-8BF4882781A8}" dt="2026-09-27T12:04:43.261" v="4692" actId="207"/>
          <ac:spMkLst>
            <pc:docMk/>
            <pc:sldMk cId="2756915867" sldId="500"/>
            <ac:spMk id="3" creationId="{2B31CC65-F558-DA17-2F61-0301D54D18D4}"/>
          </ac:spMkLst>
        </pc:spChg>
        <pc:graphicFrameChg chg="mod">
          <ac:chgData name="Zhi Wang" userId="7588ea56f58b19c7" providerId="LiveId" clId="{96B72205-E234-467C-A3DC-8BF4882781A8}" dt="2026-09-27T09:42:41.659" v="0"/>
          <ac:graphicFrameMkLst>
            <pc:docMk/>
            <pc:sldMk cId="2756915867" sldId="500"/>
            <ac:graphicFrameMk id="4" creationId="{28D4DCE3-4870-6170-8351-8D659A2610AF}"/>
          </ac:graphicFrameMkLst>
        </pc:graphicFrameChg>
      </pc:sldChg>
      <pc:sldChg chg="modSp">
        <pc:chgData name="Zhi Wang" userId="7588ea56f58b19c7" providerId="LiveId" clId="{96B72205-E234-467C-A3DC-8BF4882781A8}" dt="2026-09-27T12:03:27.972" v="4683" actId="2710"/>
        <pc:sldMkLst>
          <pc:docMk/>
          <pc:sldMk cId="2501015540" sldId="501"/>
        </pc:sldMkLst>
        <pc:spChg chg="mod">
          <ac:chgData name="Zhi Wang" userId="7588ea56f58b19c7" providerId="LiveId" clId="{96B72205-E234-467C-A3DC-8BF4882781A8}" dt="2026-09-27T12:03:27.972" v="4683" actId="2710"/>
          <ac:spMkLst>
            <pc:docMk/>
            <pc:sldMk cId="2501015540" sldId="501"/>
            <ac:spMk id="3" creationId="{387BC7A2-7B6D-F528-83F1-C536809A687F}"/>
          </ac:spMkLst>
        </pc:spChg>
        <pc:graphicFrameChg chg="mod">
          <ac:chgData name="Zhi Wang" userId="7588ea56f58b19c7" providerId="LiveId" clId="{96B72205-E234-467C-A3DC-8BF4882781A8}" dt="2026-09-27T09:42:41.659" v="0"/>
          <ac:graphicFrameMkLst>
            <pc:docMk/>
            <pc:sldMk cId="2501015540" sldId="501"/>
            <ac:graphicFrameMk id="4" creationId="{C407B799-B48F-26D2-288C-59ADD1EED42A}"/>
          </ac:graphicFrameMkLst>
        </pc:graphicFrameChg>
      </pc:sldChg>
      <pc:sldChg chg="modSp del mod ord">
        <pc:chgData name="Zhi Wang" userId="7588ea56f58b19c7" providerId="LiveId" clId="{96B72205-E234-467C-A3DC-8BF4882781A8}" dt="2026-09-27T12:02:15.970" v="4671" actId="47"/>
        <pc:sldMkLst>
          <pc:docMk/>
          <pc:sldMk cId="523524190" sldId="502"/>
        </pc:sldMkLst>
        <pc:spChg chg="mod">
          <ac:chgData name="Zhi Wang" userId="7588ea56f58b19c7" providerId="LiveId" clId="{96B72205-E234-467C-A3DC-8BF4882781A8}" dt="2026-09-27T09:45:22.887" v="92"/>
          <ac:spMkLst>
            <pc:docMk/>
            <pc:sldMk cId="523524190" sldId="502"/>
            <ac:spMk id="2" creationId="{78DCBFC4-84FC-3AA4-F3C6-128DBDFBAB86}"/>
          </ac:spMkLst>
        </pc:spChg>
        <pc:graphicFrameChg chg="mod">
          <ac:chgData name="Zhi Wang" userId="7588ea56f58b19c7" providerId="LiveId" clId="{96B72205-E234-467C-A3DC-8BF4882781A8}" dt="2026-09-27T09:42:41.659" v="0"/>
          <ac:graphicFrameMkLst>
            <pc:docMk/>
            <pc:sldMk cId="523524190" sldId="502"/>
            <ac:graphicFrameMk id="4" creationId="{7970BED7-ECD4-890B-A901-2C6B526CC8DE}"/>
          </ac:graphicFrameMkLst>
        </pc:graphicFrameChg>
      </pc:sldChg>
      <pc:sldChg chg="modSp ord">
        <pc:chgData name="Zhi Wang" userId="7588ea56f58b19c7" providerId="LiveId" clId="{96B72205-E234-467C-A3DC-8BF4882781A8}" dt="2026-09-27T10:46:10.488" v="1695"/>
        <pc:sldMkLst>
          <pc:docMk/>
          <pc:sldMk cId="3020676688" sldId="503"/>
        </pc:sldMkLst>
        <pc:graphicFrameChg chg="mod">
          <ac:chgData name="Zhi Wang" userId="7588ea56f58b19c7" providerId="LiveId" clId="{96B72205-E234-467C-A3DC-8BF4882781A8}" dt="2026-09-27T09:42:41.659" v="0"/>
          <ac:graphicFrameMkLst>
            <pc:docMk/>
            <pc:sldMk cId="3020676688" sldId="503"/>
            <ac:graphicFrameMk id="4" creationId="{F369310D-14F7-16FC-505E-3A6BBF0C45FC}"/>
          </ac:graphicFrameMkLst>
        </pc:graphicFrameChg>
      </pc:sldChg>
      <pc:sldChg chg="modSp mod">
        <pc:chgData name="Zhi Wang" userId="7588ea56f58b19c7" providerId="LiveId" clId="{96B72205-E234-467C-A3DC-8BF4882781A8}" dt="2026-09-27T12:04:50.650" v="4693" actId="207"/>
        <pc:sldMkLst>
          <pc:docMk/>
          <pc:sldMk cId="2840491391" sldId="504"/>
        </pc:sldMkLst>
        <pc:spChg chg="mod">
          <ac:chgData name="Zhi Wang" userId="7588ea56f58b19c7" providerId="LiveId" clId="{96B72205-E234-467C-A3DC-8BF4882781A8}" dt="2026-09-27T12:04:50.650" v="4693" actId="207"/>
          <ac:spMkLst>
            <pc:docMk/>
            <pc:sldMk cId="2840491391" sldId="504"/>
            <ac:spMk id="2" creationId="{4BBFA73C-8674-8A41-4FDC-5A045936A314}"/>
          </ac:spMkLst>
        </pc:spChg>
        <pc:graphicFrameChg chg="mod">
          <ac:chgData name="Zhi Wang" userId="7588ea56f58b19c7" providerId="LiveId" clId="{96B72205-E234-467C-A3DC-8BF4882781A8}" dt="2026-09-27T09:42:41.659" v="0"/>
          <ac:graphicFrameMkLst>
            <pc:docMk/>
            <pc:sldMk cId="2840491391" sldId="504"/>
            <ac:graphicFrameMk id="6" creationId="{2F181145-037A-3357-FEAF-E5475DDF8A9A}"/>
          </ac:graphicFrameMkLst>
        </pc:graphicFrameChg>
      </pc:sldChg>
      <pc:sldChg chg="modSp">
        <pc:chgData name="Zhi Wang" userId="7588ea56f58b19c7" providerId="LiveId" clId="{96B72205-E234-467C-A3DC-8BF4882781A8}" dt="2026-09-27T09:42:41.659" v="0"/>
        <pc:sldMkLst>
          <pc:docMk/>
          <pc:sldMk cId="1521458989" sldId="505"/>
        </pc:sldMkLst>
        <pc:graphicFrameChg chg="mod">
          <ac:chgData name="Zhi Wang" userId="7588ea56f58b19c7" providerId="LiveId" clId="{96B72205-E234-467C-A3DC-8BF4882781A8}" dt="2026-09-27T09:42:41.659" v="0"/>
          <ac:graphicFrameMkLst>
            <pc:docMk/>
            <pc:sldMk cId="1521458989" sldId="505"/>
            <ac:graphicFrameMk id="4" creationId="{A4220093-A563-D9AC-837A-8C2DC2E7D2C6}"/>
          </ac:graphicFrameMkLst>
        </pc:graphicFrameChg>
      </pc:sldChg>
      <pc:sldChg chg="modSp mod">
        <pc:chgData name="Zhi Wang" userId="7588ea56f58b19c7" providerId="LiveId" clId="{96B72205-E234-467C-A3DC-8BF4882781A8}" dt="2026-09-27T12:05:41.358" v="4701" actId="207"/>
        <pc:sldMkLst>
          <pc:docMk/>
          <pc:sldMk cId="2201174515" sldId="507"/>
        </pc:sldMkLst>
        <pc:spChg chg="mod">
          <ac:chgData name="Zhi Wang" userId="7588ea56f58b19c7" providerId="LiveId" clId="{96B72205-E234-467C-A3DC-8BF4882781A8}" dt="2026-09-27T12:05:41.358" v="4701" actId="207"/>
          <ac:spMkLst>
            <pc:docMk/>
            <pc:sldMk cId="2201174515" sldId="507"/>
            <ac:spMk id="2" creationId="{3BC10944-C911-F4D5-2449-272E8EC3D9B8}"/>
          </ac:spMkLst>
        </pc:spChg>
        <pc:spChg chg="mod">
          <ac:chgData name="Zhi Wang" userId="7588ea56f58b19c7" providerId="LiveId" clId="{96B72205-E234-467C-A3DC-8BF4882781A8}" dt="2026-09-27T12:05:30.245" v="4700" actId="404"/>
          <ac:spMkLst>
            <pc:docMk/>
            <pc:sldMk cId="2201174515" sldId="507"/>
            <ac:spMk id="3" creationId="{387BC7A2-7B6D-F528-83F1-C536809A687F}"/>
          </ac:spMkLst>
        </pc:spChg>
        <pc:graphicFrameChg chg="mod">
          <ac:chgData name="Zhi Wang" userId="7588ea56f58b19c7" providerId="LiveId" clId="{96B72205-E234-467C-A3DC-8BF4882781A8}" dt="2026-09-27T09:42:41.659" v="0"/>
          <ac:graphicFrameMkLst>
            <pc:docMk/>
            <pc:sldMk cId="2201174515" sldId="507"/>
            <ac:graphicFrameMk id="4" creationId="{CCC4859A-9EE8-348F-FD81-5FE98DB26843}"/>
          </ac:graphicFrameMkLst>
        </pc:graphicFrameChg>
      </pc:sldChg>
      <pc:sldChg chg="modSp modAnim">
        <pc:chgData name="Zhi Wang" userId="7588ea56f58b19c7" providerId="LiveId" clId="{96B72205-E234-467C-A3DC-8BF4882781A8}" dt="2026-09-27T12:06:41.852" v="4848" actId="20577"/>
        <pc:sldMkLst>
          <pc:docMk/>
          <pc:sldMk cId="869461257" sldId="508"/>
        </pc:sldMkLst>
        <pc:spChg chg="mod">
          <ac:chgData name="Zhi Wang" userId="7588ea56f58b19c7" providerId="LiveId" clId="{96B72205-E234-467C-A3DC-8BF4882781A8}" dt="2026-09-27T12:06:41.852" v="4848" actId="20577"/>
          <ac:spMkLst>
            <pc:docMk/>
            <pc:sldMk cId="869461257" sldId="508"/>
            <ac:spMk id="3" creationId="{387BC7A2-7B6D-F528-83F1-C536809A687F}"/>
          </ac:spMkLst>
        </pc:spChg>
        <pc:graphicFrameChg chg="mod">
          <ac:chgData name="Zhi Wang" userId="7588ea56f58b19c7" providerId="LiveId" clId="{96B72205-E234-467C-A3DC-8BF4882781A8}" dt="2026-09-27T09:42:41.659" v="0"/>
          <ac:graphicFrameMkLst>
            <pc:docMk/>
            <pc:sldMk cId="869461257" sldId="508"/>
            <ac:graphicFrameMk id="4" creationId="{E7730741-EE43-D20B-7E3C-7820860FC502}"/>
          </ac:graphicFrameMkLst>
        </pc:graphicFrameChg>
      </pc:sldChg>
      <pc:sldChg chg="modSp mod">
        <pc:chgData name="Zhi Wang" userId="7588ea56f58b19c7" providerId="LiveId" clId="{96B72205-E234-467C-A3DC-8BF4882781A8}" dt="2026-09-27T12:07:09.116" v="4852" actId="207"/>
        <pc:sldMkLst>
          <pc:docMk/>
          <pc:sldMk cId="3191927015" sldId="509"/>
        </pc:sldMkLst>
        <pc:spChg chg="mod">
          <ac:chgData name="Zhi Wang" userId="7588ea56f58b19c7" providerId="LiveId" clId="{96B72205-E234-467C-A3DC-8BF4882781A8}" dt="2026-09-27T12:07:09.116" v="4852" actId="207"/>
          <ac:spMkLst>
            <pc:docMk/>
            <pc:sldMk cId="3191927015" sldId="509"/>
            <ac:spMk id="2" creationId="{8A800365-EEA2-E686-9291-21AA1E96734B}"/>
          </ac:spMkLst>
        </pc:spChg>
        <pc:spChg chg="mod">
          <ac:chgData name="Zhi Wang" userId="7588ea56f58b19c7" providerId="LiveId" clId="{96B72205-E234-467C-A3DC-8BF4882781A8}" dt="2026-09-27T12:06:55.124" v="4851" actId="404"/>
          <ac:spMkLst>
            <pc:docMk/>
            <pc:sldMk cId="3191927015" sldId="509"/>
            <ac:spMk id="3" creationId="{8C2890BA-36ED-D123-5818-A7DE86724885}"/>
          </ac:spMkLst>
        </pc:spChg>
        <pc:graphicFrameChg chg="mod">
          <ac:chgData name="Zhi Wang" userId="7588ea56f58b19c7" providerId="LiveId" clId="{96B72205-E234-467C-A3DC-8BF4882781A8}" dt="2026-09-27T09:42:41.659" v="0"/>
          <ac:graphicFrameMkLst>
            <pc:docMk/>
            <pc:sldMk cId="3191927015" sldId="509"/>
            <ac:graphicFrameMk id="4" creationId="{C2E64597-9EAA-9330-A138-8ACF3CF8530E}"/>
          </ac:graphicFrameMkLst>
        </pc:graphicFrameChg>
      </pc:sldChg>
      <pc:sldChg chg="modSp mod">
        <pc:chgData name="Zhi Wang" userId="7588ea56f58b19c7" providerId="LiveId" clId="{96B72205-E234-467C-A3DC-8BF4882781A8}" dt="2026-09-27T12:07:15.151" v="4857" actId="403"/>
        <pc:sldMkLst>
          <pc:docMk/>
          <pc:sldMk cId="2540571594" sldId="510"/>
        </pc:sldMkLst>
        <pc:spChg chg="mod">
          <ac:chgData name="Zhi Wang" userId="7588ea56f58b19c7" providerId="LiveId" clId="{96B72205-E234-467C-A3DC-8BF4882781A8}" dt="2026-09-27T12:07:15.151" v="4857" actId="403"/>
          <ac:spMkLst>
            <pc:docMk/>
            <pc:sldMk cId="2540571594" sldId="510"/>
            <ac:spMk id="3" creationId="{63572FA6-7729-9A7A-79D5-ECD7A2EB9F8C}"/>
          </ac:spMkLst>
        </pc:spChg>
        <pc:graphicFrameChg chg="mod">
          <ac:chgData name="Zhi Wang" userId="7588ea56f58b19c7" providerId="LiveId" clId="{96B72205-E234-467C-A3DC-8BF4882781A8}" dt="2026-09-27T09:42:41.659" v="0"/>
          <ac:graphicFrameMkLst>
            <pc:docMk/>
            <pc:sldMk cId="2540571594" sldId="510"/>
            <ac:graphicFrameMk id="4" creationId="{6913A226-2441-D75B-9F6C-28F050EC8AB9}"/>
          </ac:graphicFrameMkLst>
        </pc:graphicFrameChg>
      </pc:sldChg>
      <pc:sldChg chg="modSp mod">
        <pc:chgData name="Zhi Wang" userId="7588ea56f58b19c7" providerId="LiveId" clId="{96B72205-E234-467C-A3DC-8BF4882781A8}" dt="2026-09-27T12:07:28.879" v="4858" actId="207"/>
        <pc:sldMkLst>
          <pc:docMk/>
          <pc:sldMk cId="4076765603" sldId="515"/>
        </pc:sldMkLst>
        <pc:spChg chg="mod">
          <ac:chgData name="Zhi Wang" userId="7588ea56f58b19c7" providerId="LiveId" clId="{96B72205-E234-467C-A3DC-8BF4882781A8}" dt="2026-09-27T12:07:28.879" v="4858" actId="207"/>
          <ac:spMkLst>
            <pc:docMk/>
            <pc:sldMk cId="4076765603" sldId="515"/>
            <ac:spMk id="2" creationId="{F283276E-BAD6-2114-E53A-3F0294C7FA36}"/>
          </ac:spMkLst>
        </pc:spChg>
        <pc:graphicFrameChg chg="mod">
          <ac:chgData name="Zhi Wang" userId="7588ea56f58b19c7" providerId="LiveId" clId="{96B72205-E234-467C-A3DC-8BF4882781A8}" dt="2026-09-27T09:42:41.659" v="0"/>
          <ac:graphicFrameMkLst>
            <pc:docMk/>
            <pc:sldMk cId="4076765603" sldId="515"/>
            <ac:graphicFrameMk id="5" creationId="{B972C052-B29E-DA13-29CC-F972B3DC8892}"/>
          </ac:graphicFrameMkLst>
        </pc:graphicFrameChg>
      </pc:sldChg>
      <pc:sldChg chg="modSp mod">
        <pc:chgData name="Zhi Wang" userId="7588ea56f58b19c7" providerId="LiveId" clId="{96B72205-E234-467C-A3DC-8BF4882781A8}" dt="2026-09-27T12:05:25.067" v="4698" actId="207"/>
        <pc:sldMkLst>
          <pc:docMk/>
          <pc:sldMk cId="3683911578" sldId="516"/>
        </pc:sldMkLst>
        <pc:spChg chg="mod">
          <ac:chgData name="Zhi Wang" userId="7588ea56f58b19c7" providerId="LiveId" clId="{96B72205-E234-467C-A3DC-8BF4882781A8}" dt="2026-09-27T12:05:25.067" v="4698" actId="207"/>
          <ac:spMkLst>
            <pc:docMk/>
            <pc:sldMk cId="3683911578" sldId="516"/>
            <ac:spMk id="6" creationId="{592FB5A8-76D4-0EE7-8FEE-1EFD71D16799}"/>
          </ac:spMkLst>
        </pc:spChg>
        <pc:graphicFrameChg chg="mod">
          <ac:chgData name="Zhi Wang" userId="7588ea56f58b19c7" providerId="LiveId" clId="{96B72205-E234-467C-A3DC-8BF4882781A8}" dt="2026-09-27T09:42:41.659" v="0"/>
          <ac:graphicFrameMkLst>
            <pc:docMk/>
            <pc:sldMk cId="3683911578" sldId="516"/>
            <ac:graphicFrameMk id="2" creationId="{B4FFC17A-456A-DABA-2A09-71749F455AA7}"/>
          </ac:graphicFrameMkLst>
        </pc:graphicFrameChg>
      </pc:sldChg>
      <pc:sldChg chg="modSp">
        <pc:chgData name="Zhi Wang" userId="7588ea56f58b19c7" providerId="LiveId" clId="{96B72205-E234-467C-A3DC-8BF4882781A8}" dt="2026-09-27T09:42:41.659" v="0"/>
        <pc:sldMkLst>
          <pc:docMk/>
          <pc:sldMk cId="4065050556" sldId="517"/>
        </pc:sldMkLst>
        <pc:graphicFrameChg chg="mod">
          <ac:chgData name="Zhi Wang" userId="7588ea56f58b19c7" providerId="LiveId" clId="{96B72205-E234-467C-A3DC-8BF4882781A8}" dt="2026-09-27T09:42:41.659" v="0"/>
          <ac:graphicFrameMkLst>
            <pc:docMk/>
            <pc:sldMk cId="4065050556" sldId="517"/>
            <ac:graphicFrameMk id="2" creationId="{F372F5F1-E5F7-D5AA-F3A9-778DE41FE685}"/>
          </ac:graphicFrameMkLst>
        </pc:graphicFrameChg>
      </pc:sldChg>
      <pc:sldChg chg="modSp modAnim">
        <pc:chgData name="Zhi Wang" userId="7588ea56f58b19c7" providerId="LiveId" clId="{96B72205-E234-467C-A3DC-8BF4882781A8}" dt="2026-09-27T12:08:09.275" v="4864" actId="20577"/>
        <pc:sldMkLst>
          <pc:docMk/>
          <pc:sldMk cId="3785640062" sldId="518"/>
        </pc:sldMkLst>
        <pc:spChg chg="mod">
          <ac:chgData name="Zhi Wang" userId="7588ea56f58b19c7" providerId="LiveId" clId="{96B72205-E234-467C-A3DC-8BF4882781A8}" dt="2026-09-27T12:08:09.275" v="4864" actId="20577"/>
          <ac:spMkLst>
            <pc:docMk/>
            <pc:sldMk cId="3785640062" sldId="518"/>
            <ac:spMk id="3" creationId="{63A7A5EB-ACA3-AC87-00EE-97BC405DC1DF}"/>
          </ac:spMkLst>
        </pc:spChg>
        <pc:graphicFrameChg chg="mod">
          <ac:chgData name="Zhi Wang" userId="7588ea56f58b19c7" providerId="LiveId" clId="{96B72205-E234-467C-A3DC-8BF4882781A8}" dt="2026-09-27T09:42:41.659" v="0"/>
          <ac:graphicFrameMkLst>
            <pc:docMk/>
            <pc:sldMk cId="3785640062" sldId="518"/>
            <ac:graphicFrameMk id="4" creationId="{FB883ECC-73E8-2FA2-C555-62E500C1D960}"/>
          </ac:graphicFrameMkLst>
        </pc:graphicFrameChg>
      </pc:sldChg>
      <pc:sldChg chg="modSp">
        <pc:chgData name="Zhi Wang" userId="7588ea56f58b19c7" providerId="LiveId" clId="{96B72205-E234-467C-A3DC-8BF4882781A8}" dt="2026-09-27T12:08:18.330" v="4865" actId="255"/>
        <pc:sldMkLst>
          <pc:docMk/>
          <pc:sldMk cId="2423582755" sldId="519"/>
        </pc:sldMkLst>
        <pc:spChg chg="mod">
          <ac:chgData name="Zhi Wang" userId="7588ea56f58b19c7" providerId="LiveId" clId="{96B72205-E234-467C-A3DC-8BF4882781A8}" dt="2026-09-27T12:08:18.330" v="4865" actId="255"/>
          <ac:spMkLst>
            <pc:docMk/>
            <pc:sldMk cId="2423582755" sldId="519"/>
            <ac:spMk id="3" creationId="{63A7A5EB-ACA3-AC87-00EE-97BC405DC1DF}"/>
          </ac:spMkLst>
        </pc:spChg>
        <pc:graphicFrameChg chg="mod">
          <ac:chgData name="Zhi Wang" userId="7588ea56f58b19c7" providerId="LiveId" clId="{96B72205-E234-467C-A3DC-8BF4882781A8}" dt="2026-09-27T09:42:41.659" v="0"/>
          <ac:graphicFrameMkLst>
            <pc:docMk/>
            <pc:sldMk cId="2423582755" sldId="519"/>
            <ac:graphicFrameMk id="4" creationId="{2D87ED4C-EDE7-ACA1-ED8A-0E953FE20A5F}"/>
          </ac:graphicFrameMkLst>
        </pc:graphicFrameChg>
      </pc:sldChg>
      <pc:sldChg chg="delSp modSp mod modAnim">
        <pc:chgData name="Zhi Wang" userId="7588ea56f58b19c7" providerId="LiveId" clId="{96B72205-E234-467C-A3DC-8BF4882781A8}" dt="2026-09-27T12:09:17.587" v="4874" actId="478"/>
        <pc:sldMkLst>
          <pc:docMk/>
          <pc:sldMk cId="279013136" sldId="520"/>
        </pc:sldMkLst>
        <pc:spChg chg="mod">
          <ac:chgData name="Zhi Wang" userId="7588ea56f58b19c7" providerId="LiveId" clId="{96B72205-E234-467C-A3DC-8BF4882781A8}" dt="2026-09-27T12:09:15.296" v="4873" actId="207"/>
          <ac:spMkLst>
            <pc:docMk/>
            <pc:sldMk cId="279013136" sldId="520"/>
            <ac:spMk id="2" creationId="{F283276E-BAD6-2114-E53A-3F0294C7FA36}"/>
          </ac:spMkLst>
        </pc:spChg>
        <pc:spChg chg="mod">
          <ac:chgData name="Zhi Wang" userId="7588ea56f58b19c7" providerId="LiveId" clId="{96B72205-E234-467C-A3DC-8BF4882781A8}" dt="2026-09-27T12:09:12.726" v="4872" actId="207"/>
          <ac:spMkLst>
            <pc:docMk/>
            <pc:sldMk cId="279013136" sldId="520"/>
            <ac:spMk id="3" creationId="{63A7A5EB-ACA3-AC87-00EE-97BC405DC1DF}"/>
          </ac:spMkLst>
        </pc:spChg>
        <pc:spChg chg="del mod">
          <ac:chgData name="Zhi Wang" userId="7588ea56f58b19c7" providerId="LiveId" clId="{96B72205-E234-467C-A3DC-8BF4882781A8}" dt="2026-09-27T12:09:17.587" v="4874" actId="478"/>
          <ac:spMkLst>
            <pc:docMk/>
            <pc:sldMk cId="279013136" sldId="520"/>
            <ac:spMk id="4" creationId="{31F35F72-5164-9982-A097-73497AF01E22}"/>
          </ac:spMkLst>
        </pc:spChg>
        <pc:graphicFrameChg chg="mod">
          <ac:chgData name="Zhi Wang" userId="7588ea56f58b19c7" providerId="LiveId" clId="{96B72205-E234-467C-A3DC-8BF4882781A8}" dt="2026-09-27T09:42:41.659" v="0"/>
          <ac:graphicFrameMkLst>
            <pc:docMk/>
            <pc:sldMk cId="279013136" sldId="520"/>
            <ac:graphicFrameMk id="5" creationId="{AE5C8E9F-4CA0-2399-6805-06B43148727F}"/>
          </ac:graphicFrameMkLst>
        </pc:graphicFrameChg>
      </pc:sldChg>
      <pc:sldChg chg="modSp mod">
        <pc:chgData name="Zhi Wang" userId="7588ea56f58b19c7" providerId="LiveId" clId="{96B72205-E234-467C-A3DC-8BF4882781A8}" dt="2026-09-27T12:09:04.441" v="4871" actId="207"/>
        <pc:sldMkLst>
          <pc:docMk/>
          <pc:sldMk cId="1594356347" sldId="521"/>
        </pc:sldMkLst>
        <pc:spChg chg="mod">
          <ac:chgData name="Zhi Wang" userId="7588ea56f58b19c7" providerId="LiveId" clId="{96B72205-E234-467C-A3DC-8BF4882781A8}" dt="2026-09-27T12:09:00.212" v="4869" actId="207"/>
          <ac:spMkLst>
            <pc:docMk/>
            <pc:sldMk cId="1594356347" sldId="521"/>
            <ac:spMk id="5" creationId="{2E773845-D67D-BC4A-95F1-AD68613422E9}"/>
          </ac:spMkLst>
        </pc:spChg>
        <pc:spChg chg="mod">
          <ac:chgData name="Zhi Wang" userId="7588ea56f58b19c7" providerId="LiveId" clId="{96B72205-E234-467C-A3DC-8BF4882781A8}" dt="2026-09-27T12:09:02.448" v="4870" actId="207"/>
          <ac:spMkLst>
            <pc:docMk/>
            <pc:sldMk cId="1594356347" sldId="521"/>
            <ac:spMk id="6" creationId="{956F19C0-AF0D-3E84-0EBB-AA247B91B353}"/>
          </ac:spMkLst>
        </pc:spChg>
        <pc:spChg chg="mod">
          <ac:chgData name="Zhi Wang" userId="7588ea56f58b19c7" providerId="LiveId" clId="{96B72205-E234-467C-A3DC-8BF4882781A8}" dt="2026-09-27T12:09:04.441" v="4871" actId="207"/>
          <ac:spMkLst>
            <pc:docMk/>
            <pc:sldMk cId="1594356347" sldId="521"/>
            <ac:spMk id="7" creationId="{B04151A0-6860-71EA-4A3A-41F468B63806}"/>
          </ac:spMkLst>
        </pc:spChg>
        <pc:graphicFrameChg chg="mod">
          <ac:chgData name="Zhi Wang" userId="7588ea56f58b19c7" providerId="LiveId" clId="{96B72205-E234-467C-A3DC-8BF4882781A8}" dt="2026-09-27T09:42:41.659" v="0"/>
          <ac:graphicFrameMkLst>
            <pc:docMk/>
            <pc:sldMk cId="1594356347" sldId="521"/>
            <ac:graphicFrameMk id="2" creationId="{BBAD72D7-D19D-BDAF-A5A0-BCB2A33970C0}"/>
          </ac:graphicFrameMkLst>
        </pc:graphicFrameChg>
      </pc:sldChg>
      <pc:sldChg chg="modSp">
        <pc:chgData name="Zhi Wang" userId="7588ea56f58b19c7" providerId="LiveId" clId="{96B72205-E234-467C-A3DC-8BF4882781A8}" dt="2026-09-27T09:42:41.659" v="0"/>
        <pc:sldMkLst>
          <pc:docMk/>
          <pc:sldMk cId="736202151" sldId="522"/>
        </pc:sldMkLst>
        <pc:graphicFrameChg chg="mod">
          <ac:chgData name="Zhi Wang" userId="7588ea56f58b19c7" providerId="LiveId" clId="{96B72205-E234-467C-A3DC-8BF4882781A8}" dt="2026-09-27T09:42:41.659" v="0"/>
          <ac:graphicFrameMkLst>
            <pc:docMk/>
            <pc:sldMk cId="736202151" sldId="522"/>
            <ac:graphicFrameMk id="2" creationId="{69705258-0D94-51EC-B837-83D213152DF7}"/>
          </ac:graphicFrameMkLst>
        </pc:graphicFrameChg>
      </pc:sldChg>
      <pc:sldChg chg="modSp">
        <pc:chgData name="Zhi Wang" userId="7588ea56f58b19c7" providerId="LiveId" clId="{96B72205-E234-467C-A3DC-8BF4882781A8}" dt="2026-09-27T12:09:35.983" v="4876" actId="207"/>
        <pc:sldMkLst>
          <pc:docMk/>
          <pc:sldMk cId="3298800569" sldId="523"/>
        </pc:sldMkLst>
        <pc:spChg chg="mod">
          <ac:chgData name="Zhi Wang" userId="7588ea56f58b19c7" providerId="LiveId" clId="{96B72205-E234-467C-A3DC-8BF4882781A8}" dt="2026-09-27T12:09:35.983" v="4876" actId="207"/>
          <ac:spMkLst>
            <pc:docMk/>
            <pc:sldMk cId="3298800569" sldId="523"/>
            <ac:spMk id="3" creationId="{FDB8025F-9FF3-EFA5-DAE1-87E0F4518AE2}"/>
          </ac:spMkLst>
        </pc:spChg>
        <pc:graphicFrameChg chg="mod">
          <ac:chgData name="Zhi Wang" userId="7588ea56f58b19c7" providerId="LiveId" clId="{96B72205-E234-467C-A3DC-8BF4882781A8}" dt="2026-09-27T09:42:41.659" v="0"/>
          <ac:graphicFrameMkLst>
            <pc:docMk/>
            <pc:sldMk cId="3298800569" sldId="523"/>
            <ac:graphicFrameMk id="4" creationId="{9C30D8E4-C627-650C-AD96-23DD1260DFFB}"/>
          </ac:graphicFrameMkLst>
        </pc:graphicFrameChg>
      </pc:sldChg>
      <pc:sldChg chg="modSp mod">
        <pc:chgData name="Zhi Wang" userId="7588ea56f58b19c7" providerId="LiveId" clId="{96B72205-E234-467C-A3DC-8BF4882781A8}" dt="2026-09-27T12:09:48.211" v="4877" actId="207"/>
        <pc:sldMkLst>
          <pc:docMk/>
          <pc:sldMk cId="1503507918" sldId="524"/>
        </pc:sldMkLst>
        <pc:spChg chg="mod">
          <ac:chgData name="Zhi Wang" userId="7588ea56f58b19c7" providerId="LiveId" clId="{96B72205-E234-467C-A3DC-8BF4882781A8}" dt="2026-09-27T12:09:48.211" v="4877" actId="207"/>
          <ac:spMkLst>
            <pc:docMk/>
            <pc:sldMk cId="1503507918" sldId="524"/>
            <ac:spMk id="2" creationId="{C7E0D1C5-7087-C1E4-0E50-4435C17EB01A}"/>
          </ac:spMkLst>
        </pc:spChg>
        <pc:graphicFrameChg chg="mod">
          <ac:chgData name="Zhi Wang" userId="7588ea56f58b19c7" providerId="LiveId" clId="{96B72205-E234-467C-A3DC-8BF4882781A8}" dt="2026-09-27T09:42:41.659" v="0"/>
          <ac:graphicFrameMkLst>
            <pc:docMk/>
            <pc:sldMk cId="1503507918" sldId="524"/>
            <ac:graphicFrameMk id="4" creationId="{C0AC9256-28A4-4C00-024B-D9A3500D497B}"/>
          </ac:graphicFrameMkLst>
        </pc:graphicFrameChg>
      </pc:sldChg>
      <pc:sldChg chg="modSp">
        <pc:chgData name="Zhi Wang" userId="7588ea56f58b19c7" providerId="LiveId" clId="{96B72205-E234-467C-A3DC-8BF4882781A8}" dt="2026-09-27T09:42:41.659" v="0"/>
        <pc:sldMkLst>
          <pc:docMk/>
          <pc:sldMk cId="1178472441" sldId="525"/>
        </pc:sldMkLst>
        <pc:graphicFrameChg chg="mod">
          <ac:chgData name="Zhi Wang" userId="7588ea56f58b19c7" providerId="LiveId" clId="{96B72205-E234-467C-A3DC-8BF4882781A8}" dt="2026-09-27T09:42:41.659" v="0"/>
          <ac:graphicFrameMkLst>
            <pc:docMk/>
            <pc:sldMk cId="1178472441" sldId="525"/>
            <ac:graphicFrameMk id="4" creationId="{A1931DDF-D4BD-3235-A44E-C338AE341D7D}"/>
          </ac:graphicFrameMkLst>
        </pc:graphicFrameChg>
      </pc:sldChg>
      <pc:sldChg chg="modSp">
        <pc:chgData name="Zhi Wang" userId="7588ea56f58b19c7" providerId="LiveId" clId="{96B72205-E234-467C-A3DC-8BF4882781A8}" dt="2026-09-27T09:42:41.659" v="0"/>
        <pc:sldMkLst>
          <pc:docMk/>
          <pc:sldMk cId="3635772493" sldId="527"/>
        </pc:sldMkLst>
        <pc:graphicFrameChg chg="mod">
          <ac:chgData name="Zhi Wang" userId="7588ea56f58b19c7" providerId="LiveId" clId="{96B72205-E234-467C-A3DC-8BF4882781A8}" dt="2026-09-27T09:42:41.659" v="0"/>
          <ac:graphicFrameMkLst>
            <pc:docMk/>
            <pc:sldMk cId="3635772493" sldId="527"/>
            <ac:graphicFrameMk id="2" creationId="{727FACCA-AE70-2A59-6A4F-2C8B2F6C6A10}"/>
          </ac:graphicFrameMkLst>
        </pc:graphicFrameChg>
      </pc:sldChg>
      <pc:sldChg chg="modSp">
        <pc:chgData name="Zhi Wang" userId="7588ea56f58b19c7" providerId="LiveId" clId="{96B72205-E234-467C-A3DC-8BF4882781A8}" dt="2026-09-27T09:42:41.659" v="0"/>
        <pc:sldMkLst>
          <pc:docMk/>
          <pc:sldMk cId="0" sldId="533"/>
        </pc:sldMkLst>
        <pc:graphicFrameChg chg="mod">
          <ac:chgData name="Zhi Wang" userId="7588ea56f58b19c7" providerId="LiveId" clId="{96B72205-E234-467C-A3DC-8BF4882781A8}" dt="2026-09-27T09:42:41.659" v="0"/>
          <ac:graphicFrameMkLst>
            <pc:docMk/>
            <pc:sldMk cId="0" sldId="533"/>
            <ac:graphicFrameMk id="4" creationId="{8802FDA4-5E73-A6B4-B91A-91326FEC0F44}"/>
          </ac:graphicFrameMkLst>
        </pc:graphicFrameChg>
      </pc:sldChg>
      <pc:sldChg chg="modSp mod">
        <pc:chgData name="Zhi Wang" userId="7588ea56f58b19c7" providerId="LiveId" clId="{96B72205-E234-467C-A3DC-8BF4882781A8}" dt="2026-09-27T12:03:16.164" v="4678" actId="948"/>
        <pc:sldMkLst>
          <pc:docMk/>
          <pc:sldMk cId="2928282793" sldId="534"/>
        </pc:sldMkLst>
        <pc:spChg chg="mod">
          <ac:chgData name="Zhi Wang" userId="7588ea56f58b19c7" providerId="LiveId" clId="{96B72205-E234-467C-A3DC-8BF4882781A8}" dt="2026-09-27T12:03:16.164" v="4678" actId="948"/>
          <ac:spMkLst>
            <pc:docMk/>
            <pc:sldMk cId="2928282793" sldId="534"/>
            <ac:spMk id="5" creationId="{9B036C1C-D594-385F-9F3B-2C698EFC7987}"/>
          </ac:spMkLst>
        </pc:spChg>
        <pc:graphicFrameChg chg="mod">
          <ac:chgData name="Zhi Wang" userId="7588ea56f58b19c7" providerId="LiveId" clId="{96B72205-E234-467C-A3DC-8BF4882781A8}" dt="2026-09-27T09:42:41.659" v="0"/>
          <ac:graphicFrameMkLst>
            <pc:docMk/>
            <pc:sldMk cId="2928282793" sldId="534"/>
            <ac:graphicFrameMk id="3" creationId="{A316A058-2F16-1E4C-A7DC-2D21AF6207A3}"/>
          </ac:graphicFrameMkLst>
        </pc:graphicFrameChg>
      </pc:sldChg>
      <pc:sldChg chg="modSp mod">
        <pc:chgData name="Zhi Wang" userId="7588ea56f58b19c7" providerId="LiveId" clId="{96B72205-E234-467C-A3DC-8BF4882781A8}" dt="2026-09-27T12:05:19.213" v="4697" actId="207"/>
        <pc:sldMkLst>
          <pc:docMk/>
          <pc:sldMk cId="296460114" sldId="535"/>
        </pc:sldMkLst>
        <pc:spChg chg="mod">
          <ac:chgData name="Zhi Wang" userId="7588ea56f58b19c7" providerId="LiveId" clId="{96B72205-E234-467C-A3DC-8BF4882781A8}" dt="2026-09-27T12:05:19.213" v="4697" actId="207"/>
          <ac:spMkLst>
            <pc:docMk/>
            <pc:sldMk cId="296460114" sldId="535"/>
            <ac:spMk id="2" creationId="{7494933C-10AB-1786-955A-401A6827AABE}"/>
          </ac:spMkLst>
        </pc:spChg>
        <pc:spChg chg="mod">
          <ac:chgData name="Zhi Wang" userId="7588ea56f58b19c7" providerId="LiveId" clId="{96B72205-E234-467C-A3DC-8BF4882781A8}" dt="2026-09-27T12:05:07.532" v="4694" actId="207"/>
          <ac:spMkLst>
            <pc:docMk/>
            <pc:sldMk cId="296460114" sldId="535"/>
            <ac:spMk id="3" creationId="{B282A777-4537-8CBA-0167-F7F201728C3F}"/>
          </ac:spMkLst>
        </pc:spChg>
        <pc:spChg chg="mod">
          <ac:chgData name="Zhi Wang" userId="7588ea56f58b19c7" providerId="LiveId" clId="{96B72205-E234-467C-A3DC-8BF4882781A8}" dt="2026-09-27T12:05:12.226" v="4695" actId="207"/>
          <ac:spMkLst>
            <pc:docMk/>
            <pc:sldMk cId="296460114" sldId="535"/>
            <ac:spMk id="4" creationId="{800AD6A9-2FDF-8C23-6980-E7A5E11F8CCB}"/>
          </ac:spMkLst>
        </pc:spChg>
        <pc:spChg chg="mod">
          <ac:chgData name="Zhi Wang" userId="7588ea56f58b19c7" providerId="LiveId" clId="{96B72205-E234-467C-A3DC-8BF4882781A8}" dt="2026-09-27T12:05:14.567" v="4696" actId="207"/>
          <ac:spMkLst>
            <pc:docMk/>
            <pc:sldMk cId="296460114" sldId="535"/>
            <ac:spMk id="5" creationId="{DEED836B-3E70-7F19-2F05-114D70B67AE8}"/>
          </ac:spMkLst>
        </pc:spChg>
        <pc:graphicFrameChg chg="mod">
          <ac:chgData name="Zhi Wang" userId="7588ea56f58b19c7" providerId="LiveId" clId="{96B72205-E234-467C-A3DC-8BF4882781A8}" dt="2026-09-27T09:42:41.659" v="0"/>
          <ac:graphicFrameMkLst>
            <pc:docMk/>
            <pc:sldMk cId="296460114" sldId="535"/>
            <ac:graphicFrameMk id="6" creationId="{1EB618B1-7AA4-5734-7F7B-075BDADA2DF8}"/>
          </ac:graphicFrameMkLst>
        </pc:graphicFrameChg>
      </pc:sldChg>
      <pc:sldChg chg="modSp">
        <pc:chgData name="Zhi Wang" userId="7588ea56f58b19c7" providerId="LiveId" clId="{96B72205-E234-467C-A3DC-8BF4882781A8}" dt="2026-09-27T09:42:41.659" v="0"/>
        <pc:sldMkLst>
          <pc:docMk/>
          <pc:sldMk cId="2259151361" sldId="536"/>
        </pc:sldMkLst>
        <pc:graphicFrameChg chg="mod">
          <ac:chgData name="Zhi Wang" userId="7588ea56f58b19c7" providerId="LiveId" clId="{96B72205-E234-467C-A3DC-8BF4882781A8}" dt="2026-09-27T09:42:41.659" v="0"/>
          <ac:graphicFrameMkLst>
            <pc:docMk/>
            <pc:sldMk cId="2259151361" sldId="536"/>
            <ac:graphicFrameMk id="5" creationId="{3748B919-E104-5552-F4E2-E82687FAA33B}"/>
          </ac:graphicFrameMkLst>
        </pc:graphicFrameChg>
      </pc:sldChg>
      <pc:sldChg chg="modSp">
        <pc:chgData name="Zhi Wang" userId="7588ea56f58b19c7" providerId="LiveId" clId="{96B72205-E234-467C-A3DC-8BF4882781A8}" dt="2026-09-27T09:42:41.659" v="0"/>
        <pc:sldMkLst>
          <pc:docMk/>
          <pc:sldMk cId="4174683701" sldId="537"/>
        </pc:sldMkLst>
        <pc:graphicFrameChg chg="mod">
          <ac:chgData name="Zhi Wang" userId="7588ea56f58b19c7" providerId="LiveId" clId="{96B72205-E234-467C-A3DC-8BF4882781A8}" dt="2026-09-27T09:42:41.659" v="0"/>
          <ac:graphicFrameMkLst>
            <pc:docMk/>
            <pc:sldMk cId="4174683701" sldId="537"/>
            <ac:graphicFrameMk id="4" creationId="{0A347DF7-A82C-A505-196F-AEA1BBEDBCB0}"/>
          </ac:graphicFrameMkLst>
        </pc:graphicFrameChg>
      </pc:sldChg>
      <pc:sldChg chg="modSp">
        <pc:chgData name="Zhi Wang" userId="7588ea56f58b19c7" providerId="LiveId" clId="{96B72205-E234-467C-A3DC-8BF4882781A8}" dt="2026-09-27T09:42:41.659" v="0"/>
        <pc:sldMkLst>
          <pc:docMk/>
          <pc:sldMk cId="1668225884" sldId="538"/>
        </pc:sldMkLst>
        <pc:graphicFrameChg chg="mod">
          <ac:chgData name="Zhi Wang" userId="7588ea56f58b19c7" providerId="LiveId" clId="{96B72205-E234-467C-A3DC-8BF4882781A8}" dt="2026-09-27T09:42:41.659" v="0"/>
          <ac:graphicFrameMkLst>
            <pc:docMk/>
            <pc:sldMk cId="1668225884" sldId="538"/>
            <ac:graphicFrameMk id="2" creationId="{C32E1D16-A4D1-286F-0410-BBF6F6A15184}"/>
          </ac:graphicFrameMkLst>
        </pc:graphicFrameChg>
      </pc:sldChg>
      <pc:sldChg chg="modSp">
        <pc:chgData name="Zhi Wang" userId="7588ea56f58b19c7" providerId="LiveId" clId="{96B72205-E234-467C-A3DC-8BF4882781A8}" dt="2026-09-27T09:42:41.659" v="0"/>
        <pc:sldMkLst>
          <pc:docMk/>
          <pc:sldMk cId="1245143907" sldId="539"/>
        </pc:sldMkLst>
        <pc:graphicFrameChg chg="mod">
          <ac:chgData name="Zhi Wang" userId="7588ea56f58b19c7" providerId="LiveId" clId="{96B72205-E234-467C-A3DC-8BF4882781A8}" dt="2026-09-27T09:42:41.659" v="0"/>
          <ac:graphicFrameMkLst>
            <pc:docMk/>
            <pc:sldMk cId="1245143907" sldId="539"/>
            <ac:graphicFrameMk id="2" creationId="{10BA3A2A-6D53-FEFA-6D21-A623ABB93DBA}"/>
          </ac:graphicFrameMkLst>
        </pc:graphicFrameChg>
      </pc:sldChg>
      <pc:sldChg chg="addSp delSp modSp add mod delAnim">
        <pc:chgData name="Zhi Wang" userId="7588ea56f58b19c7" providerId="LiveId" clId="{96B72205-E234-467C-A3DC-8BF4882781A8}" dt="2026-09-27T10:17:33.572" v="709" actId="1076"/>
        <pc:sldMkLst>
          <pc:docMk/>
          <pc:sldMk cId="1102959993" sldId="540"/>
        </pc:sldMkLst>
        <pc:spChg chg="del">
          <ac:chgData name="Zhi Wang" userId="7588ea56f58b19c7" providerId="LiveId" clId="{96B72205-E234-467C-A3DC-8BF4882781A8}" dt="2026-09-27T09:45:49.304" v="94" actId="478"/>
          <ac:spMkLst>
            <pc:docMk/>
            <pc:sldMk cId="1102959993" sldId="540"/>
            <ac:spMk id="3" creationId="{8642C97C-5691-06B3-C195-5DC94231FBFD}"/>
          </ac:spMkLst>
        </pc:spChg>
        <pc:spChg chg="add del mod">
          <ac:chgData name="Zhi Wang" userId="7588ea56f58b19c7" providerId="LiveId" clId="{96B72205-E234-467C-A3DC-8BF4882781A8}" dt="2026-09-27T09:45:51.241" v="95" actId="478"/>
          <ac:spMkLst>
            <pc:docMk/>
            <pc:sldMk cId="1102959993" sldId="540"/>
            <ac:spMk id="6" creationId="{9B6E3C8B-2F2A-B1ED-E200-5BE324ED54D1}"/>
          </ac:spMkLst>
        </pc:spChg>
        <pc:spChg chg="add mod">
          <ac:chgData name="Zhi Wang" userId="7588ea56f58b19c7" providerId="LiveId" clId="{96B72205-E234-467C-A3DC-8BF4882781A8}" dt="2026-09-27T09:49:28.887" v="115" actId="2085"/>
          <ac:spMkLst>
            <pc:docMk/>
            <pc:sldMk cId="1102959993" sldId="540"/>
            <ac:spMk id="7" creationId="{B0B7B27E-69D5-3826-92EC-BFE722D0160F}"/>
          </ac:spMkLst>
        </pc:spChg>
        <pc:spChg chg="add del">
          <ac:chgData name="Zhi Wang" userId="7588ea56f58b19c7" providerId="LiveId" clId="{96B72205-E234-467C-A3DC-8BF4882781A8}" dt="2026-09-27T09:47:51.887" v="98" actId="478"/>
          <ac:spMkLst>
            <pc:docMk/>
            <pc:sldMk cId="1102959993" sldId="540"/>
            <ac:spMk id="9" creationId="{AF7D1FA3-00EC-F7FD-707A-387FCBC05C98}"/>
          </ac:spMkLst>
        </pc:spChg>
        <pc:spChg chg="add mod">
          <ac:chgData name="Zhi Wang" userId="7588ea56f58b19c7" providerId="LiveId" clId="{96B72205-E234-467C-A3DC-8BF4882781A8}" dt="2026-09-27T09:49:31.616" v="116" actId="2085"/>
          <ac:spMkLst>
            <pc:docMk/>
            <pc:sldMk cId="1102959993" sldId="540"/>
            <ac:spMk id="10" creationId="{44D6C0AD-B1A2-1950-2631-94325292F2E3}"/>
          </ac:spMkLst>
        </pc:spChg>
        <pc:spChg chg="add mod">
          <ac:chgData name="Zhi Wang" userId="7588ea56f58b19c7" providerId="LiveId" clId="{96B72205-E234-467C-A3DC-8BF4882781A8}" dt="2026-09-27T09:49:38.776" v="117" actId="2085"/>
          <ac:spMkLst>
            <pc:docMk/>
            <pc:sldMk cId="1102959993" sldId="540"/>
            <ac:spMk id="12" creationId="{BBD68DC8-7C44-35A9-4856-F258F6A1D537}"/>
          </ac:spMkLst>
        </pc:spChg>
        <pc:spChg chg="add mod">
          <ac:chgData name="Zhi Wang" userId="7588ea56f58b19c7" providerId="LiveId" clId="{96B72205-E234-467C-A3DC-8BF4882781A8}" dt="2026-09-27T10:09:22.858" v="531" actId="1076"/>
          <ac:spMkLst>
            <pc:docMk/>
            <pc:sldMk cId="1102959993" sldId="540"/>
            <ac:spMk id="13" creationId="{437639CE-B0BF-4558-EDEB-4A3CD99DB6E9}"/>
          </ac:spMkLst>
        </pc:spChg>
        <pc:spChg chg="add mod">
          <ac:chgData name="Zhi Wang" userId="7588ea56f58b19c7" providerId="LiveId" clId="{96B72205-E234-467C-A3DC-8BF4882781A8}" dt="2026-09-27T10:09:26.156" v="532" actId="1076"/>
          <ac:spMkLst>
            <pc:docMk/>
            <pc:sldMk cId="1102959993" sldId="540"/>
            <ac:spMk id="15" creationId="{26DD5B09-B9FC-2D49-92E0-96A8F6295278}"/>
          </ac:spMkLst>
        </pc:spChg>
        <pc:spChg chg="add mod">
          <ac:chgData name="Zhi Wang" userId="7588ea56f58b19c7" providerId="LiveId" clId="{96B72205-E234-467C-A3DC-8BF4882781A8}" dt="2026-09-27T10:09:04.538" v="530" actId="1076"/>
          <ac:spMkLst>
            <pc:docMk/>
            <pc:sldMk cId="1102959993" sldId="540"/>
            <ac:spMk id="22" creationId="{118782EF-81B8-7DE7-64AA-9A1751459245}"/>
          </ac:spMkLst>
        </pc:spChg>
        <pc:spChg chg="add mod ord">
          <ac:chgData name="Zhi Wang" userId="7588ea56f58b19c7" providerId="LiveId" clId="{96B72205-E234-467C-A3DC-8BF4882781A8}" dt="2026-09-27T10:02:47.962" v="205" actId="207"/>
          <ac:spMkLst>
            <pc:docMk/>
            <pc:sldMk cId="1102959993" sldId="540"/>
            <ac:spMk id="27" creationId="{3289585A-F466-251F-B8A8-8852567B3733}"/>
          </ac:spMkLst>
        </pc:spChg>
        <pc:spChg chg="add mod">
          <ac:chgData name="Zhi Wang" userId="7588ea56f58b19c7" providerId="LiveId" clId="{96B72205-E234-467C-A3DC-8BF4882781A8}" dt="2026-09-27T10:17:33.572" v="709" actId="1076"/>
          <ac:spMkLst>
            <pc:docMk/>
            <pc:sldMk cId="1102959993" sldId="540"/>
            <ac:spMk id="29" creationId="{6C6BA278-F1F3-9C8B-5CF2-24C28167F0A4}"/>
          </ac:spMkLst>
        </pc:spChg>
        <pc:spChg chg="add mod">
          <ac:chgData name="Zhi Wang" userId="7588ea56f58b19c7" providerId="LiveId" clId="{96B72205-E234-467C-A3DC-8BF4882781A8}" dt="2026-09-27T10:12:28.121" v="650" actId="1076"/>
          <ac:spMkLst>
            <pc:docMk/>
            <pc:sldMk cId="1102959993" sldId="540"/>
            <ac:spMk id="31" creationId="{5FAF12B6-CF94-4FC5-001F-B6204CE9DF77}"/>
          </ac:spMkLst>
        </pc:spChg>
        <pc:spChg chg="add mod">
          <ac:chgData name="Zhi Wang" userId="7588ea56f58b19c7" providerId="LiveId" clId="{96B72205-E234-467C-A3DC-8BF4882781A8}" dt="2026-09-27T10:12:54.677" v="656" actId="1076"/>
          <ac:spMkLst>
            <pc:docMk/>
            <pc:sldMk cId="1102959993" sldId="540"/>
            <ac:spMk id="33" creationId="{629BACDA-94A5-16BB-1B1B-3117D1AA1D7C}"/>
          </ac:spMkLst>
        </pc:spChg>
        <pc:picChg chg="add mod modCrop">
          <ac:chgData name="Zhi Wang" userId="7588ea56f58b19c7" providerId="LiveId" clId="{96B72205-E234-467C-A3DC-8BF4882781A8}" dt="2026-09-27T10:02:51.935" v="206" actId="1076"/>
          <ac:picMkLst>
            <pc:docMk/>
            <pc:sldMk cId="1102959993" sldId="540"/>
            <ac:picMk id="24" creationId="{D9D08A55-F711-8263-8D4B-B42F04552B16}"/>
          </ac:picMkLst>
        </pc:picChg>
        <pc:picChg chg="add mod">
          <ac:chgData name="Zhi Wang" userId="7588ea56f58b19c7" providerId="LiveId" clId="{96B72205-E234-467C-A3DC-8BF4882781A8}" dt="2026-09-27T10:02:53.608" v="207" actId="1076"/>
          <ac:picMkLst>
            <pc:docMk/>
            <pc:sldMk cId="1102959993" sldId="540"/>
            <ac:picMk id="26" creationId="{4DDD4B61-744A-B921-46E1-7639808151C4}"/>
          </ac:picMkLst>
        </pc:picChg>
        <pc:cxnChg chg="add mod">
          <ac:chgData name="Zhi Wang" userId="7588ea56f58b19c7" providerId="LiveId" clId="{96B72205-E234-467C-A3DC-8BF4882781A8}" dt="2026-09-27T09:58:36.935" v="186" actId="1037"/>
          <ac:cxnSpMkLst>
            <pc:docMk/>
            <pc:sldMk cId="1102959993" sldId="540"/>
            <ac:cxnSpMk id="17" creationId="{81A5E584-A158-DAB9-73CD-08F817D7DB76}"/>
          </ac:cxnSpMkLst>
        </pc:cxnChg>
      </pc:sldChg>
      <pc:sldChg chg="addSp delSp modSp add mod">
        <pc:chgData name="Zhi Wang" userId="7588ea56f58b19c7" providerId="LiveId" clId="{96B72205-E234-467C-A3DC-8BF4882781A8}" dt="2026-09-27T10:39:47.155" v="1405"/>
        <pc:sldMkLst>
          <pc:docMk/>
          <pc:sldMk cId="150922232" sldId="541"/>
        </pc:sldMkLst>
        <pc:spChg chg="add">
          <ac:chgData name="Zhi Wang" userId="7588ea56f58b19c7" providerId="LiveId" clId="{96B72205-E234-467C-A3DC-8BF4882781A8}" dt="2026-09-27T10:09:34.024" v="536" actId="22"/>
          <ac:spMkLst>
            <pc:docMk/>
            <pc:sldMk cId="150922232" sldId="541"/>
            <ac:spMk id="5" creationId="{F1CCF3D2-6B5D-90FC-8095-3686BF5C10D2}"/>
          </ac:spMkLst>
        </pc:spChg>
        <pc:spChg chg="add">
          <ac:chgData name="Zhi Wang" userId="7588ea56f58b19c7" providerId="LiveId" clId="{96B72205-E234-467C-A3DC-8BF4882781A8}" dt="2026-09-27T10:09:34.024" v="536" actId="22"/>
          <ac:spMkLst>
            <pc:docMk/>
            <pc:sldMk cId="150922232" sldId="541"/>
            <ac:spMk id="8" creationId="{1FB593A6-40BE-7991-AF57-5439A8CF8559}"/>
          </ac:spMkLst>
        </pc:spChg>
        <pc:spChg chg="del mod">
          <ac:chgData name="Zhi Wang" userId="7588ea56f58b19c7" providerId="LiveId" clId="{96B72205-E234-467C-A3DC-8BF4882781A8}" dt="2026-09-27T10:09:29.649" v="534" actId="478"/>
          <ac:spMkLst>
            <pc:docMk/>
            <pc:sldMk cId="150922232" sldId="541"/>
            <ac:spMk id="13" creationId="{AF8000FC-BE47-13E9-5837-E6310EB2CEF6}"/>
          </ac:spMkLst>
        </pc:spChg>
        <pc:spChg chg="del">
          <ac:chgData name="Zhi Wang" userId="7588ea56f58b19c7" providerId="LiveId" clId="{96B72205-E234-467C-A3DC-8BF4882781A8}" dt="2026-09-27T10:09:30.580" v="535" actId="478"/>
          <ac:spMkLst>
            <pc:docMk/>
            <pc:sldMk cId="150922232" sldId="541"/>
            <ac:spMk id="15" creationId="{CF822320-9CD4-D9A8-D97A-EC491CDEF475}"/>
          </ac:spMkLst>
        </pc:spChg>
        <pc:spChg chg="add mod">
          <ac:chgData name="Zhi Wang" userId="7588ea56f58b19c7" providerId="LiveId" clId="{96B72205-E234-467C-A3DC-8BF4882781A8}" dt="2026-09-27T10:11:37.559" v="637" actId="20577"/>
          <ac:spMkLst>
            <pc:docMk/>
            <pc:sldMk cId="150922232" sldId="541"/>
            <ac:spMk id="16" creationId="{F4811D9C-2C11-6FEE-7E6D-885E21D0E47A}"/>
          </ac:spMkLst>
        </pc:spChg>
        <pc:spChg chg="mod">
          <ac:chgData name="Zhi Wang" userId="7588ea56f58b19c7" providerId="LiveId" clId="{96B72205-E234-467C-A3DC-8BF4882781A8}" dt="2026-09-27T10:08:59.233" v="528" actId="1076"/>
          <ac:spMkLst>
            <pc:docMk/>
            <pc:sldMk cId="150922232" sldId="541"/>
            <ac:spMk id="22" creationId="{A98370E6-2188-4C2A-4F96-711A749E3346}"/>
          </ac:spMkLst>
        </pc:spChg>
        <pc:spChg chg="add mod">
          <ac:chgData name="Zhi Wang" userId="7588ea56f58b19c7" providerId="LiveId" clId="{96B72205-E234-467C-A3DC-8BF4882781A8}" dt="2026-09-27T10:17:45.589" v="712" actId="1076"/>
          <ac:spMkLst>
            <pc:docMk/>
            <pc:sldMk cId="150922232" sldId="541"/>
            <ac:spMk id="25" creationId="{03CCAF52-3E5F-D5DD-B0FD-25BBE7BFF477}"/>
          </ac:spMkLst>
        </pc:spChg>
        <pc:spChg chg="mod">
          <ac:chgData name="Zhi Wang" userId="7588ea56f58b19c7" providerId="LiveId" clId="{96B72205-E234-467C-A3DC-8BF4882781A8}" dt="2026-09-27T10:39:47.155" v="1405"/>
          <ac:spMkLst>
            <pc:docMk/>
            <pc:sldMk cId="150922232" sldId="541"/>
            <ac:spMk id="29" creationId="{2719AA22-ED45-1BEC-3558-9B2F188539E5}"/>
          </ac:spMkLst>
        </pc:spChg>
        <pc:spChg chg="add mod">
          <ac:chgData name="Zhi Wang" userId="7588ea56f58b19c7" providerId="LiveId" clId="{96B72205-E234-467C-A3DC-8BF4882781A8}" dt="2026-09-27T10:17:45.589" v="712" actId="1076"/>
          <ac:spMkLst>
            <pc:docMk/>
            <pc:sldMk cId="150922232" sldId="541"/>
            <ac:spMk id="30" creationId="{9250EC36-7D55-9364-DEC5-F82F2DC21B86}"/>
          </ac:spMkLst>
        </pc:spChg>
        <pc:picChg chg="add mod modCrop">
          <ac:chgData name="Zhi Wang" userId="7588ea56f58b19c7" providerId="LiveId" clId="{96B72205-E234-467C-A3DC-8BF4882781A8}" dt="2026-09-27T10:17:45.589" v="712" actId="1076"/>
          <ac:picMkLst>
            <pc:docMk/>
            <pc:sldMk cId="150922232" sldId="541"/>
            <ac:picMk id="19" creationId="{BEC12576-70E0-CDA8-D587-0B1960661F95}"/>
          </ac:picMkLst>
        </pc:picChg>
        <pc:picChg chg="add mod modCrop">
          <ac:chgData name="Zhi Wang" userId="7588ea56f58b19c7" providerId="LiveId" clId="{96B72205-E234-467C-A3DC-8BF4882781A8}" dt="2026-09-27T10:17:45.589" v="712" actId="1076"/>
          <ac:picMkLst>
            <pc:docMk/>
            <pc:sldMk cId="150922232" sldId="541"/>
            <ac:picMk id="21" creationId="{4702762F-E829-B91A-6864-D253A910A4FC}"/>
          </ac:picMkLst>
        </pc:picChg>
        <pc:picChg chg="del">
          <ac:chgData name="Zhi Wang" userId="7588ea56f58b19c7" providerId="LiveId" clId="{96B72205-E234-467C-A3DC-8BF4882781A8}" dt="2026-09-27T10:14:10.968" v="661" actId="478"/>
          <ac:picMkLst>
            <pc:docMk/>
            <pc:sldMk cId="150922232" sldId="541"/>
            <ac:picMk id="24" creationId="{59AAD2E6-293C-C4CF-A8DC-6DEFE67478B5}"/>
          </ac:picMkLst>
        </pc:picChg>
        <pc:picChg chg="del">
          <ac:chgData name="Zhi Wang" userId="7588ea56f58b19c7" providerId="LiveId" clId="{96B72205-E234-467C-A3DC-8BF4882781A8}" dt="2026-09-27T10:14:11.489" v="662" actId="478"/>
          <ac:picMkLst>
            <pc:docMk/>
            <pc:sldMk cId="150922232" sldId="541"/>
            <ac:picMk id="26" creationId="{EC2FEA8D-3A8B-C967-A0A8-8D0C116CFBD4}"/>
          </ac:picMkLst>
        </pc:picChg>
        <pc:cxnChg chg="add mod">
          <ac:chgData name="Zhi Wang" userId="7588ea56f58b19c7" providerId="LiveId" clId="{96B72205-E234-467C-A3DC-8BF4882781A8}" dt="2026-09-27T10:09:42.219" v="539" actId="14100"/>
          <ac:cxnSpMkLst>
            <pc:docMk/>
            <pc:sldMk cId="150922232" sldId="541"/>
            <ac:cxnSpMk id="9" creationId="{A0AD291D-D1CA-BB72-A0B3-E59EB0945501}"/>
          </ac:cxnSpMkLst>
        </pc:cxnChg>
      </pc:sldChg>
      <pc:sldChg chg="addSp delSp modSp add del mod">
        <pc:chgData name="Zhi Wang" userId="7588ea56f58b19c7" providerId="LiveId" clId="{96B72205-E234-467C-A3DC-8BF4882781A8}" dt="2026-09-27T12:02:14.213" v="4670" actId="47"/>
        <pc:sldMkLst>
          <pc:docMk/>
          <pc:sldMk cId="2603260361" sldId="542"/>
        </pc:sldMkLst>
        <pc:spChg chg="mod">
          <ac:chgData name="Zhi Wang" userId="7588ea56f58b19c7" providerId="LiveId" clId="{96B72205-E234-467C-A3DC-8BF4882781A8}" dt="2026-09-27T10:18:33.865" v="718" actId="1076"/>
          <ac:spMkLst>
            <pc:docMk/>
            <pc:sldMk cId="2603260361" sldId="542"/>
            <ac:spMk id="16" creationId="{B5356C4D-424B-6222-48AA-D1B1D2008B9F}"/>
          </ac:spMkLst>
        </pc:spChg>
        <pc:cxnChg chg="add mod">
          <ac:chgData name="Zhi Wang" userId="7588ea56f58b19c7" providerId="LiveId" clId="{96B72205-E234-467C-A3DC-8BF4882781A8}" dt="2026-09-27T10:21:48.683" v="773" actId="1076"/>
          <ac:cxnSpMkLst>
            <pc:docMk/>
            <pc:sldMk cId="2603260361" sldId="542"/>
            <ac:cxnSpMk id="3" creationId="{90853C88-8A2D-2AA7-AC43-D5AFF15C74BB}"/>
          </ac:cxnSpMkLst>
        </pc:cxnChg>
        <pc:cxnChg chg="add mod">
          <ac:chgData name="Zhi Wang" userId="7588ea56f58b19c7" providerId="LiveId" clId="{96B72205-E234-467C-A3DC-8BF4882781A8}" dt="2026-09-27T10:21:44.947" v="772" actId="1076"/>
          <ac:cxnSpMkLst>
            <pc:docMk/>
            <pc:sldMk cId="2603260361" sldId="542"/>
            <ac:cxnSpMk id="6" creationId="{7B51669A-8FA1-54F0-7136-136386114710}"/>
          </ac:cxnSpMkLst>
        </pc:cxnChg>
        <pc:cxnChg chg="add del mod">
          <ac:chgData name="Zhi Wang" userId="7588ea56f58b19c7" providerId="LiveId" clId="{96B72205-E234-467C-A3DC-8BF4882781A8}" dt="2026-09-27T10:19:17.614" v="742" actId="478"/>
          <ac:cxnSpMkLst>
            <pc:docMk/>
            <pc:sldMk cId="2603260361" sldId="542"/>
            <ac:cxnSpMk id="13" creationId="{10771509-BFA1-15FD-8441-8BE398759AFF}"/>
          </ac:cxnSpMkLst>
        </pc:cxnChg>
        <pc:cxnChg chg="add mod">
          <ac:chgData name="Zhi Wang" userId="7588ea56f58b19c7" providerId="LiveId" clId="{96B72205-E234-467C-A3DC-8BF4882781A8}" dt="2026-09-27T10:21:42.072" v="771" actId="1076"/>
          <ac:cxnSpMkLst>
            <pc:docMk/>
            <pc:sldMk cId="2603260361" sldId="542"/>
            <ac:cxnSpMk id="14" creationId="{E1B3BC1D-7C41-0D3B-A582-760731B37297}"/>
          </ac:cxnSpMkLst>
        </pc:cxnChg>
        <pc:cxnChg chg="add del mod">
          <ac:chgData name="Zhi Wang" userId="7588ea56f58b19c7" providerId="LiveId" clId="{96B72205-E234-467C-A3DC-8BF4882781A8}" dt="2026-09-27T10:19:39.142" v="747" actId="478"/>
          <ac:cxnSpMkLst>
            <pc:docMk/>
            <pc:sldMk cId="2603260361" sldId="542"/>
            <ac:cxnSpMk id="15" creationId="{695DEE9E-FE68-795D-AE96-76ED2C385313}"/>
          </ac:cxnSpMkLst>
        </pc:cxnChg>
        <pc:cxnChg chg="add mod">
          <ac:chgData name="Zhi Wang" userId="7588ea56f58b19c7" providerId="LiveId" clId="{96B72205-E234-467C-A3DC-8BF4882781A8}" dt="2026-09-27T10:21:39.913" v="770" actId="1076"/>
          <ac:cxnSpMkLst>
            <pc:docMk/>
            <pc:sldMk cId="2603260361" sldId="542"/>
            <ac:cxnSpMk id="18" creationId="{F62D8310-AD66-C218-11A2-EE86C5727D0E}"/>
          </ac:cxnSpMkLst>
        </pc:cxnChg>
        <pc:cxnChg chg="add mod">
          <ac:chgData name="Zhi Wang" userId="7588ea56f58b19c7" providerId="LiveId" clId="{96B72205-E234-467C-A3DC-8BF4882781A8}" dt="2026-09-27T10:21:38.045" v="769" actId="1076"/>
          <ac:cxnSpMkLst>
            <pc:docMk/>
            <pc:sldMk cId="2603260361" sldId="542"/>
            <ac:cxnSpMk id="20" creationId="{2DFA356F-988E-31C3-693C-C37B49D25A0E}"/>
          </ac:cxnSpMkLst>
        </pc:cxnChg>
        <pc:cxnChg chg="add del mod">
          <ac:chgData name="Zhi Wang" userId="7588ea56f58b19c7" providerId="LiveId" clId="{96B72205-E234-467C-A3DC-8BF4882781A8}" dt="2026-09-27T10:20:29.795" v="754" actId="478"/>
          <ac:cxnSpMkLst>
            <pc:docMk/>
            <pc:sldMk cId="2603260361" sldId="542"/>
            <ac:cxnSpMk id="23" creationId="{72A15D66-3A1C-FC64-C5BF-2478667A29D8}"/>
          </ac:cxnSpMkLst>
        </pc:cxnChg>
        <pc:cxnChg chg="add mod">
          <ac:chgData name="Zhi Wang" userId="7588ea56f58b19c7" providerId="LiveId" clId="{96B72205-E234-467C-A3DC-8BF4882781A8}" dt="2026-09-27T10:21:35.815" v="768" actId="1076"/>
          <ac:cxnSpMkLst>
            <pc:docMk/>
            <pc:sldMk cId="2603260361" sldId="542"/>
            <ac:cxnSpMk id="24" creationId="{521A8428-9C93-EC51-E9E3-C6CA80DD56B1}"/>
          </ac:cxnSpMkLst>
        </pc:cxnChg>
        <pc:cxnChg chg="add mod">
          <ac:chgData name="Zhi Wang" userId="7588ea56f58b19c7" providerId="LiveId" clId="{96B72205-E234-467C-A3DC-8BF4882781A8}" dt="2026-09-27T10:21:34.131" v="767" actId="1076"/>
          <ac:cxnSpMkLst>
            <pc:docMk/>
            <pc:sldMk cId="2603260361" sldId="542"/>
            <ac:cxnSpMk id="26" creationId="{A16D8EC9-BC8E-7220-3B5E-B31564557CE4}"/>
          </ac:cxnSpMkLst>
        </pc:cxnChg>
        <pc:cxnChg chg="add mod">
          <ac:chgData name="Zhi Wang" userId="7588ea56f58b19c7" providerId="LiveId" clId="{96B72205-E234-467C-A3DC-8BF4882781A8}" dt="2026-09-27T10:21:22.149" v="766" actId="1076"/>
          <ac:cxnSpMkLst>
            <pc:docMk/>
            <pc:sldMk cId="2603260361" sldId="542"/>
            <ac:cxnSpMk id="28" creationId="{6577021E-4F31-3AB6-821F-2C23FC408A0E}"/>
          </ac:cxnSpMkLst>
        </pc:cxnChg>
        <pc:cxnChg chg="add del mod">
          <ac:chgData name="Zhi Wang" userId="7588ea56f58b19c7" providerId="LiveId" clId="{96B72205-E234-467C-A3DC-8BF4882781A8}" dt="2026-09-27T10:21:14.801" v="763" actId="478"/>
          <ac:cxnSpMkLst>
            <pc:docMk/>
            <pc:sldMk cId="2603260361" sldId="542"/>
            <ac:cxnSpMk id="31" creationId="{37677ADA-5C11-473D-5868-6BC948BB47E9}"/>
          </ac:cxnSpMkLst>
        </pc:cxnChg>
        <pc:cxnChg chg="add mod">
          <ac:chgData name="Zhi Wang" userId="7588ea56f58b19c7" providerId="LiveId" clId="{96B72205-E234-467C-A3DC-8BF4882781A8}" dt="2026-09-27T10:22:00.128" v="774" actId="1076"/>
          <ac:cxnSpMkLst>
            <pc:docMk/>
            <pc:sldMk cId="2603260361" sldId="542"/>
            <ac:cxnSpMk id="32" creationId="{914F661E-65F6-2D2D-12D8-95822644CC2D}"/>
          </ac:cxnSpMkLst>
        </pc:cxnChg>
      </pc:sldChg>
      <pc:sldChg chg="addSp delSp modSp add mod">
        <pc:chgData name="Zhi Wang" userId="7588ea56f58b19c7" providerId="LiveId" clId="{96B72205-E234-467C-A3DC-8BF4882781A8}" dt="2026-09-27T10:44:24.905" v="1569"/>
        <pc:sldMkLst>
          <pc:docMk/>
          <pc:sldMk cId="2255229017" sldId="543"/>
        </pc:sldMkLst>
        <pc:spChg chg="add mod">
          <ac:chgData name="Zhi Wang" userId="7588ea56f58b19c7" providerId="LiveId" clId="{96B72205-E234-467C-A3DC-8BF4882781A8}" dt="2026-09-27T10:22:36.288" v="786" actId="1076"/>
          <ac:spMkLst>
            <pc:docMk/>
            <pc:sldMk cId="2255229017" sldId="543"/>
            <ac:spMk id="13" creationId="{AD7EADAE-3B73-0CB5-8A92-C7BD29236FE1}"/>
          </ac:spMkLst>
        </pc:spChg>
        <pc:spChg chg="del">
          <ac:chgData name="Zhi Wang" userId="7588ea56f58b19c7" providerId="LiveId" clId="{96B72205-E234-467C-A3DC-8BF4882781A8}" dt="2026-09-27T10:22:42.794" v="787" actId="478"/>
          <ac:spMkLst>
            <pc:docMk/>
            <pc:sldMk cId="2255229017" sldId="543"/>
            <ac:spMk id="25" creationId="{91D32EC8-8BDA-DB10-8FFC-E3378762E952}"/>
          </ac:spMkLst>
        </pc:spChg>
        <pc:spChg chg="mod">
          <ac:chgData name="Zhi Wang" userId="7588ea56f58b19c7" providerId="LiveId" clId="{96B72205-E234-467C-A3DC-8BF4882781A8}" dt="2026-09-27T10:44:24.905" v="1569"/>
          <ac:spMkLst>
            <pc:docMk/>
            <pc:sldMk cId="2255229017" sldId="543"/>
            <ac:spMk id="29" creationId="{B79D6EC2-C142-6968-90A4-FA125E85C598}"/>
          </ac:spMkLst>
        </pc:spChg>
        <pc:spChg chg="mod">
          <ac:chgData name="Zhi Wang" userId="7588ea56f58b19c7" providerId="LiveId" clId="{96B72205-E234-467C-A3DC-8BF4882781A8}" dt="2026-09-27T10:22:49.184" v="788" actId="1076"/>
          <ac:spMkLst>
            <pc:docMk/>
            <pc:sldMk cId="2255229017" sldId="543"/>
            <ac:spMk id="30" creationId="{C3DF4DDA-5653-B3F3-301D-9A9340FC9901}"/>
          </ac:spMkLst>
        </pc:spChg>
        <pc:picChg chg="del">
          <ac:chgData name="Zhi Wang" userId="7588ea56f58b19c7" providerId="LiveId" clId="{96B72205-E234-467C-A3DC-8BF4882781A8}" dt="2026-09-27T10:22:42.794" v="787" actId="478"/>
          <ac:picMkLst>
            <pc:docMk/>
            <pc:sldMk cId="2255229017" sldId="543"/>
            <ac:picMk id="19" creationId="{8D13AA0E-FA36-ACF6-5788-0468CAB7D0DF}"/>
          </ac:picMkLst>
        </pc:picChg>
        <pc:picChg chg="mod">
          <ac:chgData name="Zhi Wang" userId="7588ea56f58b19c7" providerId="LiveId" clId="{96B72205-E234-467C-A3DC-8BF4882781A8}" dt="2026-09-27T10:22:49.184" v="788" actId="1076"/>
          <ac:picMkLst>
            <pc:docMk/>
            <pc:sldMk cId="2255229017" sldId="543"/>
            <ac:picMk id="21" creationId="{7A571785-DBC8-735E-48F0-772DD543B8FD}"/>
          </ac:picMkLst>
        </pc:picChg>
        <pc:cxnChg chg="del">
          <ac:chgData name="Zhi Wang" userId="7588ea56f58b19c7" providerId="LiveId" clId="{96B72205-E234-467C-A3DC-8BF4882781A8}" dt="2026-09-27T10:22:12.739" v="776" actId="478"/>
          <ac:cxnSpMkLst>
            <pc:docMk/>
            <pc:sldMk cId="2255229017" sldId="543"/>
            <ac:cxnSpMk id="6" creationId="{281FE25A-16FB-3A6B-E7C7-96FDB2578CC1}"/>
          </ac:cxnSpMkLst>
        </pc:cxnChg>
        <pc:cxnChg chg="del">
          <ac:chgData name="Zhi Wang" userId="7588ea56f58b19c7" providerId="LiveId" clId="{96B72205-E234-467C-A3DC-8BF4882781A8}" dt="2026-09-27T10:22:12.739" v="776" actId="478"/>
          <ac:cxnSpMkLst>
            <pc:docMk/>
            <pc:sldMk cId="2255229017" sldId="543"/>
            <ac:cxnSpMk id="14" creationId="{13EC46DD-D5C8-9B8C-D16C-CB9E2EC9E6EA}"/>
          </ac:cxnSpMkLst>
        </pc:cxnChg>
        <pc:cxnChg chg="del">
          <ac:chgData name="Zhi Wang" userId="7588ea56f58b19c7" providerId="LiveId" clId="{96B72205-E234-467C-A3DC-8BF4882781A8}" dt="2026-09-27T10:22:12.739" v="776" actId="478"/>
          <ac:cxnSpMkLst>
            <pc:docMk/>
            <pc:sldMk cId="2255229017" sldId="543"/>
            <ac:cxnSpMk id="18" creationId="{BC1E7315-B1B7-DAB9-E302-24D549022FEB}"/>
          </ac:cxnSpMkLst>
        </pc:cxnChg>
        <pc:cxnChg chg="del">
          <ac:chgData name="Zhi Wang" userId="7588ea56f58b19c7" providerId="LiveId" clId="{96B72205-E234-467C-A3DC-8BF4882781A8}" dt="2026-09-27T10:22:12.739" v="776" actId="478"/>
          <ac:cxnSpMkLst>
            <pc:docMk/>
            <pc:sldMk cId="2255229017" sldId="543"/>
            <ac:cxnSpMk id="20" creationId="{07E5905B-777B-35C2-E19D-28C55E6FF386}"/>
          </ac:cxnSpMkLst>
        </pc:cxnChg>
        <pc:cxnChg chg="del">
          <ac:chgData name="Zhi Wang" userId="7588ea56f58b19c7" providerId="LiveId" clId="{96B72205-E234-467C-A3DC-8BF4882781A8}" dt="2026-09-27T10:22:12.739" v="776" actId="478"/>
          <ac:cxnSpMkLst>
            <pc:docMk/>
            <pc:sldMk cId="2255229017" sldId="543"/>
            <ac:cxnSpMk id="24" creationId="{7170ACDF-A204-090D-EEBD-A72D34801505}"/>
          </ac:cxnSpMkLst>
        </pc:cxnChg>
        <pc:cxnChg chg="del">
          <ac:chgData name="Zhi Wang" userId="7588ea56f58b19c7" providerId="LiveId" clId="{96B72205-E234-467C-A3DC-8BF4882781A8}" dt="2026-09-27T10:22:12.739" v="776" actId="478"/>
          <ac:cxnSpMkLst>
            <pc:docMk/>
            <pc:sldMk cId="2255229017" sldId="543"/>
            <ac:cxnSpMk id="26" creationId="{29E99E14-5382-C70A-5980-E3E87E1E509E}"/>
          </ac:cxnSpMkLst>
        </pc:cxnChg>
        <pc:cxnChg chg="del">
          <ac:chgData name="Zhi Wang" userId="7588ea56f58b19c7" providerId="LiveId" clId="{96B72205-E234-467C-A3DC-8BF4882781A8}" dt="2026-09-27T10:22:12.739" v="776" actId="478"/>
          <ac:cxnSpMkLst>
            <pc:docMk/>
            <pc:sldMk cId="2255229017" sldId="543"/>
            <ac:cxnSpMk id="28" creationId="{1674D4AC-2775-70D5-40BA-BD943B09927F}"/>
          </ac:cxnSpMkLst>
        </pc:cxnChg>
        <pc:cxnChg chg="del">
          <ac:chgData name="Zhi Wang" userId="7588ea56f58b19c7" providerId="LiveId" clId="{96B72205-E234-467C-A3DC-8BF4882781A8}" dt="2026-09-27T10:22:12.739" v="776" actId="478"/>
          <ac:cxnSpMkLst>
            <pc:docMk/>
            <pc:sldMk cId="2255229017" sldId="543"/>
            <ac:cxnSpMk id="32" creationId="{1A72170D-D664-13A9-F744-11C685C5E5B5}"/>
          </ac:cxnSpMkLst>
        </pc:cxnChg>
      </pc:sldChg>
      <pc:sldChg chg="addSp delSp modSp add mod">
        <pc:chgData name="Zhi Wang" userId="7588ea56f58b19c7" providerId="LiveId" clId="{96B72205-E234-467C-A3DC-8BF4882781A8}" dt="2026-09-27T10:47:12.668" v="1716" actId="1076"/>
        <pc:sldMkLst>
          <pc:docMk/>
          <pc:sldMk cId="586105611" sldId="544"/>
        </pc:sldMkLst>
        <pc:spChg chg="add mod">
          <ac:chgData name="Zhi Wang" userId="7588ea56f58b19c7" providerId="LiveId" clId="{96B72205-E234-467C-A3DC-8BF4882781A8}" dt="2026-09-27T10:25:57.135" v="936" actId="1076"/>
          <ac:spMkLst>
            <pc:docMk/>
            <pc:sldMk cId="586105611" sldId="544"/>
            <ac:spMk id="13" creationId="{3970A0EA-E83F-6705-676A-9E93925808E8}"/>
          </ac:spMkLst>
        </pc:spChg>
        <pc:spChg chg="mod">
          <ac:chgData name="Zhi Wang" userId="7588ea56f58b19c7" providerId="LiveId" clId="{96B72205-E234-467C-A3DC-8BF4882781A8}" dt="2026-09-27T10:25:45.600" v="933" actId="782"/>
          <ac:spMkLst>
            <pc:docMk/>
            <pc:sldMk cId="586105611" sldId="544"/>
            <ac:spMk id="22" creationId="{8E2490BD-CC49-C858-B074-417E2F8D263E}"/>
          </ac:spMkLst>
        </pc:spChg>
        <pc:spChg chg="add mod">
          <ac:chgData name="Zhi Wang" userId="7588ea56f58b19c7" providerId="LiveId" clId="{96B72205-E234-467C-A3DC-8BF4882781A8}" dt="2026-09-27T10:47:12.668" v="1716" actId="1076"/>
          <ac:spMkLst>
            <pc:docMk/>
            <pc:sldMk cId="586105611" sldId="544"/>
            <ac:spMk id="23" creationId="{859220CD-19A1-B736-AB0C-96832B3D4CA7}"/>
          </ac:spMkLst>
        </pc:spChg>
        <pc:spChg chg="mod">
          <ac:chgData name="Zhi Wang" userId="7588ea56f58b19c7" providerId="LiveId" clId="{96B72205-E234-467C-A3DC-8BF4882781A8}" dt="2026-09-27T10:32:08.586" v="1093" actId="1076"/>
          <ac:spMkLst>
            <pc:docMk/>
            <pc:sldMk cId="586105611" sldId="544"/>
            <ac:spMk id="25" creationId="{B988648B-192D-56DF-8DC0-4527E4F3F0DE}"/>
          </ac:spMkLst>
        </pc:spChg>
        <pc:spChg chg="mod">
          <ac:chgData name="Zhi Wang" userId="7588ea56f58b19c7" providerId="LiveId" clId="{96B72205-E234-467C-A3DC-8BF4882781A8}" dt="2026-09-27T10:45:31.432" v="1692"/>
          <ac:spMkLst>
            <pc:docMk/>
            <pc:sldMk cId="586105611" sldId="544"/>
            <ac:spMk id="29" creationId="{6B605353-1120-A7D0-639C-8C7B384EA94D}"/>
          </ac:spMkLst>
        </pc:spChg>
        <pc:spChg chg="mod">
          <ac:chgData name="Zhi Wang" userId="7588ea56f58b19c7" providerId="LiveId" clId="{96B72205-E234-467C-A3DC-8BF4882781A8}" dt="2026-09-27T10:32:18.287" v="1112" actId="1076"/>
          <ac:spMkLst>
            <pc:docMk/>
            <pc:sldMk cId="586105611" sldId="544"/>
            <ac:spMk id="30" creationId="{00D58239-9EB5-EBC6-33AB-A6865FEF5C2A}"/>
          </ac:spMkLst>
        </pc:spChg>
        <pc:spChg chg="add mod">
          <ac:chgData name="Zhi Wang" userId="7588ea56f58b19c7" providerId="LiveId" clId="{96B72205-E234-467C-A3DC-8BF4882781A8}" dt="2026-09-27T10:39:39.599" v="1402" actId="1076"/>
          <ac:spMkLst>
            <pc:docMk/>
            <pc:sldMk cId="586105611" sldId="544"/>
            <ac:spMk id="33" creationId="{8D3BB78E-EF00-6E55-E31A-9BE9334B72E9}"/>
          </ac:spMkLst>
        </pc:spChg>
        <pc:spChg chg="add mod">
          <ac:chgData name="Zhi Wang" userId="7588ea56f58b19c7" providerId="LiveId" clId="{96B72205-E234-467C-A3DC-8BF4882781A8}" dt="2026-09-27T10:32:37.432" v="1117" actId="1076"/>
          <ac:spMkLst>
            <pc:docMk/>
            <pc:sldMk cId="586105611" sldId="544"/>
            <ac:spMk id="41" creationId="{A4814D96-6E17-FF0E-03EC-A75AF2FBE0B2}"/>
          </ac:spMkLst>
        </pc:spChg>
        <pc:picChg chg="del">
          <ac:chgData name="Zhi Wang" userId="7588ea56f58b19c7" providerId="LiveId" clId="{96B72205-E234-467C-A3DC-8BF4882781A8}" dt="2026-09-27T10:28:15.926" v="1062" actId="478"/>
          <ac:picMkLst>
            <pc:docMk/>
            <pc:sldMk cId="586105611" sldId="544"/>
            <ac:picMk id="19" creationId="{084C938C-E0EF-A0FD-344D-1F9DDD4A6112}"/>
          </ac:picMkLst>
        </pc:picChg>
        <pc:picChg chg="del">
          <ac:chgData name="Zhi Wang" userId="7588ea56f58b19c7" providerId="LiveId" clId="{96B72205-E234-467C-A3DC-8BF4882781A8}" dt="2026-09-27T10:28:55.850" v="1067" actId="478"/>
          <ac:picMkLst>
            <pc:docMk/>
            <pc:sldMk cId="586105611" sldId="544"/>
            <ac:picMk id="21" creationId="{7EE47F4D-1ED9-E4E8-261A-5973934A3DBD}"/>
          </ac:picMkLst>
        </pc:picChg>
        <pc:picChg chg="add mod">
          <ac:chgData name="Zhi Wang" userId="7588ea56f58b19c7" providerId="LiveId" clId="{96B72205-E234-467C-A3DC-8BF4882781A8}" dt="2026-09-27T10:31:46.030" v="1086" actId="1076"/>
          <ac:picMkLst>
            <pc:docMk/>
            <pc:sldMk cId="586105611" sldId="544"/>
            <ac:picMk id="35" creationId="{BC8BD475-39C8-0526-51CE-126D8E756CD3}"/>
          </ac:picMkLst>
        </pc:picChg>
        <pc:picChg chg="add mod modCrop">
          <ac:chgData name="Zhi Wang" userId="7588ea56f58b19c7" providerId="LiveId" clId="{96B72205-E234-467C-A3DC-8BF4882781A8}" dt="2026-09-27T10:31:57.857" v="1089" actId="1076"/>
          <ac:picMkLst>
            <pc:docMk/>
            <pc:sldMk cId="586105611" sldId="544"/>
            <ac:picMk id="37" creationId="{0033C19F-1C48-2AE9-FEF7-D5485BF4F459}"/>
          </ac:picMkLst>
        </pc:picChg>
        <pc:picChg chg="add mod modCrop">
          <ac:chgData name="Zhi Wang" userId="7588ea56f58b19c7" providerId="LiveId" clId="{96B72205-E234-467C-A3DC-8BF4882781A8}" dt="2026-09-27T10:32:00.287" v="1090" actId="1036"/>
          <ac:picMkLst>
            <pc:docMk/>
            <pc:sldMk cId="586105611" sldId="544"/>
            <ac:picMk id="39" creationId="{AD96E0ED-0C7B-5EEE-F574-0312CC49BF33}"/>
          </ac:picMkLst>
        </pc:picChg>
        <pc:cxnChg chg="del">
          <ac:chgData name="Zhi Wang" userId="7588ea56f58b19c7" providerId="LiveId" clId="{96B72205-E234-467C-A3DC-8BF4882781A8}" dt="2026-09-27T10:25:35.628" v="932" actId="478"/>
          <ac:cxnSpMkLst>
            <pc:docMk/>
            <pc:sldMk cId="586105611" sldId="544"/>
            <ac:cxnSpMk id="14" creationId="{2F336EF6-CB30-4CF7-EEBD-8289D94ED2B4}"/>
          </ac:cxnSpMkLst>
        </pc:cxnChg>
        <pc:cxnChg chg="del">
          <ac:chgData name="Zhi Wang" userId="7588ea56f58b19c7" providerId="LiveId" clId="{96B72205-E234-467C-A3DC-8BF4882781A8}" dt="2026-09-27T10:25:35.628" v="932" actId="478"/>
          <ac:cxnSpMkLst>
            <pc:docMk/>
            <pc:sldMk cId="586105611" sldId="544"/>
            <ac:cxnSpMk id="18" creationId="{690EDAB7-7571-AF77-D6D9-DEB2D259787D}"/>
          </ac:cxnSpMkLst>
        </pc:cxnChg>
        <pc:cxnChg chg="del">
          <ac:chgData name="Zhi Wang" userId="7588ea56f58b19c7" providerId="LiveId" clId="{96B72205-E234-467C-A3DC-8BF4882781A8}" dt="2026-09-27T10:25:35.628" v="932" actId="478"/>
          <ac:cxnSpMkLst>
            <pc:docMk/>
            <pc:sldMk cId="586105611" sldId="544"/>
            <ac:cxnSpMk id="20" creationId="{D6943C9F-DCF2-8B66-EA04-784E7102C67B}"/>
          </ac:cxnSpMkLst>
        </pc:cxnChg>
        <pc:cxnChg chg="del">
          <ac:chgData name="Zhi Wang" userId="7588ea56f58b19c7" providerId="LiveId" clId="{96B72205-E234-467C-A3DC-8BF4882781A8}" dt="2026-09-27T10:25:35.628" v="932" actId="478"/>
          <ac:cxnSpMkLst>
            <pc:docMk/>
            <pc:sldMk cId="586105611" sldId="544"/>
            <ac:cxnSpMk id="24" creationId="{CEDECA9B-22FE-214C-9EE9-964AACBFEE81}"/>
          </ac:cxnSpMkLst>
        </pc:cxnChg>
        <pc:cxnChg chg="del">
          <ac:chgData name="Zhi Wang" userId="7588ea56f58b19c7" providerId="LiveId" clId="{96B72205-E234-467C-A3DC-8BF4882781A8}" dt="2026-09-27T10:25:35.628" v="932" actId="478"/>
          <ac:cxnSpMkLst>
            <pc:docMk/>
            <pc:sldMk cId="586105611" sldId="544"/>
            <ac:cxnSpMk id="26" creationId="{1ED1B837-8837-E1B0-FC48-CF77734F3849}"/>
          </ac:cxnSpMkLst>
        </pc:cxnChg>
        <pc:cxnChg chg="del">
          <ac:chgData name="Zhi Wang" userId="7588ea56f58b19c7" providerId="LiveId" clId="{96B72205-E234-467C-A3DC-8BF4882781A8}" dt="2026-09-27T10:25:35.628" v="932" actId="478"/>
          <ac:cxnSpMkLst>
            <pc:docMk/>
            <pc:sldMk cId="586105611" sldId="544"/>
            <ac:cxnSpMk id="28" creationId="{8E15FC73-FA6D-C3E2-6E1F-E2BCB4B343BA}"/>
          </ac:cxnSpMkLst>
        </pc:cxnChg>
        <pc:cxnChg chg="del">
          <ac:chgData name="Zhi Wang" userId="7588ea56f58b19c7" providerId="LiveId" clId="{96B72205-E234-467C-A3DC-8BF4882781A8}" dt="2026-09-27T10:25:35.628" v="932" actId="478"/>
          <ac:cxnSpMkLst>
            <pc:docMk/>
            <pc:sldMk cId="586105611" sldId="544"/>
            <ac:cxnSpMk id="32" creationId="{92486C49-1D42-EF33-F0E3-4B3124F98D6F}"/>
          </ac:cxnSpMkLst>
        </pc:cxnChg>
      </pc:sldChg>
      <pc:sldChg chg="addSp delSp modSp add mod ord">
        <pc:chgData name="Zhi Wang" userId="7588ea56f58b19c7" providerId="LiveId" clId="{96B72205-E234-467C-A3DC-8BF4882781A8}" dt="2026-09-27T10:45:56.342" v="1693" actId="478"/>
        <pc:sldMkLst>
          <pc:docMk/>
          <pc:sldMk cId="1185400231" sldId="545"/>
        </pc:sldMkLst>
        <pc:spChg chg="add del">
          <ac:chgData name="Zhi Wang" userId="7588ea56f58b19c7" providerId="LiveId" clId="{96B72205-E234-467C-A3DC-8BF4882781A8}" dt="2026-09-27T10:45:56.342" v="1693" actId="478"/>
          <ac:spMkLst>
            <pc:docMk/>
            <pc:sldMk cId="1185400231" sldId="545"/>
            <ac:spMk id="18" creationId="{2D4AFE08-2AFE-DE1B-AF3F-D773F0AC80E1}"/>
          </ac:spMkLst>
        </pc:spChg>
        <pc:spChg chg="del mod">
          <ac:chgData name="Zhi Wang" userId="7588ea56f58b19c7" providerId="LiveId" clId="{96B72205-E234-467C-A3DC-8BF4882781A8}" dt="2026-09-27T10:38:55.783" v="1372" actId="478"/>
          <ac:spMkLst>
            <pc:docMk/>
            <pc:sldMk cId="1185400231" sldId="545"/>
            <ac:spMk id="23" creationId="{DB94B85A-DC74-BAB4-B6EB-80A526BDB94C}"/>
          </ac:spMkLst>
        </pc:spChg>
        <pc:spChg chg="add mod">
          <ac:chgData name="Zhi Wang" userId="7588ea56f58b19c7" providerId="LiveId" clId="{96B72205-E234-467C-A3DC-8BF4882781A8}" dt="2026-09-27T10:43:14.495" v="1540" actId="1076"/>
          <ac:spMkLst>
            <pc:docMk/>
            <pc:sldMk cId="1185400231" sldId="545"/>
            <ac:spMk id="24" creationId="{4F3E17CC-DC42-A632-7C67-80C08E458C2E}"/>
          </ac:spMkLst>
        </pc:spChg>
        <pc:spChg chg="del">
          <ac:chgData name="Zhi Wang" userId="7588ea56f58b19c7" providerId="LiveId" clId="{96B72205-E234-467C-A3DC-8BF4882781A8}" dt="2026-09-27T10:37:16.162" v="1313" actId="478"/>
          <ac:spMkLst>
            <pc:docMk/>
            <pc:sldMk cId="1185400231" sldId="545"/>
            <ac:spMk id="25" creationId="{9FECD81B-EB17-2A1A-E200-040CADA8B7C6}"/>
          </ac:spMkLst>
        </pc:spChg>
        <pc:spChg chg="add del">
          <ac:chgData name="Zhi Wang" userId="7588ea56f58b19c7" providerId="LiveId" clId="{96B72205-E234-467C-A3DC-8BF4882781A8}" dt="2026-09-27T10:37:18.523" v="1315" actId="478"/>
          <ac:spMkLst>
            <pc:docMk/>
            <pc:sldMk cId="1185400231" sldId="545"/>
            <ac:spMk id="27" creationId="{80EEBB72-5B21-3513-46EA-BB52F5B7854A}"/>
          </ac:spMkLst>
        </pc:spChg>
        <pc:spChg chg="mod">
          <ac:chgData name="Zhi Wang" userId="7588ea56f58b19c7" providerId="LiveId" clId="{96B72205-E234-467C-A3DC-8BF4882781A8}" dt="2026-09-27T10:45:12.974" v="1629"/>
          <ac:spMkLst>
            <pc:docMk/>
            <pc:sldMk cId="1185400231" sldId="545"/>
            <ac:spMk id="29" creationId="{1993B0C1-BC73-02F5-99CA-793E62BDE12A}"/>
          </ac:spMkLst>
        </pc:spChg>
        <pc:spChg chg="del">
          <ac:chgData name="Zhi Wang" userId="7588ea56f58b19c7" providerId="LiveId" clId="{96B72205-E234-467C-A3DC-8BF4882781A8}" dt="2026-09-27T10:37:20.071" v="1316" actId="478"/>
          <ac:spMkLst>
            <pc:docMk/>
            <pc:sldMk cId="1185400231" sldId="545"/>
            <ac:spMk id="30" creationId="{B473C4D3-2198-B228-C3E8-5304A93A5832}"/>
          </ac:spMkLst>
        </pc:spChg>
        <pc:spChg chg="mod">
          <ac:chgData name="Zhi Wang" userId="7588ea56f58b19c7" providerId="LiveId" clId="{96B72205-E234-467C-A3DC-8BF4882781A8}" dt="2026-09-27T10:42:54.891" v="1535" actId="1076"/>
          <ac:spMkLst>
            <pc:docMk/>
            <pc:sldMk cId="1185400231" sldId="545"/>
            <ac:spMk id="41" creationId="{F3B7E56F-F73D-319F-33AC-C4B2A5DEBCE6}"/>
          </ac:spMkLst>
        </pc:spChg>
        <pc:picChg chg="add mod modCrop">
          <ac:chgData name="Zhi Wang" userId="7588ea56f58b19c7" providerId="LiveId" clId="{96B72205-E234-467C-A3DC-8BF4882781A8}" dt="2026-09-27T10:42:44.988" v="1534" actId="1076"/>
          <ac:picMkLst>
            <pc:docMk/>
            <pc:sldMk cId="1185400231" sldId="545"/>
            <ac:picMk id="14" creationId="{551197F1-AE16-8D87-F839-12E796F6B387}"/>
          </ac:picMkLst>
        </pc:picChg>
        <pc:picChg chg="add mod">
          <ac:chgData name="Zhi Wang" userId="7588ea56f58b19c7" providerId="LiveId" clId="{96B72205-E234-467C-A3DC-8BF4882781A8}" dt="2026-09-27T10:42:43.952" v="1533" actId="1076"/>
          <ac:picMkLst>
            <pc:docMk/>
            <pc:sldMk cId="1185400231" sldId="545"/>
            <ac:picMk id="20" creationId="{F29E8359-B89B-515D-9BE7-E085E667B56A}"/>
          </ac:picMkLst>
        </pc:picChg>
        <pc:picChg chg="del">
          <ac:chgData name="Zhi Wang" userId="7588ea56f58b19c7" providerId="LiveId" clId="{96B72205-E234-467C-A3DC-8BF4882781A8}" dt="2026-09-27T10:37:05.481" v="1308" actId="478"/>
          <ac:picMkLst>
            <pc:docMk/>
            <pc:sldMk cId="1185400231" sldId="545"/>
            <ac:picMk id="35" creationId="{B9B74A62-3B5B-C8CD-2B6F-F14A260ABB58}"/>
          </ac:picMkLst>
        </pc:picChg>
        <pc:picChg chg="del">
          <ac:chgData name="Zhi Wang" userId="7588ea56f58b19c7" providerId="LiveId" clId="{96B72205-E234-467C-A3DC-8BF4882781A8}" dt="2026-09-27T10:37:05.892" v="1309" actId="478"/>
          <ac:picMkLst>
            <pc:docMk/>
            <pc:sldMk cId="1185400231" sldId="545"/>
            <ac:picMk id="37" creationId="{4212E1A4-CF3B-9D81-B3D1-4C2B928B9F0D}"/>
          </ac:picMkLst>
        </pc:picChg>
        <pc:picChg chg="del">
          <ac:chgData name="Zhi Wang" userId="7588ea56f58b19c7" providerId="LiveId" clId="{96B72205-E234-467C-A3DC-8BF4882781A8}" dt="2026-09-27T10:37:06.245" v="1310" actId="478"/>
          <ac:picMkLst>
            <pc:docMk/>
            <pc:sldMk cId="1185400231" sldId="545"/>
            <ac:picMk id="39" creationId="{7C947A98-83EC-68FF-7AAC-9B46E25F5CEF}"/>
          </ac:picMkLst>
        </pc:picChg>
      </pc:sldChg>
      <pc:sldChg chg="addSp delSp modSp add del mod">
        <pc:chgData name="Zhi Wang" userId="7588ea56f58b19c7" providerId="LiveId" clId="{96B72205-E234-467C-A3DC-8BF4882781A8}" dt="2026-09-27T11:27:10.416" v="2832" actId="403"/>
        <pc:sldMkLst>
          <pc:docMk/>
          <pc:sldMk cId="1439705004" sldId="546"/>
        </pc:sldMkLst>
        <pc:spChg chg="add del mod">
          <ac:chgData name="Zhi Wang" userId="7588ea56f58b19c7" providerId="LiveId" clId="{96B72205-E234-467C-A3DC-8BF4882781A8}" dt="2026-09-27T11:26:31.131" v="2819" actId="478"/>
          <ac:spMkLst>
            <pc:docMk/>
            <pc:sldMk cId="1439705004" sldId="546"/>
            <ac:spMk id="15" creationId="{004FB3C0-AADA-57A5-4361-D8266D05B63B}"/>
          </ac:spMkLst>
        </pc:spChg>
        <pc:spChg chg="add del mod">
          <ac:chgData name="Zhi Wang" userId="7588ea56f58b19c7" providerId="LiveId" clId="{96B72205-E234-467C-A3DC-8BF4882781A8}" dt="2026-09-27T10:53:39.925" v="1840"/>
          <ac:spMkLst>
            <pc:docMk/>
            <pc:sldMk cId="1439705004" sldId="546"/>
            <ac:spMk id="20" creationId="{6DF57297-0F06-DA17-8A91-2CCD79E469D1}"/>
          </ac:spMkLst>
        </pc:spChg>
        <pc:spChg chg="del">
          <ac:chgData name="Zhi Wang" userId="7588ea56f58b19c7" providerId="LiveId" clId="{96B72205-E234-467C-A3DC-8BF4882781A8}" dt="2026-09-27T10:54:09.682" v="1847" actId="478"/>
          <ac:spMkLst>
            <pc:docMk/>
            <pc:sldMk cId="1439705004" sldId="546"/>
            <ac:spMk id="25" creationId="{9A43A21D-2ED3-42AF-AD4A-ACE44458A285}"/>
          </ac:spMkLst>
        </pc:spChg>
        <pc:spChg chg="add mod">
          <ac:chgData name="Zhi Wang" userId="7588ea56f58b19c7" providerId="LiveId" clId="{96B72205-E234-467C-A3DC-8BF4882781A8}" dt="2026-09-27T11:27:10.416" v="2832" actId="403"/>
          <ac:spMkLst>
            <pc:docMk/>
            <pc:sldMk cId="1439705004" sldId="546"/>
            <ac:spMk id="26" creationId="{5C1D4FCB-963F-EA05-9BDF-FF38AE648294}"/>
          </ac:spMkLst>
        </pc:spChg>
        <pc:spChg chg="mod">
          <ac:chgData name="Zhi Wang" userId="7588ea56f58b19c7" providerId="LiveId" clId="{96B72205-E234-467C-A3DC-8BF4882781A8}" dt="2026-09-27T10:56:32.015" v="2041"/>
          <ac:spMkLst>
            <pc:docMk/>
            <pc:sldMk cId="1439705004" sldId="546"/>
            <ac:spMk id="29" creationId="{AF73683D-CDE7-FFFC-9A3B-714BD552AC82}"/>
          </ac:spMkLst>
        </pc:spChg>
        <pc:spChg chg="mod">
          <ac:chgData name="Zhi Wang" userId="7588ea56f58b19c7" providerId="LiveId" clId="{96B72205-E234-467C-A3DC-8BF4882781A8}" dt="2026-09-27T10:54:54.772" v="1856" actId="1076"/>
          <ac:spMkLst>
            <pc:docMk/>
            <pc:sldMk cId="1439705004" sldId="546"/>
            <ac:spMk id="30" creationId="{7BDC9353-11B6-4218-6F2E-B187B8263CD4}"/>
          </ac:spMkLst>
        </pc:spChg>
        <pc:spChg chg="add">
          <ac:chgData name="Zhi Wang" userId="7588ea56f58b19c7" providerId="LiveId" clId="{96B72205-E234-467C-A3DC-8BF4882781A8}" dt="2026-09-27T11:26:35.721" v="2820" actId="22"/>
          <ac:spMkLst>
            <pc:docMk/>
            <pc:sldMk cId="1439705004" sldId="546"/>
            <ac:spMk id="32" creationId="{A6704375-2608-272D-3660-08CAFCC8672C}"/>
          </ac:spMkLst>
        </pc:spChg>
        <pc:spChg chg="del">
          <ac:chgData name="Zhi Wang" userId="7588ea56f58b19c7" providerId="LiveId" clId="{96B72205-E234-467C-A3DC-8BF4882781A8}" dt="2026-09-27T11:26:39.037" v="2821" actId="21"/>
          <ac:spMkLst>
            <pc:docMk/>
            <pc:sldMk cId="1439705004" sldId="546"/>
            <ac:spMk id="33" creationId="{AAA80090-9087-B4D3-C57A-13D72DA07624}"/>
          </ac:spMkLst>
        </pc:spChg>
        <pc:spChg chg="add mod">
          <ac:chgData name="Zhi Wang" userId="7588ea56f58b19c7" providerId="LiveId" clId="{96B72205-E234-467C-A3DC-8BF4882781A8}" dt="2026-09-27T11:27:03.131" v="2830" actId="1076"/>
          <ac:spMkLst>
            <pc:docMk/>
            <pc:sldMk cId="1439705004" sldId="546"/>
            <ac:spMk id="36" creationId="{FE564577-5BC2-53E3-CA09-42EE3895BA75}"/>
          </ac:spMkLst>
        </pc:spChg>
        <pc:spChg chg="mod">
          <ac:chgData name="Zhi Wang" userId="7588ea56f58b19c7" providerId="LiveId" clId="{96B72205-E234-467C-A3DC-8BF4882781A8}" dt="2026-09-27T10:54:54.772" v="1856" actId="1076"/>
          <ac:spMkLst>
            <pc:docMk/>
            <pc:sldMk cId="1439705004" sldId="546"/>
            <ac:spMk id="41" creationId="{1D317F63-7A81-81C9-C7A4-0593ABF70E5B}"/>
          </ac:spMkLst>
        </pc:spChg>
        <pc:picChg chg="add mod modCrop">
          <ac:chgData name="Zhi Wang" userId="7588ea56f58b19c7" providerId="LiveId" clId="{96B72205-E234-467C-A3DC-8BF4882781A8}" dt="2026-09-27T10:54:54.772" v="1856" actId="1076"/>
          <ac:picMkLst>
            <pc:docMk/>
            <pc:sldMk cId="1439705004" sldId="546"/>
            <ac:picMk id="19" creationId="{5885A9A8-E777-9B21-DC3A-278006DFE7FE}"/>
          </ac:picMkLst>
        </pc:picChg>
        <pc:picChg chg="add mod modCrop">
          <ac:chgData name="Zhi Wang" userId="7588ea56f58b19c7" providerId="LiveId" clId="{96B72205-E234-467C-A3DC-8BF4882781A8}" dt="2026-09-27T10:54:54.772" v="1856" actId="1076"/>
          <ac:picMkLst>
            <pc:docMk/>
            <pc:sldMk cId="1439705004" sldId="546"/>
            <ac:picMk id="24" creationId="{E95A327C-EDD5-4BA2-96B5-721368523130}"/>
          </ac:picMkLst>
        </pc:picChg>
        <pc:picChg chg="del">
          <ac:chgData name="Zhi Wang" userId="7588ea56f58b19c7" providerId="LiveId" clId="{96B72205-E234-467C-A3DC-8BF4882781A8}" dt="2026-09-27T10:51:08.557" v="1828" actId="478"/>
          <ac:picMkLst>
            <pc:docMk/>
            <pc:sldMk cId="1439705004" sldId="546"/>
            <ac:picMk id="35" creationId="{82464F6F-0B8B-1A82-0453-5860CD0C4AF7}"/>
          </ac:picMkLst>
        </pc:picChg>
        <pc:picChg chg="del">
          <ac:chgData name="Zhi Wang" userId="7588ea56f58b19c7" providerId="LiveId" clId="{96B72205-E234-467C-A3DC-8BF4882781A8}" dt="2026-09-27T10:51:08.981" v="1829" actId="478"/>
          <ac:picMkLst>
            <pc:docMk/>
            <pc:sldMk cId="1439705004" sldId="546"/>
            <ac:picMk id="37" creationId="{D24D7E21-5C68-E568-6775-0CF78A7AB8DF}"/>
          </ac:picMkLst>
        </pc:picChg>
        <pc:picChg chg="del">
          <ac:chgData name="Zhi Wang" userId="7588ea56f58b19c7" providerId="LiveId" clId="{96B72205-E234-467C-A3DC-8BF4882781A8}" dt="2026-09-27T10:51:09.355" v="1830" actId="478"/>
          <ac:picMkLst>
            <pc:docMk/>
            <pc:sldMk cId="1439705004" sldId="546"/>
            <ac:picMk id="39" creationId="{E6E31143-F33A-03F3-7967-10D17F490F8D}"/>
          </ac:picMkLst>
        </pc:picChg>
        <pc:cxnChg chg="add mod">
          <ac:chgData name="Zhi Wang" userId="7588ea56f58b19c7" providerId="LiveId" clId="{96B72205-E234-467C-A3DC-8BF4882781A8}" dt="2026-09-27T10:47:29.502" v="1717"/>
          <ac:cxnSpMkLst>
            <pc:docMk/>
            <pc:sldMk cId="1439705004" sldId="546"/>
            <ac:cxnSpMk id="11" creationId="{1B27D4D4-AAC6-CDB8-B8E9-C79529FAE9A1}"/>
          </ac:cxnSpMkLst>
        </pc:cxnChg>
        <pc:cxnChg chg="add mod">
          <ac:chgData name="Zhi Wang" userId="7588ea56f58b19c7" providerId="LiveId" clId="{96B72205-E234-467C-A3DC-8BF4882781A8}" dt="2026-09-27T11:26:26.687" v="2818"/>
          <ac:cxnSpMkLst>
            <pc:docMk/>
            <pc:sldMk cId="1439705004" sldId="546"/>
            <ac:cxnSpMk id="28" creationId="{234CD6B8-F714-7942-B3E4-58940D73A152}"/>
          </ac:cxnSpMkLst>
        </pc:cxnChg>
      </pc:sldChg>
      <pc:sldChg chg="add del">
        <pc:chgData name="Zhi Wang" userId="7588ea56f58b19c7" providerId="LiveId" clId="{96B72205-E234-467C-A3DC-8BF4882781A8}" dt="2026-09-27T10:37:08.606" v="1312"/>
        <pc:sldMkLst>
          <pc:docMk/>
          <pc:sldMk cId="1655526125" sldId="546"/>
        </pc:sldMkLst>
      </pc:sldChg>
      <pc:sldChg chg="add del">
        <pc:chgData name="Zhi Wang" userId="7588ea56f58b19c7" providerId="LiveId" clId="{96B72205-E234-467C-A3DC-8BF4882781A8}" dt="2026-09-27T10:46:33.748" v="1697" actId="47"/>
        <pc:sldMkLst>
          <pc:docMk/>
          <pc:sldMk cId="3859403730" sldId="546"/>
        </pc:sldMkLst>
      </pc:sldChg>
      <pc:sldChg chg="addSp delSp modSp add mod ord">
        <pc:chgData name="Zhi Wang" userId="7588ea56f58b19c7" providerId="LiveId" clId="{96B72205-E234-467C-A3DC-8BF4882781A8}" dt="2026-09-27T11:26:41.937" v="2823" actId="22"/>
        <pc:sldMkLst>
          <pc:docMk/>
          <pc:sldMk cId="973658558" sldId="547"/>
        </pc:sldMkLst>
        <pc:spChg chg="del mod">
          <ac:chgData name="Zhi Wang" userId="7588ea56f58b19c7" providerId="LiveId" clId="{96B72205-E234-467C-A3DC-8BF4882781A8}" dt="2026-09-27T11:26:24.735" v="2817" actId="21"/>
          <ac:spMkLst>
            <pc:docMk/>
            <pc:sldMk cId="973658558" sldId="547"/>
            <ac:spMk id="15" creationId="{5C1D4FCB-963F-EA05-9BDF-FF38AE648294}"/>
          </ac:spMkLst>
        </pc:spChg>
        <pc:spChg chg="add mod">
          <ac:chgData name="Zhi Wang" userId="7588ea56f58b19c7" providerId="LiveId" clId="{96B72205-E234-467C-A3DC-8BF4882781A8}" dt="2026-09-27T11:26:20.952" v="2816" actId="1076"/>
          <ac:spMkLst>
            <pc:docMk/>
            <pc:sldMk cId="973658558" sldId="547"/>
            <ac:spMk id="20" creationId="{DA6870CC-769D-73E3-665C-F02AA6A452B6}"/>
          </ac:spMkLst>
        </pc:spChg>
        <pc:spChg chg="add">
          <ac:chgData name="Zhi Wang" userId="7588ea56f58b19c7" providerId="LiveId" clId="{96B72205-E234-467C-A3DC-8BF4882781A8}" dt="2026-09-27T11:26:41.937" v="2823" actId="22"/>
          <ac:spMkLst>
            <pc:docMk/>
            <pc:sldMk cId="973658558" sldId="547"/>
            <ac:spMk id="28" creationId="{D9DC39C2-979E-DDF5-8750-4B9458886E1C}"/>
          </ac:spMkLst>
        </pc:spChg>
        <pc:spChg chg="mod">
          <ac:chgData name="Zhi Wang" userId="7588ea56f58b19c7" providerId="LiveId" clId="{96B72205-E234-467C-A3DC-8BF4882781A8}" dt="2026-09-27T11:25:05.851" v="2800"/>
          <ac:spMkLst>
            <pc:docMk/>
            <pc:sldMk cId="973658558" sldId="547"/>
            <ac:spMk id="29" creationId="{1D4C5264-089D-EA4B-38DB-E6584676A49A}"/>
          </ac:spMkLst>
        </pc:spChg>
        <pc:spChg chg="mod">
          <ac:chgData name="Zhi Wang" userId="7588ea56f58b19c7" providerId="LiveId" clId="{96B72205-E234-467C-A3DC-8BF4882781A8}" dt="2026-09-27T11:26:03.409" v="2811" actId="1076"/>
          <ac:spMkLst>
            <pc:docMk/>
            <pc:sldMk cId="973658558" sldId="547"/>
            <ac:spMk id="30" creationId="{F56C58B9-14DD-B0A6-2922-40B87DE6E3EC}"/>
          </ac:spMkLst>
        </pc:spChg>
        <pc:spChg chg="del mod">
          <ac:chgData name="Zhi Wang" userId="7588ea56f58b19c7" providerId="LiveId" clId="{96B72205-E234-467C-A3DC-8BF4882781A8}" dt="2026-09-27T11:26:41.624" v="2822" actId="478"/>
          <ac:spMkLst>
            <pc:docMk/>
            <pc:sldMk cId="973658558" sldId="547"/>
            <ac:spMk id="33" creationId="{60743419-06E8-629C-269F-27BB4121B2FA}"/>
          </ac:spMkLst>
        </pc:spChg>
        <pc:spChg chg="del">
          <ac:chgData name="Zhi Wang" userId="7588ea56f58b19c7" providerId="LiveId" clId="{96B72205-E234-467C-A3DC-8BF4882781A8}" dt="2026-09-27T11:25:55.228" v="2808" actId="478"/>
          <ac:spMkLst>
            <pc:docMk/>
            <pc:sldMk cId="973658558" sldId="547"/>
            <ac:spMk id="41" creationId="{DD0FBEA4-C6B7-8C7E-C00E-5A65CCD58AC9}"/>
          </ac:spMkLst>
        </pc:spChg>
        <pc:picChg chg="del">
          <ac:chgData name="Zhi Wang" userId="7588ea56f58b19c7" providerId="LiveId" clId="{96B72205-E234-467C-A3DC-8BF4882781A8}" dt="2026-09-27T11:25:24.518" v="2801" actId="478"/>
          <ac:picMkLst>
            <pc:docMk/>
            <pc:sldMk cId="973658558" sldId="547"/>
            <ac:picMk id="19" creationId="{2282072C-B5E9-7940-1C9E-33FAF842BA5A}"/>
          </ac:picMkLst>
        </pc:picChg>
        <pc:picChg chg="del">
          <ac:chgData name="Zhi Wang" userId="7588ea56f58b19c7" providerId="LiveId" clId="{96B72205-E234-467C-A3DC-8BF4882781A8}" dt="2026-09-27T11:25:24.944" v="2802" actId="478"/>
          <ac:picMkLst>
            <pc:docMk/>
            <pc:sldMk cId="973658558" sldId="547"/>
            <ac:picMk id="24" creationId="{0DD0FA39-9047-9854-CEFD-9DE82AD5CC4B}"/>
          </ac:picMkLst>
        </pc:picChg>
        <pc:picChg chg="add mod">
          <ac:chgData name="Zhi Wang" userId="7588ea56f58b19c7" providerId="LiveId" clId="{96B72205-E234-467C-A3DC-8BF4882781A8}" dt="2026-09-27T11:25:34.728" v="2806" actId="1076"/>
          <ac:picMkLst>
            <pc:docMk/>
            <pc:sldMk cId="973658558" sldId="547"/>
            <ac:picMk id="25" creationId="{EDB46AA5-95DC-D020-2FE0-AFC0C69F46D8}"/>
          </ac:picMkLst>
        </pc:picChg>
        <pc:cxnChg chg="add del mod">
          <ac:chgData name="Zhi Wang" userId="7588ea56f58b19c7" providerId="LiveId" clId="{96B72205-E234-467C-A3DC-8BF4882781A8}" dt="2026-09-27T11:26:24.735" v="2817" actId="21"/>
          <ac:cxnSpMkLst>
            <pc:docMk/>
            <pc:sldMk cId="973658558" sldId="547"/>
            <ac:cxnSpMk id="14" creationId="{234CD6B8-F714-7942-B3E4-58940D73A152}"/>
          </ac:cxnSpMkLst>
        </pc:cxnChg>
      </pc:sldChg>
      <pc:sldChg chg="addSp delSp modSp add del mod">
        <pc:chgData name="Zhi Wang" userId="7588ea56f58b19c7" providerId="LiveId" clId="{96B72205-E234-467C-A3DC-8BF4882781A8}" dt="2026-09-27T11:39:18.318" v="3627" actId="2696"/>
        <pc:sldMkLst>
          <pc:docMk/>
          <pc:sldMk cId="577507943" sldId="548"/>
        </pc:sldMkLst>
        <pc:spChg chg="add mod">
          <ac:chgData name="Zhi Wang" userId="7588ea56f58b19c7" providerId="LiveId" clId="{96B72205-E234-467C-A3DC-8BF4882781A8}" dt="2026-09-27T11:29:39.464" v="2935" actId="1076"/>
          <ac:spMkLst>
            <pc:docMk/>
            <pc:sldMk cId="577507943" sldId="548"/>
            <ac:spMk id="18" creationId="{C7E9BD60-0E7A-9912-477D-FF0E2D95B39F}"/>
          </ac:spMkLst>
        </pc:spChg>
        <pc:spChg chg="add del">
          <ac:chgData name="Zhi Wang" userId="7588ea56f58b19c7" providerId="LiveId" clId="{96B72205-E234-467C-A3DC-8BF4882781A8}" dt="2026-09-27T11:30:52.193" v="2941" actId="22"/>
          <ac:spMkLst>
            <pc:docMk/>
            <pc:sldMk cId="577507943" sldId="548"/>
            <ac:spMk id="21" creationId="{FE8A50A7-0424-6BC3-910B-871253639C40}"/>
          </ac:spMkLst>
        </pc:spChg>
        <pc:spChg chg="mod">
          <ac:chgData name="Zhi Wang" userId="7588ea56f58b19c7" providerId="LiveId" clId="{96B72205-E234-467C-A3DC-8BF4882781A8}" dt="2026-09-27T11:28:03.749" v="2838" actId="1076"/>
          <ac:spMkLst>
            <pc:docMk/>
            <pc:sldMk cId="577507943" sldId="548"/>
            <ac:spMk id="26" creationId="{CDC3B2C6-9B59-AC7C-0B4A-4E46FDF6D0E2}"/>
          </ac:spMkLst>
        </pc:spChg>
        <pc:spChg chg="mod">
          <ac:chgData name="Zhi Wang" userId="7588ea56f58b19c7" providerId="LiveId" clId="{96B72205-E234-467C-A3DC-8BF4882781A8}" dt="2026-09-27T11:38:25.061" v="3624" actId="20577"/>
          <ac:spMkLst>
            <pc:docMk/>
            <pc:sldMk cId="577507943" sldId="548"/>
            <ac:spMk id="29" creationId="{BD9CAF21-FCB9-4045-A400-CF2ACA9F53CA}"/>
          </ac:spMkLst>
        </pc:spChg>
        <pc:spChg chg="del">
          <ac:chgData name="Zhi Wang" userId="7588ea56f58b19c7" providerId="LiveId" clId="{96B72205-E234-467C-A3DC-8BF4882781A8}" dt="2026-09-27T11:30:49.221" v="2938" actId="478"/>
          <ac:spMkLst>
            <pc:docMk/>
            <pc:sldMk cId="577507943" sldId="548"/>
            <ac:spMk id="30" creationId="{7001CFB4-4244-2493-A90D-13D47054B7F7}"/>
          </ac:spMkLst>
        </pc:spChg>
        <pc:spChg chg="add mod">
          <ac:chgData name="Zhi Wang" userId="7588ea56f58b19c7" providerId="LiveId" clId="{96B72205-E234-467C-A3DC-8BF4882781A8}" dt="2026-09-27T11:32:39.849" v="2982" actId="1076"/>
          <ac:spMkLst>
            <pc:docMk/>
            <pc:sldMk cId="577507943" sldId="548"/>
            <ac:spMk id="37" creationId="{EA3BA3F5-0BBE-90BF-A2D2-EAF708D45248}"/>
          </ac:spMkLst>
        </pc:spChg>
        <pc:spChg chg="del">
          <ac:chgData name="Zhi Wang" userId="7588ea56f58b19c7" providerId="LiveId" clId="{96B72205-E234-467C-A3DC-8BF4882781A8}" dt="2026-09-27T11:30:50.103" v="2939" actId="478"/>
          <ac:spMkLst>
            <pc:docMk/>
            <pc:sldMk cId="577507943" sldId="548"/>
            <ac:spMk id="41" creationId="{97EEC3B8-4597-25F7-E219-F3358547902F}"/>
          </ac:spMkLst>
        </pc:spChg>
        <pc:picChg chg="del">
          <ac:chgData name="Zhi Wang" userId="7588ea56f58b19c7" providerId="LiveId" clId="{96B72205-E234-467C-A3DC-8BF4882781A8}" dt="2026-09-27T11:30:46.242" v="2936" actId="478"/>
          <ac:picMkLst>
            <pc:docMk/>
            <pc:sldMk cId="577507943" sldId="548"/>
            <ac:picMk id="19" creationId="{3414802B-40C8-BCD5-5461-8785709F26CD}"/>
          </ac:picMkLst>
        </pc:picChg>
        <pc:picChg chg="del">
          <ac:chgData name="Zhi Wang" userId="7588ea56f58b19c7" providerId="LiveId" clId="{96B72205-E234-467C-A3DC-8BF4882781A8}" dt="2026-09-27T11:30:47.055" v="2937" actId="478"/>
          <ac:picMkLst>
            <pc:docMk/>
            <pc:sldMk cId="577507943" sldId="548"/>
            <ac:picMk id="24" creationId="{4689D055-9995-655D-B16F-302A245C7A14}"/>
          </ac:picMkLst>
        </pc:picChg>
        <pc:picChg chg="add mod">
          <ac:chgData name="Zhi Wang" userId="7588ea56f58b19c7" providerId="LiveId" clId="{96B72205-E234-467C-A3DC-8BF4882781A8}" dt="2026-09-27T11:32:23.902" v="2954" actId="1037"/>
          <ac:picMkLst>
            <pc:docMk/>
            <pc:sldMk cId="577507943" sldId="548"/>
            <ac:picMk id="31" creationId="{038730D9-8AB3-0860-8CF9-1C8F0A9679A8}"/>
          </ac:picMkLst>
        </pc:picChg>
        <pc:picChg chg="add mod modCrop">
          <ac:chgData name="Zhi Wang" userId="7588ea56f58b19c7" providerId="LiveId" clId="{96B72205-E234-467C-A3DC-8BF4882781A8}" dt="2026-09-27T11:32:26.485" v="2960" actId="1037"/>
          <ac:picMkLst>
            <pc:docMk/>
            <pc:sldMk cId="577507943" sldId="548"/>
            <ac:picMk id="34" creationId="{2ADEBFEB-726D-022D-68D0-3D6204BDF28F}"/>
          </ac:picMkLst>
        </pc:picChg>
        <pc:cxnChg chg="add mod">
          <ac:chgData name="Zhi Wang" userId="7588ea56f58b19c7" providerId="LiveId" clId="{96B72205-E234-467C-A3DC-8BF4882781A8}" dt="2026-09-27T11:28:09.986" v="2839"/>
          <ac:cxnSpMkLst>
            <pc:docMk/>
            <pc:sldMk cId="577507943" sldId="548"/>
            <ac:cxnSpMk id="14" creationId="{CB2D5F5A-FED4-2512-C320-D766B374C996}"/>
          </ac:cxnSpMkLst>
        </pc:cxnChg>
        <pc:cxnChg chg="add mod">
          <ac:chgData name="Zhi Wang" userId="7588ea56f58b19c7" providerId="LiveId" clId="{96B72205-E234-467C-A3DC-8BF4882781A8}" dt="2026-09-27T11:39:09.033" v="3625"/>
          <ac:cxnSpMkLst>
            <pc:docMk/>
            <pc:sldMk cId="577507943" sldId="548"/>
            <ac:cxnSpMk id="38" creationId="{BAABB02D-A084-FD01-983E-52CE03AF380C}"/>
          </ac:cxnSpMkLst>
        </pc:cxnChg>
      </pc:sldChg>
      <pc:sldChg chg="addSp delSp modSp add mod">
        <pc:chgData name="Zhi Wang" userId="7588ea56f58b19c7" providerId="LiveId" clId="{96B72205-E234-467C-A3DC-8BF4882781A8}" dt="2026-09-27T11:47:29.512" v="3843" actId="1076"/>
        <pc:sldMkLst>
          <pc:docMk/>
          <pc:sldMk cId="812112862" sldId="549"/>
        </pc:sldMkLst>
        <pc:spChg chg="mod">
          <ac:chgData name="Zhi Wang" userId="7588ea56f58b19c7" providerId="LiveId" clId="{96B72205-E234-467C-A3DC-8BF4882781A8}" dt="2026-09-27T11:39:38.381" v="3633" actId="1076"/>
          <ac:spMkLst>
            <pc:docMk/>
            <pc:sldMk cId="812112862" sldId="549"/>
            <ac:spMk id="18" creationId="{C6FA551D-31B5-65EA-A210-064C9D12056F}"/>
          </ac:spMkLst>
        </pc:spChg>
        <pc:spChg chg="add mod">
          <ac:chgData name="Zhi Wang" userId="7588ea56f58b19c7" providerId="LiveId" clId="{96B72205-E234-467C-A3DC-8BF4882781A8}" dt="2026-09-27T11:45:52.512" v="3658" actId="1076"/>
          <ac:spMkLst>
            <pc:docMk/>
            <pc:sldMk cId="812112862" sldId="549"/>
            <ac:spMk id="24" creationId="{CF621F3C-37A7-09EF-DDA7-ACB525C8EEBB}"/>
          </ac:spMkLst>
        </pc:spChg>
        <pc:spChg chg="mod">
          <ac:chgData name="Zhi Wang" userId="7588ea56f58b19c7" providerId="LiveId" clId="{96B72205-E234-467C-A3DC-8BF4882781A8}" dt="2026-09-27T11:47:29.512" v="3843" actId="1076"/>
          <ac:spMkLst>
            <pc:docMk/>
            <pc:sldMk cId="812112862" sldId="549"/>
            <ac:spMk id="29" creationId="{9D6D614B-80C0-3224-2EA8-3776F766CC0C}"/>
          </ac:spMkLst>
        </pc:spChg>
        <pc:spChg chg="mod">
          <ac:chgData name="Zhi Wang" userId="7588ea56f58b19c7" providerId="LiveId" clId="{96B72205-E234-467C-A3DC-8BF4882781A8}" dt="2026-09-27T11:44:59.033" v="3642" actId="1076"/>
          <ac:spMkLst>
            <pc:docMk/>
            <pc:sldMk cId="812112862" sldId="549"/>
            <ac:spMk id="37" creationId="{A63804C5-50CF-7D59-3F4E-1E3818C76552}"/>
          </ac:spMkLst>
        </pc:spChg>
        <pc:picChg chg="add mod">
          <ac:chgData name="Zhi Wang" userId="7588ea56f58b19c7" providerId="LiveId" clId="{96B72205-E234-467C-A3DC-8BF4882781A8}" dt="2026-09-27T11:44:45.894" v="3639" actId="1076"/>
          <ac:picMkLst>
            <pc:docMk/>
            <pc:sldMk cId="812112862" sldId="549"/>
            <ac:picMk id="20" creationId="{B8227E62-61FD-43F9-83A5-1C45ECF97E37}"/>
          </ac:picMkLst>
        </pc:picChg>
        <pc:picChg chg="del">
          <ac:chgData name="Zhi Wang" userId="7588ea56f58b19c7" providerId="LiveId" clId="{96B72205-E234-467C-A3DC-8BF4882781A8}" dt="2026-09-27T11:44:35.026" v="3635" actId="478"/>
          <ac:picMkLst>
            <pc:docMk/>
            <pc:sldMk cId="812112862" sldId="549"/>
            <ac:picMk id="31" creationId="{54BD9F32-EE01-3FDD-15A6-0ECDDE33CBFF}"/>
          </ac:picMkLst>
        </pc:picChg>
        <pc:picChg chg="del">
          <ac:chgData name="Zhi Wang" userId="7588ea56f58b19c7" providerId="LiveId" clId="{96B72205-E234-467C-A3DC-8BF4882781A8}" dt="2026-09-27T11:44:35.387" v="3636" actId="478"/>
          <ac:picMkLst>
            <pc:docMk/>
            <pc:sldMk cId="812112862" sldId="549"/>
            <ac:picMk id="34" creationId="{6B6A48B7-134B-2D6B-F586-1460F0965272}"/>
          </ac:picMkLst>
        </pc:picChg>
        <pc:cxnChg chg="add mod">
          <ac:chgData name="Zhi Wang" userId="7588ea56f58b19c7" providerId="LiveId" clId="{96B72205-E234-467C-A3DC-8BF4882781A8}" dt="2026-09-27T11:39:41.173" v="3634"/>
          <ac:cxnSpMkLst>
            <pc:docMk/>
            <pc:sldMk cId="812112862" sldId="549"/>
            <ac:cxnSpMk id="15" creationId="{DFCE42F0-A09E-7FF5-9B5A-B8002CF5CF15}"/>
          </ac:cxnSpMkLst>
        </pc:cxnChg>
      </pc:sldChg>
      <pc:sldChg chg="addSp delSp modSp add mod">
        <pc:chgData name="Zhi Wang" userId="7588ea56f58b19c7" providerId="LiveId" clId="{96B72205-E234-467C-A3DC-8BF4882781A8}" dt="2026-09-27T11:56:29.088" v="4088"/>
        <pc:sldMkLst>
          <pc:docMk/>
          <pc:sldMk cId="3030133591" sldId="550"/>
        </pc:sldMkLst>
        <pc:spChg chg="add mod">
          <ac:chgData name="Zhi Wang" userId="7588ea56f58b19c7" providerId="LiveId" clId="{96B72205-E234-467C-A3DC-8BF4882781A8}" dt="2026-09-27T11:49:14.109" v="3926" actId="1076"/>
          <ac:spMkLst>
            <pc:docMk/>
            <pc:sldMk cId="3030133591" sldId="550"/>
            <ac:spMk id="21" creationId="{E12C72EE-5652-DE38-DF0B-A6926602DAF3}"/>
          </ac:spMkLst>
        </pc:spChg>
        <pc:spChg chg="mod">
          <ac:chgData name="Zhi Wang" userId="7588ea56f58b19c7" providerId="LiveId" clId="{96B72205-E234-467C-A3DC-8BF4882781A8}" dt="2026-09-27T11:48:34.088" v="3851" actId="1076"/>
          <ac:spMkLst>
            <pc:docMk/>
            <pc:sldMk cId="3030133591" sldId="550"/>
            <ac:spMk id="24" creationId="{83F10FC8-04A5-42D5-509A-72F327102127}"/>
          </ac:spMkLst>
        </pc:spChg>
        <pc:spChg chg="mod">
          <ac:chgData name="Zhi Wang" userId="7588ea56f58b19c7" providerId="LiveId" clId="{96B72205-E234-467C-A3DC-8BF4882781A8}" dt="2026-09-27T11:56:29.088" v="4088"/>
          <ac:spMkLst>
            <pc:docMk/>
            <pc:sldMk cId="3030133591" sldId="550"/>
            <ac:spMk id="29" creationId="{00922F46-09C3-5B76-8B63-C541455377C7}"/>
          </ac:spMkLst>
        </pc:spChg>
        <pc:spChg chg="mod">
          <ac:chgData name="Zhi Wang" userId="7588ea56f58b19c7" providerId="LiveId" clId="{96B72205-E234-467C-A3DC-8BF4882781A8}" dt="2026-09-27T11:54:07.123" v="3972" actId="1076"/>
          <ac:spMkLst>
            <pc:docMk/>
            <pc:sldMk cId="3030133591" sldId="550"/>
            <ac:spMk id="37" creationId="{3E3D917E-97CB-1059-6AD9-4FAB32376F96}"/>
          </ac:spMkLst>
        </pc:spChg>
        <pc:spChg chg="add mod">
          <ac:chgData name="Zhi Wang" userId="7588ea56f58b19c7" providerId="LiveId" clId="{96B72205-E234-467C-A3DC-8BF4882781A8}" dt="2026-09-27T11:54:22.303" v="3976" actId="1076"/>
          <ac:spMkLst>
            <pc:docMk/>
            <pc:sldMk cId="3030133591" sldId="550"/>
            <ac:spMk id="38" creationId="{FC69A202-5125-8076-A6AA-073238E292B8}"/>
          </ac:spMkLst>
        </pc:spChg>
        <pc:picChg chg="del">
          <ac:chgData name="Zhi Wang" userId="7588ea56f58b19c7" providerId="LiveId" clId="{96B72205-E234-467C-A3DC-8BF4882781A8}" dt="2026-09-27T11:53:23.456" v="3927" actId="478"/>
          <ac:picMkLst>
            <pc:docMk/>
            <pc:sldMk cId="3030133591" sldId="550"/>
            <ac:picMk id="20" creationId="{16016903-68C9-F3AD-3E05-142CC1C1EDFA}"/>
          </ac:picMkLst>
        </pc:picChg>
        <pc:picChg chg="add mod">
          <ac:chgData name="Zhi Wang" userId="7588ea56f58b19c7" providerId="LiveId" clId="{96B72205-E234-467C-A3DC-8BF4882781A8}" dt="2026-09-27T11:53:52.769" v="3970" actId="1076"/>
          <ac:picMkLst>
            <pc:docMk/>
            <pc:sldMk cId="3030133591" sldId="550"/>
            <ac:picMk id="31" creationId="{6520E8EC-3A85-6D3E-CC6E-4AC61BFF7B94}"/>
          </ac:picMkLst>
        </pc:picChg>
        <pc:picChg chg="add mod">
          <ac:chgData name="Zhi Wang" userId="7588ea56f58b19c7" providerId="LiveId" clId="{96B72205-E234-467C-A3DC-8BF4882781A8}" dt="2026-09-27T11:53:49.789" v="3969" actId="1076"/>
          <ac:picMkLst>
            <pc:docMk/>
            <pc:sldMk cId="3030133591" sldId="550"/>
            <ac:picMk id="34" creationId="{8EF831C5-D3EE-82E4-31D3-0A103BB77331}"/>
          </ac:picMkLst>
        </pc:picChg>
        <pc:cxnChg chg="add mod">
          <ac:chgData name="Zhi Wang" userId="7588ea56f58b19c7" providerId="LiveId" clId="{96B72205-E234-467C-A3DC-8BF4882781A8}" dt="2026-09-27T11:48:38.713" v="3852"/>
          <ac:cxnSpMkLst>
            <pc:docMk/>
            <pc:sldMk cId="3030133591" sldId="550"/>
            <ac:cxnSpMk id="25" creationId="{C4F22A75-756A-FA9C-A9FC-9307C13C3B4A}"/>
          </ac:cxnSpMkLst>
        </pc:cxnChg>
      </pc:sldChg>
      <pc:sldChg chg="addSp delSp modSp add mod">
        <pc:chgData name="Zhi Wang" userId="7588ea56f58b19c7" providerId="LiveId" clId="{96B72205-E234-467C-A3DC-8BF4882781A8}" dt="2026-09-27T12:01:54.400" v="4669" actId="20577"/>
        <pc:sldMkLst>
          <pc:docMk/>
          <pc:sldMk cId="4213661570" sldId="551"/>
        </pc:sldMkLst>
        <pc:spChg chg="add mod">
          <ac:chgData name="Zhi Wang" userId="7588ea56f58b19c7" providerId="LiveId" clId="{96B72205-E234-467C-A3DC-8BF4882781A8}" dt="2026-09-27T11:57:48.998" v="4147" actId="1076"/>
          <ac:spMkLst>
            <pc:docMk/>
            <pc:sldMk cId="4213661570" sldId="551"/>
            <ac:spMk id="20" creationId="{B9C66E49-417E-9C61-9C32-0FC9010AD792}"/>
          </ac:spMkLst>
        </pc:spChg>
        <pc:spChg chg="mod">
          <ac:chgData name="Zhi Wang" userId="7588ea56f58b19c7" providerId="LiveId" clId="{96B72205-E234-467C-A3DC-8BF4882781A8}" dt="2026-09-27T11:56:55.893" v="4096" actId="1076"/>
          <ac:spMkLst>
            <pc:docMk/>
            <pc:sldMk cId="4213661570" sldId="551"/>
            <ac:spMk id="21" creationId="{1001DA69-CD8D-EAF9-8170-86C1710045DA}"/>
          </ac:spMkLst>
        </pc:spChg>
        <pc:spChg chg="mod">
          <ac:chgData name="Zhi Wang" userId="7588ea56f58b19c7" providerId="LiveId" clId="{96B72205-E234-467C-A3DC-8BF4882781A8}" dt="2026-09-27T12:01:54.400" v="4669" actId="20577"/>
          <ac:spMkLst>
            <pc:docMk/>
            <pc:sldMk cId="4213661570" sldId="551"/>
            <ac:spMk id="29" creationId="{A9716C37-B21C-53AC-B864-87582E68C6D5}"/>
          </ac:spMkLst>
        </pc:spChg>
        <pc:spChg chg="del">
          <ac:chgData name="Zhi Wang" userId="7588ea56f58b19c7" providerId="LiveId" clId="{96B72205-E234-467C-A3DC-8BF4882781A8}" dt="2026-09-27T11:58:50.185" v="4175" actId="478"/>
          <ac:spMkLst>
            <pc:docMk/>
            <pc:sldMk cId="4213661570" sldId="551"/>
            <ac:spMk id="37" creationId="{C2FAA52A-F102-6D71-0A5D-EAED102C32B6}"/>
          </ac:spMkLst>
        </pc:spChg>
        <pc:spChg chg="del">
          <ac:chgData name="Zhi Wang" userId="7588ea56f58b19c7" providerId="LiveId" clId="{96B72205-E234-467C-A3DC-8BF4882781A8}" dt="2026-09-27T11:58:50.803" v="4176" actId="478"/>
          <ac:spMkLst>
            <pc:docMk/>
            <pc:sldMk cId="4213661570" sldId="551"/>
            <ac:spMk id="38" creationId="{14F75D3D-60D3-B214-CF8A-FEF5806CF743}"/>
          </ac:spMkLst>
        </pc:spChg>
        <pc:spChg chg="add mod">
          <ac:chgData name="Zhi Wang" userId="7588ea56f58b19c7" providerId="LiveId" clId="{96B72205-E234-467C-A3DC-8BF4882781A8}" dt="2026-09-27T11:58:33.810" v="4172" actId="1076"/>
          <ac:spMkLst>
            <pc:docMk/>
            <pc:sldMk cId="4213661570" sldId="551"/>
            <ac:spMk id="39" creationId="{17FAE6C9-CC7F-BBB6-4D7A-2826A30D88B7}"/>
          </ac:spMkLst>
        </pc:spChg>
        <pc:picChg chg="del">
          <ac:chgData name="Zhi Wang" userId="7588ea56f58b19c7" providerId="LiveId" clId="{96B72205-E234-467C-A3DC-8BF4882781A8}" dt="2026-09-27T11:58:48.827" v="4174" actId="478"/>
          <ac:picMkLst>
            <pc:docMk/>
            <pc:sldMk cId="4213661570" sldId="551"/>
            <ac:picMk id="31" creationId="{4BB3A45E-1EAF-5DBA-6F41-48199EB75071}"/>
          </ac:picMkLst>
        </pc:picChg>
        <pc:picChg chg="del">
          <ac:chgData name="Zhi Wang" userId="7588ea56f58b19c7" providerId="LiveId" clId="{96B72205-E234-467C-A3DC-8BF4882781A8}" dt="2026-09-27T11:58:48.386" v="4173" actId="478"/>
          <ac:picMkLst>
            <pc:docMk/>
            <pc:sldMk cId="4213661570" sldId="551"/>
            <ac:picMk id="34" creationId="{27B9DC32-769B-04B6-3C07-7C27DC011C0A}"/>
          </ac:picMkLst>
        </pc:picChg>
        <pc:cxnChg chg="add mod">
          <ac:chgData name="Zhi Wang" userId="7588ea56f58b19c7" providerId="LiveId" clId="{96B72205-E234-467C-A3DC-8BF4882781A8}" dt="2026-09-27T11:56:59.880" v="4097"/>
          <ac:cxnSpMkLst>
            <pc:docMk/>
            <pc:sldMk cId="4213661570" sldId="551"/>
            <ac:cxnSpMk id="30" creationId="{AFBCC2D7-BEBA-E097-43CD-DD7EDF876B90}"/>
          </ac:cxnSpMkLst>
        </pc:cxnChg>
        <pc:cxnChg chg="add mod">
          <ac:chgData name="Zhi Wang" userId="7588ea56f58b19c7" providerId="LiveId" clId="{96B72205-E234-467C-A3DC-8BF4882781A8}" dt="2026-09-27T11:57:51.553" v="4148"/>
          <ac:cxnSpMkLst>
            <pc:docMk/>
            <pc:sldMk cId="4213661570" sldId="551"/>
            <ac:cxnSpMk id="33" creationId="{C4D60A8D-8C36-91DF-EFBD-48C5EE2058FA}"/>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C4ECAF-B8BA-4598-93A2-AFD8E87D08A0}" type="datetimeFigureOut">
              <a:rPr lang="zh-CN" altLang="en-US" smtClean="0"/>
              <a:t>2026/9/27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8E5679-48E7-42EF-B497-AB86C235D2F6}" type="slidenum">
              <a:rPr lang="zh-CN" altLang="en-US" smtClean="0"/>
              <a:t>‹#›</a:t>
            </a:fld>
            <a:endParaRPr lang="zh-CN" altLang="en-US"/>
          </a:p>
        </p:txBody>
      </p:sp>
    </p:spTree>
    <p:extLst>
      <p:ext uri="{BB962C8B-B14F-4D97-AF65-F5344CB8AC3E}">
        <p14:creationId xmlns:p14="http://schemas.microsoft.com/office/powerpoint/2010/main" val="436874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2A6E1F-410B-44CA-9071-CB362EFAAA03}" type="slidenum">
              <a:rPr lang="zh-CN" altLang="en-US" smtClean="0"/>
              <a:t>1</a:t>
            </a:fld>
            <a:endParaRPr lang="zh-CN" altLang="en-US"/>
          </a:p>
        </p:txBody>
      </p:sp>
    </p:spTree>
    <p:extLst>
      <p:ext uri="{BB962C8B-B14F-4D97-AF65-F5344CB8AC3E}">
        <p14:creationId xmlns:p14="http://schemas.microsoft.com/office/powerpoint/2010/main" val="12082131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20AD85C-B42F-45E2-A64D-6FEB1CCFF0C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633971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20AD85C-B42F-45E2-A64D-6FEB1CCFF0C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2541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52A0FECC-8BC9-48EA-B0F7-D69AF66FBFC5}" type="datetime1">
              <a:rPr lang="en-US" altLang="zh-CN"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1398907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0B4BA68C-26DE-4465-857E-0B9023D1E6CF}" type="datetime1">
              <a:rPr lang="en-US" altLang="zh-CN"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1854541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7E42F6B-C210-44F9-BDBC-4AF7A3269008}" type="datetime1">
              <a:rPr lang="en-US" altLang="zh-CN"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3042824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98E15CA9-8EEE-4284-AB95-51F9EBBAEC70}" type="datetime1">
              <a:rPr lang="en-US" altLang="zh-CN"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2573434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02C9C11F-9966-48C4-847C-43F791393962}" type="datetime1">
              <a:rPr lang="en-US" altLang="zh-CN"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3422210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7832BC7-32C5-4FF4-A9D6-406E6B6DB169}" type="datetime1">
              <a:rPr lang="en-US" altLang="zh-CN"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3934910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DC7329-A30D-4AEC-933F-077AA00B6251}" type="datetime1">
              <a:rPr lang="en-US" altLang="zh-CN"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2238769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172C6F2-DBF7-43C8-93DB-AE763C1E041C}" type="datetime1">
              <a:rPr lang="en-US" altLang="zh-CN"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2103319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600E2107-9876-45A4-A405-4C38E27BD221}" type="datetime1">
              <a:rPr lang="en-US" altLang="zh-CN"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1725646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FB67DF40-15B9-489F-98DE-B628847B6BCC}" type="datetime1">
              <a:rPr lang="en-US" altLang="zh-CN"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12278599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CD7D7ED-7708-4464-82E9-59899ACCDAD8}" type="datetime1">
              <a:rPr lang="en-US" altLang="zh-CN"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528AEA-04F8-4985-BB48-C19B691D1D80}" type="slidenum">
              <a:rPr lang="en-US" smtClean="0"/>
              <a:t>‹#›</a:t>
            </a:fld>
            <a:endParaRPr lang="en-US"/>
          </a:p>
        </p:txBody>
      </p:sp>
    </p:spTree>
    <p:extLst>
      <p:ext uri="{BB962C8B-B14F-4D97-AF65-F5344CB8AC3E}">
        <p14:creationId xmlns:p14="http://schemas.microsoft.com/office/powerpoint/2010/main" val="821074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390BB3-19A9-4EBA-BEEB-0AC56F8AEEA5}" type="datetime1">
              <a:rPr lang="en-US" altLang="zh-CN" smtClean="0"/>
              <a:t>9/27/2026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528AEA-04F8-4985-BB48-C19B691D1D80}" type="slidenum">
              <a:rPr lang="en-US" smtClean="0"/>
              <a:t>‹#›</a:t>
            </a:fld>
            <a:endParaRPr lang="en-US"/>
          </a:p>
        </p:txBody>
      </p:sp>
    </p:spTree>
    <p:extLst>
      <p:ext uri="{BB962C8B-B14F-4D97-AF65-F5344CB8AC3E}">
        <p14:creationId xmlns:p14="http://schemas.microsoft.com/office/powerpoint/2010/main" val="42694326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背景图案&#10;&#10;描述已自动生成">
            <a:extLst>
              <a:ext uri="{FF2B5EF4-FFF2-40B4-BE49-F238E27FC236}">
                <a16:creationId xmlns:a16="http://schemas.microsoft.com/office/drawing/2014/main" id="{40966F33-00AC-0962-30D1-0024E93CD20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5400000">
            <a:off x="6834187" y="1500187"/>
            <a:ext cx="6858000" cy="3857626"/>
          </a:xfrm>
          <a:prstGeom prst="rect">
            <a:avLst/>
          </a:prstGeom>
        </p:spPr>
      </p:pic>
      <p:sp>
        <p:nvSpPr>
          <p:cNvPr id="2" name="标题 1">
            <a:extLst>
              <a:ext uri="{FF2B5EF4-FFF2-40B4-BE49-F238E27FC236}">
                <a16:creationId xmlns:a16="http://schemas.microsoft.com/office/drawing/2014/main" id="{0E9BF14C-4FC7-5CBF-3D37-DA31CA5A4A8C}"/>
              </a:ext>
            </a:extLst>
          </p:cNvPr>
          <p:cNvSpPr>
            <a:spLocks noGrp="1"/>
          </p:cNvSpPr>
          <p:nvPr>
            <p:ph type="ctrTitle"/>
          </p:nvPr>
        </p:nvSpPr>
        <p:spPr>
          <a:xfrm>
            <a:off x="1934887" y="864268"/>
            <a:ext cx="9001462" cy="1660594"/>
          </a:xfrm>
        </p:spPr>
        <p:txBody>
          <a:bodyPr/>
          <a:lstStyle/>
          <a:p>
            <a:pPr algn="l"/>
            <a:r>
              <a:rPr lang="zh-CN" altLang="en-US" b="1" dirty="0"/>
              <a:t>固体物理（</a:t>
            </a:r>
            <a:r>
              <a:rPr lang="en-US" altLang="zh-CN" b="1" dirty="0"/>
              <a:t>2</a:t>
            </a:r>
            <a:r>
              <a:rPr lang="zh-CN" altLang="en-US" b="1" dirty="0"/>
              <a:t>班）</a:t>
            </a:r>
            <a:br>
              <a:rPr lang="en-US" altLang="zh-CN" b="1" dirty="0"/>
            </a:br>
            <a:r>
              <a:rPr lang="en-US" altLang="zh-CN" sz="4400" b="1" dirty="0"/>
              <a:t>Solid-State Physics</a:t>
            </a:r>
            <a:endParaRPr lang="zh-CN" altLang="en-US" b="1" dirty="0"/>
          </a:p>
        </p:txBody>
      </p:sp>
      <p:sp>
        <p:nvSpPr>
          <p:cNvPr id="3" name="副标题 2">
            <a:extLst>
              <a:ext uri="{FF2B5EF4-FFF2-40B4-BE49-F238E27FC236}">
                <a16:creationId xmlns:a16="http://schemas.microsoft.com/office/drawing/2014/main" id="{0FBC71C4-AAF9-252F-52C3-C8A1AD8C5C53}"/>
              </a:ext>
            </a:extLst>
          </p:cNvPr>
          <p:cNvSpPr>
            <a:spLocks noGrp="1"/>
          </p:cNvSpPr>
          <p:nvPr>
            <p:ph type="subTitle" idx="1"/>
          </p:nvPr>
        </p:nvSpPr>
        <p:spPr>
          <a:xfrm>
            <a:off x="1991509" y="2850727"/>
            <a:ext cx="5767639" cy="2475854"/>
          </a:xfrm>
        </p:spPr>
        <p:txBody>
          <a:bodyPr>
            <a:normAutofit/>
          </a:bodyPr>
          <a:lstStyle/>
          <a:p>
            <a:pPr algn="l"/>
            <a:r>
              <a:rPr lang="zh-CN" altLang="en-US" b="1" dirty="0"/>
              <a:t>学院（系）     材料科学与光电技术学院</a:t>
            </a:r>
            <a:endParaRPr lang="en-US" altLang="zh-CN" b="1" dirty="0"/>
          </a:p>
          <a:p>
            <a:pPr algn="l"/>
            <a:r>
              <a:rPr lang="zh-CN" altLang="en-US" b="1" dirty="0"/>
              <a:t>授课教师         王峙，魏大海</a:t>
            </a:r>
            <a:endParaRPr lang="en-US" altLang="zh-CN" b="1" dirty="0"/>
          </a:p>
          <a:p>
            <a:pPr algn="l"/>
            <a:r>
              <a:rPr lang="zh-CN" altLang="en-US" b="1" dirty="0"/>
              <a:t>                           中科院半导体所</a:t>
            </a:r>
            <a:endParaRPr lang="en-US" altLang="zh-CN" b="1" dirty="0"/>
          </a:p>
          <a:p>
            <a:pPr algn="l"/>
            <a:r>
              <a:rPr lang="en-US" altLang="zh-CN" b="1" dirty="0"/>
              <a:t>Email                 wangzhi@semi.ac.cn</a:t>
            </a:r>
          </a:p>
          <a:p>
            <a:pPr algn="l"/>
            <a:r>
              <a:rPr lang="en-US" altLang="zh-CN" b="1" dirty="0"/>
              <a:t>Tel                      010-82304043</a:t>
            </a:r>
            <a:endParaRPr lang="zh-CN" altLang="en-US" b="1" dirty="0"/>
          </a:p>
        </p:txBody>
      </p:sp>
      <p:sp>
        <p:nvSpPr>
          <p:cNvPr id="7" name="文本框 6">
            <a:extLst>
              <a:ext uri="{FF2B5EF4-FFF2-40B4-BE49-F238E27FC236}">
                <a16:creationId xmlns:a16="http://schemas.microsoft.com/office/drawing/2014/main" id="{DFFC7264-F22F-376E-05E6-028D55E09392}"/>
              </a:ext>
            </a:extLst>
          </p:cNvPr>
          <p:cNvSpPr txBox="1"/>
          <p:nvPr/>
        </p:nvSpPr>
        <p:spPr>
          <a:xfrm>
            <a:off x="9442175" y="6550223"/>
            <a:ext cx="2795928" cy="307777"/>
          </a:xfrm>
          <a:prstGeom prst="rect">
            <a:avLst/>
          </a:prstGeom>
          <a:noFill/>
        </p:spPr>
        <p:txBody>
          <a:bodyPr wrap="square" rtlCol="0">
            <a:spAutoFit/>
          </a:bodyPr>
          <a:lstStyle/>
          <a:p>
            <a:r>
              <a:rPr lang="en-US" altLang="zh-CN" sz="1400" b="1" dirty="0">
                <a:solidFill>
                  <a:schemeClr val="bg1"/>
                </a:solidFill>
                <a:effectLst>
                  <a:outerShdw blurRad="50800" dist="38100" algn="l" rotWithShape="0">
                    <a:prstClr val="black">
                      <a:alpha val="40000"/>
                    </a:prstClr>
                  </a:outerShdw>
                </a:effectLst>
              </a:rPr>
              <a:t>Samuel Velasco/Quanta Magazine</a:t>
            </a:r>
            <a:endParaRPr lang="zh-CN" altLang="en-US" sz="1400" b="1" dirty="0">
              <a:solidFill>
                <a:schemeClr val="bg1"/>
              </a:solidFill>
              <a:effectLst>
                <a:outerShdw blurRad="50800" dist="38100" algn="l" rotWithShape="0">
                  <a:prstClr val="black">
                    <a:alpha val="40000"/>
                  </a:prstClr>
                </a:outerShdw>
              </a:effectLst>
            </a:endParaRPr>
          </a:p>
        </p:txBody>
      </p:sp>
      <p:pic>
        <p:nvPicPr>
          <p:cNvPr id="9" name="图片 8" descr="国科大">
            <a:extLst>
              <a:ext uri="{FF2B5EF4-FFF2-40B4-BE49-F238E27FC236}">
                <a16:creationId xmlns:a16="http://schemas.microsoft.com/office/drawing/2014/main" id="{8B5A9827-8F2B-56F1-10E5-A2DA9F8F4B35}"/>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259079" y="5634718"/>
            <a:ext cx="975361" cy="981731"/>
          </a:xfrm>
          <a:prstGeom prst="rect">
            <a:avLst/>
          </a:prstGeom>
        </p:spPr>
      </p:pic>
      <p:pic>
        <p:nvPicPr>
          <p:cNvPr id="11" name="图片 10" descr="半导体所">
            <a:extLst>
              <a:ext uri="{FF2B5EF4-FFF2-40B4-BE49-F238E27FC236}">
                <a16:creationId xmlns:a16="http://schemas.microsoft.com/office/drawing/2014/main" id="{53B3A381-6BB4-CE19-645E-ABF72690091A}"/>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a:off x="1424940" y="5634717"/>
            <a:ext cx="1019895" cy="985283"/>
          </a:xfrm>
          <a:prstGeom prst="rect">
            <a:avLst/>
          </a:prstGeom>
        </p:spPr>
      </p:pic>
    </p:spTree>
    <p:extLst>
      <p:ext uri="{BB962C8B-B14F-4D97-AF65-F5344CB8AC3E}">
        <p14:creationId xmlns:p14="http://schemas.microsoft.com/office/powerpoint/2010/main" val="431657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694023-2813-CCE3-975A-DD9AC6D9DAF9}"/>
              </a:ext>
            </a:extLst>
          </p:cNvPr>
          <p:cNvSpPr>
            <a:spLocks noGrp="1"/>
          </p:cNvSpPr>
          <p:nvPr>
            <p:ph type="title"/>
          </p:nvPr>
        </p:nvSpPr>
        <p:spPr/>
        <p:txBody>
          <a:bodyPr vert="horz" lIns="91440" tIns="45720" rIns="91440" bIns="45720" rtlCol="0" anchor="ctr">
            <a:normAutofit/>
          </a:bodyPr>
          <a:lstStyle/>
          <a:p>
            <a:pPr algn="r"/>
            <a:r>
              <a:rPr lang="zh-CN" altLang="en-US" sz="5400" dirty="0"/>
              <a:t>第三章 晶格振动</a:t>
            </a:r>
          </a:p>
        </p:txBody>
      </p:sp>
      <p:sp>
        <p:nvSpPr>
          <p:cNvPr id="3" name="文本占位符 2">
            <a:extLst>
              <a:ext uri="{FF2B5EF4-FFF2-40B4-BE49-F238E27FC236}">
                <a16:creationId xmlns:a16="http://schemas.microsoft.com/office/drawing/2014/main" id="{12F131D8-D384-0D2D-62B3-D1781DD2ABC0}"/>
              </a:ext>
            </a:extLst>
          </p:cNvPr>
          <p:cNvSpPr>
            <a:spLocks noGrp="1"/>
          </p:cNvSpPr>
          <p:nvPr>
            <p:ph type="body" idx="1"/>
          </p:nvPr>
        </p:nvSpPr>
        <p:spPr/>
        <p:txBody>
          <a:bodyPr>
            <a:normAutofit/>
          </a:bodyPr>
          <a:lstStyle/>
          <a:p>
            <a:pPr algn="r"/>
            <a:r>
              <a:rPr lang="zh-CN" altLang="en-US" sz="3200" dirty="0">
                <a:solidFill>
                  <a:schemeClr val="tx1"/>
                </a:solidFill>
              </a:rPr>
              <a:t>固体热容理论</a:t>
            </a:r>
          </a:p>
        </p:txBody>
      </p:sp>
      <p:graphicFrame>
        <p:nvGraphicFramePr>
          <p:cNvPr id="5" name="表格 4">
            <a:extLst>
              <a:ext uri="{FF2B5EF4-FFF2-40B4-BE49-F238E27FC236}">
                <a16:creationId xmlns:a16="http://schemas.microsoft.com/office/drawing/2014/main" id="{F03149DB-DE0B-F220-F1A2-C89BB8A5512D}"/>
              </a:ext>
            </a:extLst>
          </p:cNvPr>
          <p:cNvGraphicFramePr>
            <a:graphicFrameLocks noGrp="1"/>
          </p:cNvGraphicFramePr>
          <p:nvPr>
            <p:extLst>
              <p:ext uri="{D42A27DB-BD31-4B8C-83A1-F6EECF244321}">
                <p14:modId xmlns:p14="http://schemas.microsoft.com/office/powerpoint/2010/main" val="8773198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4248297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A1EBC-7AB3-36B8-9DC1-C8F6100B8C1D}"/>
            </a:ext>
          </a:extLst>
        </p:cNvPr>
        <p:cNvGrpSpPr/>
        <p:nvPr/>
      </p:nvGrpSpPr>
      <p:grpSpPr>
        <a:xfrm>
          <a:off x="0" y="0"/>
          <a:ext cx="0" cy="0"/>
          <a:chOff x="0" y="0"/>
          <a:chExt cx="0" cy="0"/>
        </a:xfrm>
      </p:grpSpPr>
      <p:sp>
        <p:nvSpPr>
          <p:cNvPr id="27" name="矩形: 圆角 26">
            <a:extLst>
              <a:ext uri="{FF2B5EF4-FFF2-40B4-BE49-F238E27FC236}">
                <a16:creationId xmlns:a16="http://schemas.microsoft.com/office/drawing/2014/main" id="{3289585A-F466-251F-B8A8-8852567B3733}"/>
              </a:ext>
            </a:extLst>
          </p:cNvPr>
          <p:cNvSpPr/>
          <p:nvPr/>
        </p:nvSpPr>
        <p:spPr>
          <a:xfrm>
            <a:off x="8604897" y="1240156"/>
            <a:ext cx="3208017" cy="4863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E03BFCF5-140F-D769-AF4A-13DF1698EBCC}"/>
              </a:ext>
            </a:extLst>
          </p:cNvPr>
          <p:cNvSpPr>
            <a:spLocks noGrp="1"/>
          </p:cNvSpPr>
          <p:nvPr>
            <p:ph type="title"/>
          </p:nvPr>
        </p:nvSpPr>
        <p:spPr/>
        <p:txBody>
          <a:bodyPr/>
          <a:lstStyle/>
          <a:p>
            <a:r>
              <a:rPr lang="zh-CN" altLang="en-US" dirty="0"/>
              <a:t>晶格动力学研究的历史</a:t>
            </a:r>
            <a:endParaRPr lang="en-US" dirty="0"/>
          </a:p>
        </p:txBody>
      </p:sp>
      <p:graphicFrame>
        <p:nvGraphicFramePr>
          <p:cNvPr id="4" name="表格 3">
            <a:extLst>
              <a:ext uri="{FF2B5EF4-FFF2-40B4-BE49-F238E27FC236}">
                <a16:creationId xmlns:a16="http://schemas.microsoft.com/office/drawing/2014/main" id="{3C247159-CDFD-8B8F-CFC9-FBBC5FFE6F26}"/>
              </a:ext>
            </a:extLst>
          </p:cNvPr>
          <p:cNvGraphicFramePr>
            <a:graphicFrameLocks noGrp="1"/>
          </p:cNvGraphicFramePr>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
        <p:nvSpPr>
          <p:cNvPr id="7" name="箭头: 五边形 6">
            <a:extLst>
              <a:ext uri="{FF2B5EF4-FFF2-40B4-BE49-F238E27FC236}">
                <a16:creationId xmlns:a16="http://schemas.microsoft.com/office/drawing/2014/main" id="{B0B7B27E-69D5-3826-92EC-BFE722D0160F}"/>
              </a:ext>
            </a:extLst>
          </p:cNvPr>
          <p:cNvSpPr/>
          <p:nvPr/>
        </p:nvSpPr>
        <p:spPr>
          <a:xfrm>
            <a:off x="514350" y="3429000"/>
            <a:ext cx="984250" cy="352424"/>
          </a:xfrm>
          <a:prstGeom prst="homePlat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V 形 9">
            <a:extLst>
              <a:ext uri="{FF2B5EF4-FFF2-40B4-BE49-F238E27FC236}">
                <a16:creationId xmlns:a16="http://schemas.microsoft.com/office/drawing/2014/main" id="{44D6C0AD-B1A2-1950-2631-94325292F2E3}"/>
              </a:ext>
            </a:extLst>
          </p:cNvPr>
          <p:cNvSpPr/>
          <p:nvPr/>
        </p:nvSpPr>
        <p:spPr>
          <a:xfrm>
            <a:off x="1498600" y="3429000"/>
            <a:ext cx="5905500" cy="352424"/>
          </a:xfrm>
          <a:prstGeom prst="chevron">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箭头: V 形 11">
            <a:extLst>
              <a:ext uri="{FF2B5EF4-FFF2-40B4-BE49-F238E27FC236}">
                <a16:creationId xmlns:a16="http://schemas.microsoft.com/office/drawing/2014/main" id="{BBD68DC8-7C44-35A9-4856-F258F6A1D537}"/>
              </a:ext>
            </a:extLst>
          </p:cNvPr>
          <p:cNvSpPr/>
          <p:nvPr/>
        </p:nvSpPr>
        <p:spPr>
          <a:xfrm>
            <a:off x="7404100" y="3429000"/>
            <a:ext cx="1060450" cy="352424"/>
          </a:xfrm>
          <a:prstGeom prst="chevron">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文本框 12">
            <a:extLst>
              <a:ext uri="{FF2B5EF4-FFF2-40B4-BE49-F238E27FC236}">
                <a16:creationId xmlns:a16="http://schemas.microsoft.com/office/drawing/2014/main" id="{437639CE-B0BF-4558-EDEB-4A3CD99DB6E9}"/>
              </a:ext>
            </a:extLst>
          </p:cNvPr>
          <p:cNvSpPr txBox="1"/>
          <p:nvPr/>
        </p:nvSpPr>
        <p:spPr>
          <a:xfrm>
            <a:off x="1102055" y="3070860"/>
            <a:ext cx="652743" cy="369332"/>
          </a:xfrm>
          <a:prstGeom prst="rect">
            <a:avLst/>
          </a:prstGeom>
          <a:noFill/>
        </p:spPr>
        <p:txBody>
          <a:bodyPr wrap="none" rtlCol="0">
            <a:spAutoFit/>
          </a:bodyPr>
          <a:lstStyle/>
          <a:p>
            <a:r>
              <a:rPr lang="en-US" altLang="zh-CN" dirty="0"/>
              <a:t>1900</a:t>
            </a:r>
            <a:endParaRPr lang="zh-CN" altLang="en-US" dirty="0"/>
          </a:p>
        </p:txBody>
      </p:sp>
      <p:sp>
        <p:nvSpPr>
          <p:cNvPr id="15" name="文本框 14">
            <a:extLst>
              <a:ext uri="{FF2B5EF4-FFF2-40B4-BE49-F238E27FC236}">
                <a16:creationId xmlns:a16="http://schemas.microsoft.com/office/drawing/2014/main" id="{26DD5B09-B9FC-2D49-92E0-96A8F6295278}"/>
              </a:ext>
            </a:extLst>
          </p:cNvPr>
          <p:cNvSpPr txBox="1"/>
          <p:nvPr/>
        </p:nvSpPr>
        <p:spPr>
          <a:xfrm>
            <a:off x="7025384" y="3070860"/>
            <a:ext cx="652743" cy="369332"/>
          </a:xfrm>
          <a:prstGeom prst="rect">
            <a:avLst/>
          </a:prstGeom>
          <a:noFill/>
        </p:spPr>
        <p:txBody>
          <a:bodyPr wrap="none" rtlCol="0">
            <a:spAutoFit/>
          </a:bodyPr>
          <a:lstStyle/>
          <a:p>
            <a:r>
              <a:rPr lang="en-US" altLang="zh-CN" dirty="0"/>
              <a:t>2000</a:t>
            </a:r>
            <a:endParaRPr lang="zh-CN" altLang="en-US" dirty="0"/>
          </a:p>
        </p:txBody>
      </p:sp>
      <p:cxnSp>
        <p:nvCxnSpPr>
          <p:cNvPr id="17" name="直接连接符 16">
            <a:extLst>
              <a:ext uri="{FF2B5EF4-FFF2-40B4-BE49-F238E27FC236}">
                <a16:creationId xmlns:a16="http://schemas.microsoft.com/office/drawing/2014/main" id="{81A5E584-A158-DAB9-73CD-08F817D7DB76}"/>
              </a:ext>
            </a:extLst>
          </p:cNvPr>
          <p:cNvCxnSpPr>
            <a:cxnSpLocks/>
          </p:cNvCxnSpPr>
          <p:nvPr/>
        </p:nvCxnSpPr>
        <p:spPr>
          <a:xfrm flipV="1">
            <a:off x="650240" y="3025774"/>
            <a:ext cx="0" cy="755650"/>
          </a:xfrm>
          <a:prstGeom prst="line">
            <a:avLst/>
          </a:prstGeom>
          <a:ln w="19050"/>
        </p:spPr>
        <p:style>
          <a:lnRef idx="1">
            <a:schemeClr val="dk1"/>
          </a:lnRef>
          <a:fillRef idx="0">
            <a:schemeClr val="dk1"/>
          </a:fillRef>
          <a:effectRef idx="0">
            <a:schemeClr val="dk1"/>
          </a:effectRef>
          <a:fontRef idx="minor">
            <a:schemeClr val="tx1"/>
          </a:fontRef>
        </p:style>
      </p:cxnSp>
      <p:sp>
        <p:nvSpPr>
          <p:cNvPr id="22" name="文本框 21">
            <a:extLst>
              <a:ext uri="{FF2B5EF4-FFF2-40B4-BE49-F238E27FC236}">
                <a16:creationId xmlns:a16="http://schemas.microsoft.com/office/drawing/2014/main" id="{118782EF-81B8-7DE7-64AA-9A1751459245}"/>
              </a:ext>
            </a:extLst>
          </p:cNvPr>
          <p:cNvSpPr txBox="1"/>
          <p:nvPr/>
        </p:nvSpPr>
        <p:spPr>
          <a:xfrm>
            <a:off x="333366" y="2317888"/>
            <a:ext cx="1802096" cy="707886"/>
          </a:xfrm>
          <a:prstGeom prst="rect">
            <a:avLst/>
          </a:prstGeom>
          <a:noFill/>
        </p:spPr>
        <p:txBody>
          <a:bodyPr wrap="none" rtlCol="0">
            <a:spAutoFit/>
          </a:bodyPr>
          <a:lstStyle/>
          <a:p>
            <a:r>
              <a:rPr lang="en-US" altLang="zh-CN" sz="2000" dirty="0"/>
              <a:t>1819</a:t>
            </a:r>
          </a:p>
          <a:p>
            <a:r>
              <a:rPr lang="zh-CN" altLang="en-US" sz="2000" dirty="0"/>
              <a:t>杜隆</a:t>
            </a:r>
            <a:r>
              <a:rPr lang="en-US" altLang="zh-CN" sz="2000" dirty="0"/>
              <a:t>-</a:t>
            </a:r>
            <a:r>
              <a:rPr lang="zh-CN" altLang="en-US" sz="2000" dirty="0"/>
              <a:t>珀蒂定律</a:t>
            </a:r>
          </a:p>
        </p:txBody>
      </p:sp>
      <p:pic>
        <p:nvPicPr>
          <p:cNvPr id="24" name="图片 23">
            <a:extLst>
              <a:ext uri="{FF2B5EF4-FFF2-40B4-BE49-F238E27FC236}">
                <a16:creationId xmlns:a16="http://schemas.microsoft.com/office/drawing/2014/main" id="{D9D08A55-F711-8263-8D4B-B42F04552B16}"/>
              </a:ext>
            </a:extLst>
          </p:cNvPr>
          <p:cNvPicPr>
            <a:picLocks noChangeAspect="1"/>
          </p:cNvPicPr>
          <p:nvPr/>
        </p:nvPicPr>
        <p:blipFill>
          <a:blip r:embed="rId2">
            <a:extLst>
              <a:ext uri="{28A0092B-C50C-407E-A947-70E740481C1C}">
                <a14:useLocalDpi xmlns:a14="http://schemas.microsoft.com/office/drawing/2010/main" val="0"/>
              </a:ext>
            </a:extLst>
          </a:blip>
          <a:srcRect l="26417" t="1" r="14837" b="41681"/>
          <a:stretch>
            <a:fillRect/>
          </a:stretch>
        </p:blipFill>
        <p:spPr>
          <a:xfrm>
            <a:off x="8857301" y="1354456"/>
            <a:ext cx="1009651" cy="1520937"/>
          </a:xfrm>
          <a:prstGeom prst="rect">
            <a:avLst/>
          </a:prstGeom>
        </p:spPr>
      </p:pic>
      <p:pic>
        <p:nvPicPr>
          <p:cNvPr id="26" name="图片 25">
            <a:extLst>
              <a:ext uri="{FF2B5EF4-FFF2-40B4-BE49-F238E27FC236}">
                <a16:creationId xmlns:a16="http://schemas.microsoft.com/office/drawing/2014/main" id="{4DDD4B61-744A-B921-46E1-7639808151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7299" y="1503793"/>
            <a:ext cx="1009650" cy="1371600"/>
          </a:xfrm>
          <a:prstGeom prst="rect">
            <a:avLst/>
          </a:prstGeom>
        </p:spPr>
      </p:pic>
      <p:sp>
        <p:nvSpPr>
          <p:cNvPr id="29" name="文本框 28">
            <a:extLst>
              <a:ext uri="{FF2B5EF4-FFF2-40B4-BE49-F238E27FC236}">
                <a16:creationId xmlns:a16="http://schemas.microsoft.com/office/drawing/2014/main" id="{6C6BA278-F1F3-9C8B-5CF2-24C28167F0A4}"/>
              </a:ext>
            </a:extLst>
          </p:cNvPr>
          <p:cNvSpPr txBox="1"/>
          <p:nvPr/>
        </p:nvSpPr>
        <p:spPr>
          <a:xfrm>
            <a:off x="8716191" y="3477403"/>
            <a:ext cx="2985428" cy="2375769"/>
          </a:xfrm>
          <a:prstGeom prst="rect">
            <a:avLst/>
          </a:prstGeom>
          <a:noFill/>
        </p:spPr>
        <p:txBody>
          <a:bodyPr wrap="square" lIns="36000" tIns="36000" rIns="36000" bIns="36000">
            <a:spAutoFit/>
          </a:bodyPr>
          <a:lstStyle/>
          <a:p>
            <a:pPr>
              <a:lnSpc>
                <a:spcPct val="110000"/>
              </a:lnSpc>
              <a:spcAft>
                <a:spcPts val="1200"/>
              </a:spcAft>
            </a:pPr>
            <a:r>
              <a:rPr lang="zh-CN" altLang="zh-CN" sz="1600" b="0" i="0" dirty="0">
                <a:solidFill>
                  <a:schemeClr val="tx1"/>
                </a:solidFill>
                <a:effectLst/>
                <a:latin typeface="Calibri" panose="020F0502020204030204" pitchFamily="34" charset="0"/>
                <a:ea typeface="黑体" panose="02010609060101010101" pitchFamily="49" charset="-122"/>
              </a:rPr>
              <a:t>法国物理学家</a:t>
            </a:r>
            <a:r>
              <a:rPr lang="zh-CN" altLang="zh-CN" sz="1600" b="0" i="0" u="none" strike="noStrike" dirty="0">
                <a:solidFill>
                  <a:schemeClr val="tx1"/>
                </a:solidFill>
                <a:effectLst/>
                <a:latin typeface="Calibri" panose="020F0502020204030204" pitchFamily="34" charset="0"/>
                <a:ea typeface="黑体" panose="02010609060101010101" pitchFamily="49" charset="-122"/>
              </a:rPr>
              <a:t>皮埃尔·路易·杜隆</a:t>
            </a:r>
            <a:r>
              <a:rPr lang="zh-CN" altLang="zh-CN" sz="1600" b="0" i="0" dirty="0">
                <a:solidFill>
                  <a:schemeClr val="tx1"/>
                </a:solidFill>
                <a:effectLst/>
                <a:latin typeface="Calibri" panose="020F0502020204030204" pitchFamily="34" charset="0"/>
                <a:ea typeface="黑体" panose="02010609060101010101" pitchFamily="49" charset="-122"/>
              </a:rPr>
              <a:t>和</a:t>
            </a:r>
            <a:r>
              <a:rPr lang="zh-CN" altLang="zh-CN" sz="1600" b="0" i="0" u="none" strike="noStrike" dirty="0">
                <a:solidFill>
                  <a:schemeClr val="tx1"/>
                </a:solidFill>
                <a:effectLst/>
                <a:latin typeface="Calibri" panose="020F0502020204030204" pitchFamily="34" charset="0"/>
                <a:ea typeface="黑体" panose="02010609060101010101" pitchFamily="49" charset="-122"/>
              </a:rPr>
              <a:t>亚历克西·泰蕾兹·珀蒂</a:t>
            </a:r>
            <a:r>
              <a:rPr lang="zh-CN" altLang="en-US" sz="1600" b="0" i="0" u="none" strike="noStrike" dirty="0">
                <a:solidFill>
                  <a:schemeClr val="tx1"/>
                </a:solidFill>
                <a:effectLst/>
                <a:latin typeface="Calibri" panose="020F0502020204030204" pitchFamily="34" charset="0"/>
                <a:ea typeface="黑体" panose="02010609060101010101" pitchFamily="49" charset="-122"/>
              </a:rPr>
              <a:t>发现，许多固体元素的摩尔热容约为一个定值，进一步确定该值为</a:t>
            </a:r>
            <a:r>
              <a:rPr lang="en-US" altLang="zh-CN" sz="1600" b="0" i="0" u="none" strike="noStrike" dirty="0">
                <a:solidFill>
                  <a:schemeClr val="tx1"/>
                </a:solidFill>
                <a:effectLst/>
                <a:latin typeface="Calibri" panose="020F0502020204030204" pitchFamily="34" charset="0"/>
                <a:ea typeface="黑体" panose="02010609060101010101" pitchFamily="49" charset="-122"/>
              </a:rPr>
              <a:t>3R</a:t>
            </a:r>
            <a:r>
              <a:rPr lang="zh-CN" altLang="en-US" sz="1600" b="0" i="0" u="none" strike="noStrike" dirty="0">
                <a:solidFill>
                  <a:schemeClr val="tx1"/>
                </a:solidFill>
                <a:effectLst/>
                <a:latin typeface="Calibri" panose="020F0502020204030204" pitchFamily="34" charset="0"/>
                <a:ea typeface="黑体" panose="02010609060101010101" pitchFamily="49" charset="-122"/>
              </a:rPr>
              <a:t>，其中</a:t>
            </a:r>
            <a:r>
              <a:rPr lang="en-US" altLang="zh-CN" sz="1600" b="0" i="0" u="none" strike="noStrike" dirty="0">
                <a:solidFill>
                  <a:schemeClr val="tx1"/>
                </a:solidFill>
                <a:effectLst/>
                <a:latin typeface="Calibri" panose="020F0502020204030204" pitchFamily="34" charset="0"/>
                <a:ea typeface="黑体" panose="02010609060101010101" pitchFamily="49" charset="-122"/>
              </a:rPr>
              <a:t>R</a:t>
            </a:r>
            <a:r>
              <a:rPr lang="zh-CN" altLang="en-US" sz="1600" b="0" i="0" u="none" strike="noStrike" dirty="0">
                <a:solidFill>
                  <a:schemeClr val="tx1"/>
                </a:solidFill>
                <a:effectLst/>
                <a:latin typeface="Calibri" panose="020F0502020204030204" pitchFamily="34" charset="0"/>
                <a:ea typeface="黑体" panose="02010609060101010101" pitchFamily="49" charset="-122"/>
              </a:rPr>
              <a:t>是通用气体常数。</a:t>
            </a:r>
            <a:endParaRPr lang="en-US" altLang="zh-CN" sz="1600" b="0" i="0" u="none" strike="noStrike" dirty="0">
              <a:solidFill>
                <a:schemeClr val="tx1"/>
              </a:solidFill>
              <a:effectLst/>
              <a:latin typeface="Calibri" panose="020F0502020204030204" pitchFamily="34" charset="0"/>
              <a:ea typeface="黑体" panose="02010609060101010101" pitchFamily="49" charset="-122"/>
            </a:endParaRPr>
          </a:p>
          <a:p>
            <a:pPr>
              <a:lnSpc>
                <a:spcPct val="110000"/>
              </a:lnSpc>
              <a:spcAft>
                <a:spcPts val="1200"/>
              </a:spcAft>
            </a:pPr>
            <a:r>
              <a:rPr lang="zh-CN" altLang="en-US" sz="1600" dirty="0">
                <a:latin typeface="Calibri" panose="020F0502020204030204" pitchFamily="34" charset="0"/>
                <a:ea typeface="黑体" panose="02010609060101010101" pitchFamily="49" charset="-122"/>
              </a:rPr>
              <a:t>但随后大量实验发现该定律并不总是成立，且低温下热容会迅速下降并趋近于零。</a:t>
            </a:r>
            <a:endParaRPr lang="en-US" altLang="zh-CN" sz="1600" dirty="0">
              <a:latin typeface="Calibri" panose="020F0502020204030204" pitchFamily="34" charset="0"/>
              <a:ea typeface="黑体" panose="02010609060101010101" pitchFamily="49" charset="-122"/>
            </a:endParaRPr>
          </a:p>
        </p:txBody>
      </p:sp>
      <p:sp>
        <p:nvSpPr>
          <p:cNvPr id="31" name="文本框 30">
            <a:extLst>
              <a:ext uri="{FF2B5EF4-FFF2-40B4-BE49-F238E27FC236}">
                <a16:creationId xmlns:a16="http://schemas.microsoft.com/office/drawing/2014/main" id="{5FAF12B6-CF94-4FC5-001F-B6204CE9DF77}"/>
              </a:ext>
            </a:extLst>
          </p:cNvPr>
          <p:cNvSpPr txBox="1"/>
          <p:nvPr/>
        </p:nvSpPr>
        <p:spPr>
          <a:xfrm>
            <a:off x="8803578" y="2857378"/>
            <a:ext cx="1117095" cy="523220"/>
          </a:xfrm>
          <a:prstGeom prst="rect">
            <a:avLst/>
          </a:prstGeom>
          <a:noFill/>
        </p:spPr>
        <p:txBody>
          <a:bodyPr wrap="square">
            <a:spAutoFit/>
          </a:bodyPr>
          <a:lstStyle/>
          <a:p>
            <a:pPr marL="0" marR="0" indent="0" algn="l">
              <a:buNone/>
            </a:pPr>
            <a:r>
              <a:rPr lang="zh-CN" altLang="zh-CN" sz="1400" i="0" dirty="0">
                <a:solidFill>
                  <a:schemeClr val="tx1"/>
                </a:solidFill>
                <a:effectLst/>
                <a:latin typeface="+mn-lt"/>
              </a:rPr>
              <a:t>Pierre Louis</a:t>
            </a:r>
            <a:endParaRPr lang="en-US" altLang="zh-CN" sz="1400" i="0" dirty="0">
              <a:solidFill>
                <a:schemeClr val="tx1"/>
              </a:solidFill>
              <a:effectLst/>
              <a:latin typeface="+mn-lt"/>
            </a:endParaRPr>
          </a:p>
          <a:p>
            <a:pPr marL="0" marR="0" indent="0" algn="l">
              <a:buNone/>
            </a:pPr>
            <a:r>
              <a:rPr lang="zh-CN" altLang="zh-CN" sz="1400" i="0" dirty="0">
                <a:solidFill>
                  <a:schemeClr val="tx1"/>
                </a:solidFill>
                <a:effectLst/>
                <a:latin typeface="+mn-lt"/>
              </a:rPr>
              <a:t>Dulong</a:t>
            </a:r>
            <a:endParaRPr lang="zh-CN" altLang="zh-CN" sz="1400" i="0" dirty="0">
              <a:solidFill>
                <a:srgbClr val="393939"/>
              </a:solidFill>
              <a:effectLst/>
              <a:latin typeface="Noto Sans" panose="020B0502040504020204" pitchFamily="34" charset="0"/>
            </a:endParaRPr>
          </a:p>
        </p:txBody>
      </p:sp>
      <p:sp>
        <p:nvSpPr>
          <p:cNvPr id="33" name="文本框 32">
            <a:extLst>
              <a:ext uri="{FF2B5EF4-FFF2-40B4-BE49-F238E27FC236}">
                <a16:creationId xmlns:a16="http://schemas.microsoft.com/office/drawing/2014/main" id="{629BACDA-94A5-16BB-1B1B-3117D1AA1D7C}"/>
              </a:ext>
            </a:extLst>
          </p:cNvPr>
          <p:cNvSpPr txBox="1"/>
          <p:nvPr/>
        </p:nvSpPr>
        <p:spPr>
          <a:xfrm>
            <a:off x="9920673" y="2880379"/>
            <a:ext cx="1242060" cy="523220"/>
          </a:xfrm>
          <a:prstGeom prst="rect">
            <a:avLst/>
          </a:prstGeom>
          <a:noFill/>
        </p:spPr>
        <p:txBody>
          <a:bodyPr wrap="square">
            <a:spAutoFit/>
          </a:bodyPr>
          <a:lstStyle/>
          <a:p>
            <a:r>
              <a:rPr lang="zh-CN" altLang="zh-CN" sz="1400" i="0" dirty="0">
                <a:solidFill>
                  <a:schemeClr val="tx1"/>
                </a:solidFill>
                <a:effectLst/>
                <a:latin typeface="+mn-lt"/>
              </a:rPr>
              <a:t>Alexis Thérèse Petit</a:t>
            </a:r>
            <a:endParaRPr lang="zh-CN" altLang="en-US" sz="1400" dirty="0"/>
          </a:p>
        </p:txBody>
      </p:sp>
    </p:spTree>
    <p:extLst>
      <p:ext uri="{BB962C8B-B14F-4D97-AF65-F5344CB8AC3E}">
        <p14:creationId xmlns:p14="http://schemas.microsoft.com/office/powerpoint/2010/main" val="1102959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2E2D0-953A-3709-C7B4-F3C6D12F7D41}"/>
            </a:ext>
          </a:extLst>
        </p:cNvPr>
        <p:cNvGrpSpPr/>
        <p:nvPr/>
      </p:nvGrpSpPr>
      <p:grpSpPr>
        <a:xfrm>
          <a:off x="0" y="0"/>
          <a:ext cx="0" cy="0"/>
          <a:chOff x="0" y="0"/>
          <a:chExt cx="0" cy="0"/>
        </a:xfrm>
      </p:grpSpPr>
      <p:sp>
        <p:nvSpPr>
          <p:cNvPr id="27" name="矩形: 圆角 26">
            <a:extLst>
              <a:ext uri="{FF2B5EF4-FFF2-40B4-BE49-F238E27FC236}">
                <a16:creationId xmlns:a16="http://schemas.microsoft.com/office/drawing/2014/main" id="{A2C495AE-687F-A78A-646B-389F0D7BE97C}"/>
              </a:ext>
            </a:extLst>
          </p:cNvPr>
          <p:cNvSpPr/>
          <p:nvPr/>
        </p:nvSpPr>
        <p:spPr>
          <a:xfrm>
            <a:off x="8604897" y="1240156"/>
            <a:ext cx="3208017" cy="4863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55D2A2B9-C8BC-4693-54E1-04549AFD956F}"/>
              </a:ext>
            </a:extLst>
          </p:cNvPr>
          <p:cNvSpPr>
            <a:spLocks noGrp="1"/>
          </p:cNvSpPr>
          <p:nvPr>
            <p:ph type="title"/>
          </p:nvPr>
        </p:nvSpPr>
        <p:spPr/>
        <p:txBody>
          <a:bodyPr/>
          <a:lstStyle/>
          <a:p>
            <a:r>
              <a:rPr lang="zh-CN" altLang="en-US" dirty="0"/>
              <a:t>晶格动力学研究的历史</a:t>
            </a:r>
            <a:endParaRPr lang="en-US" dirty="0"/>
          </a:p>
        </p:txBody>
      </p:sp>
      <p:graphicFrame>
        <p:nvGraphicFramePr>
          <p:cNvPr id="4" name="表格 3">
            <a:extLst>
              <a:ext uri="{FF2B5EF4-FFF2-40B4-BE49-F238E27FC236}">
                <a16:creationId xmlns:a16="http://schemas.microsoft.com/office/drawing/2014/main" id="{2F117DDB-DFB0-7F0A-B835-B5E66FF51790}"/>
              </a:ext>
            </a:extLst>
          </p:cNvPr>
          <p:cNvGraphicFramePr>
            <a:graphicFrameLocks noGrp="1"/>
          </p:cNvGraphicFramePr>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4</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
        <p:nvSpPr>
          <p:cNvPr id="7" name="箭头: 五边形 6">
            <a:extLst>
              <a:ext uri="{FF2B5EF4-FFF2-40B4-BE49-F238E27FC236}">
                <a16:creationId xmlns:a16="http://schemas.microsoft.com/office/drawing/2014/main" id="{1E5B599B-8512-7861-59F6-E77ED0E345A5}"/>
              </a:ext>
            </a:extLst>
          </p:cNvPr>
          <p:cNvSpPr/>
          <p:nvPr/>
        </p:nvSpPr>
        <p:spPr>
          <a:xfrm>
            <a:off x="514350" y="3429000"/>
            <a:ext cx="984250" cy="352424"/>
          </a:xfrm>
          <a:prstGeom prst="homePlat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V 形 9">
            <a:extLst>
              <a:ext uri="{FF2B5EF4-FFF2-40B4-BE49-F238E27FC236}">
                <a16:creationId xmlns:a16="http://schemas.microsoft.com/office/drawing/2014/main" id="{734F47DA-9CF4-0554-F0EE-893ABC9B2BA6}"/>
              </a:ext>
            </a:extLst>
          </p:cNvPr>
          <p:cNvSpPr/>
          <p:nvPr/>
        </p:nvSpPr>
        <p:spPr>
          <a:xfrm>
            <a:off x="1498600" y="3429000"/>
            <a:ext cx="5905500" cy="352424"/>
          </a:xfrm>
          <a:prstGeom prst="chevron">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箭头: V 形 11">
            <a:extLst>
              <a:ext uri="{FF2B5EF4-FFF2-40B4-BE49-F238E27FC236}">
                <a16:creationId xmlns:a16="http://schemas.microsoft.com/office/drawing/2014/main" id="{75492F7A-A354-455C-E40C-1490381EEE96}"/>
              </a:ext>
            </a:extLst>
          </p:cNvPr>
          <p:cNvSpPr/>
          <p:nvPr/>
        </p:nvSpPr>
        <p:spPr>
          <a:xfrm>
            <a:off x="7404100" y="3429000"/>
            <a:ext cx="1060450" cy="352424"/>
          </a:xfrm>
          <a:prstGeom prst="chevron">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7" name="直接连接符 16">
            <a:extLst>
              <a:ext uri="{FF2B5EF4-FFF2-40B4-BE49-F238E27FC236}">
                <a16:creationId xmlns:a16="http://schemas.microsoft.com/office/drawing/2014/main" id="{81BFC01D-B97C-5DF1-6310-1FC49AD45BF6}"/>
              </a:ext>
            </a:extLst>
          </p:cNvPr>
          <p:cNvCxnSpPr>
            <a:cxnSpLocks/>
          </p:cNvCxnSpPr>
          <p:nvPr/>
        </p:nvCxnSpPr>
        <p:spPr>
          <a:xfrm flipV="1">
            <a:off x="650240" y="3025774"/>
            <a:ext cx="0" cy="755650"/>
          </a:xfrm>
          <a:prstGeom prst="line">
            <a:avLst/>
          </a:prstGeom>
          <a:ln w="19050"/>
        </p:spPr>
        <p:style>
          <a:lnRef idx="1">
            <a:schemeClr val="dk1"/>
          </a:lnRef>
          <a:fillRef idx="0">
            <a:schemeClr val="dk1"/>
          </a:fillRef>
          <a:effectRef idx="0">
            <a:schemeClr val="dk1"/>
          </a:effectRef>
          <a:fontRef idx="minor">
            <a:schemeClr val="tx1"/>
          </a:fontRef>
        </p:style>
      </p:cxnSp>
      <p:sp>
        <p:nvSpPr>
          <p:cNvPr id="22" name="文本框 21">
            <a:extLst>
              <a:ext uri="{FF2B5EF4-FFF2-40B4-BE49-F238E27FC236}">
                <a16:creationId xmlns:a16="http://schemas.microsoft.com/office/drawing/2014/main" id="{A98370E6-2188-4C2A-4F96-711A749E3346}"/>
              </a:ext>
            </a:extLst>
          </p:cNvPr>
          <p:cNvSpPr txBox="1"/>
          <p:nvPr/>
        </p:nvSpPr>
        <p:spPr>
          <a:xfrm>
            <a:off x="99055" y="2440999"/>
            <a:ext cx="1478290" cy="584775"/>
          </a:xfrm>
          <a:prstGeom prst="rect">
            <a:avLst/>
          </a:prstGeom>
          <a:noFill/>
        </p:spPr>
        <p:txBody>
          <a:bodyPr wrap="none" rtlCol="0">
            <a:spAutoFit/>
          </a:bodyPr>
          <a:lstStyle/>
          <a:p>
            <a:r>
              <a:rPr lang="en-US" altLang="zh-CN" sz="1600" dirty="0"/>
              <a:t>1819</a:t>
            </a:r>
          </a:p>
          <a:p>
            <a:r>
              <a:rPr lang="zh-CN" altLang="en-US" sz="1600" dirty="0"/>
              <a:t>杜隆</a:t>
            </a:r>
            <a:r>
              <a:rPr lang="en-US" altLang="zh-CN" sz="1600" dirty="0"/>
              <a:t>-</a:t>
            </a:r>
            <a:r>
              <a:rPr lang="zh-CN" altLang="en-US" sz="1600" dirty="0"/>
              <a:t>珀蒂定律</a:t>
            </a:r>
          </a:p>
        </p:txBody>
      </p:sp>
      <p:sp>
        <p:nvSpPr>
          <p:cNvPr id="29" name="文本框 28">
            <a:extLst>
              <a:ext uri="{FF2B5EF4-FFF2-40B4-BE49-F238E27FC236}">
                <a16:creationId xmlns:a16="http://schemas.microsoft.com/office/drawing/2014/main" id="{2719AA22-ED45-1BEC-3558-9B2F188539E5}"/>
              </a:ext>
            </a:extLst>
          </p:cNvPr>
          <p:cNvSpPr txBox="1"/>
          <p:nvPr/>
        </p:nvSpPr>
        <p:spPr>
          <a:xfrm>
            <a:off x="8716191" y="3493532"/>
            <a:ext cx="2985428" cy="1409351"/>
          </a:xfrm>
          <a:prstGeom prst="rect">
            <a:avLst/>
          </a:prstGeom>
          <a:noFill/>
        </p:spPr>
        <p:txBody>
          <a:bodyPr wrap="square" lIns="36000" tIns="36000" rIns="36000" bIns="36000">
            <a:spAutoFit/>
          </a:bodyPr>
          <a:lstStyle/>
          <a:p>
            <a:pPr>
              <a:lnSpc>
                <a:spcPct val="110000"/>
              </a:lnSpc>
              <a:spcAft>
                <a:spcPts val="1200"/>
              </a:spcAft>
            </a:pPr>
            <a:r>
              <a:rPr lang="zh-CN" altLang="en-US" sz="1600" b="0" i="0" dirty="0">
                <a:solidFill>
                  <a:schemeClr val="tx1"/>
                </a:solidFill>
                <a:effectLst/>
                <a:latin typeface="Calibri" panose="020F0502020204030204" pitchFamily="34" charset="0"/>
                <a:ea typeface="黑体" panose="02010609060101010101" pitchFamily="49" charset="-122"/>
              </a:rPr>
              <a:t>量子论在成功解释了黑体辐射（</a:t>
            </a:r>
            <a:r>
              <a:rPr lang="en-US" altLang="zh-CN" sz="1600" b="0" i="0" dirty="0">
                <a:solidFill>
                  <a:schemeClr val="tx1"/>
                </a:solidFill>
                <a:effectLst/>
                <a:latin typeface="Calibri" panose="020F0502020204030204" pitchFamily="34" charset="0"/>
                <a:ea typeface="黑体" panose="02010609060101010101" pitchFamily="49" charset="-122"/>
              </a:rPr>
              <a:t>1900, Planck</a:t>
            </a:r>
            <a:r>
              <a:rPr lang="zh-CN" altLang="en-US" sz="1600" b="0" i="0" dirty="0">
                <a:solidFill>
                  <a:schemeClr val="tx1"/>
                </a:solidFill>
                <a:effectLst/>
                <a:latin typeface="Calibri" panose="020F0502020204030204" pitchFamily="34" charset="0"/>
                <a:ea typeface="黑体" panose="02010609060101010101" pitchFamily="49" charset="-122"/>
              </a:rPr>
              <a:t>）和光电效应（</a:t>
            </a:r>
            <a:r>
              <a:rPr lang="en-US" altLang="zh-CN" sz="1600" b="0" i="0" dirty="0">
                <a:solidFill>
                  <a:schemeClr val="tx1"/>
                </a:solidFill>
                <a:effectLst/>
                <a:latin typeface="Calibri" panose="020F0502020204030204" pitchFamily="34" charset="0"/>
                <a:ea typeface="黑体" panose="02010609060101010101" pitchFamily="49" charset="-122"/>
              </a:rPr>
              <a:t>1905, Einstein</a:t>
            </a:r>
            <a:r>
              <a:rPr lang="zh-CN" altLang="en-US" sz="1600" b="0" i="0" dirty="0">
                <a:solidFill>
                  <a:schemeClr val="tx1"/>
                </a:solidFill>
                <a:effectLst/>
                <a:latin typeface="Calibri" panose="020F0502020204030204" pitchFamily="34" charset="0"/>
                <a:ea typeface="黑体" panose="02010609060101010101" pitchFamily="49" charset="-122"/>
              </a:rPr>
              <a:t>）之后，仍处于一个较为尴尬的处境，在学界接受度不高。</a:t>
            </a:r>
          </a:p>
        </p:txBody>
      </p:sp>
      <p:sp>
        <p:nvSpPr>
          <p:cNvPr id="5" name="文本框 4">
            <a:extLst>
              <a:ext uri="{FF2B5EF4-FFF2-40B4-BE49-F238E27FC236}">
                <a16:creationId xmlns:a16="http://schemas.microsoft.com/office/drawing/2014/main" id="{F1CCF3D2-6B5D-90FC-8095-3686BF5C10D2}"/>
              </a:ext>
            </a:extLst>
          </p:cNvPr>
          <p:cNvSpPr txBox="1"/>
          <p:nvPr/>
        </p:nvSpPr>
        <p:spPr>
          <a:xfrm>
            <a:off x="1102055" y="3070860"/>
            <a:ext cx="652743" cy="369332"/>
          </a:xfrm>
          <a:prstGeom prst="rect">
            <a:avLst/>
          </a:prstGeom>
          <a:noFill/>
        </p:spPr>
        <p:txBody>
          <a:bodyPr wrap="none" rtlCol="0">
            <a:spAutoFit/>
          </a:bodyPr>
          <a:lstStyle/>
          <a:p>
            <a:r>
              <a:rPr lang="en-US" altLang="zh-CN" dirty="0"/>
              <a:t>1900</a:t>
            </a:r>
            <a:endParaRPr lang="zh-CN" altLang="en-US" dirty="0"/>
          </a:p>
        </p:txBody>
      </p:sp>
      <p:sp>
        <p:nvSpPr>
          <p:cNvPr id="8" name="文本框 7">
            <a:extLst>
              <a:ext uri="{FF2B5EF4-FFF2-40B4-BE49-F238E27FC236}">
                <a16:creationId xmlns:a16="http://schemas.microsoft.com/office/drawing/2014/main" id="{1FB593A6-40BE-7991-AF57-5439A8CF8559}"/>
              </a:ext>
            </a:extLst>
          </p:cNvPr>
          <p:cNvSpPr txBox="1"/>
          <p:nvPr/>
        </p:nvSpPr>
        <p:spPr>
          <a:xfrm>
            <a:off x="7025384" y="3070860"/>
            <a:ext cx="652743" cy="369332"/>
          </a:xfrm>
          <a:prstGeom prst="rect">
            <a:avLst/>
          </a:prstGeom>
          <a:noFill/>
        </p:spPr>
        <p:txBody>
          <a:bodyPr wrap="none" rtlCol="0">
            <a:spAutoFit/>
          </a:bodyPr>
          <a:lstStyle/>
          <a:p>
            <a:r>
              <a:rPr lang="en-US" altLang="zh-CN" dirty="0"/>
              <a:t>2000</a:t>
            </a:r>
            <a:endParaRPr lang="zh-CN" altLang="en-US" dirty="0"/>
          </a:p>
        </p:txBody>
      </p:sp>
      <p:cxnSp>
        <p:nvCxnSpPr>
          <p:cNvPr id="9" name="直接连接符 8">
            <a:extLst>
              <a:ext uri="{FF2B5EF4-FFF2-40B4-BE49-F238E27FC236}">
                <a16:creationId xmlns:a16="http://schemas.microsoft.com/office/drawing/2014/main" id="{A0AD291D-D1CA-BB72-A0B3-E59EB0945501}"/>
              </a:ext>
            </a:extLst>
          </p:cNvPr>
          <p:cNvCxnSpPr>
            <a:cxnSpLocks/>
          </p:cNvCxnSpPr>
          <p:nvPr/>
        </p:nvCxnSpPr>
        <p:spPr>
          <a:xfrm flipV="1">
            <a:off x="1427480" y="3781424"/>
            <a:ext cx="0" cy="287656"/>
          </a:xfrm>
          <a:prstGeom prst="line">
            <a:avLst/>
          </a:prstGeom>
          <a:ln w="19050"/>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F4811D9C-2C11-6FEE-7E6D-885E21D0E47A}"/>
              </a:ext>
            </a:extLst>
          </p:cNvPr>
          <p:cNvSpPr txBox="1"/>
          <p:nvPr/>
        </p:nvSpPr>
        <p:spPr>
          <a:xfrm>
            <a:off x="1079200" y="4069080"/>
            <a:ext cx="4647564" cy="1015663"/>
          </a:xfrm>
          <a:prstGeom prst="rect">
            <a:avLst/>
          </a:prstGeom>
          <a:noFill/>
        </p:spPr>
        <p:txBody>
          <a:bodyPr wrap="square">
            <a:spAutoFit/>
          </a:bodyPr>
          <a:lstStyle/>
          <a:p>
            <a:r>
              <a:rPr lang="en-US" altLang="zh-CN" sz="2000" dirty="0"/>
              <a:t>1900 – 1905</a:t>
            </a:r>
          </a:p>
          <a:p>
            <a:r>
              <a:rPr lang="zh-CN" altLang="en-US" sz="2000" dirty="0"/>
              <a:t>量子论的建立</a:t>
            </a:r>
            <a:endParaRPr lang="en-US" altLang="zh-CN" sz="2000" dirty="0"/>
          </a:p>
          <a:p>
            <a:r>
              <a:rPr lang="zh-CN" altLang="en-US" sz="2000" dirty="0"/>
              <a:t>（黑体辐射</a:t>
            </a:r>
            <a:r>
              <a:rPr lang="en-US" altLang="zh-CN" sz="2000" dirty="0"/>
              <a:t> &amp; </a:t>
            </a:r>
            <a:r>
              <a:rPr lang="zh-CN" altLang="en-US" sz="2000" dirty="0"/>
              <a:t>光电效应）</a:t>
            </a:r>
            <a:endParaRPr lang="en-US" altLang="zh-CN" sz="2000" dirty="0"/>
          </a:p>
        </p:txBody>
      </p:sp>
      <p:pic>
        <p:nvPicPr>
          <p:cNvPr id="19" name="图片 18">
            <a:extLst>
              <a:ext uri="{FF2B5EF4-FFF2-40B4-BE49-F238E27FC236}">
                <a16:creationId xmlns:a16="http://schemas.microsoft.com/office/drawing/2014/main" id="{BEC12576-70E0-CDA8-D587-0B1960661F95}"/>
              </a:ext>
            </a:extLst>
          </p:cNvPr>
          <p:cNvPicPr>
            <a:picLocks noChangeAspect="1"/>
          </p:cNvPicPr>
          <p:nvPr/>
        </p:nvPicPr>
        <p:blipFill>
          <a:blip r:embed="rId2">
            <a:extLst>
              <a:ext uri="{28A0092B-C50C-407E-A947-70E740481C1C}">
                <a14:useLocalDpi xmlns:a14="http://schemas.microsoft.com/office/drawing/2010/main" val="0"/>
              </a:ext>
            </a:extLst>
          </a:blip>
          <a:srcRect l="13229" r="7675"/>
          <a:stretch>
            <a:fillRect/>
          </a:stretch>
        </p:blipFill>
        <p:spPr>
          <a:xfrm>
            <a:off x="8886741" y="1577138"/>
            <a:ext cx="1113785" cy="1404000"/>
          </a:xfrm>
          <a:prstGeom prst="rect">
            <a:avLst/>
          </a:prstGeom>
        </p:spPr>
      </p:pic>
      <p:pic>
        <p:nvPicPr>
          <p:cNvPr id="21" name="图片 20">
            <a:extLst>
              <a:ext uri="{FF2B5EF4-FFF2-40B4-BE49-F238E27FC236}">
                <a16:creationId xmlns:a16="http://schemas.microsoft.com/office/drawing/2014/main" id="{4702762F-E829-B91A-6864-D253A910A4FC}"/>
              </a:ext>
            </a:extLst>
          </p:cNvPr>
          <p:cNvPicPr>
            <a:picLocks noChangeAspect="1"/>
          </p:cNvPicPr>
          <p:nvPr/>
        </p:nvPicPr>
        <p:blipFill>
          <a:blip r:embed="rId3">
            <a:extLst>
              <a:ext uri="{28A0092B-C50C-407E-A947-70E740481C1C}">
                <a14:useLocalDpi xmlns:a14="http://schemas.microsoft.com/office/drawing/2010/main" val="0"/>
              </a:ext>
            </a:extLst>
          </a:blip>
          <a:srcRect l="25890" r="28036" b="55963"/>
          <a:stretch>
            <a:fillRect/>
          </a:stretch>
        </p:blipFill>
        <p:spPr>
          <a:xfrm>
            <a:off x="10316514" y="1577138"/>
            <a:ext cx="1180412" cy="1404000"/>
          </a:xfrm>
          <a:prstGeom prst="rect">
            <a:avLst/>
          </a:prstGeom>
        </p:spPr>
      </p:pic>
      <p:sp>
        <p:nvSpPr>
          <p:cNvPr id="25" name="文本框 24">
            <a:extLst>
              <a:ext uri="{FF2B5EF4-FFF2-40B4-BE49-F238E27FC236}">
                <a16:creationId xmlns:a16="http://schemas.microsoft.com/office/drawing/2014/main" id="{03CCAF52-3E5F-D5DD-B0FD-25BBE7BFF477}"/>
              </a:ext>
            </a:extLst>
          </p:cNvPr>
          <p:cNvSpPr txBox="1"/>
          <p:nvPr/>
        </p:nvSpPr>
        <p:spPr>
          <a:xfrm>
            <a:off x="8803577" y="3015688"/>
            <a:ext cx="1117095" cy="307777"/>
          </a:xfrm>
          <a:prstGeom prst="rect">
            <a:avLst/>
          </a:prstGeom>
          <a:noFill/>
        </p:spPr>
        <p:txBody>
          <a:bodyPr wrap="square">
            <a:spAutoFit/>
          </a:bodyPr>
          <a:lstStyle/>
          <a:p>
            <a:pPr marL="0" marR="0" indent="0" algn="l">
              <a:buNone/>
            </a:pPr>
            <a:r>
              <a:rPr lang="en-US" altLang="zh-CN" sz="1400" dirty="0">
                <a:solidFill>
                  <a:srgbClr val="393939"/>
                </a:solidFill>
              </a:rPr>
              <a:t>Max Planck</a:t>
            </a:r>
            <a:endParaRPr lang="zh-CN" altLang="zh-CN" sz="1400" i="0" dirty="0">
              <a:solidFill>
                <a:srgbClr val="393939"/>
              </a:solidFill>
              <a:effectLst/>
            </a:endParaRPr>
          </a:p>
        </p:txBody>
      </p:sp>
      <p:sp>
        <p:nvSpPr>
          <p:cNvPr id="30" name="文本框 29">
            <a:extLst>
              <a:ext uri="{FF2B5EF4-FFF2-40B4-BE49-F238E27FC236}">
                <a16:creationId xmlns:a16="http://schemas.microsoft.com/office/drawing/2014/main" id="{9250EC36-7D55-9364-DEC5-F82F2DC21B86}"/>
              </a:ext>
            </a:extLst>
          </p:cNvPr>
          <p:cNvSpPr txBox="1"/>
          <p:nvPr/>
        </p:nvSpPr>
        <p:spPr>
          <a:xfrm>
            <a:off x="10288895" y="3021223"/>
            <a:ext cx="1252865" cy="307777"/>
          </a:xfrm>
          <a:prstGeom prst="rect">
            <a:avLst/>
          </a:prstGeom>
          <a:noFill/>
        </p:spPr>
        <p:txBody>
          <a:bodyPr wrap="square">
            <a:spAutoFit/>
          </a:bodyPr>
          <a:lstStyle/>
          <a:p>
            <a:pPr marL="0" marR="0" indent="0" algn="l">
              <a:buNone/>
            </a:pPr>
            <a:r>
              <a:rPr lang="en-US" altLang="zh-CN" sz="1400" dirty="0">
                <a:solidFill>
                  <a:srgbClr val="393939"/>
                </a:solidFill>
              </a:rPr>
              <a:t>Albert Einstein</a:t>
            </a:r>
            <a:endParaRPr lang="zh-CN" altLang="zh-CN" sz="1400" i="0" dirty="0">
              <a:solidFill>
                <a:srgbClr val="393939"/>
              </a:solidFill>
              <a:effectLst/>
            </a:endParaRPr>
          </a:p>
        </p:txBody>
      </p:sp>
    </p:spTree>
    <p:extLst>
      <p:ext uri="{BB962C8B-B14F-4D97-AF65-F5344CB8AC3E}">
        <p14:creationId xmlns:p14="http://schemas.microsoft.com/office/powerpoint/2010/main" val="150922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AB6D7-67A9-6C93-6FF1-214B4239BB1B}"/>
            </a:ext>
          </a:extLst>
        </p:cNvPr>
        <p:cNvGrpSpPr/>
        <p:nvPr/>
      </p:nvGrpSpPr>
      <p:grpSpPr>
        <a:xfrm>
          <a:off x="0" y="0"/>
          <a:ext cx="0" cy="0"/>
          <a:chOff x="0" y="0"/>
          <a:chExt cx="0" cy="0"/>
        </a:xfrm>
      </p:grpSpPr>
      <p:sp>
        <p:nvSpPr>
          <p:cNvPr id="27" name="矩形: 圆角 26">
            <a:extLst>
              <a:ext uri="{FF2B5EF4-FFF2-40B4-BE49-F238E27FC236}">
                <a16:creationId xmlns:a16="http://schemas.microsoft.com/office/drawing/2014/main" id="{1BD6C28F-D35E-1271-06BD-61023C4DE4CD}"/>
              </a:ext>
            </a:extLst>
          </p:cNvPr>
          <p:cNvSpPr/>
          <p:nvPr/>
        </p:nvSpPr>
        <p:spPr>
          <a:xfrm>
            <a:off x="8604897" y="1240156"/>
            <a:ext cx="3208017" cy="4863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39012B96-406D-74CB-1A39-9F077F2572A5}"/>
              </a:ext>
            </a:extLst>
          </p:cNvPr>
          <p:cNvSpPr>
            <a:spLocks noGrp="1"/>
          </p:cNvSpPr>
          <p:nvPr>
            <p:ph type="title"/>
          </p:nvPr>
        </p:nvSpPr>
        <p:spPr/>
        <p:txBody>
          <a:bodyPr/>
          <a:lstStyle/>
          <a:p>
            <a:r>
              <a:rPr lang="zh-CN" altLang="en-US" dirty="0"/>
              <a:t>晶格动力学研究的历史</a:t>
            </a:r>
            <a:endParaRPr lang="en-US" dirty="0"/>
          </a:p>
        </p:txBody>
      </p:sp>
      <p:graphicFrame>
        <p:nvGraphicFramePr>
          <p:cNvPr id="4" name="表格 3">
            <a:extLst>
              <a:ext uri="{FF2B5EF4-FFF2-40B4-BE49-F238E27FC236}">
                <a16:creationId xmlns:a16="http://schemas.microsoft.com/office/drawing/2014/main" id="{F2FA077D-F584-1A24-7224-53F907A8A4FD}"/>
              </a:ext>
            </a:extLst>
          </p:cNvPr>
          <p:cNvGraphicFramePr>
            <a:graphicFrameLocks noGrp="1"/>
          </p:cNvGraphicFramePr>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5</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
        <p:nvSpPr>
          <p:cNvPr id="7" name="箭头: 五边形 6">
            <a:extLst>
              <a:ext uri="{FF2B5EF4-FFF2-40B4-BE49-F238E27FC236}">
                <a16:creationId xmlns:a16="http://schemas.microsoft.com/office/drawing/2014/main" id="{7C1BC106-B5CA-6E9E-BAF6-8D1CDA62CE20}"/>
              </a:ext>
            </a:extLst>
          </p:cNvPr>
          <p:cNvSpPr/>
          <p:nvPr/>
        </p:nvSpPr>
        <p:spPr>
          <a:xfrm>
            <a:off x="514350" y="3429000"/>
            <a:ext cx="984250" cy="352424"/>
          </a:xfrm>
          <a:prstGeom prst="homePlat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V 形 9">
            <a:extLst>
              <a:ext uri="{FF2B5EF4-FFF2-40B4-BE49-F238E27FC236}">
                <a16:creationId xmlns:a16="http://schemas.microsoft.com/office/drawing/2014/main" id="{500457A0-3E3A-3623-A538-F4E2608DA91C}"/>
              </a:ext>
            </a:extLst>
          </p:cNvPr>
          <p:cNvSpPr/>
          <p:nvPr/>
        </p:nvSpPr>
        <p:spPr>
          <a:xfrm>
            <a:off x="1498600" y="3429000"/>
            <a:ext cx="5905500" cy="352424"/>
          </a:xfrm>
          <a:prstGeom prst="chevron">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箭头: V 形 11">
            <a:extLst>
              <a:ext uri="{FF2B5EF4-FFF2-40B4-BE49-F238E27FC236}">
                <a16:creationId xmlns:a16="http://schemas.microsoft.com/office/drawing/2014/main" id="{AE852D36-040D-ED79-07FA-1F2766761861}"/>
              </a:ext>
            </a:extLst>
          </p:cNvPr>
          <p:cNvSpPr/>
          <p:nvPr/>
        </p:nvSpPr>
        <p:spPr>
          <a:xfrm>
            <a:off x="7404100" y="3429000"/>
            <a:ext cx="1060450" cy="352424"/>
          </a:xfrm>
          <a:prstGeom prst="chevron">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7" name="直接连接符 16">
            <a:extLst>
              <a:ext uri="{FF2B5EF4-FFF2-40B4-BE49-F238E27FC236}">
                <a16:creationId xmlns:a16="http://schemas.microsoft.com/office/drawing/2014/main" id="{D58A74AD-0003-FF1F-84CC-6C51BDB65908}"/>
              </a:ext>
            </a:extLst>
          </p:cNvPr>
          <p:cNvCxnSpPr>
            <a:cxnSpLocks/>
          </p:cNvCxnSpPr>
          <p:nvPr/>
        </p:nvCxnSpPr>
        <p:spPr>
          <a:xfrm flipV="1">
            <a:off x="650240" y="3025774"/>
            <a:ext cx="0" cy="755650"/>
          </a:xfrm>
          <a:prstGeom prst="line">
            <a:avLst/>
          </a:prstGeom>
          <a:ln w="19050"/>
        </p:spPr>
        <p:style>
          <a:lnRef idx="1">
            <a:schemeClr val="dk1"/>
          </a:lnRef>
          <a:fillRef idx="0">
            <a:schemeClr val="dk1"/>
          </a:fillRef>
          <a:effectRef idx="0">
            <a:schemeClr val="dk1"/>
          </a:effectRef>
          <a:fontRef idx="minor">
            <a:schemeClr val="tx1"/>
          </a:fontRef>
        </p:style>
      </p:cxnSp>
      <p:sp>
        <p:nvSpPr>
          <p:cNvPr id="22" name="文本框 21">
            <a:extLst>
              <a:ext uri="{FF2B5EF4-FFF2-40B4-BE49-F238E27FC236}">
                <a16:creationId xmlns:a16="http://schemas.microsoft.com/office/drawing/2014/main" id="{787DDEB2-2DB8-972B-FDC6-B602C13959A3}"/>
              </a:ext>
            </a:extLst>
          </p:cNvPr>
          <p:cNvSpPr txBox="1"/>
          <p:nvPr/>
        </p:nvSpPr>
        <p:spPr>
          <a:xfrm>
            <a:off x="99055" y="2440999"/>
            <a:ext cx="1478290" cy="584775"/>
          </a:xfrm>
          <a:prstGeom prst="rect">
            <a:avLst/>
          </a:prstGeom>
          <a:noFill/>
        </p:spPr>
        <p:txBody>
          <a:bodyPr wrap="none" rtlCol="0">
            <a:spAutoFit/>
          </a:bodyPr>
          <a:lstStyle/>
          <a:p>
            <a:r>
              <a:rPr lang="en-US" altLang="zh-CN" sz="1600" dirty="0"/>
              <a:t>1819</a:t>
            </a:r>
          </a:p>
          <a:p>
            <a:r>
              <a:rPr lang="zh-CN" altLang="en-US" sz="1600" dirty="0"/>
              <a:t>杜隆</a:t>
            </a:r>
            <a:r>
              <a:rPr lang="en-US" altLang="zh-CN" sz="1600" dirty="0"/>
              <a:t>-</a:t>
            </a:r>
            <a:r>
              <a:rPr lang="zh-CN" altLang="en-US" sz="1600" dirty="0"/>
              <a:t>珀蒂定律</a:t>
            </a:r>
          </a:p>
        </p:txBody>
      </p:sp>
      <p:sp>
        <p:nvSpPr>
          <p:cNvPr id="29" name="文本框 28">
            <a:extLst>
              <a:ext uri="{FF2B5EF4-FFF2-40B4-BE49-F238E27FC236}">
                <a16:creationId xmlns:a16="http://schemas.microsoft.com/office/drawing/2014/main" id="{B79D6EC2-C142-6968-90A4-FA125E85C598}"/>
              </a:ext>
            </a:extLst>
          </p:cNvPr>
          <p:cNvSpPr txBox="1"/>
          <p:nvPr/>
        </p:nvSpPr>
        <p:spPr>
          <a:xfrm>
            <a:off x="8716191" y="3493532"/>
            <a:ext cx="2985428" cy="2104926"/>
          </a:xfrm>
          <a:prstGeom prst="rect">
            <a:avLst/>
          </a:prstGeom>
          <a:noFill/>
        </p:spPr>
        <p:txBody>
          <a:bodyPr wrap="square" lIns="36000" tIns="36000" rIns="36000" bIns="36000">
            <a:spAutoFit/>
          </a:bodyPr>
          <a:lstStyle/>
          <a:p>
            <a:pPr>
              <a:lnSpc>
                <a:spcPct val="110000"/>
              </a:lnSpc>
              <a:spcAft>
                <a:spcPts val="1200"/>
              </a:spcAft>
            </a:pPr>
            <a:r>
              <a:rPr lang="en-US" altLang="zh-CN" sz="1600" b="0" i="0" dirty="0">
                <a:solidFill>
                  <a:schemeClr val="tx1"/>
                </a:solidFill>
                <a:effectLst/>
                <a:latin typeface="Calibri" panose="020F0502020204030204" pitchFamily="34" charset="0"/>
                <a:ea typeface="黑体" panose="02010609060101010101" pitchFamily="49" charset="-122"/>
              </a:rPr>
              <a:t>1907</a:t>
            </a:r>
            <a:r>
              <a:rPr lang="zh-CN" altLang="en-US" sz="1600" b="0" i="0" dirty="0">
                <a:solidFill>
                  <a:schemeClr val="tx1"/>
                </a:solidFill>
                <a:effectLst/>
                <a:latin typeface="Calibri" panose="020F0502020204030204" pitchFamily="34" charset="0"/>
                <a:ea typeface="黑体" panose="02010609060101010101" pitchFamily="49" charset="-122"/>
              </a:rPr>
              <a:t>年，爱因斯坦将晶体中的原子视为具有同一频率的独立量子谐振子，首次用量子化的晶格振动解释固体热容随温度降低而下降。</a:t>
            </a:r>
            <a:endParaRPr lang="en-US" altLang="zh-CN" sz="1600" b="0" i="0" dirty="0">
              <a:solidFill>
                <a:schemeClr val="tx1"/>
              </a:solidFill>
              <a:effectLst/>
              <a:latin typeface="Calibri" panose="020F0502020204030204" pitchFamily="34" charset="0"/>
              <a:ea typeface="黑体" panose="02010609060101010101" pitchFamily="49" charset="-122"/>
            </a:endParaRPr>
          </a:p>
          <a:p>
            <a:pPr>
              <a:lnSpc>
                <a:spcPct val="110000"/>
              </a:lnSpc>
              <a:spcAft>
                <a:spcPts val="1200"/>
              </a:spcAft>
            </a:pPr>
            <a:r>
              <a:rPr lang="zh-CN" altLang="en-US" sz="1600" b="0" i="0" dirty="0">
                <a:solidFill>
                  <a:schemeClr val="tx1"/>
                </a:solidFill>
                <a:effectLst/>
                <a:latin typeface="Calibri" panose="020F0502020204030204" pitchFamily="34" charset="0"/>
                <a:ea typeface="黑体" panose="02010609060101010101" pitchFamily="49" charset="-122"/>
              </a:rPr>
              <a:t>该模型第一次</a:t>
            </a:r>
            <a:r>
              <a:rPr lang="zh-CN" altLang="zh-CN" sz="1600" dirty="0"/>
              <a:t>明确</a:t>
            </a:r>
            <a:r>
              <a:rPr lang="zh-CN" altLang="en-US" sz="1600" dirty="0"/>
              <a:t>展示出，</a:t>
            </a:r>
            <a:r>
              <a:rPr lang="zh-CN" altLang="zh-CN" sz="1600" dirty="0"/>
              <a:t>晶格振动本身必须量子化</a:t>
            </a:r>
            <a:r>
              <a:rPr lang="zh-CN" altLang="en-US" sz="1600" dirty="0"/>
              <a:t>。</a:t>
            </a:r>
            <a:endParaRPr lang="en-US" altLang="zh-CN" sz="1600" i="0" dirty="0">
              <a:solidFill>
                <a:schemeClr val="tx1"/>
              </a:solidFill>
              <a:effectLst/>
              <a:latin typeface="Calibri" panose="020F0502020204030204" pitchFamily="34" charset="0"/>
              <a:ea typeface="黑体" panose="02010609060101010101" pitchFamily="49" charset="-122"/>
            </a:endParaRPr>
          </a:p>
        </p:txBody>
      </p:sp>
      <p:sp>
        <p:nvSpPr>
          <p:cNvPr id="5" name="文本框 4">
            <a:extLst>
              <a:ext uri="{FF2B5EF4-FFF2-40B4-BE49-F238E27FC236}">
                <a16:creationId xmlns:a16="http://schemas.microsoft.com/office/drawing/2014/main" id="{00D8CBA1-8941-B6E4-5794-89744D28EA01}"/>
              </a:ext>
            </a:extLst>
          </p:cNvPr>
          <p:cNvSpPr txBox="1"/>
          <p:nvPr/>
        </p:nvSpPr>
        <p:spPr>
          <a:xfrm>
            <a:off x="1102055" y="3070860"/>
            <a:ext cx="652743" cy="369332"/>
          </a:xfrm>
          <a:prstGeom prst="rect">
            <a:avLst/>
          </a:prstGeom>
          <a:noFill/>
        </p:spPr>
        <p:txBody>
          <a:bodyPr wrap="none" rtlCol="0">
            <a:spAutoFit/>
          </a:bodyPr>
          <a:lstStyle/>
          <a:p>
            <a:r>
              <a:rPr lang="en-US" altLang="zh-CN" dirty="0"/>
              <a:t>1900</a:t>
            </a:r>
            <a:endParaRPr lang="zh-CN" altLang="en-US" dirty="0"/>
          </a:p>
        </p:txBody>
      </p:sp>
      <p:sp>
        <p:nvSpPr>
          <p:cNvPr id="8" name="文本框 7">
            <a:extLst>
              <a:ext uri="{FF2B5EF4-FFF2-40B4-BE49-F238E27FC236}">
                <a16:creationId xmlns:a16="http://schemas.microsoft.com/office/drawing/2014/main" id="{B6ADFC7A-0AA5-4BE7-074B-EE8C7ADA4B95}"/>
              </a:ext>
            </a:extLst>
          </p:cNvPr>
          <p:cNvSpPr txBox="1"/>
          <p:nvPr/>
        </p:nvSpPr>
        <p:spPr>
          <a:xfrm>
            <a:off x="7025384" y="3070860"/>
            <a:ext cx="652743" cy="369332"/>
          </a:xfrm>
          <a:prstGeom prst="rect">
            <a:avLst/>
          </a:prstGeom>
          <a:noFill/>
        </p:spPr>
        <p:txBody>
          <a:bodyPr wrap="none" rtlCol="0">
            <a:spAutoFit/>
          </a:bodyPr>
          <a:lstStyle/>
          <a:p>
            <a:r>
              <a:rPr lang="en-US" altLang="zh-CN" dirty="0"/>
              <a:t>2000</a:t>
            </a:r>
            <a:endParaRPr lang="zh-CN" altLang="en-US" dirty="0"/>
          </a:p>
        </p:txBody>
      </p:sp>
      <p:cxnSp>
        <p:nvCxnSpPr>
          <p:cNvPr id="9" name="直接连接符 8">
            <a:extLst>
              <a:ext uri="{FF2B5EF4-FFF2-40B4-BE49-F238E27FC236}">
                <a16:creationId xmlns:a16="http://schemas.microsoft.com/office/drawing/2014/main" id="{258637E0-CB1B-D71F-2BF6-5DD6B05C5691}"/>
              </a:ext>
            </a:extLst>
          </p:cNvPr>
          <p:cNvCxnSpPr>
            <a:cxnSpLocks/>
          </p:cNvCxnSpPr>
          <p:nvPr/>
        </p:nvCxnSpPr>
        <p:spPr>
          <a:xfrm flipV="1">
            <a:off x="1427480" y="3781424"/>
            <a:ext cx="0" cy="287656"/>
          </a:xfrm>
          <a:prstGeom prst="line">
            <a:avLst/>
          </a:prstGeom>
          <a:ln w="19050"/>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0DD14646-1549-BA91-67AD-0F0DF37EEA2F}"/>
              </a:ext>
            </a:extLst>
          </p:cNvPr>
          <p:cNvSpPr txBox="1"/>
          <p:nvPr/>
        </p:nvSpPr>
        <p:spPr>
          <a:xfrm>
            <a:off x="482766" y="4073811"/>
            <a:ext cx="1808779" cy="584775"/>
          </a:xfrm>
          <a:prstGeom prst="rect">
            <a:avLst/>
          </a:prstGeom>
          <a:noFill/>
        </p:spPr>
        <p:txBody>
          <a:bodyPr wrap="square">
            <a:spAutoFit/>
          </a:bodyPr>
          <a:lstStyle/>
          <a:p>
            <a:r>
              <a:rPr lang="en-US" altLang="zh-CN" sz="1600" dirty="0"/>
              <a:t>1900 – 1905</a:t>
            </a:r>
          </a:p>
          <a:p>
            <a:r>
              <a:rPr lang="zh-CN" altLang="en-US" sz="1600" dirty="0"/>
              <a:t>量子论的建立</a:t>
            </a:r>
            <a:endParaRPr lang="en-US" altLang="zh-CN" sz="1600" dirty="0"/>
          </a:p>
        </p:txBody>
      </p:sp>
      <p:pic>
        <p:nvPicPr>
          <p:cNvPr id="21" name="图片 20">
            <a:extLst>
              <a:ext uri="{FF2B5EF4-FFF2-40B4-BE49-F238E27FC236}">
                <a16:creationId xmlns:a16="http://schemas.microsoft.com/office/drawing/2014/main" id="{7A571785-DBC8-735E-48F0-772DD543B8FD}"/>
              </a:ext>
            </a:extLst>
          </p:cNvPr>
          <p:cNvPicPr>
            <a:picLocks noChangeAspect="1"/>
          </p:cNvPicPr>
          <p:nvPr/>
        </p:nvPicPr>
        <p:blipFill>
          <a:blip r:embed="rId2">
            <a:extLst>
              <a:ext uri="{28A0092B-C50C-407E-A947-70E740481C1C}">
                <a14:useLocalDpi xmlns:a14="http://schemas.microsoft.com/office/drawing/2010/main" val="0"/>
              </a:ext>
            </a:extLst>
          </a:blip>
          <a:srcRect l="25890" r="28036" b="55963"/>
          <a:stretch>
            <a:fillRect/>
          </a:stretch>
        </p:blipFill>
        <p:spPr>
          <a:xfrm>
            <a:off x="9549019" y="1612606"/>
            <a:ext cx="1180412" cy="1404000"/>
          </a:xfrm>
          <a:prstGeom prst="rect">
            <a:avLst/>
          </a:prstGeom>
        </p:spPr>
      </p:pic>
      <p:sp>
        <p:nvSpPr>
          <p:cNvPr id="30" name="文本框 29">
            <a:extLst>
              <a:ext uri="{FF2B5EF4-FFF2-40B4-BE49-F238E27FC236}">
                <a16:creationId xmlns:a16="http://schemas.microsoft.com/office/drawing/2014/main" id="{C3DF4DDA-5653-B3F3-301D-9A9340FC9901}"/>
              </a:ext>
            </a:extLst>
          </p:cNvPr>
          <p:cNvSpPr txBox="1"/>
          <p:nvPr/>
        </p:nvSpPr>
        <p:spPr>
          <a:xfrm>
            <a:off x="9521400" y="3056691"/>
            <a:ext cx="1252865" cy="307777"/>
          </a:xfrm>
          <a:prstGeom prst="rect">
            <a:avLst/>
          </a:prstGeom>
          <a:noFill/>
        </p:spPr>
        <p:txBody>
          <a:bodyPr wrap="square">
            <a:spAutoFit/>
          </a:bodyPr>
          <a:lstStyle/>
          <a:p>
            <a:pPr marL="0" marR="0" indent="0" algn="l">
              <a:buNone/>
            </a:pPr>
            <a:r>
              <a:rPr lang="en-US" altLang="zh-CN" sz="1400" dirty="0">
                <a:solidFill>
                  <a:srgbClr val="393939"/>
                </a:solidFill>
              </a:rPr>
              <a:t>Albert Einstein</a:t>
            </a:r>
            <a:endParaRPr lang="zh-CN" altLang="zh-CN" sz="1400" i="0" dirty="0">
              <a:solidFill>
                <a:srgbClr val="393939"/>
              </a:solidFill>
              <a:effectLst/>
            </a:endParaRPr>
          </a:p>
        </p:txBody>
      </p:sp>
      <p:cxnSp>
        <p:nvCxnSpPr>
          <p:cNvPr id="3" name="直接连接符 2">
            <a:extLst>
              <a:ext uri="{FF2B5EF4-FFF2-40B4-BE49-F238E27FC236}">
                <a16:creationId xmlns:a16="http://schemas.microsoft.com/office/drawing/2014/main" id="{A43F8B41-0AA7-52FC-4740-E6180CEA5E4A}"/>
              </a:ext>
            </a:extLst>
          </p:cNvPr>
          <p:cNvCxnSpPr>
            <a:cxnSpLocks/>
          </p:cNvCxnSpPr>
          <p:nvPr/>
        </p:nvCxnSpPr>
        <p:spPr>
          <a:xfrm flipV="1">
            <a:off x="2001178" y="3015688"/>
            <a:ext cx="0" cy="755650"/>
          </a:xfrm>
          <a:prstGeom prst="line">
            <a:avLst/>
          </a:prstGeom>
          <a:ln w="19050"/>
        </p:spPr>
        <p:style>
          <a:lnRef idx="1">
            <a:schemeClr val="dk1"/>
          </a:lnRef>
          <a:fillRef idx="0">
            <a:schemeClr val="dk1"/>
          </a:fillRef>
          <a:effectRef idx="0">
            <a:schemeClr val="dk1"/>
          </a:effectRef>
          <a:fontRef idx="minor">
            <a:schemeClr val="tx1"/>
          </a:fontRef>
        </p:style>
      </p:cxnSp>
      <p:sp>
        <p:nvSpPr>
          <p:cNvPr id="13" name="文本框 12">
            <a:extLst>
              <a:ext uri="{FF2B5EF4-FFF2-40B4-BE49-F238E27FC236}">
                <a16:creationId xmlns:a16="http://schemas.microsoft.com/office/drawing/2014/main" id="{AD7EADAE-3B73-0CB5-8A92-C7BD29236FE1}"/>
              </a:ext>
            </a:extLst>
          </p:cNvPr>
          <p:cNvSpPr txBox="1"/>
          <p:nvPr/>
        </p:nvSpPr>
        <p:spPr>
          <a:xfrm>
            <a:off x="1859189" y="2273252"/>
            <a:ext cx="1808779" cy="707886"/>
          </a:xfrm>
          <a:prstGeom prst="rect">
            <a:avLst/>
          </a:prstGeom>
          <a:noFill/>
        </p:spPr>
        <p:txBody>
          <a:bodyPr wrap="square">
            <a:spAutoFit/>
          </a:bodyPr>
          <a:lstStyle/>
          <a:p>
            <a:r>
              <a:rPr lang="en-US" altLang="zh-CN" sz="2000" dirty="0"/>
              <a:t>1907</a:t>
            </a:r>
          </a:p>
          <a:p>
            <a:r>
              <a:rPr lang="zh-CN" altLang="zh-CN" sz="2000" dirty="0"/>
              <a:t>爱因斯坦模型</a:t>
            </a:r>
            <a:endParaRPr lang="en-US" altLang="zh-CN" sz="2000" dirty="0"/>
          </a:p>
        </p:txBody>
      </p:sp>
    </p:spTree>
    <p:extLst>
      <p:ext uri="{BB962C8B-B14F-4D97-AF65-F5344CB8AC3E}">
        <p14:creationId xmlns:p14="http://schemas.microsoft.com/office/powerpoint/2010/main" val="2255229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34F87-BE3A-BAF7-627B-575E27D530CE}"/>
            </a:ext>
          </a:extLst>
        </p:cNvPr>
        <p:cNvGrpSpPr/>
        <p:nvPr/>
      </p:nvGrpSpPr>
      <p:grpSpPr>
        <a:xfrm>
          <a:off x="0" y="0"/>
          <a:ext cx="0" cy="0"/>
          <a:chOff x="0" y="0"/>
          <a:chExt cx="0" cy="0"/>
        </a:xfrm>
      </p:grpSpPr>
      <p:sp>
        <p:nvSpPr>
          <p:cNvPr id="27" name="矩形: 圆角 26">
            <a:extLst>
              <a:ext uri="{FF2B5EF4-FFF2-40B4-BE49-F238E27FC236}">
                <a16:creationId xmlns:a16="http://schemas.microsoft.com/office/drawing/2014/main" id="{80EEBB72-5B21-3513-46EA-BB52F5B7854A}"/>
              </a:ext>
            </a:extLst>
          </p:cNvPr>
          <p:cNvSpPr/>
          <p:nvPr/>
        </p:nvSpPr>
        <p:spPr>
          <a:xfrm>
            <a:off x="8604897" y="1240156"/>
            <a:ext cx="3208017" cy="4863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2A80561F-AE55-A7D3-6DD3-64169CB00D88}"/>
              </a:ext>
            </a:extLst>
          </p:cNvPr>
          <p:cNvSpPr>
            <a:spLocks noGrp="1"/>
          </p:cNvSpPr>
          <p:nvPr>
            <p:ph type="title"/>
          </p:nvPr>
        </p:nvSpPr>
        <p:spPr/>
        <p:txBody>
          <a:bodyPr/>
          <a:lstStyle/>
          <a:p>
            <a:r>
              <a:rPr lang="zh-CN" altLang="en-US" dirty="0"/>
              <a:t>晶格动力学研究的历史</a:t>
            </a:r>
            <a:endParaRPr lang="en-US" dirty="0"/>
          </a:p>
        </p:txBody>
      </p:sp>
      <p:graphicFrame>
        <p:nvGraphicFramePr>
          <p:cNvPr id="4" name="表格 3">
            <a:extLst>
              <a:ext uri="{FF2B5EF4-FFF2-40B4-BE49-F238E27FC236}">
                <a16:creationId xmlns:a16="http://schemas.microsoft.com/office/drawing/2014/main" id="{F4A90C0D-A538-2BDC-EAA2-E99EA3B9900C}"/>
              </a:ext>
            </a:extLst>
          </p:cNvPr>
          <p:cNvGraphicFramePr>
            <a:graphicFrameLocks noGrp="1"/>
          </p:cNvGraphicFramePr>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6</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
        <p:nvSpPr>
          <p:cNvPr id="7" name="箭头: 五边形 6">
            <a:extLst>
              <a:ext uri="{FF2B5EF4-FFF2-40B4-BE49-F238E27FC236}">
                <a16:creationId xmlns:a16="http://schemas.microsoft.com/office/drawing/2014/main" id="{515AE25C-AB28-1242-6EA9-A4D06CF95529}"/>
              </a:ext>
            </a:extLst>
          </p:cNvPr>
          <p:cNvSpPr/>
          <p:nvPr/>
        </p:nvSpPr>
        <p:spPr>
          <a:xfrm>
            <a:off x="514350" y="3429000"/>
            <a:ext cx="984250" cy="352424"/>
          </a:xfrm>
          <a:prstGeom prst="homePlat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V 形 9">
            <a:extLst>
              <a:ext uri="{FF2B5EF4-FFF2-40B4-BE49-F238E27FC236}">
                <a16:creationId xmlns:a16="http://schemas.microsoft.com/office/drawing/2014/main" id="{8C85E327-3245-BACB-327A-0DA24C6665D0}"/>
              </a:ext>
            </a:extLst>
          </p:cNvPr>
          <p:cNvSpPr/>
          <p:nvPr/>
        </p:nvSpPr>
        <p:spPr>
          <a:xfrm>
            <a:off x="1498600" y="3429000"/>
            <a:ext cx="5905500" cy="352424"/>
          </a:xfrm>
          <a:prstGeom prst="chevron">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箭头: V 形 11">
            <a:extLst>
              <a:ext uri="{FF2B5EF4-FFF2-40B4-BE49-F238E27FC236}">
                <a16:creationId xmlns:a16="http://schemas.microsoft.com/office/drawing/2014/main" id="{EFE155ED-32E0-ABE8-C93B-ED201F52CD62}"/>
              </a:ext>
            </a:extLst>
          </p:cNvPr>
          <p:cNvSpPr/>
          <p:nvPr/>
        </p:nvSpPr>
        <p:spPr>
          <a:xfrm>
            <a:off x="7404100" y="3429000"/>
            <a:ext cx="1060450" cy="352424"/>
          </a:xfrm>
          <a:prstGeom prst="chevron">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7" name="直接连接符 16">
            <a:extLst>
              <a:ext uri="{FF2B5EF4-FFF2-40B4-BE49-F238E27FC236}">
                <a16:creationId xmlns:a16="http://schemas.microsoft.com/office/drawing/2014/main" id="{7314D2DE-80A4-013E-2E4A-07FF1F36281F}"/>
              </a:ext>
            </a:extLst>
          </p:cNvPr>
          <p:cNvCxnSpPr>
            <a:cxnSpLocks/>
          </p:cNvCxnSpPr>
          <p:nvPr/>
        </p:nvCxnSpPr>
        <p:spPr>
          <a:xfrm flipV="1">
            <a:off x="650240" y="3025774"/>
            <a:ext cx="0" cy="755650"/>
          </a:xfrm>
          <a:prstGeom prst="line">
            <a:avLst/>
          </a:prstGeom>
          <a:ln w="19050"/>
        </p:spPr>
        <p:style>
          <a:lnRef idx="1">
            <a:schemeClr val="dk1"/>
          </a:lnRef>
          <a:fillRef idx="0">
            <a:schemeClr val="dk1"/>
          </a:fillRef>
          <a:effectRef idx="0">
            <a:schemeClr val="dk1"/>
          </a:effectRef>
          <a:fontRef idx="minor">
            <a:schemeClr val="tx1"/>
          </a:fontRef>
        </p:style>
      </p:cxnSp>
      <p:sp>
        <p:nvSpPr>
          <p:cNvPr id="22" name="文本框 21">
            <a:extLst>
              <a:ext uri="{FF2B5EF4-FFF2-40B4-BE49-F238E27FC236}">
                <a16:creationId xmlns:a16="http://schemas.microsoft.com/office/drawing/2014/main" id="{DA33F506-9C17-B0C5-EF0A-B0103BDC02AD}"/>
              </a:ext>
            </a:extLst>
          </p:cNvPr>
          <p:cNvSpPr txBox="1"/>
          <p:nvPr/>
        </p:nvSpPr>
        <p:spPr>
          <a:xfrm>
            <a:off x="271889" y="1595181"/>
            <a:ext cx="677108" cy="1385957"/>
          </a:xfrm>
          <a:prstGeom prst="rect">
            <a:avLst/>
          </a:prstGeom>
          <a:noFill/>
        </p:spPr>
        <p:txBody>
          <a:bodyPr vert="eaVert" wrap="none" rtlCol="0">
            <a:spAutoFit/>
          </a:bodyPr>
          <a:lstStyle/>
          <a:p>
            <a:r>
              <a:rPr lang="en-US" altLang="zh-CN" sz="1600" dirty="0"/>
              <a:t>1819</a:t>
            </a:r>
          </a:p>
          <a:p>
            <a:r>
              <a:rPr lang="zh-CN" altLang="en-US" sz="1600" dirty="0"/>
              <a:t>杜隆</a:t>
            </a:r>
            <a:r>
              <a:rPr lang="en-US" altLang="zh-CN" sz="1600" dirty="0"/>
              <a:t>-</a:t>
            </a:r>
            <a:r>
              <a:rPr lang="zh-CN" altLang="en-US" sz="1600" dirty="0"/>
              <a:t>珀蒂定律</a:t>
            </a:r>
          </a:p>
        </p:txBody>
      </p:sp>
      <p:sp>
        <p:nvSpPr>
          <p:cNvPr id="29" name="文本框 28">
            <a:extLst>
              <a:ext uri="{FF2B5EF4-FFF2-40B4-BE49-F238E27FC236}">
                <a16:creationId xmlns:a16="http://schemas.microsoft.com/office/drawing/2014/main" id="{1993B0C1-BC73-02F5-99CA-793E62BDE12A}"/>
              </a:ext>
            </a:extLst>
          </p:cNvPr>
          <p:cNvSpPr txBox="1"/>
          <p:nvPr/>
        </p:nvSpPr>
        <p:spPr>
          <a:xfrm>
            <a:off x="8716191" y="3617211"/>
            <a:ext cx="2985428" cy="1680194"/>
          </a:xfrm>
          <a:prstGeom prst="rect">
            <a:avLst/>
          </a:prstGeom>
          <a:noFill/>
        </p:spPr>
        <p:txBody>
          <a:bodyPr wrap="square" lIns="36000" tIns="36000" rIns="36000" bIns="36000">
            <a:spAutoFit/>
          </a:bodyPr>
          <a:lstStyle/>
          <a:p>
            <a:pPr>
              <a:lnSpc>
                <a:spcPct val="110000"/>
              </a:lnSpc>
              <a:spcAft>
                <a:spcPts val="1200"/>
              </a:spcAft>
            </a:pPr>
            <a:r>
              <a:rPr lang="zh-CN" altLang="en-US" sz="1600" b="0" i="0" dirty="0">
                <a:solidFill>
                  <a:schemeClr val="tx1"/>
                </a:solidFill>
                <a:effectLst/>
                <a:latin typeface="Calibri" panose="020F0502020204030204" pitchFamily="34" charset="0"/>
                <a:ea typeface="黑体" panose="02010609060101010101" pitchFamily="49" charset="-122"/>
              </a:rPr>
              <a:t>瓦尔特</a:t>
            </a:r>
            <a:r>
              <a:rPr lang="en-US" altLang="zh-CN" sz="1600" b="0" i="0" dirty="0">
                <a:solidFill>
                  <a:schemeClr val="tx1"/>
                </a:solidFill>
                <a:effectLst/>
                <a:latin typeface="Calibri" panose="020F0502020204030204" pitchFamily="34" charset="0"/>
                <a:ea typeface="黑体" panose="02010609060101010101" pitchFamily="49" charset="-122"/>
              </a:rPr>
              <a:t>·</a:t>
            </a:r>
            <a:r>
              <a:rPr lang="zh-CN" altLang="en-US" sz="1600" b="0" i="0" dirty="0">
                <a:solidFill>
                  <a:schemeClr val="tx1"/>
                </a:solidFill>
                <a:effectLst/>
                <a:latin typeface="Calibri" panose="020F0502020204030204" pitchFamily="34" charset="0"/>
                <a:ea typeface="黑体" panose="02010609060101010101" pitchFamily="49" charset="-122"/>
              </a:rPr>
              <a:t>能斯特对爱因斯坦的工作大加赞赏，</a:t>
            </a:r>
            <a:r>
              <a:rPr lang="en-US" altLang="zh-CN" sz="1600" b="0" i="0" dirty="0">
                <a:solidFill>
                  <a:schemeClr val="tx1"/>
                </a:solidFill>
                <a:effectLst/>
                <a:latin typeface="Calibri" panose="020F0502020204030204" pitchFamily="34" charset="0"/>
                <a:ea typeface="黑体" panose="02010609060101010101" pitchFamily="49" charset="-122"/>
              </a:rPr>
              <a:t>1911</a:t>
            </a:r>
            <a:r>
              <a:rPr lang="zh-CN" altLang="en-US" sz="1600" b="0" i="0" dirty="0">
                <a:solidFill>
                  <a:schemeClr val="tx1"/>
                </a:solidFill>
                <a:effectLst/>
                <a:latin typeface="Calibri" panose="020F0502020204030204" pitchFamily="34" charset="0"/>
                <a:ea typeface="黑体" panose="02010609060101010101" pitchFamily="49" charset="-122"/>
              </a:rPr>
              <a:t>年，他说服大老板索尔维出资举办了大名鼎鼎的第一次索尔维会议，这次会议被认为是现代物理学的转折点，从此量子力学开始快速发展。</a:t>
            </a:r>
          </a:p>
        </p:txBody>
      </p:sp>
      <p:sp>
        <p:nvSpPr>
          <p:cNvPr id="5" name="文本框 4">
            <a:extLst>
              <a:ext uri="{FF2B5EF4-FFF2-40B4-BE49-F238E27FC236}">
                <a16:creationId xmlns:a16="http://schemas.microsoft.com/office/drawing/2014/main" id="{0EC7A37A-6731-0CE6-A08D-D9BCF0B00CE2}"/>
              </a:ext>
            </a:extLst>
          </p:cNvPr>
          <p:cNvSpPr txBox="1"/>
          <p:nvPr/>
        </p:nvSpPr>
        <p:spPr>
          <a:xfrm>
            <a:off x="1102055" y="3070860"/>
            <a:ext cx="652743" cy="369332"/>
          </a:xfrm>
          <a:prstGeom prst="rect">
            <a:avLst/>
          </a:prstGeom>
          <a:noFill/>
        </p:spPr>
        <p:txBody>
          <a:bodyPr wrap="none" rtlCol="0">
            <a:spAutoFit/>
          </a:bodyPr>
          <a:lstStyle/>
          <a:p>
            <a:r>
              <a:rPr lang="en-US" altLang="zh-CN" dirty="0"/>
              <a:t>1900</a:t>
            </a:r>
            <a:endParaRPr lang="zh-CN" altLang="en-US" dirty="0"/>
          </a:p>
        </p:txBody>
      </p:sp>
      <p:sp>
        <p:nvSpPr>
          <p:cNvPr id="8" name="文本框 7">
            <a:extLst>
              <a:ext uri="{FF2B5EF4-FFF2-40B4-BE49-F238E27FC236}">
                <a16:creationId xmlns:a16="http://schemas.microsoft.com/office/drawing/2014/main" id="{1AB4B882-367B-0B56-8EA6-483C57F1C49A}"/>
              </a:ext>
            </a:extLst>
          </p:cNvPr>
          <p:cNvSpPr txBox="1"/>
          <p:nvPr/>
        </p:nvSpPr>
        <p:spPr>
          <a:xfrm>
            <a:off x="7025384" y="3070860"/>
            <a:ext cx="652743" cy="369332"/>
          </a:xfrm>
          <a:prstGeom prst="rect">
            <a:avLst/>
          </a:prstGeom>
          <a:noFill/>
        </p:spPr>
        <p:txBody>
          <a:bodyPr wrap="none" rtlCol="0">
            <a:spAutoFit/>
          </a:bodyPr>
          <a:lstStyle/>
          <a:p>
            <a:r>
              <a:rPr lang="en-US" altLang="zh-CN" dirty="0"/>
              <a:t>2000</a:t>
            </a:r>
            <a:endParaRPr lang="zh-CN" altLang="en-US" dirty="0"/>
          </a:p>
        </p:txBody>
      </p:sp>
      <p:cxnSp>
        <p:nvCxnSpPr>
          <p:cNvPr id="9" name="直接连接符 8">
            <a:extLst>
              <a:ext uri="{FF2B5EF4-FFF2-40B4-BE49-F238E27FC236}">
                <a16:creationId xmlns:a16="http://schemas.microsoft.com/office/drawing/2014/main" id="{19B1AF4A-9F3D-3D9A-89BA-DF3FEFD0153B}"/>
              </a:ext>
            </a:extLst>
          </p:cNvPr>
          <p:cNvCxnSpPr>
            <a:cxnSpLocks/>
          </p:cNvCxnSpPr>
          <p:nvPr/>
        </p:nvCxnSpPr>
        <p:spPr>
          <a:xfrm flipV="1">
            <a:off x="1427480" y="3781424"/>
            <a:ext cx="0" cy="287656"/>
          </a:xfrm>
          <a:prstGeom prst="line">
            <a:avLst/>
          </a:prstGeom>
          <a:ln w="19050"/>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47BAE6F4-17B4-9BD7-3ADD-57DE8EDB6EF4}"/>
              </a:ext>
            </a:extLst>
          </p:cNvPr>
          <p:cNvSpPr txBox="1"/>
          <p:nvPr/>
        </p:nvSpPr>
        <p:spPr>
          <a:xfrm>
            <a:off x="482766" y="4073811"/>
            <a:ext cx="1808779" cy="584775"/>
          </a:xfrm>
          <a:prstGeom prst="rect">
            <a:avLst/>
          </a:prstGeom>
          <a:noFill/>
        </p:spPr>
        <p:txBody>
          <a:bodyPr wrap="square">
            <a:spAutoFit/>
          </a:bodyPr>
          <a:lstStyle/>
          <a:p>
            <a:r>
              <a:rPr lang="en-US" altLang="zh-CN" sz="1600" dirty="0"/>
              <a:t>1900 – 1905</a:t>
            </a:r>
          </a:p>
          <a:p>
            <a:r>
              <a:rPr lang="zh-CN" altLang="en-US" sz="1600" dirty="0"/>
              <a:t>量子论的建立</a:t>
            </a:r>
            <a:endParaRPr lang="en-US" altLang="zh-CN" sz="1600" dirty="0"/>
          </a:p>
        </p:txBody>
      </p:sp>
      <p:cxnSp>
        <p:nvCxnSpPr>
          <p:cNvPr id="3" name="直接连接符 2">
            <a:extLst>
              <a:ext uri="{FF2B5EF4-FFF2-40B4-BE49-F238E27FC236}">
                <a16:creationId xmlns:a16="http://schemas.microsoft.com/office/drawing/2014/main" id="{BCBEFDB7-85D7-B094-2E0A-A8E85959B23B}"/>
              </a:ext>
            </a:extLst>
          </p:cNvPr>
          <p:cNvCxnSpPr>
            <a:cxnSpLocks/>
          </p:cNvCxnSpPr>
          <p:nvPr/>
        </p:nvCxnSpPr>
        <p:spPr>
          <a:xfrm flipV="1">
            <a:off x="2001178" y="3015688"/>
            <a:ext cx="0" cy="755650"/>
          </a:xfrm>
          <a:prstGeom prst="line">
            <a:avLst/>
          </a:prstGeom>
          <a:ln w="19050"/>
        </p:spPr>
        <p:style>
          <a:lnRef idx="1">
            <a:schemeClr val="dk1"/>
          </a:lnRef>
          <a:fillRef idx="0">
            <a:schemeClr val="dk1"/>
          </a:fillRef>
          <a:effectRef idx="0">
            <a:schemeClr val="dk1"/>
          </a:effectRef>
          <a:fontRef idx="minor">
            <a:schemeClr val="tx1"/>
          </a:fontRef>
        </p:style>
      </p:cxnSp>
      <p:cxnSp>
        <p:nvCxnSpPr>
          <p:cNvPr id="6" name="直接连接符 5">
            <a:extLst>
              <a:ext uri="{FF2B5EF4-FFF2-40B4-BE49-F238E27FC236}">
                <a16:creationId xmlns:a16="http://schemas.microsoft.com/office/drawing/2014/main" id="{992BAFA5-D519-2855-088D-AA2729D97665}"/>
              </a:ext>
            </a:extLst>
          </p:cNvPr>
          <p:cNvCxnSpPr>
            <a:cxnSpLocks/>
          </p:cNvCxnSpPr>
          <p:nvPr/>
        </p:nvCxnSpPr>
        <p:spPr>
          <a:xfrm flipV="1">
            <a:off x="2753483" y="3025774"/>
            <a:ext cx="0" cy="1050926"/>
          </a:xfrm>
          <a:prstGeom prst="line">
            <a:avLst/>
          </a:prstGeom>
          <a:ln w="19050"/>
        </p:spPr>
        <p:style>
          <a:lnRef idx="1">
            <a:schemeClr val="dk1"/>
          </a:lnRef>
          <a:fillRef idx="0">
            <a:schemeClr val="dk1"/>
          </a:fillRef>
          <a:effectRef idx="0">
            <a:schemeClr val="dk1"/>
          </a:effectRef>
          <a:fontRef idx="minor">
            <a:schemeClr val="tx1"/>
          </a:fontRef>
        </p:style>
      </p:cxnSp>
      <p:sp>
        <p:nvSpPr>
          <p:cNvPr id="13" name="文本框 12">
            <a:extLst>
              <a:ext uri="{FF2B5EF4-FFF2-40B4-BE49-F238E27FC236}">
                <a16:creationId xmlns:a16="http://schemas.microsoft.com/office/drawing/2014/main" id="{2869C53D-10FD-0D7A-20EA-0E4959A10A36}"/>
              </a:ext>
            </a:extLst>
          </p:cNvPr>
          <p:cNvSpPr txBox="1"/>
          <p:nvPr/>
        </p:nvSpPr>
        <p:spPr>
          <a:xfrm>
            <a:off x="1662624" y="1595181"/>
            <a:ext cx="677108" cy="1385957"/>
          </a:xfrm>
          <a:prstGeom prst="rect">
            <a:avLst/>
          </a:prstGeom>
          <a:noFill/>
        </p:spPr>
        <p:txBody>
          <a:bodyPr vert="eaVert" wrap="square">
            <a:spAutoFit/>
          </a:bodyPr>
          <a:lstStyle/>
          <a:p>
            <a:r>
              <a:rPr lang="en-US" altLang="zh-CN" sz="1600" dirty="0"/>
              <a:t>1907</a:t>
            </a:r>
          </a:p>
          <a:p>
            <a:r>
              <a:rPr lang="zh-CN" altLang="zh-CN" sz="1600" dirty="0"/>
              <a:t>爱因斯坦模型</a:t>
            </a:r>
            <a:endParaRPr lang="en-US" altLang="zh-CN" sz="1600" dirty="0"/>
          </a:p>
        </p:txBody>
      </p:sp>
      <p:sp>
        <p:nvSpPr>
          <p:cNvPr id="33" name="文本框 32">
            <a:extLst>
              <a:ext uri="{FF2B5EF4-FFF2-40B4-BE49-F238E27FC236}">
                <a16:creationId xmlns:a16="http://schemas.microsoft.com/office/drawing/2014/main" id="{CD91AB73-F78F-5387-5489-B756E3AAACA0}"/>
              </a:ext>
            </a:extLst>
          </p:cNvPr>
          <p:cNvSpPr txBox="1"/>
          <p:nvPr/>
        </p:nvSpPr>
        <p:spPr>
          <a:xfrm>
            <a:off x="2480079" y="4069080"/>
            <a:ext cx="2631027" cy="707886"/>
          </a:xfrm>
          <a:prstGeom prst="rect">
            <a:avLst/>
          </a:prstGeom>
          <a:noFill/>
        </p:spPr>
        <p:txBody>
          <a:bodyPr wrap="square">
            <a:spAutoFit/>
          </a:bodyPr>
          <a:lstStyle/>
          <a:p>
            <a:r>
              <a:rPr lang="en-US" altLang="zh-CN" sz="2000" dirty="0"/>
              <a:t>1911</a:t>
            </a:r>
          </a:p>
          <a:p>
            <a:r>
              <a:rPr lang="zh-CN" altLang="en-US" sz="2000" dirty="0"/>
              <a:t>第一次索尔维会议</a:t>
            </a:r>
            <a:endParaRPr lang="en-US" altLang="zh-CN" sz="2000" dirty="0"/>
          </a:p>
        </p:txBody>
      </p:sp>
      <p:sp>
        <p:nvSpPr>
          <p:cNvPr id="41" name="文本框 40">
            <a:extLst>
              <a:ext uri="{FF2B5EF4-FFF2-40B4-BE49-F238E27FC236}">
                <a16:creationId xmlns:a16="http://schemas.microsoft.com/office/drawing/2014/main" id="{F3B7E56F-F73D-319F-33AC-C4B2A5DEBCE6}"/>
              </a:ext>
            </a:extLst>
          </p:cNvPr>
          <p:cNvSpPr txBox="1"/>
          <p:nvPr/>
        </p:nvSpPr>
        <p:spPr>
          <a:xfrm>
            <a:off x="10352387" y="2988758"/>
            <a:ext cx="1292235" cy="307777"/>
          </a:xfrm>
          <a:prstGeom prst="rect">
            <a:avLst/>
          </a:prstGeom>
          <a:noFill/>
        </p:spPr>
        <p:txBody>
          <a:bodyPr wrap="square">
            <a:spAutoFit/>
          </a:bodyPr>
          <a:lstStyle/>
          <a:p>
            <a:r>
              <a:rPr lang="en-US" altLang="zh-CN" sz="1400" dirty="0">
                <a:solidFill>
                  <a:srgbClr val="393939"/>
                </a:solidFill>
              </a:rPr>
              <a:t>Ernest Solvay</a:t>
            </a:r>
            <a:endParaRPr lang="zh-CN" altLang="zh-CN" sz="1400" i="0" dirty="0">
              <a:solidFill>
                <a:srgbClr val="393939"/>
              </a:solidFill>
              <a:effectLst/>
            </a:endParaRPr>
          </a:p>
        </p:txBody>
      </p:sp>
      <p:pic>
        <p:nvPicPr>
          <p:cNvPr id="14" name="图片 13">
            <a:extLst>
              <a:ext uri="{FF2B5EF4-FFF2-40B4-BE49-F238E27FC236}">
                <a16:creationId xmlns:a16="http://schemas.microsoft.com/office/drawing/2014/main" id="{551197F1-AE16-8D87-F839-12E796F6B387}"/>
              </a:ext>
            </a:extLst>
          </p:cNvPr>
          <p:cNvPicPr>
            <a:picLocks noChangeAspect="1"/>
          </p:cNvPicPr>
          <p:nvPr/>
        </p:nvPicPr>
        <p:blipFill>
          <a:blip r:embed="rId2">
            <a:extLst>
              <a:ext uri="{28A0092B-C50C-407E-A947-70E740481C1C}">
                <a14:useLocalDpi xmlns:a14="http://schemas.microsoft.com/office/drawing/2010/main" val="0"/>
              </a:ext>
            </a:extLst>
          </a:blip>
          <a:srcRect l="18980" t="3372" r="21831" b="33460"/>
          <a:stretch>
            <a:fillRect/>
          </a:stretch>
        </p:blipFill>
        <p:spPr>
          <a:xfrm>
            <a:off x="10406268" y="1531265"/>
            <a:ext cx="996009" cy="1449873"/>
          </a:xfrm>
          <a:prstGeom prst="rect">
            <a:avLst/>
          </a:prstGeom>
        </p:spPr>
      </p:pic>
      <p:pic>
        <p:nvPicPr>
          <p:cNvPr id="20" name="图片 19">
            <a:extLst>
              <a:ext uri="{FF2B5EF4-FFF2-40B4-BE49-F238E27FC236}">
                <a16:creationId xmlns:a16="http://schemas.microsoft.com/office/drawing/2014/main" id="{F29E8359-B89B-515D-9BE7-E085E667B5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07139" y="1531265"/>
            <a:ext cx="1088493" cy="1449873"/>
          </a:xfrm>
          <a:prstGeom prst="rect">
            <a:avLst/>
          </a:prstGeom>
        </p:spPr>
      </p:pic>
      <p:sp>
        <p:nvSpPr>
          <p:cNvPr id="24" name="文本框 23">
            <a:extLst>
              <a:ext uri="{FF2B5EF4-FFF2-40B4-BE49-F238E27FC236}">
                <a16:creationId xmlns:a16="http://schemas.microsoft.com/office/drawing/2014/main" id="{4F3E17CC-DC42-A632-7C67-80C08E458C2E}"/>
              </a:ext>
            </a:extLst>
          </p:cNvPr>
          <p:cNvSpPr txBox="1"/>
          <p:nvPr/>
        </p:nvSpPr>
        <p:spPr>
          <a:xfrm>
            <a:off x="8805702" y="2988758"/>
            <a:ext cx="1476512" cy="307777"/>
          </a:xfrm>
          <a:prstGeom prst="rect">
            <a:avLst/>
          </a:prstGeom>
          <a:noFill/>
        </p:spPr>
        <p:txBody>
          <a:bodyPr wrap="square">
            <a:spAutoFit/>
          </a:bodyPr>
          <a:lstStyle/>
          <a:p>
            <a:r>
              <a:rPr lang="en-US" altLang="zh-CN" sz="1400" dirty="0">
                <a:solidFill>
                  <a:srgbClr val="393939"/>
                </a:solidFill>
              </a:rPr>
              <a:t>Walther Nernst</a:t>
            </a:r>
            <a:endParaRPr lang="zh-CN" altLang="zh-CN" sz="1400" i="0" dirty="0">
              <a:solidFill>
                <a:srgbClr val="393939"/>
              </a:solidFill>
              <a:effectLst/>
            </a:endParaRPr>
          </a:p>
        </p:txBody>
      </p:sp>
    </p:spTree>
    <p:extLst>
      <p:ext uri="{BB962C8B-B14F-4D97-AF65-F5344CB8AC3E}">
        <p14:creationId xmlns:p14="http://schemas.microsoft.com/office/powerpoint/2010/main" val="1185400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1E94EB49-024B-D46A-DDD6-F5C7F29F1CCB}"/>
              </a:ext>
            </a:extLst>
          </p:cNvPr>
          <p:cNvPicPr>
            <a:picLocks noChangeAspect="1"/>
          </p:cNvPicPr>
          <p:nvPr/>
        </p:nvPicPr>
        <p:blipFill>
          <a:blip r:embed="rId2"/>
          <a:stretch>
            <a:fillRect/>
          </a:stretch>
        </p:blipFill>
        <p:spPr>
          <a:xfrm>
            <a:off x="1252135" y="0"/>
            <a:ext cx="9687729" cy="6858000"/>
          </a:xfrm>
          <a:prstGeom prst="rect">
            <a:avLst/>
          </a:prstGeom>
        </p:spPr>
      </p:pic>
      <p:grpSp>
        <p:nvGrpSpPr>
          <p:cNvPr id="26" name="组合 25">
            <a:extLst>
              <a:ext uri="{FF2B5EF4-FFF2-40B4-BE49-F238E27FC236}">
                <a16:creationId xmlns:a16="http://schemas.microsoft.com/office/drawing/2014/main" id="{53C8FAF9-545A-2D1F-4007-4F2C82C4F46B}"/>
              </a:ext>
            </a:extLst>
          </p:cNvPr>
          <p:cNvGrpSpPr/>
          <p:nvPr/>
        </p:nvGrpSpPr>
        <p:grpSpPr>
          <a:xfrm>
            <a:off x="1472560" y="1197665"/>
            <a:ext cx="9554453" cy="4188912"/>
            <a:chOff x="1472560" y="1197665"/>
            <a:chExt cx="9554453" cy="4188912"/>
          </a:xfrm>
        </p:grpSpPr>
        <p:sp>
          <p:nvSpPr>
            <p:cNvPr id="2" name="文本框 1">
              <a:extLst>
                <a:ext uri="{FF2B5EF4-FFF2-40B4-BE49-F238E27FC236}">
                  <a16:creationId xmlns:a16="http://schemas.microsoft.com/office/drawing/2014/main" id="{DE9569D9-7D29-2440-1795-ED04CA028EB1}"/>
                </a:ext>
              </a:extLst>
            </p:cNvPr>
            <p:cNvSpPr txBox="1"/>
            <p:nvPr/>
          </p:nvSpPr>
          <p:spPr>
            <a:xfrm>
              <a:off x="1649896" y="4499113"/>
              <a:ext cx="877163" cy="369332"/>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黑体"/>
                  <a:cs typeface="+mn-cs"/>
                </a:rPr>
                <a:t>能斯特</a:t>
              </a:r>
            </a:p>
          </p:txBody>
        </p:sp>
        <p:sp>
          <p:nvSpPr>
            <p:cNvPr id="3" name="文本框 2">
              <a:extLst>
                <a:ext uri="{FF2B5EF4-FFF2-40B4-BE49-F238E27FC236}">
                  <a16:creationId xmlns:a16="http://schemas.microsoft.com/office/drawing/2014/main" id="{442127F2-2D34-152E-FE40-6FFFAF5AE7BE}"/>
                </a:ext>
              </a:extLst>
            </p:cNvPr>
            <p:cNvSpPr txBox="1"/>
            <p:nvPr/>
          </p:nvSpPr>
          <p:spPr>
            <a:xfrm>
              <a:off x="2630557" y="4499113"/>
              <a:ext cx="877163" cy="369332"/>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黑体"/>
                  <a:cs typeface="+mn-cs"/>
                </a:rPr>
                <a:t>布里渊</a:t>
              </a:r>
            </a:p>
          </p:txBody>
        </p:sp>
        <p:sp>
          <p:nvSpPr>
            <p:cNvPr id="5" name="文本框 4">
              <a:extLst>
                <a:ext uri="{FF2B5EF4-FFF2-40B4-BE49-F238E27FC236}">
                  <a16:creationId xmlns:a16="http://schemas.microsoft.com/office/drawing/2014/main" id="{E5EDEFEA-DC82-20CB-CF70-74ED432AF550}"/>
                </a:ext>
              </a:extLst>
            </p:cNvPr>
            <p:cNvSpPr txBox="1"/>
            <p:nvPr/>
          </p:nvSpPr>
          <p:spPr>
            <a:xfrm>
              <a:off x="3743740" y="4499113"/>
              <a:ext cx="877163" cy="369332"/>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黑体"/>
                  <a:cs typeface="+mn-cs"/>
                </a:rPr>
                <a:t>索尔维</a:t>
              </a:r>
            </a:p>
          </p:txBody>
        </p:sp>
        <p:sp>
          <p:nvSpPr>
            <p:cNvPr id="6" name="文本框 5">
              <a:extLst>
                <a:ext uri="{FF2B5EF4-FFF2-40B4-BE49-F238E27FC236}">
                  <a16:creationId xmlns:a16="http://schemas.microsoft.com/office/drawing/2014/main" id="{33724C08-1BF2-5744-CE48-ADAC69148378}"/>
                </a:ext>
              </a:extLst>
            </p:cNvPr>
            <p:cNvSpPr txBox="1"/>
            <p:nvPr/>
          </p:nvSpPr>
          <p:spPr>
            <a:xfrm>
              <a:off x="4691271" y="4818030"/>
              <a:ext cx="877163" cy="369332"/>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黑体"/>
                  <a:cs typeface="+mn-cs"/>
                </a:rPr>
                <a:t>洛伦兹</a:t>
              </a:r>
            </a:p>
          </p:txBody>
        </p:sp>
        <p:sp>
          <p:nvSpPr>
            <p:cNvPr id="7" name="文本框 6">
              <a:extLst>
                <a:ext uri="{FF2B5EF4-FFF2-40B4-BE49-F238E27FC236}">
                  <a16:creationId xmlns:a16="http://schemas.microsoft.com/office/drawing/2014/main" id="{D138A3DD-514A-0E26-538B-E264B9EEA365}"/>
                </a:ext>
              </a:extLst>
            </p:cNvPr>
            <p:cNvSpPr txBox="1"/>
            <p:nvPr/>
          </p:nvSpPr>
          <p:spPr>
            <a:xfrm>
              <a:off x="5527613" y="4453596"/>
              <a:ext cx="877163" cy="369332"/>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黑体"/>
                  <a:cs typeface="+mn-cs"/>
                </a:rPr>
                <a:t>沃伯格</a:t>
              </a:r>
            </a:p>
          </p:txBody>
        </p:sp>
        <p:sp>
          <p:nvSpPr>
            <p:cNvPr id="9" name="文本框 8">
              <a:extLst>
                <a:ext uri="{FF2B5EF4-FFF2-40B4-BE49-F238E27FC236}">
                  <a16:creationId xmlns:a16="http://schemas.microsoft.com/office/drawing/2014/main" id="{6AA351EE-C233-A4FD-9677-0D4DAAA4DD0E}"/>
                </a:ext>
              </a:extLst>
            </p:cNvPr>
            <p:cNvSpPr txBox="1"/>
            <p:nvPr/>
          </p:nvSpPr>
          <p:spPr>
            <a:xfrm>
              <a:off x="6081610" y="4765022"/>
              <a:ext cx="646331" cy="369332"/>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黑体"/>
                  <a:cs typeface="+mn-cs"/>
                </a:rPr>
                <a:t>佩兰</a:t>
              </a:r>
            </a:p>
          </p:txBody>
        </p:sp>
        <p:sp>
          <p:nvSpPr>
            <p:cNvPr id="10" name="文本框 9">
              <a:extLst>
                <a:ext uri="{FF2B5EF4-FFF2-40B4-BE49-F238E27FC236}">
                  <a16:creationId xmlns:a16="http://schemas.microsoft.com/office/drawing/2014/main" id="{3EEF594C-29AA-741F-31C8-A86B752485E6}"/>
                </a:ext>
              </a:extLst>
            </p:cNvPr>
            <p:cNvSpPr txBox="1"/>
            <p:nvPr/>
          </p:nvSpPr>
          <p:spPr>
            <a:xfrm>
              <a:off x="7009262" y="3545822"/>
              <a:ext cx="646331" cy="369332"/>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黑体"/>
                  <a:cs typeface="+mn-cs"/>
                </a:rPr>
                <a:t>维恩</a:t>
              </a:r>
            </a:p>
          </p:txBody>
        </p:sp>
        <p:sp>
          <p:nvSpPr>
            <p:cNvPr id="11" name="文本框 10">
              <a:extLst>
                <a:ext uri="{FF2B5EF4-FFF2-40B4-BE49-F238E27FC236}">
                  <a16:creationId xmlns:a16="http://schemas.microsoft.com/office/drawing/2014/main" id="{B9CB194A-980F-93A8-C640-89374EA49432}"/>
                </a:ext>
              </a:extLst>
            </p:cNvPr>
            <p:cNvSpPr txBox="1"/>
            <p:nvPr/>
          </p:nvSpPr>
          <p:spPr>
            <a:xfrm>
              <a:off x="6926093" y="4765022"/>
              <a:ext cx="646331" cy="369332"/>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黑体"/>
                  <a:cs typeface="+mn-cs"/>
                </a:rPr>
                <a:t>居里</a:t>
              </a:r>
            </a:p>
          </p:txBody>
        </p:sp>
        <p:sp>
          <p:nvSpPr>
            <p:cNvPr id="12" name="文本框 11">
              <a:extLst>
                <a:ext uri="{FF2B5EF4-FFF2-40B4-BE49-F238E27FC236}">
                  <a16:creationId xmlns:a16="http://schemas.microsoft.com/office/drawing/2014/main" id="{362334BF-0BC4-1237-6EDF-CAA9F60506D1}"/>
                </a:ext>
              </a:extLst>
            </p:cNvPr>
            <p:cNvSpPr txBox="1"/>
            <p:nvPr/>
          </p:nvSpPr>
          <p:spPr>
            <a:xfrm>
              <a:off x="7641447" y="5017245"/>
              <a:ext cx="877163" cy="369332"/>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黑体"/>
                  <a:cs typeface="+mn-cs"/>
                </a:rPr>
                <a:t>庞加莱</a:t>
              </a:r>
            </a:p>
          </p:txBody>
        </p:sp>
        <p:sp>
          <p:nvSpPr>
            <p:cNvPr id="13" name="文本框 12">
              <a:extLst>
                <a:ext uri="{FF2B5EF4-FFF2-40B4-BE49-F238E27FC236}">
                  <a16:creationId xmlns:a16="http://schemas.microsoft.com/office/drawing/2014/main" id="{7EFABBC2-AE84-CC27-1441-3B48BAF72D74}"/>
                </a:ext>
              </a:extLst>
            </p:cNvPr>
            <p:cNvSpPr txBox="1"/>
            <p:nvPr/>
          </p:nvSpPr>
          <p:spPr>
            <a:xfrm>
              <a:off x="1472560" y="2174221"/>
              <a:ext cx="1338828" cy="369332"/>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黑体"/>
                  <a:cs typeface="+mn-cs"/>
                </a:rPr>
                <a:t>古德施密特</a:t>
              </a:r>
            </a:p>
          </p:txBody>
        </p:sp>
        <p:sp>
          <p:nvSpPr>
            <p:cNvPr id="14" name="文本框 13">
              <a:extLst>
                <a:ext uri="{FF2B5EF4-FFF2-40B4-BE49-F238E27FC236}">
                  <a16:creationId xmlns:a16="http://schemas.microsoft.com/office/drawing/2014/main" id="{54E1B4B5-2440-7034-CBE3-FACED429ED04}"/>
                </a:ext>
              </a:extLst>
            </p:cNvPr>
            <p:cNvSpPr txBox="1"/>
            <p:nvPr/>
          </p:nvSpPr>
          <p:spPr>
            <a:xfrm>
              <a:off x="2866577" y="2358887"/>
              <a:ext cx="877163" cy="369332"/>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黑体"/>
                  <a:cs typeface="+mn-cs"/>
                </a:rPr>
                <a:t>普朗克</a:t>
              </a:r>
            </a:p>
          </p:txBody>
        </p:sp>
        <p:sp>
          <p:nvSpPr>
            <p:cNvPr id="15" name="文本框 14">
              <a:extLst>
                <a:ext uri="{FF2B5EF4-FFF2-40B4-BE49-F238E27FC236}">
                  <a16:creationId xmlns:a16="http://schemas.microsoft.com/office/drawing/2014/main" id="{18714999-BC36-6853-0E2D-A34E5071222E}"/>
                </a:ext>
              </a:extLst>
            </p:cNvPr>
            <p:cNvSpPr txBox="1"/>
            <p:nvPr/>
          </p:nvSpPr>
          <p:spPr>
            <a:xfrm>
              <a:off x="3867116" y="1623391"/>
              <a:ext cx="877163" cy="369332"/>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黑体"/>
                  <a:cs typeface="+mn-cs"/>
                </a:rPr>
                <a:t>鲁本斯</a:t>
              </a:r>
            </a:p>
          </p:txBody>
        </p:sp>
        <p:sp>
          <p:nvSpPr>
            <p:cNvPr id="16" name="文本框 15">
              <a:extLst>
                <a:ext uri="{FF2B5EF4-FFF2-40B4-BE49-F238E27FC236}">
                  <a16:creationId xmlns:a16="http://schemas.microsoft.com/office/drawing/2014/main" id="{F3564675-88FD-EFCA-4933-43B1AB9A18E7}"/>
                </a:ext>
              </a:extLst>
            </p:cNvPr>
            <p:cNvSpPr txBox="1"/>
            <p:nvPr/>
          </p:nvSpPr>
          <p:spPr>
            <a:xfrm>
              <a:off x="4182322" y="2105512"/>
              <a:ext cx="879408" cy="369332"/>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黑体"/>
                  <a:cs typeface="+mn-cs"/>
                </a:rPr>
                <a:t>索末菲</a:t>
              </a:r>
            </a:p>
          </p:txBody>
        </p:sp>
        <p:sp>
          <p:nvSpPr>
            <p:cNvPr id="17" name="文本框 16">
              <a:extLst>
                <a:ext uri="{FF2B5EF4-FFF2-40B4-BE49-F238E27FC236}">
                  <a16:creationId xmlns:a16="http://schemas.microsoft.com/office/drawing/2014/main" id="{B465B6F0-1307-24BF-8501-888448629747}"/>
                </a:ext>
              </a:extLst>
            </p:cNvPr>
            <p:cNvSpPr txBox="1"/>
            <p:nvPr/>
          </p:nvSpPr>
          <p:spPr>
            <a:xfrm>
              <a:off x="4691271" y="1197665"/>
              <a:ext cx="877163" cy="369332"/>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黑体"/>
                  <a:cs typeface="+mn-cs"/>
                </a:rPr>
                <a:t>林德曼</a:t>
              </a:r>
            </a:p>
          </p:txBody>
        </p:sp>
        <p:sp>
          <p:nvSpPr>
            <p:cNvPr id="18" name="文本框 17">
              <a:extLst>
                <a:ext uri="{FF2B5EF4-FFF2-40B4-BE49-F238E27FC236}">
                  <a16:creationId xmlns:a16="http://schemas.microsoft.com/office/drawing/2014/main" id="{95285DDB-282A-FA1D-CEA3-23182A2BFEA6}"/>
                </a:ext>
              </a:extLst>
            </p:cNvPr>
            <p:cNvSpPr txBox="1"/>
            <p:nvPr/>
          </p:nvSpPr>
          <p:spPr>
            <a:xfrm>
              <a:off x="5024494" y="1651588"/>
              <a:ext cx="1107996" cy="369332"/>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黑体"/>
                  <a:cs typeface="+mn-cs"/>
                </a:rPr>
                <a:t>德布罗意</a:t>
              </a:r>
            </a:p>
          </p:txBody>
        </p:sp>
        <p:sp>
          <p:nvSpPr>
            <p:cNvPr id="19" name="文本框 18">
              <a:extLst>
                <a:ext uri="{FF2B5EF4-FFF2-40B4-BE49-F238E27FC236}">
                  <a16:creationId xmlns:a16="http://schemas.microsoft.com/office/drawing/2014/main" id="{5A435617-F796-510A-88D3-C153B9738860}"/>
                </a:ext>
              </a:extLst>
            </p:cNvPr>
            <p:cNvSpPr txBox="1"/>
            <p:nvPr/>
          </p:nvSpPr>
          <p:spPr>
            <a:xfrm>
              <a:off x="5643028" y="2099749"/>
              <a:ext cx="646331" cy="369332"/>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黑体"/>
                  <a:cs typeface="+mn-cs"/>
                </a:rPr>
                <a:t>努森</a:t>
              </a:r>
            </a:p>
          </p:txBody>
        </p:sp>
        <p:sp>
          <p:nvSpPr>
            <p:cNvPr id="20" name="文本框 19">
              <a:extLst>
                <a:ext uri="{FF2B5EF4-FFF2-40B4-BE49-F238E27FC236}">
                  <a16:creationId xmlns:a16="http://schemas.microsoft.com/office/drawing/2014/main" id="{2D175EAA-E477-B3E6-CDC4-FBE9B82771D1}"/>
                </a:ext>
              </a:extLst>
            </p:cNvPr>
            <p:cNvSpPr txBox="1"/>
            <p:nvPr/>
          </p:nvSpPr>
          <p:spPr>
            <a:xfrm>
              <a:off x="5850777" y="1197665"/>
              <a:ext cx="1107996" cy="369332"/>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黑体"/>
                  <a:cs typeface="+mn-cs"/>
                </a:rPr>
                <a:t>哈泽内尔</a:t>
              </a:r>
            </a:p>
          </p:txBody>
        </p:sp>
        <p:sp>
          <p:nvSpPr>
            <p:cNvPr id="21" name="文本框 20">
              <a:extLst>
                <a:ext uri="{FF2B5EF4-FFF2-40B4-BE49-F238E27FC236}">
                  <a16:creationId xmlns:a16="http://schemas.microsoft.com/office/drawing/2014/main" id="{96C7A732-A0F3-47B9-96DD-3BA0980ACB0D}"/>
                </a:ext>
              </a:extLst>
            </p:cNvPr>
            <p:cNvSpPr txBox="1"/>
            <p:nvPr/>
          </p:nvSpPr>
          <p:spPr>
            <a:xfrm>
              <a:off x="6408103" y="1661203"/>
              <a:ext cx="1107996" cy="92333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黑体"/>
                  <a:cs typeface="+mn-cs"/>
                </a:rPr>
                <a:t>豪斯特莱</a:t>
              </a:r>
              <a:endParaRPr kumimoji="0" lang="en-US" altLang="zh-CN" sz="1800" b="0" i="0" u="none" strike="noStrike" kern="1200" cap="none" spc="0" normalizeH="0" baseline="0" noProof="0" dirty="0">
                <a:ln>
                  <a:noFill/>
                </a:ln>
                <a:solidFill>
                  <a:prstClr val="black"/>
                </a:solidFill>
                <a:effectLst/>
                <a:uLnTx/>
                <a:uFillTx/>
                <a:latin typeface="Calibri"/>
                <a:ea typeface="黑体"/>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黑体"/>
                  <a:cs typeface="+mn-cs"/>
                </a:rPr>
                <a:t>   赫尔岑</a:t>
              </a:r>
              <a:endParaRPr kumimoji="0" lang="en-US" altLang="zh-CN" sz="1800" b="0" i="0" u="none" strike="noStrike" kern="1200" cap="none" spc="0" normalizeH="0" baseline="0" noProof="0" dirty="0">
                <a:ln>
                  <a:noFill/>
                </a:ln>
                <a:solidFill>
                  <a:prstClr val="black"/>
                </a:solidFill>
                <a:effectLst/>
                <a:uLnTx/>
                <a:uFillTx/>
                <a:latin typeface="Calibri"/>
                <a:ea typeface="黑体"/>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黑体"/>
                  <a:cs typeface="+mn-cs"/>
                </a:rPr>
                <a:t>        金斯</a:t>
              </a:r>
              <a:endParaRPr kumimoji="0" lang="en-US" altLang="zh-CN" sz="1800" b="0" i="0" u="none" strike="noStrike" kern="1200" cap="none" spc="0" normalizeH="0" baseline="0" noProof="0" dirty="0">
                <a:ln>
                  <a:noFill/>
                </a:ln>
                <a:solidFill>
                  <a:prstClr val="black"/>
                </a:solidFill>
                <a:effectLst/>
                <a:uLnTx/>
                <a:uFillTx/>
                <a:latin typeface="Calibri"/>
                <a:ea typeface="黑体"/>
                <a:cs typeface="+mn-cs"/>
              </a:endParaRPr>
            </a:p>
          </p:txBody>
        </p:sp>
        <p:sp>
          <p:nvSpPr>
            <p:cNvPr id="22" name="文本框 21">
              <a:extLst>
                <a:ext uri="{FF2B5EF4-FFF2-40B4-BE49-F238E27FC236}">
                  <a16:creationId xmlns:a16="http://schemas.microsoft.com/office/drawing/2014/main" id="{DFBA160B-D41F-6C9F-5B46-A9785B783D44}"/>
                </a:ext>
              </a:extLst>
            </p:cNvPr>
            <p:cNvSpPr txBox="1"/>
            <p:nvPr/>
          </p:nvSpPr>
          <p:spPr>
            <a:xfrm>
              <a:off x="7634843" y="2174221"/>
              <a:ext cx="877163" cy="369332"/>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黑体"/>
                  <a:cs typeface="+mn-cs"/>
                </a:rPr>
                <a:t>卢瑟福</a:t>
              </a:r>
              <a:endParaRPr kumimoji="0" lang="en-US" altLang="zh-CN" sz="1800" b="0" i="0" u="none" strike="noStrike" kern="1200" cap="none" spc="0" normalizeH="0" baseline="0" noProof="0" dirty="0">
                <a:ln>
                  <a:noFill/>
                </a:ln>
                <a:solidFill>
                  <a:prstClr val="black"/>
                </a:solidFill>
                <a:effectLst/>
                <a:uLnTx/>
                <a:uFillTx/>
                <a:latin typeface="Calibri"/>
                <a:ea typeface="黑体"/>
                <a:cs typeface="+mn-cs"/>
              </a:endParaRPr>
            </a:p>
          </p:txBody>
        </p:sp>
        <p:sp>
          <p:nvSpPr>
            <p:cNvPr id="23" name="文本框 22">
              <a:extLst>
                <a:ext uri="{FF2B5EF4-FFF2-40B4-BE49-F238E27FC236}">
                  <a16:creationId xmlns:a16="http://schemas.microsoft.com/office/drawing/2014/main" id="{C74B9FD1-A6EC-1614-D519-C902E4079EDB}"/>
                </a:ext>
              </a:extLst>
            </p:cNvPr>
            <p:cNvSpPr txBox="1"/>
            <p:nvPr/>
          </p:nvSpPr>
          <p:spPr>
            <a:xfrm>
              <a:off x="8274111" y="1791564"/>
              <a:ext cx="877163" cy="369332"/>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黑体"/>
                  <a:cs typeface="+mn-cs"/>
                </a:rPr>
                <a:t>昂内斯</a:t>
              </a:r>
              <a:endParaRPr kumimoji="0" lang="en-US" altLang="zh-CN" sz="1800" b="0" i="0" u="none" strike="noStrike" kern="1200" cap="none" spc="0" normalizeH="0" baseline="0" noProof="0" dirty="0">
                <a:ln>
                  <a:noFill/>
                </a:ln>
                <a:solidFill>
                  <a:prstClr val="black"/>
                </a:solidFill>
                <a:effectLst/>
                <a:uLnTx/>
                <a:uFillTx/>
                <a:latin typeface="Calibri"/>
                <a:ea typeface="黑体"/>
                <a:cs typeface="+mn-cs"/>
              </a:endParaRPr>
            </a:p>
          </p:txBody>
        </p:sp>
        <p:sp>
          <p:nvSpPr>
            <p:cNvPr id="24" name="文本框 23">
              <a:extLst>
                <a:ext uri="{FF2B5EF4-FFF2-40B4-BE49-F238E27FC236}">
                  <a16:creationId xmlns:a16="http://schemas.microsoft.com/office/drawing/2014/main" id="{10265032-C00A-B015-6E5D-D3121A240E46}"/>
                </a:ext>
              </a:extLst>
            </p:cNvPr>
            <p:cNvSpPr txBox="1"/>
            <p:nvPr/>
          </p:nvSpPr>
          <p:spPr>
            <a:xfrm>
              <a:off x="8961781" y="2152758"/>
              <a:ext cx="1107996" cy="369332"/>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黑体"/>
                  <a:cs typeface="+mn-cs"/>
                </a:rPr>
                <a:t>爱因斯坦</a:t>
              </a:r>
              <a:endParaRPr kumimoji="0" lang="en-US" altLang="zh-CN" sz="1800" b="0" i="0" u="none" strike="noStrike" kern="1200" cap="none" spc="0" normalizeH="0" baseline="0" noProof="0" dirty="0">
                <a:ln>
                  <a:noFill/>
                </a:ln>
                <a:solidFill>
                  <a:prstClr val="black"/>
                </a:solidFill>
                <a:effectLst/>
                <a:uLnTx/>
                <a:uFillTx/>
                <a:latin typeface="Calibri"/>
                <a:ea typeface="黑体"/>
                <a:cs typeface="+mn-cs"/>
              </a:endParaRPr>
            </a:p>
          </p:txBody>
        </p:sp>
        <p:sp>
          <p:nvSpPr>
            <p:cNvPr id="25" name="文本框 24">
              <a:extLst>
                <a:ext uri="{FF2B5EF4-FFF2-40B4-BE49-F238E27FC236}">
                  <a16:creationId xmlns:a16="http://schemas.microsoft.com/office/drawing/2014/main" id="{95092305-8329-FCAE-B741-D7323EA214DB}"/>
                </a:ext>
              </a:extLst>
            </p:cNvPr>
            <p:cNvSpPr txBox="1"/>
            <p:nvPr/>
          </p:nvSpPr>
          <p:spPr>
            <a:xfrm>
              <a:off x="10149850" y="2152758"/>
              <a:ext cx="877163" cy="369332"/>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黑体"/>
                  <a:cs typeface="+mn-cs"/>
                </a:rPr>
                <a:t>朗之万</a:t>
              </a:r>
              <a:endParaRPr kumimoji="0" lang="en-US" altLang="zh-CN" sz="1800" b="0" i="0" u="none" strike="noStrike" kern="1200" cap="none" spc="0" normalizeH="0" baseline="0" noProof="0" dirty="0">
                <a:ln>
                  <a:noFill/>
                </a:ln>
                <a:solidFill>
                  <a:prstClr val="black"/>
                </a:solidFill>
                <a:effectLst/>
                <a:uLnTx/>
                <a:uFillTx/>
                <a:latin typeface="Calibri"/>
                <a:ea typeface="黑体"/>
                <a:cs typeface="+mn-cs"/>
              </a:endParaRPr>
            </a:p>
          </p:txBody>
        </p:sp>
      </p:grpSp>
      <p:graphicFrame>
        <p:nvGraphicFramePr>
          <p:cNvPr id="4" name="表格 3">
            <a:extLst>
              <a:ext uri="{FF2B5EF4-FFF2-40B4-BE49-F238E27FC236}">
                <a16:creationId xmlns:a16="http://schemas.microsoft.com/office/drawing/2014/main" id="{F369310D-14F7-16FC-505E-3A6BBF0C45FC}"/>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7</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3020676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BA660-E571-B9D1-66A0-E9BE8F27AFB2}"/>
            </a:ext>
          </a:extLst>
        </p:cNvPr>
        <p:cNvGrpSpPr/>
        <p:nvPr/>
      </p:nvGrpSpPr>
      <p:grpSpPr>
        <a:xfrm>
          <a:off x="0" y="0"/>
          <a:ext cx="0" cy="0"/>
          <a:chOff x="0" y="0"/>
          <a:chExt cx="0" cy="0"/>
        </a:xfrm>
      </p:grpSpPr>
      <p:sp>
        <p:nvSpPr>
          <p:cNvPr id="27" name="矩形: 圆角 26">
            <a:extLst>
              <a:ext uri="{FF2B5EF4-FFF2-40B4-BE49-F238E27FC236}">
                <a16:creationId xmlns:a16="http://schemas.microsoft.com/office/drawing/2014/main" id="{41147E30-A239-9E9F-38DD-A20C668A621B}"/>
              </a:ext>
            </a:extLst>
          </p:cNvPr>
          <p:cNvSpPr/>
          <p:nvPr/>
        </p:nvSpPr>
        <p:spPr>
          <a:xfrm>
            <a:off x="8604897" y="1240156"/>
            <a:ext cx="3208017" cy="4863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0C39E57D-F0FA-9888-9EFD-59CB02F2AACE}"/>
              </a:ext>
            </a:extLst>
          </p:cNvPr>
          <p:cNvSpPr>
            <a:spLocks noGrp="1"/>
          </p:cNvSpPr>
          <p:nvPr>
            <p:ph type="title"/>
          </p:nvPr>
        </p:nvSpPr>
        <p:spPr/>
        <p:txBody>
          <a:bodyPr/>
          <a:lstStyle/>
          <a:p>
            <a:r>
              <a:rPr lang="zh-CN" altLang="en-US" dirty="0"/>
              <a:t>晶格动力学研究的历史</a:t>
            </a:r>
            <a:endParaRPr lang="en-US" dirty="0"/>
          </a:p>
        </p:txBody>
      </p:sp>
      <p:graphicFrame>
        <p:nvGraphicFramePr>
          <p:cNvPr id="4" name="表格 3">
            <a:extLst>
              <a:ext uri="{FF2B5EF4-FFF2-40B4-BE49-F238E27FC236}">
                <a16:creationId xmlns:a16="http://schemas.microsoft.com/office/drawing/2014/main" id="{0AA61E8F-3B77-75FB-DE0A-2B5E178CC98D}"/>
              </a:ext>
            </a:extLst>
          </p:cNvPr>
          <p:cNvGraphicFramePr>
            <a:graphicFrameLocks noGrp="1"/>
          </p:cNvGraphicFramePr>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8</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
        <p:nvSpPr>
          <p:cNvPr id="7" name="箭头: 五边形 6">
            <a:extLst>
              <a:ext uri="{FF2B5EF4-FFF2-40B4-BE49-F238E27FC236}">
                <a16:creationId xmlns:a16="http://schemas.microsoft.com/office/drawing/2014/main" id="{BE0351D7-16C9-34B3-CBFC-142ACB47C9D7}"/>
              </a:ext>
            </a:extLst>
          </p:cNvPr>
          <p:cNvSpPr/>
          <p:nvPr/>
        </p:nvSpPr>
        <p:spPr>
          <a:xfrm>
            <a:off x="514350" y="3429000"/>
            <a:ext cx="984250" cy="352424"/>
          </a:xfrm>
          <a:prstGeom prst="homePlat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V 形 9">
            <a:extLst>
              <a:ext uri="{FF2B5EF4-FFF2-40B4-BE49-F238E27FC236}">
                <a16:creationId xmlns:a16="http://schemas.microsoft.com/office/drawing/2014/main" id="{F26B50E7-5484-EA66-B7A1-EC4EEDCE32AB}"/>
              </a:ext>
            </a:extLst>
          </p:cNvPr>
          <p:cNvSpPr/>
          <p:nvPr/>
        </p:nvSpPr>
        <p:spPr>
          <a:xfrm>
            <a:off x="1498600" y="3429000"/>
            <a:ext cx="5905500" cy="352424"/>
          </a:xfrm>
          <a:prstGeom prst="chevron">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箭头: V 形 11">
            <a:extLst>
              <a:ext uri="{FF2B5EF4-FFF2-40B4-BE49-F238E27FC236}">
                <a16:creationId xmlns:a16="http://schemas.microsoft.com/office/drawing/2014/main" id="{3C6D6AA8-3B88-A0CD-311E-E9C066F0FCE4}"/>
              </a:ext>
            </a:extLst>
          </p:cNvPr>
          <p:cNvSpPr/>
          <p:nvPr/>
        </p:nvSpPr>
        <p:spPr>
          <a:xfrm>
            <a:off x="7404100" y="3429000"/>
            <a:ext cx="1060450" cy="352424"/>
          </a:xfrm>
          <a:prstGeom prst="chevron">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7" name="直接连接符 16">
            <a:extLst>
              <a:ext uri="{FF2B5EF4-FFF2-40B4-BE49-F238E27FC236}">
                <a16:creationId xmlns:a16="http://schemas.microsoft.com/office/drawing/2014/main" id="{F96E7717-47E4-00B4-D68E-013E2783839F}"/>
              </a:ext>
            </a:extLst>
          </p:cNvPr>
          <p:cNvCxnSpPr>
            <a:cxnSpLocks/>
          </p:cNvCxnSpPr>
          <p:nvPr/>
        </p:nvCxnSpPr>
        <p:spPr>
          <a:xfrm flipV="1">
            <a:off x="650240" y="3025774"/>
            <a:ext cx="0" cy="755650"/>
          </a:xfrm>
          <a:prstGeom prst="line">
            <a:avLst/>
          </a:prstGeom>
          <a:ln w="19050"/>
        </p:spPr>
        <p:style>
          <a:lnRef idx="1">
            <a:schemeClr val="dk1"/>
          </a:lnRef>
          <a:fillRef idx="0">
            <a:schemeClr val="dk1"/>
          </a:fillRef>
          <a:effectRef idx="0">
            <a:schemeClr val="dk1"/>
          </a:effectRef>
          <a:fontRef idx="minor">
            <a:schemeClr val="tx1"/>
          </a:fontRef>
        </p:style>
      </p:cxnSp>
      <p:sp>
        <p:nvSpPr>
          <p:cNvPr id="22" name="文本框 21">
            <a:extLst>
              <a:ext uri="{FF2B5EF4-FFF2-40B4-BE49-F238E27FC236}">
                <a16:creationId xmlns:a16="http://schemas.microsoft.com/office/drawing/2014/main" id="{8E2490BD-CC49-C858-B074-417E2F8D263E}"/>
              </a:ext>
            </a:extLst>
          </p:cNvPr>
          <p:cNvSpPr txBox="1"/>
          <p:nvPr/>
        </p:nvSpPr>
        <p:spPr>
          <a:xfrm>
            <a:off x="271889" y="1595181"/>
            <a:ext cx="677108" cy="1385957"/>
          </a:xfrm>
          <a:prstGeom prst="rect">
            <a:avLst/>
          </a:prstGeom>
          <a:noFill/>
        </p:spPr>
        <p:txBody>
          <a:bodyPr vert="eaVert" wrap="none" rtlCol="0">
            <a:spAutoFit/>
          </a:bodyPr>
          <a:lstStyle/>
          <a:p>
            <a:r>
              <a:rPr lang="en-US" altLang="zh-CN" sz="1600" dirty="0"/>
              <a:t>1819</a:t>
            </a:r>
          </a:p>
          <a:p>
            <a:r>
              <a:rPr lang="zh-CN" altLang="en-US" sz="1600" dirty="0"/>
              <a:t>杜隆</a:t>
            </a:r>
            <a:r>
              <a:rPr lang="en-US" altLang="zh-CN" sz="1600" dirty="0"/>
              <a:t>-</a:t>
            </a:r>
            <a:r>
              <a:rPr lang="zh-CN" altLang="en-US" sz="1600" dirty="0"/>
              <a:t>珀蒂定律</a:t>
            </a:r>
          </a:p>
        </p:txBody>
      </p:sp>
      <p:sp>
        <p:nvSpPr>
          <p:cNvPr id="29" name="文本框 28">
            <a:extLst>
              <a:ext uri="{FF2B5EF4-FFF2-40B4-BE49-F238E27FC236}">
                <a16:creationId xmlns:a16="http://schemas.microsoft.com/office/drawing/2014/main" id="{6B605353-1120-A7D0-639C-8C7B384EA94D}"/>
              </a:ext>
            </a:extLst>
          </p:cNvPr>
          <p:cNvSpPr txBox="1"/>
          <p:nvPr/>
        </p:nvSpPr>
        <p:spPr>
          <a:xfrm>
            <a:off x="8716191" y="3617211"/>
            <a:ext cx="2985428" cy="2375769"/>
          </a:xfrm>
          <a:prstGeom prst="rect">
            <a:avLst/>
          </a:prstGeom>
          <a:noFill/>
        </p:spPr>
        <p:txBody>
          <a:bodyPr wrap="square" lIns="36000" tIns="36000" rIns="36000" bIns="36000">
            <a:spAutoFit/>
          </a:bodyPr>
          <a:lstStyle/>
          <a:p>
            <a:pPr>
              <a:lnSpc>
                <a:spcPct val="110000"/>
              </a:lnSpc>
              <a:spcAft>
                <a:spcPts val="1200"/>
              </a:spcAft>
            </a:pPr>
            <a:r>
              <a:rPr lang="zh-CN" altLang="en-US" sz="1600" b="0" i="0" dirty="0">
                <a:solidFill>
                  <a:schemeClr val="tx1"/>
                </a:solidFill>
                <a:effectLst/>
                <a:latin typeface="Calibri" panose="020F0502020204030204" pitchFamily="34" charset="0"/>
                <a:ea typeface="黑体" panose="02010609060101010101" pitchFamily="49" charset="-122"/>
              </a:rPr>
              <a:t>次年，德拜发表论文，将晶体近似为连续弹性介质，引入一系列不同波长和频率的弹性波模式，第一次正确解释了低温晶格热容。</a:t>
            </a:r>
            <a:endParaRPr lang="en-US" altLang="zh-CN" sz="1600" b="0" i="0" dirty="0">
              <a:solidFill>
                <a:schemeClr val="tx1"/>
              </a:solidFill>
              <a:effectLst/>
              <a:latin typeface="Calibri" panose="020F0502020204030204" pitchFamily="34" charset="0"/>
              <a:ea typeface="黑体" panose="02010609060101010101" pitchFamily="49" charset="-122"/>
            </a:endParaRPr>
          </a:p>
          <a:p>
            <a:pPr>
              <a:lnSpc>
                <a:spcPct val="110000"/>
              </a:lnSpc>
              <a:spcAft>
                <a:spcPts val="1200"/>
              </a:spcAft>
            </a:pPr>
            <a:r>
              <a:rPr lang="zh-CN" altLang="en-US" sz="1600" b="0" i="0" dirty="0">
                <a:solidFill>
                  <a:schemeClr val="tx1"/>
                </a:solidFill>
                <a:effectLst/>
                <a:latin typeface="Calibri" panose="020F0502020204030204" pitchFamily="34" charset="0"/>
                <a:ea typeface="黑体" panose="02010609060101010101" pitchFamily="49" charset="-122"/>
              </a:rPr>
              <a:t>同一时间，波恩和冯</a:t>
            </a:r>
            <a:r>
              <a:rPr lang="en-US" altLang="zh-CN" sz="1600" b="0" i="0" dirty="0">
                <a:solidFill>
                  <a:schemeClr val="tx1"/>
                </a:solidFill>
                <a:effectLst/>
                <a:latin typeface="Calibri" panose="020F0502020204030204" pitchFamily="34" charset="0"/>
                <a:ea typeface="黑体" panose="02010609060101010101" pitchFamily="49" charset="-122"/>
              </a:rPr>
              <a:t>·</a:t>
            </a:r>
            <a:r>
              <a:rPr lang="zh-CN" altLang="en-US" sz="1600" b="0" i="0" dirty="0">
                <a:solidFill>
                  <a:schemeClr val="tx1"/>
                </a:solidFill>
                <a:effectLst/>
                <a:latin typeface="Calibri" panose="020F0502020204030204" pitchFamily="34" charset="0"/>
                <a:ea typeface="黑体" panose="02010609060101010101" pitchFamily="49" charset="-122"/>
              </a:rPr>
              <a:t>卡门从离散晶格本身出发建立起动力学理论，</a:t>
            </a:r>
            <a:r>
              <a:rPr lang="zh-CN" altLang="zh-CN" sz="1600" dirty="0"/>
              <a:t>这条路线最终发展成为现代晶格动力学的基本框架。</a:t>
            </a:r>
            <a:endParaRPr lang="zh-CN" altLang="en-US" sz="1600" b="0" i="0" dirty="0">
              <a:solidFill>
                <a:schemeClr val="tx1"/>
              </a:solidFill>
              <a:effectLst/>
              <a:latin typeface="Calibri" panose="020F0502020204030204" pitchFamily="34" charset="0"/>
              <a:ea typeface="黑体" panose="02010609060101010101" pitchFamily="49" charset="-122"/>
            </a:endParaRPr>
          </a:p>
        </p:txBody>
      </p:sp>
      <p:sp>
        <p:nvSpPr>
          <p:cNvPr id="5" name="文本框 4">
            <a:extLst>
              <a:ext uri="{FF2B5EF4-FFF2-40B4-BE49-F238E27FC236}">
                <a16:creationId xmlns:a16="http://schemas.microsoft.com/office/drawing/2014/main" id="{F6275682-8FAA-AA03-CDC0-3361456AAC5D}"/>
              </a:ext>
            </a:extLst>
          </p:cNvPr>
          <p:cNvSpPr txBox="1"/>
          <p:nvPr/>
        </p:nvSpPr>
        <p:spPr>
          <a:xfrm>
            <a:off x="1102055" y="3070860"/>
            <a:ext cx="652743" cy="369332"/>
          </a:xfrm>
          <a:prstGeom prst="rect">
            <a:avLst/>
          </a:prstGeom>
          <a:noFill/>
        </p:spPr>
        <p:txBody>
          <a:bodyPr wrap="none" rtlCol="0">
            <a:spAutoFit/>
          </a:bodyPr>
          <a:lstStyle/>
          <a:p>
            <a:r>
              <a:rPr lang="en-US" altLang="zh-CN" dirty="0"/>
              <a:t>1900</a:t>
            </a:r>
            <a:endParaRPr lang="zh-CN" altLang="en-US" dirty="0"/>
          </a:p>
        </p:txBody>
      </p:sp>
      <p:sp>
        <p:nvSpPr>
          <p:cNvPr id="8" name="文本框 7">
            <a:extLst>
              <a:ext uri="{FF2B5EF4-FFF2-40B4-BE49-F238E27FC236}">
                <a16:creationId xmlns:a16="http://schemas.microsoft.com/office/drawing/2014/main" id="{D29C9979-D7C1-CC02-721C-69D15F0CB054}"/>
              </a:ext>
            </a:extLst>
          </p:cNvPr>
          <p:cNvSpPr txBox="1"/>
          <p:nvPr/>
        </p:nvSpPr>
        <p:spPr>
          <a:xfrm>
            <a:off x="7025384" y="3070860"/>
            <a:ext cx="652743" cy="369332"/>
          </a:xfrm>
          <a:prstGeom prst="rect">
            <a:avLst/>
          </a:prstGeom>
          <a:noFill/>
        </p:spPr>
        <p:txBody>
          <a:bodyPr wrap="none" rtlCol="0">
            <a:spAutoFit/>
          </a:bodyPr>
          <a:lstStyle/>
          <a:p>
            <a:r>
              <a:rPr lang="en-US" altLang="zh-CN" dirty="0"/>
              <a:t>2000</a:t>
            </a:r>
            <a:endParaRPr lang="zh-CN" altLang="en-US" dirty="0"/>
          </a:p>
        </p:txBody>
      </p:sp>
      <p:cxnSp>
        <p:nvCxnSpPr>
          <p:cNvPr id="9" name="直接连接符 8">
            <a:extLst>
              <a:ext uri="{FF2B5EF4-FFF2-40B4-BE49-F238E27FC236}">
                <a16:creationId xmlns:a16="http://schemas.microsoft.com/office/drawing/2014/main" id="{B7502BCC-2E81-BE20-E07C-4F74AC0AE48E}"/>
              </a:ext>
            </a:extLst>
          </p:cNvPr>
          <p:cNvCxnSpPr>
            <a:cxnSpLocks/>
          </p:cNvCxnSpPr>
          <p:nvPr/>
        </p:nvCxnSpPr>
        <p:spPr>
          <a:xfrm flipV="1">
            <a:off x="1427480" y="3781424"/>
            <a:ext cx="0" cy="287656"/>
          </a:xfrm>
          <a:prstGeom prst="line">
            <a:avLst/>
          </a:prstGeom>
          <a:ln w="19050"/>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2BC2130B-1CBD-63A1-2AD0-10DD2489DB75}"/>
              </a:ext>
            </a:extLst>
          </p:cNvPr>
          <p:cNvSpPr txBox="1"/>
          <p:nvPr/>
        </p:nvSpPr>
        <p:spPr>
          <a:xfrm>
            <a:off x="482766" y="4073811"/>
            <a:ext cx="1808779" cy="584775"/>
          </a:xfrm>
          <a:prstGeom prst="rect">
            <a:avLst/>
          </a:prstGeom>
          <a:noFill/>
        </p:spPr>
        <p:txBody>
          <a:bodyPr wrap="square">
            <a:spAutoFit/>
          </a:bodyPr>
          <a:lstStyle/>
          <a:p>
            <a:r>
              <a:rPr lang="en-US" altLang="zh-CN" sz="1600" dirty="0"/>
              <a:t>1900 – 1905</a:t>
            </a:r>
          </a:p>
          <a:p>
            <a:r>
              <a:rPr lang="zh-CN" altLang="en-US" sz="1600" dirty="0"/>
              <a:t>量子论的建立</a:t>
            </a:r>
            <a:endParaRPr lang="en-US" altLang="zh-CN" sz="1600" dirty="0"/>
          </a:p>
        </p:txBody>
      </p:sp>
      <p:sp>
        <p:nvSpPr>
          <p:cNvPr id="25" name="文本框 24">
            <a:extLst>
              <a:ext uri="{FF2B5EF4-FFF2-40B4-BE49-F238E27FC236}">
                <a16:creationId xmlns:a16="http://schemas.microsoft.com/office/drawing/2014/main" id="{B988648B-192D-56DF-8DC0-4527E4F3F0DE}"/>
              </a:ext>
            </a:extLst>
          </p:cNvPr>
          <p:cNvSpPr txBox="1"/>
          <p:nvPr/>
        </p:nvSpPr>
        <p:spPr>
          <a:xfrm>
            <a:off x="8766333" y="2870293"/>
            <a:ext cx="644365" cy="523220"/>
          </a:xfrm>
          <a:prstGeom prst="rect">
            <a:avLst/>
          </a:prstGeom>
          <a:noFill/>
        </p:spPr>
        <p:txBody>
          <a:bodyPr wrap="square">
            <a:spAutoFit/>
          </a:bodyPr>
          <a:lstStyle/>
          <a:p>
            <a:pPr marL="0" marR="0" indent="0" algn="l">
              <a:buNone/>
            </a:pPr>
            <a:r>
              <a:rPr lang="en-US" altLang="zh-CN" sz="1400" dirty="0">
                <a:solidFill>
                  <a:srgbClr val="393939"/>
                </a:solidFill>
              </a:rPr>
              <a:t>Peter Debye</a:t>
            </a:r>
            <a:endParaRPr lang="zh-CN" altLang="zh-CN" sz="1400" i="0" dirty="0">
              <a:solidFill>
                <a:srgbClr val="393939"/>
              </a:solidFill>
              <a:effectLst/>
            </a:endParaRPr>
          </a:p>
        </p:txBody>
      </p:sp>
      <p:sp>
        <p:nvSpPr>
          <p:cNvPr id="30" name="文本框 29">
            <a:extLst>
              <a:ext uri="{FF2B5EF4-FFF2-40B4-BE49-F238E27FC236}">
                <a16:creationId xmlns:a16="http://schemas.microsoft.com/office/drawing/2014/main" id="{00D58239-9EB5-EBC6-33AB-A6865FEF5C2A}"/>
              </a:ext>
            </a:extLst>
          </p:cNvPr>
          <p:cNvSpPr txBox="1"/>
          <p:nvPr/>
        </p:nvSpPr>
        <p:spPr>
          <a:xfrm>
            <a:off x="9766853" y="2878547"/>
            <a:ext cx="608996" cy="523220"/>
          </a:xfrm>
          <a:prstGeom prst="rect">
            <a:avLst/>
          </a:prstGeom>
          <a:noFill/>
        </p:spPr>
        <p:txBody>
          <a:bodyPr wrap="square">
            <a:spAutoFit/>
          </a:bodyPr>
          <a:lstStyle/>
          <a:p>
            <a:pPr marL="0" marR="0" indent="0" algn="l">
              <a:buNone/>
            </a:pPr>
            <a:r>
              <a:rPr lang="en-US" altLang="zh-CN" sz="1400" i="0" dirty="0">
                <a:solidFill>
                  <a:srgbClr val="393939"/>
                </a:solidFill>
                <a:effectLst/>
              </a:rPr>
              <a:t>Max</a:t>
            </a:r>
          </a:p>
          <a:p>
            <a:pPr marL="0" marR="0" indent="0" algn="l">
              <a:buNone/>
            </a:pPr>
            <a:r>
              <a:rPr lang="en-US" altLang="zh-CN" sz="1400" dirty="0">
                <a:solidFill>
                  <a:srgbClr val="393939"/>
                </a:solidFill>
              </a:rPr>
              <a:t>Born</a:t>
            </a:r>
            <a:endParaRPr lang="zh-CN" altLang="zh-CN" sz="1400" i="0" dirty="0">
              <a:solidFill>
                <a:srgbClr val="393939"/>
              </a:solidFill>
              <a:effectLst/>
            </a:endParaRPr>
          </a:p>
        </p:txBody>
      </p:sp>
      <p:cxnSp>
        <p:nvCxnSpPr>
          <p:cNvPr id="3" name="直接连接符 2">
            <a:extLst>
              <a:ext uri="{FF2B5EF4-FFF2-40B4-BE49-F238E27FC236}">
                <a16:creationId xmlns:a16="http://schemas.microsoft.com/office/drawing/2014/main" id="{BC22536E-3608-09DA-2AD1-C06D9CD1E7AC}"/>
              </a:ext>
            </a:extLst>
          </p:cNvPr>
          <p:cNvCxnSpPr>
            <a:cxnSpLocks/>
          </p:cNvCxnSpPr>
          <p:nvPr/>
        </p:nvCxnSpPr>
        <p:spPr>
          <a:xfrm flipV="1">
            <a:off x="2001178" y="3015688"/>
            <a:ext cx="0" cy="755650"/>
          </a:xfrm>
          <a:prstGeom prst="line">
            <a:avLst/>
          </a:prstGeom>
          <a:ln w="19050"/>
        </p:spPr>
        <p:style>
          <a:lnRef idx="1">
            <a:schemeClr val="dk1"/>
          </a:lnRef>
          <a:fillRef idx="0">
            <a:schemeClr val="dk1"/>
          </a:fillRef>
          <a:effectRef idx="0">
            <a:schemeClr val="dk1"/>
          </a:effectRef>
          <a:fontRef idx="minor">
            <a:schemeClr val="tx1"/>
          </a:fontRef>
        </p:style>
      </p:cxnSp>
      <p:cxnSp>
        <p:nvCxnSpPr>
          <p:cNvPr id="6" name="直接连接符 5">
            <a:extLst>
              <a:ext uri="{FF2B5EF4-FFF2-40B4-BE49-F238E27FC236}">
                <a16:creationId xmlns:a16="http://schemas.microsoft.com/office/drawing/2014/main" id="{987218B3-DD47-9B5E-006C-56A72A7056F8}"/>
              </a:ext>
            </a:extLst>
          </p:cNvPr>
          <p:cNvCxnSpPr>
            <a:cxnSpLocks/>
          </p:cNvCxnSpPr>
          <p:nvPr/>
        </p:nvCxnSpPr>
        <p:spPr>
          <a:xfrm flipV="1">
            <a:off x="2753483" y="3025774"/>
            <a:ext cx="0" cy="1050926"/>
          </a:xfrm>
          <a:prstGeom prst="line">
            <a:avLst/>
          </a:prstGeom>
          <a:ln w="19050"/>
        </p:spPr>
        <p:style>
          <a:lnRef idx="1">
            <a:schemeClr val="dk1"/>
          </a:lnRef>
          <a:fillRef idx="0">
            <a:schemeClr val="dk1"/>
          </a:fillRef>
          <a:effectRef idx="0">
            <a:schemeClr val="dk1"/>
          </a:effectRef>
          <a:fontRef idx="minor">
            <a:schemeClr val="tx1"/>
          </a:fontRef>
        </p:style>
      </p:cxnSp>
      <p:sp>
        <p:nvSpPr>
          <p:cNvPr id="13" name="文本框 12">
            <a:extLst>
              <a:ext uri="{FF2B5EF4-FFF2-40B4-BE49-F238E27FC236}">
                <a16:creationId xmlns:a16="http://schemas.microsoft.com/office/drawing/2014/main" id="{3970A0EA-E83F-6705-676A-9E93925808E8}"/>
              </a:ext>
            </a:extLst>
          </p:cNvPr>
          <p:cNvSpPr txBox="1"/>
          <p:nvPr/>
        </p:nvSpPr>
        <p:spPr>
          <a:xfrm>
            <a:off x="1662624" y="1595181"/>
            <a:ext cx="677108" cy="1385957"/>
          </a:xfrm>
          <a:prstGeom prst="rect">
            <a:avLst/>
          </a:prstGeom>
          <a:noFill/>
        </p:spPr>
        <p:txBody>
          <a:bodyPr vert="eaVert" wrap="square">
            <a:spAutoFit/>
          </a:bodyPr>
          <a:lstStyle/>
          <a:p>
            <a:r>
              <a:rPr lang="en-US" altLang="zh-CN" sz="1600" dirty="0"/>
              <a:t>1907</a:t>
            </a:r>
          </a:p>
          <a:p>
            <a:r>
              <a:rPr lang="zh-CN" altLang="zh-CN" sz="1600" dirty="0"/>
              <a:t>爱因斯坦模型</a:t>
            </a:r>
            <a:endParaRPr lang="en-US" altLang="zh-CN" sz="1600" dirty="0"/>
          </a:p>
        </p:txBody>
      </p:sp>
      <p:sp>
        <p:nvSpPr>
          <p:cNvPr id="23" name="文本框 22">
            <a:extLst>
              <a:ext uri="{FF2B5EF4-FFF2-40B4-BE49-F238E27FC236}">
                <a16:creationId xmlns:a16="http://schemas.microsoft.com/office/drawing/2014/main" id="{859220CD-19A1-B736-AB0C-96832B3D4CA7}"/>
              </a:ext>
            </a:extLst>
          </p:cNvPr>
          <p:cNvSpPr txBox="1"/>
          <p:nvPr/>
        </p:nvSpPr>
        <p:spPr>
          <a:xfrm>
            <a:off x="2480079" y="1985964"/>
            <a:ext cx="2875072" cy="1015663"/>
          </a:xfrm>
          <a:prstGeom prst="rect">
            <a:avLst/>
          </a:prstGeom>
          <a:noFill/>
        </p:spPr>
        <p:txBody>
          <a:bodyPr vert="horz" wrap="square">
            <a:spAutoFit/>
          </a:bodyPr>
          <a:lstStyle/>
          <a:p>
            <a:r>
              <a:rPr lang="en-US" altLang="zh-CN" sz="2000" dirty="0"/>
              <a:t>1912</a:t>
            </a:r>
          </a:p>
          <a:p>
            <a:r>
              <a:rPr lang="zh-CN" altLang="en-US" sz="2000" dirty="0"/>
              <a:t>德拜模型</a:t>
            </a:r>
            <a:endParaRPr lang="en-US" altLang="zh-CN" sz="2000" dirty="0"/>
          </a:p>
          <a:p>
            <a:r>
              <a:rPr lang="zh-CN" altLang="en-US" sz="2000" dirty="0"/>
              <a:t>波恩</a:t>
            </a:r>
            <a:r>
              <a:rPr lang="en-US" altLang="zh-CN" sz="2000" dirty="0"/>
              <a:t>-</a:t>
            </a:r>
            <a:r>
              <a:rPr lang="zh-CN" altLang="en-US" sz="2000" dirty="0"/>
              <a:t>冯</a:t>
            </a:r>
            <a:r>
              <a:rPr lang="en-US" altLang="zh-CN" sz="2000" dirty="0"/>
              <a:t>·</a:t>
            </a:r>
            <a:r>
              <a:rPr lang="zh-CN" altLang="en-US" sz="2000" dirty="0"/>
              <a:t>卡门晶格理论</a:t>
            </a:r>
            <a:endParaRPr lang="en-US" altLang="zh-CN" sz="2000" dirty="0"/>
          </a:p>
        </p:txBody>
      </p:sp>
      <p:sp>
        <p:nvSpPr>
          <p:cNvPr id="33" name="文本框 32">
            <a:extLst>
              <a:ext uri="{FF2B5EF4-FFF2-40B4-BE49-F238E27FC236}">
                <a16:creationId xmlns:a16="http://schemas.microsoft.com/office/drawing/2014/main" id="{8D3BB78E-EF00-6E55-E31A-9BE9334B72E9}"/>
              </a:ext>
            </a:extLst>
          </p:cNvPr>
          <p:cNvSpPr txBox="1"/>
          <p:nvPr/>
        </p:nvSpPr>
        <p:spPr>
          <a:xfrm>
            <a:off x="2480079" y="4076700"/>
            <a:ext cx="2631027" cy="584775"/>
          </a:xfrm>
          <a:prstGeom prst="rect">
            <a:avLst/>
          </a:prstGeom>
          <a:noFill/>
        </p:spPr>
        <p:txBody>
          <a:bodyPr wrap="square">
            <a:spAutoFit/>
          </a:bodyPr>
          <a:lstStyle/>
          <a:p>
            <a:r>
              <a:rPr lang="en-US" altLang="zh-CN" sz="1600" dirty="0"/>
              <a:t>1911</a:t>
            </a:r>
          </a:p>
          <a:p>
            <a:r>
              <a:rPr lang="zh-CN" altLang="en-US" sz="1600" dirty="0"/>
              <a:t>第一次索尔维会议</a:t>
            </a:r>
            <a:endParaRPr lang="en-US" altLang="zh-CN" sz="1600" dirty="0"/>
          </a:p>
        </p:txBody>
      </p:sp>
      <p:pic>
        <p:nvPicPr>
          <p:cNvPr id="35" name="图片 34">
            <a:extLst>
              <a:ext uri="{FF2B5EF4-FFF2-40B4-BE49-F238E27FC236}">
                <a16:creationId xmlns:a16="http://schemas.microsoft.com/office/drawing/2014/main" id="{BC8BD475-39C8-0526-51CE-126D8E756C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6333" y="1565164"/>
            <a:ext cx="933495" cy="1325563"/>
          </a:xfrm>
          <a:prstGeom prst="rect">
            <a:avLst/>
          </a:prstGeom>
        </p:spPr>
      </p:pic>
      <p:pic>
        <p:nvPicPr>
          <p:cNvPr id="37" name="图片 36">
            <a:extLst>
              <a:ext uri="{FF2B5EF4-FFF2-40B4-BE49-F238E27FC236}">
                <a16:creationId xmlns:a16="http://schemas.microsoft.com/office/drawing/2014/main" id="{0033C19F-1C48-2AE9-FEF7-D5485BF4F459}"/>
              </a:ext>
            </a:extLst>
          </p:cNvPr>
          <p:cNvPicPr>
            <a:picLocks noChangeAspect="1"/>
          </p:cNvPicPr>
          <p:nvPr/>
        </p:nvPicPr>
        <p:blipFill>
          <a:blip r:embed="rId3">
            <a:extLst>
              <a:ext uri="{28A0092B-C50C-407E-A947-70E740481C1C}">
                <a14:useLocalDpi xmlns:a14="http://schemas.microsoft.com/office/drawing/2010/main" val="0"/>
              </a:ext>
            </a:extLst>
          </a:blip>
          <a:srcRect l="15165" r="14215" b="29579"/>
          <a:stretch>
            <a:fillRect/>
          </a:stretch>
        </p:blipFill>
        <p:spPr>
          <a:xfrm>
            <a:off x="9766853" y="1559240"/>
            <a:ext cx="989518" cy="1314316"/>
          </a:xfrm>
          <a:prstGeom prst="rect">
            <a:avLst/>
          </a:prstGeom>
        </p:spPr>
      </p:pic>
      <p:pic>
        <p:nvPicPr>
          <p:cNvPr id="39" name="图片 38">
            <a:extLst>
              <a:ext uri="{FF2B5EF4-FFF2-40B4-BE49-F238E27FC236}">
                <a16:creationId xmlns:a16="http://schemas.microsoft.com/office/drawing/2014/main" id="{AD96E0ED-0C7B-5EEE-F574-0312CC49BF33}"/>
              </a:ext>
            </a:extLst>
          </p:cNvPr>
          <p:cNvPicPr>
            <a:picLocks noChangeAspect="1"/>
          </p:cNvPicPr>
          <p:nvPr/>
        </p:nvPicPr>
        <p:blipFill>
          <a:blip r:embed="rId4">
            <a:extLst>
              <a:ext uri="{28A0092B-C50C-407E-A947-70E740481C1C}">
                <a14:useLocalDpi xmlns:a14="http://schemas.microsoft.com/office/drawing/2010/main" val="0"/>
              </a:ext>
            </a:extLst>
          </a:blip>
          <a:srcRect l="14200" r="13800" b="17040"/>
          <a:stretch>
            <a:fillRect/>
          </a:stretch>
        </p:blipFill>
        <p:spPr>
          <a:xfrm>
            <a:off x="10789076" y="1561538"/>
            <a:ext cx="912543" cy="1314316"/>
          </a:xfrm>
          <a:prstGeom prst="rect">
            <a:avLst/>
          </a:prstGeom>
        </p:spPr>
      </p:pic>
      <p:sp>
        <p:nvSpPr>
          <p:cNvPr id="41" name="文本框 40">
            <a:extLst>
              <a:ext uri="{FF2B5EF4-FFF2-40B4-BE49-F238E27FC236}">
                <a16:creationId xmlns:a16="http://schemas.microsoft.com/office/drawing/2014/main" id="{A4814D96-6E17-FF0E-03EC-A75AF2FBE0B2}"/>
              </a:ext>
            </a:extLst>
          </p:cNvPr>
          <p:cNvSpPr txBox="1"/>
          <p:nvPr/>
        </p:nvSpPr>
        <p:spPr>
          <a:xfrm>
            <a:off x="10732004" y="2878547"/>
            <a:ext cx="978789" cy="738664"/>
          </a:xfrm>
          <a:prstGeom prst="rect">
            <a:avLst/>
          </a:prstGeom>
          <a:noFill/>
        </p:spPr>
        <p:txBody>
          <a:bodyPr wrap="square">
            <a:spAutoFit/>
          </a:bodyPr>
          <a:lstStyle/>
          <a:p>
            <a:r>
              <a:rPr lang="en-US" altLang="zh-CN" sz="1400" dirty="0">
                <a:solidFill>
                  <a:srgbClr val="393939"/>
                </a:solidFill>
              </a:rPr>
              <a:t>Theodore von Kármán</a:t>
            </a:r>
            <a:endParaRPr lang="zh-CN" altLang="zh-CN" sz="1400" i="0" dirty="0">
              <a:solidFill>
                <a:srgbClr val="393939"/>
              </a:solidFill>
              <a:effectLst/>
            </a:endParaRPr>
          </a:p>
        </p:txBody>
      </p:sp>
    </p:spTree>
    <p:extLst>
      <p:ext uri="{BB962C8B-B14F-4D97-AF65-F5344CB8AC3E}">
        <p14:creationId xmlns:p14="http://schemas.microsoft.com/office/powerpoint/2010/main" val="586105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C8E3A-63E7-D03B-0C6F-8AF012BE6C00}"/>
            </a:ext>
          </a:extLst>
        </p:cNvPr>
        <p:cNvGrpSpPr/>
        <p:nvPr/>
      </p:nvGrpSpPr>
      <p:grpSpPr>
        <a:xfrm>
          <a:off x="0" y="0"/>
          <a:ext cx="0" cy="0"/>
          <a:chOff x="0" y="0"/>
          <a:chExt cx="0" cy="0"/>
        </a:xfrm>
      </p:grpSpPr>
      <p:sp>
        <p:nvSpPr>
          <p:cNvPr id="27" name="矩形: 圆角 26">
            <a:extLst>
              <a:ext uri="{FF2B5EF4-FFF2-40B4-BE49-F238E27FC236}">
                <a16:creationId xmlns:a16="http://schemas.microsoft.com/office/drawing/2014/main" id="{86993F91-4589-F8B1-97EF-020131BEBC9D}"/>
              </a:ext>
            </a:extLst>
          </p:cNvPr>
          <p:cNvSpPr/>
          <p:nvPr/>
        </p:nvSpPr>
        <p:spPr>
          <a:xfrm>
            <a:off x="8604897" y="1240156"/>
            <a:ext cx="3208017" cy="4863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A2F3C3E7-87ED-DBBD-923F-4AE4D56E80E1}"/>
              </a:ext>
            </a:extLst>
          </p:cNvPr>
          <p:cNvSpPr>
            <a:spLocks noGrp="1"/>
          </p:cNvSpPr>
          <p:nvPr>
            <p:ph type="title"/>
          </p:nvPr>
        </p:nvSpPr>
        <p:spPr/>
        <p:txBody>
          <a:bodyPr/>
          <a:lstStyle/>
          <a:p>
            <a:r>
              <a:rPr lang="zh-CN" altLang="en-US" dirty="0"/>
              <a:t>晶格动力学研究的历史</a:t>
            </a:r>
            <a:endParaRPr lang="en-US" dirty="0"/>
          </a:p>
        </p:txBody>
      </p:sp>
      <p:graphicFrame>
        <p:nvGraphicFramePr>
          <p:cNvPr id="4" name="表格 3">
            <a:extLst>
              <a:ext uri="{FF2B5EF4-FFF2-40B4-BE49-F238E27FC236}">
                <a16:creationId xmlns:a16="http://schemas.microsoft.com/office/drawing/2014/main" id="{458B750F-C82A-AA8C-28C4-E9BDADC136BA}"/>
              </a:ext>
            </a:extLst>
          </p:cNvPr>
          <p:cNvGraphicFramePr>
            <a:graphicFrameLocks noGrp="1"/>
          </p:cNvGraphicFramePr>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9</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
        <p:nvSpPr>
          <p:cNvPr id="7" name="箭头: 五边形 6">
            <a:extLst>
              <a:ext uri="{FF2B5EF4-FFF2-40B4-BE49-F238E27FC236}">
                <a16:creationId xmlns:a16="http://schemas.microsoft.com/office/drawing/2014/main" id="{B47B5634-11C3-D826-837A-FD076E3432C9}"/>
              </a:ext>
            </a:extLst>
          </p:cNvPr>
          <p:cNvSpPr/>
          <p:nvPr/>
        </p:nvSpPr>
        <p:spPr>
          <a:xfrm>
            <a:off x="514350" y="3429000"/>
            <a:ext cx="984250" cy="352424"/>
          </a:xfrm>
          <a:prstGeom prst="homePlat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V 形 9">
            <a:extLst>
              <a:ext uri="{FF2B5EF4-FFF2-40B4-BE49-F238E27FC236}">
                <a16:creationId xmlns:a16="http://schemas.microsoft.com/office/drawing/2014/main" id="{4AD9490B-54FC-E6E5-724B-929447E5C7D5}"/>
              </a:ext>
            </a:extLst>
          </p:cNvPr>
          <p:cNvSpPr/>
          <p:nvPr/>
        </p:nvSpPr>
        <p:spPr>
          <a:xfrm>
            <a:off x="1498600" y="3429000"/>
            <a:ext cx="5905500" cy="352424"/>
          </a:xfrm>
          <a:prstGeom prst="chevron">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箭头: V 形 11">
            <a:extLst>
              <a:ext uri="{FF2B5EF4-FFF2-40B4-BE49-F238E27FC236}">
                <a16:creationId xmlns:a16="http://schemas.microsoft.com/office/drawing/2014/main" id="{7860741B-B156-3ECD-B4FF-ED5EF90A16FE}"/>
              </a:ext>
            </a:extLst>
          </p:cNvPr>
          <p:cNvSpPr/>
          <p:nvPr/>
        </p:nvSpPr>
        <p:spPr>
          <a:xfrm>
            <a:off x="7404100" y="3429000"/>
            <a:ext cx="1060450" cy="352424"/>
          </a:xfrm>
          <a:prstGeom prst="chevron">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7" name="直接连接符 16">
            <a:extLst>
              <a:ext uri="{FF2B5EF4-FFF2-40B4-BE49-F238E27FC236}">
                <a16:creationId xmlns:a16="http://schemas.microsoft.com/office/drawing/2014/main" id="{BC3E880E-1241-CDC4-4260-31A8DD50528C}"/>
              </a:ext>
            </a:extLst>
          </p:cNvPr>
          <p:cNvCxnSpPr>
            <a:cxnSpLocks/>
          </p:cNvCxnSpPr>
          <p:nvPr/>
        </p:nvCxnSpPr>
        <p:spPr>
          <a:xfrm flipV="1">
            <a:off x="650240" y="3025774"/>
            <a:ext cx="0" cy="755650"/>
          </a:xfrm>
          <a:prstGeom prst="line">
            <a:avLst/>
          </a:prstGeom>
          <a:ln w="19050"/>
        </p:spPr>
        <p:style>
          <a:lnRef idx="1">
            <a:schemeClr val="dk1"/>
          </a:lnRef>
          <a:fillRef idx="0">
            <a:schemeClr val="dk1"/>
          </a:fillRef>
          <a:effectRef idx="0">
            <a:schemeClr val="dk1"/>
          </a:effectRef>
          <a:fontRef idx="minor">
            <a:schemeClr val="tx1"/>
          </a:fontRef>
        </p:style>
      </p:cxnSp>
      <p:sp>
        <p:nvSpPr>
          <p:cNvPr id="22" name="文本框 21">
            <a:extLst>
              <a:ext uri="{FF2B5EF4-FFF2-40B4-BE49-F238E27FC236}">
                <a16:creationId xmlns:a16="http://schemas.microsoft.com/office/drawing/2014/main" id="{5173C284-C165-DFFD-F3C0-C3A9233BF572}"/>
              </a:ext>
            </a:extLst>
          </p:cNvPr>
          <p:cNvSpPr txBox="1"/>
          <p:nvPr/>
        </p:nvSpPr>
        <p:spPr>
          <a:xfrm>
            <a:off x="271889" y="1595181"/>
            <a:ext cx="677108" cy="1385957"/>
          </a:xfrm>
          <a:prstGeom prst="rect">
            <a:avLst/>
          </a:prstGeom>
          <a:noFill/>
        </p:spPr>
        <p:txBody>
          <a:bodyPr vert="eaVert" wrap="none" rtlCol="0">
            <a:spAutoFit/>
          </a:bodyPr>
          <a:lstStyle/>
          <a:p>
            <a:r>
              <a:rPr lang="en-US" altLang="zh-CN" sz="1600" dirty="0"/>
              <a:t>1819</a:t>
            </a:r>
          </a:p>
          <a:p>
            <a:r>
              <a:rPr lang="zh-CN" altLang="en-US" sz="1600" dirty="0"/>
              <a:t>杜隆</a:t>
            </a:r>
            <a:r>
              <a:rPr lang="en-US" altLang="zh-CN" sz="1600" dirty="0"/>
              <a:t>-</a:t>
            </a:r>
            <a:r>
              <a:rPr lang="zh-CN" altLang="en-US" sz="1600" dirty="0"/>
              <a:t>珀蒂定律</a:t>
            </a:r>
          </a:p>
        </p:txBody>
      </p:sp>
      <p:sp>
        <p:nvSpPr>
          <p:cNvPr id="29" name="文本框 28">
            <a:extLst>
              <a:ext uri="{FF2B5EF4-FFF2-40B4-BE49-F238E27FC236}">
                <a16:creationId xmlns:a16="http://schemas.microsoft.com/office/drawing/2014/main" id="{1D4C5264-089D-EA4B-38DB-E6584676A49A}"/>
              </a:ext>
            </a:extLst>
          </p:cNvPr>
          <p:cNvSpPr txBox="1"/>
          <p:nvPr/>
        </p:nvSpPr>
        <p:spPr>
          <a:xfrm>
            <a:off x="8715873" y="3393513"/>
            <a:ext cx="2985428" cy="2375769"/>
          </a:xfrm>
          <a:prstGeom prst="rect">
            <a:avLst/>
          </a:prstGeom>
          <a:noFill/>
        </p:spPr>
        <p:txBody>
          <a:bodyPr wrap="square" lIns="36000" tIns="36000" rIns="36000" bIns="36000">
            <a:spAutoFit/>
          </a:bodyPr>
          <a:lstStyle/>
          <a:p>
            <a:pPr>
              <a:lnSpc>
                <a:spcPct val="110000"/>
              </a:lnSpc>
              <a:spcAft>
                <a:spcPts val="1200"/>
              </a:spcAft>
            </a:pPr>
            <a:r>
              <a:rPr lang="zh-CN" altLang="en-US" sz="1600" b="0" i="0" dirty="0">
                <a:solidFill>
                  <a:schemeClr val="tx1"/>
                </a:solidFill>
                <a:effectLst/>
                <a:latin typeface="Calibri" panose="020F0502020204030204" pitchFamily="34" charset="0"/>
                <a:ea typeface="黑体" panose="02010609060101010101" pitchFamily="49" charset="-122"/>
              </a:rPr>
              <a:t>当光穿过透明材料时，一部分折射光的频率会发生偏移。拉曼与合作者最早对此进行了系统性的研究，他们于</a:t>
            </a:r>
            <a:r>
              <a:rPr lang="en-US" altLang="zh-CN" sz="1600" b="0" i="0" dirty="0">
                <a:solidFill>
                  <a:schemeClr val="tx1"/>
                </a:solidFill>
                <a:effectLst/>
                <a:latin typeface="Calibri" panose="020F0502020204030204" pitchFamily="34" charset="0"/>
                <a:ea typeface="黑体" panose="02010609060101010101" pitchFamily="49" charset="-122"/>
              </a:rPr>
              <a:t>1928</a:t>
            </a:r>
            <a:r>
              <a:rPr lang="zh-CN" altLang="en-US" sz="1600" b="0" i="0" dirty="0">
                <a:solidFill>
                  <a:schemeClr val="tx1"/>
                </a:solidFill>
                <a:effectLst/>
                <a:latin typeface="Calibri" panose="020F0502020204030204" pitchFamily="34" charset="0"/>
                <a:ea typeface="黑体" panose="02010609060101010101" pitchFamily="49" charset="-122"/>
              </a:rPr>
              <a:t>年正式发表论文，后来被命名为拉曼散射。</a:t>
            </a:r>
            <a:endParaRPr lang="en-US" altLang="zh-CN" sz="1600" b="0" i="0" dirty="0">
              <a:solidFill>
                <a:schemeClr val="tx1"/>
              </a:solidFill>
              <a:effectLst/>
              <a:latin typeface="Calibri" panose="020F0502020204030204" pitchFamily="34" charset="0"/>
              <a:ea typeface="黑体" panose="02010609060101010101" pitchFamily="49" charset="-122"/>
            </a:endParaRPr>
          </a:p>
          <a:p>
            <a:pPr>
              <a:lnSpc>
                <a:spcPct val="110000"/>
              </a:lnSpc>
              <a:spcAft>
                <a:spcPts val="1200"/>
              </a:spcAft>
            </a:pPr>
            <a:r>
              <a:rPr lang="zh-CN" altLang="en-US" sz="1600" b="0" i="0" dirty="0">
                <a:solidFill>
                  <a:schemeClr val="tx1"/>
                </a:solidFill>
                <a:effectLst/>
                <a:latin typeface="Calibri" panose="020F0502020204030204" pitchFamily="34" charset="0"/>
                <a:ea typeface="黑体" panose="02010609060101010101" pitchFamily="49" charset="-122"/>
              </a:rPr>
              <a:t>拉曼散射使晶格简正模从热力学的推论转变为可直接进行光谱测量的对象。</a:t>
            </a:r>
          </a:p>
        </p:txBody>
      </p:sp>
      <p:sp>
        <p:nvSpPr>
          <p:cNvPr id="5" name="文本框 4">
            <a:extLst>
              <a:ext uri="{FF2B5EF4-FFF2-40B4-BE49-F238E27FC236}">
                <a16:creationId xmlns:a16="http://schemas.microsoft.com/office/drawing/2014/main" id="{ECD83F0E-4143-838F-45EC-8603C0DF8577}"/>
              </a:ext>
            </a:extLst>
          </p:cNvPr>
          <p:cNvSpPr txBox="1"/>
          <p:nvPr/>
        </p:nvSpPr>
        <p:spPr>
          <a:xfrm>
            <a:off x="1102055" y="3070860"/>
            <a:ext cx="652743" cy="369332"/>
          </a:xfrm>
          <a:prstGeom prst="rect">
            <a:avLst/>
          </a:prstGeom>
          <a:noFill/>
        </p:spPr>
        <p:txBody>
          <a:bodyPr wrap="none" rtlCol="0">
            <a:spAutoFit/>
          </a:bodyPr>
          <a:lstStyle/>
          <a:p>
            <a:r>
              <a:rPr lang="en-US" altLang="zh-CN" dirty="0"/>
              <a:t>1900</a:t>
            </a:r>
            <a:endParaRPr lang="zh-CN" altLang="en-US" dirty="0"/>
          </a:p>
        </p:txBody>
      </p:sp>
      <p:sp>
        <p:nvSpPr>
          <p:cNvPr id="8" name="文本框 7">
            <a:extLst>
              <a:ext uri="{FF2B5EF4-FFF2-40B4-BE49-F238E27FC236}">
                <a16:creationId xmlns:a16="http://schemas.microsoft.com/office/drawing/2014/main" id="{69A6D533-6089-3A25-28C5-8BDDCF1C8F5A}"/>
              </a:ext>
            </a:extLst>
          </p:cNvPr>
          <p:cNvSpPr txBox="1"/>
          <p:nvPr/>
        </p:nvSpPr>
        <p:spPr>
          <a:xfrm>
            <a:off x="7025384" y="3070860"/>
            <a:ext cx="652743" cy="369332"/>
          </a:xfrm>
          <a:prstGeom prst="rect">
            <a:avLst/>
          </a:prstGeom>
          <a:noFill/>
        </p:spPr>
        <p:txBody>
          <a:bodyPr wrap="none" rtlCol="0">
            <a:spAutoFit/>
          </a:bodyPr>
          <a:lstStyle/>
          <a:p>
            <a:r>
              <a:rPr lang="en-US" altLang="zh-CN" dirty="0"/>
              <a:t>2000</a:t>
            </a:r>
            <a:endParaRPr lang="zh-CN" altLang="en-US" dirty="0"/>
          </a:p>
        </p:txBody>
      </p:sp>
      <p:cxnSp>
        <p:nvCxnSpPr>
          <p:cNvPr id="9" name="直接连接符 8">
            <a:extLst>
              <a:ext uri="{FF2B5EF4-FFF2-40B4-BE49-F238E27FC236}">
                <a16:creationId xmlns:a16="http://schemas.microsoft.com/office/drawing/2014/main" id="{1113279D-6F6C-144C-FCE3-A8D299BFC9A6}"/>
              </a:ext>
            </a:extLst>
          </p:cNvPr>
          <p:cNvCxnSpPr>
            <a:cxnSpLocks/>
          </p:cNvCxnSpPr>
          <p:nvPr/>
        </p:nvCxnSpPr>
        <p:spPr>
          <a:xfrm flipV="1">
            <a:off x="1427480" y="3781424"/>
            <a:ext cx="0" cy="287656"/>
          </a:xfrm>
          <a:prstGeom prst="line">
            <a:avLst/>
          </a:prstGeom>
          <a:ln w="19050"/>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D9DC6174-7C96-B729-E007-3D36D8B355C7}"/>
              </a:ext>
            </a:extLst>
          </p:cNvPr>
          <p:cNvSpPr txBox="1"/>
          <p:nvPr/>
        </p:nvSpPr>
        <p:spPr>
          <a:xfrm>
            <a:off x="482766" y="4073811"/>
            <a:ext cx="1808779" cy="584775"/>
          </a:xfrm>
          <a:prstGeom prst="rect">
            <a:avLst/>
          </a:prstGeom>
          <a:noFill/>
        </p:spPr>
        <p:txBody>
          <a:bodyPr wrap="square">
            <a:spAutoFit/>
          </a:bodyPr>
          <a:lstStyle/>
          <a:p>
            <a:r>
              <a:rPr lang="en-US" altLang="zh-CN" sz="1600" dirty="0"/>
              <a:t>1900 – 1905</a:t>
            </a:r>
          </a:p>
          <a:p>
            <a:r>
              <a:rPr lang="zh-CN" altLang="en-US" sz="1600" dirty="0"/>
              <a:t>量子论的建立</a:t>
            </a:r>
            <a:endParaRPr lang="en-US" altLang="zh-CN" sz="1600" dirty="0"/>
          </a:p>
        </p:txBody>
      </p:sp>
      <p:sp>
        <p:nvSpPr>
          <p:cNvPr id="30" name="文本框 29">
            <a:extLst>
              <a:ext uri="{FF2B5EF4-FFF2-40B4-BE49-F238E27FC236}">
                <a16:creationId xmlns:a16="http://schemas.microsoft.com/office/drawing/2014/main" id="{F56C58B9-14DD-B0A6-2922-40B87DE6E3EC}"/>
              </a:ext>
            </a:extLst>
          </p:cNvPr>
          <p:cNvSpPr txBox="1"/>
          <p:nvPr/>
        </p:nvSpPr>
        <p:spPr>
          <a:xfrm>
            <a:off x="8956993" y="3004700"/>
            <a:ext cx="2606653" cy="307777"/>
          </a:xfrm>
          <a:prstGeom prst="rect">
            <a:avLst/>
          </a:prstGeom>
          <a:noFill/>
        </p:spPr>
        <p:txBody>
          <a:bodyPr wrap="square">
            <a:spAutoFit/>
          </a:bodyPr>
          <a:lstStyle/>
          <a:p>
            <a:r>
              <a:rPr lang="en-US" altLang="zh-CN" sz="1400" dirty="0">
                <a:solidFill>
                  <a:srgbClr val="393939"/>
                </a:solidFill>
              </a:rPr>
              <a:t>Chandrasekhara Venkata Raman</a:t>
            </a:r>
            <a:endParaRPr lang="zh-CN" altLang="zh-CN" sz="1400" i="0" dirty="0">
              <a:solidFill>
                <a:srgbClr val="393939"/>
              </a:solidFill>
              <a:effectLst/>
            </a:endParaRPr>
          </a:p>
        </p:txBody>
      </p:sp>
      <p:cxnSp>
        <p:nvCxnSpPr>
          <p:cNvPr id="3" name="直接连接符 2">
            <a:extLst>
              <a:ext uri="{FF2B5EF4-FFF2-40B4-BE49-F238E27FC236}">
                <a16:creationId xmlns:a16="http://schemas.microsoft.com/office/drawing/2014/main" id="{D5148D58-E89C-17D2-4ECC-52658DD3BE07}"/>
              </a:ext>
            </a:extLst>
          </p:cNvPr>
          <p:cNvCxnSpPr>
            <a:cxnSpLocks/>
          </p:cNvCxnSpPr>
          <p:nvPr/>
        </p:nvCxnSpPr>
        <p:spPr>
          <a:xfrm flipV="1">
            <a:off x="2001178" y="3015688"/>
            <a:ext cx="0" cy="755650"/>
          </a:xfrm>
          <a:prstGeom prst="line">
            <a:avLst/>
          </a:prstGeom>
          <a:ln w="19050"/>
        </p:spPr>
        <p:style>
          <a:lnRef idx="1">
            <a:schemeClr val="dk1"/>
          </a:lnRef>
          <a:fillRef idx="0">
            <a:schemeClr val="dk1"/>
          </a:fillRef>
          <a:effectRef idx="0">
            <a:schemeClr val="dk1"/>
          </a:effectRef>
          <a:fontRef idx="minor">
            <a:schemeClr val="tx1"/>
          </a:fontRef>
        </p:style>
      </p:cxnSp>
      <p:cxnSp>
        <p:nvCxnSpPr>
          <p:cNvPr id="6" name="直接连接符 5">
            <a:extLst>
              <a:ext uri="{FF2B5EF4-FFF2-40B4-BE49-F238E27FC236}">
                <a16:creationId xmlns:a16="http://schemas.microsoft.com/office/drawing/2014/main" id="{EAA32A11-715C-AAD8-521C-420DA9A8B357}"/>
              </a:ext>
            </a:extLst>
          </p:cNvPr>
          <p:cNvCxnSpPr>
            <a:cxnSpLocks/>
          </p:cNvCxnSpPr>
          <p:nvPr/>
        </p:nvCxnSpPr>
        <p:spPr>
          <a:xfrm flipV="1">
            <a:off x="2753483" y="3025774"/>
            <a:ext cx="0" cy="1050926"/>
          </a:xfrm>
          <a:prstGeom prst="line">
            <a:avLst/>
          </a:prstGeom>
          <a:ln w="19050"/>
        </p:spPr>
        <p:style>
          <a:lnRef idx="1">
            <a:schemeClr val="dk1"/>
          </a:lnRef>
          <a:fillRef idx="0">
            <a:schemeClr val="dk1"/>
          </a:fillRef>
          <a:effectRef idx="0">
            <a:schemeClr val="dk1"/>
          </a:effectRef>
          <a:fontRef idx="minor">
            <a:schemeClr val="tx1"/>
          </a:fontRef>
        </p:style>
      </p:cxnSp>
      <p:sp>
        <p:nvSpPr>
          <p:cNvPr id="13" name="文本框 12">
            <a:extLst>
              <a:ext uri="{FF2B5EF4-FFF2-40B4-BE49-F238E27FC236}">
                <a16:creationId xmlns:a16="http://schemas.microsoft.com/office/drawing/2014/main" id="{7D152AE5-1039-58A1-B542-94045EE3FCAE}"/>
              </a:ext>
            </a:extLst>
          </p:cNvPr>
          <p:cNvSpPr txBox="1"/>
          <p:nvPr/>
        </p:nvSpPr>
        <p:spPr>
          <a:xfrm>
            <a:off x="1662624" y="1595181"/>
            <a:ext cx="677108" cy="1385957"/>
          </a:xfrm>
          <a:prstGeom prst="rect">
            <a:avLst/>
          </a:prstGeom>
          <a:noFill/>
        </p:spPr>
        <p:txBody>
          <a:bodyPr vert="eaVert" wrap="square">
            <a:spAutoFit/>
          </a:bodyPr>
          <a:lstStyle/>
          <a:p>
            <a:r>
              <a:rPr lang="en-US" altLang="zh-CN" sz="1600" dirty="0"/>
              <a:t>1907</a:t>
            </a:r>
          </a:p>
          <a:p>
            <a:r>
              <a:rPr lang="zh-CN" altLang="zh-CN" sz="1600" dirty="0"/>
              <a:t>爱因斯坦模型</a:t>
            </a:r>
            <a:endParaRPr lang="en-US" altLang="zh-CN" sz="1600" dirty="0"/>
          </a:p>
        </p:txBody>
      </p:sp>
      <p:sp>
        <p:nvSpPr>
          <p:cNvPr id="23" name="文本框 22">
            <a:extLst>
              <a:ext uri="{FF2B5EF4-FFF2-40B4-BE49-F238E27FC236}">
                <a16:creationId xmlns:a16="http://schemas.microsoft.com/office/drawing/2014/main" id="{1E92CD6C-49A3-E50B-DD07-3819C799168F}"/>
              </a:ext>
            </a:extLst>
          </p:cNvPr>
          <p:cNvSpPr txBox="1"/>
          <p:nvPr/>
        </p:nvSpPr>
        <p:spPr>
          <a:xfrm>
            <a:off x="2291545" y="1806340"/>
            <a:ext cx="1169551" cy="1325563"/>
          </a:xfrm>
          <a:prstGeom prst="rect">
            <a:avLst/>
          </a:prstGeom>
          <a:noFill/>
        </p:spPr>
        <p:txBody>
          <a:bodyPr vert="eaVert" wrap="square">
            <a:spAutoFit/>
          </a:bodyPr>
          <a:lstStyle/>
          <a:p>
            <a:r>
              <a:rPr lang="en-US" altLang="zh-CN" sz="1600" dirty="0"/>
              <a:t>1912</a:t>
            </a:r>
          </a:p>
          <a:p>
            <a:r>
              <a:rPr lang="zh-CN" altLang="en-US" sz="1600" dirty="0"/>
              <a:t>德拜模型</a:t>
            </a:r>
            <a:endParaRPr lang="en-US" altLang="zh-CN" sz="1600" dirty="0"/>
          </a:p>
          <a:p>
            <a:r>
              <a:rPr lang="zh-CN" altLang="en-US" sz="1600" dirty="0"/>
              <a:t>波恩</a:t>
            </a:r>
            <a:r>
              <a:rPr lang="en-US" altLang="zh-CN" sz="1600" dirty="0"/>
              <a:t>-</a:t>
            </a:r>
            <a:r>
              <a:rPr lang="zh-CN" altLang="en-US" sz="1600" dirty="0"/>
              <a:t>冯</a:t>
            </a:r>
            <a:r>
              <a:rPr lang="en-US" altLang="zh-CN" sz="1600" dirty="0"/>
              <a:t>·</a:t>
            </a:r>
            <a:r>
              <a:rPr lang="zh-CN" altLang="en-US" sz="1600" dirty="0"/>
              <a:t>卡门晶格理论</a:t>
            </a:r>
            <a:endParaRPr lang="en-US" altLang="zh-CN" sz="1600" dirty="0"/>
          </a:p>
        </p:txBody>
      </p:sp>
      <p:cxnSp>
        <p:nvCxnSpPr>
          <p:cNvPr id="11" name="直接连接符 10">
            <a:extLst>
              <a:ext uri="{FF2B5EF4-FFF2-40B4-BE49-F238E27FC236}">
                <a16:creationId xmlns:a16="http://schemas.microsoft.com/office/drawing/2014/main" id="{31F5491A-537B-D3E5-9781-A5A94D7896F1}"/>
              </a:ext>
            </a:extLst>
          </p:cNvPr>
          <p:cNvCxnSpPr>
            <a:cxnSpLocks/>
          </p:cNvCxnSpPr>
          <p:nvPr/>
        </p:nvCxnSpPr>
        <p:spPr>
          <a:xfrm flipV="1">
            <a:off x="3667760" y="3025774"/>
            <a:ext cx="0" cy="755650"/>
          </a:xfrm>
          <a:prstGeom prst="line">
            <a:avLst/>
          </a:prstGeom>
          <a:ln w="19050"/>
        </p:spPr>
        <p:style>
          <a:lnRef idx="1">
            <a:schemeClr val="dk1"/>
          </a:lnRef>
          <a:fillRef idx="0">
            <a:schemeClr val="dk1"/>
          </a:fillRef>
          <a:effectRef idx="0">
            <a:schemeClr val="dk1"/>
          </a:effectRef>
          <a:fontRef idx="minor">
            <a:schemeClr val="tx1"/>
          </a:fontRef>
        </p:style>
      </p:cxnSp>
      <p:sp>
        <p:nvSpPr>
          <p:cNvPr id="20" name="文本框 19">
            <a:extLst>
              <a:ext uri="{FF2B5EF4-FFF2-40B4-BE49-F238E27FC236}">
                <a16:creationId xmlns:a16="http://schemas.microsoft.com/office/drawing/2014/main" id="{DA6870CC-769D-73E3-665C-F02AA6A452B6}"/>
              </a:ext>
            </a:extLst>
          </p:cNvPr>
          <p:cNvSpPr txBox="1"/>
          <p:nvPr/>
        </p:nvSpPr>
        <p:spPr>
          <a:xfrm>
            <a:off x="3690669" y="1898124"/>
            <a:ext cx="3816996" cy="1323439"/>
          </a:xfrm>
          <a:prstGeom prst="rect">
            <a:avLst/>
          </a:prstGeom>
          <a:noFill/>
        </p:spPr>
        <p:txBody>
          <a:bodyPr wrap="square">
            <a:spAutoFit/>
          </a:bodyPr>
          <a:lstStyle/>
          <a:p>
            <a:r>
              <a:rPr lang="en-US" altLang="zh-CN" sz="2000" dirty="0"/>
              <a:t>1928</a:t>
            </a:r>
          </a:p>
          <a:p>
            <a:r>
              <a:rPr lang="zh-CN" altLang="en-US" sz="2000" dirty="0"/>
              <a:t>拉曼散射</a:t>
            </a:r>
            <a:endParaRPr lang="en-US" altLang="zh-CN" sz="2000" dirty="0"/>
          </a:p>
          <a:p>
            <a:r>
              <a:rPr lang="zh-CN" altLang="en-US" sz="2000" dirty="0"/>
              <a:t>（</a:t>
            </a:r>
            <a:r>
              <a:rPr lang="zh-CN" altLang="zh-CN" dirty="0"/>
              <a:t>拉曼</a:t>
            </a:r>
            <a:r>
              <a:rPr lang="zh-CN" altLang="en-US" dirty="0"/>
              <a:t>，克里希南；</a:t>
            </a:r>
            <a:endParaRPr lang="en-US" altLang="zh-CN" dirty="0"/>
          </a:p>
          <a:p>
            <a:r>
              <a:rPr lang="zh-CN" altLang="en-US" dirty="0"/>
              <a:t>兰茨伯格，曼德尔斯坦姆</a:t>
            </a:r>
            <a:r>
              <a:rPr lang="zh-CN" altLang="en-US" sz="2000" dirty="0"/>
              <a:t>）</a:t>
            </a:r>
            <a:endParaRPr lang="en-US" altLang="zh-CN" sz="2000" dirty="0"/>
          </a:p>
        </p:txBody>
      </p:sp>
      <p:pic>
        <p:nvPicPr>
          <p:cNvPr id="25" name="图片 24">
            <a:extLst>
              <a:ext uri="{FF2B5EF4-FFF2-40B4-BE49-F238E27FC236}">
                <a16:creationId xmlns:a16="http://schemas.microsoft.com/office/drawing/2014/main" id="{EDB46AA5-95DC-D020-2FE0-AFC0C69F46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2204" y="1347058"/>
            <a:ext cx="1097235" cy="1645853"/>
          </a:xfrm>
          <a:prstGeom prst="rect">
            <a:avLst/>
          </a:prstGeom>
        </p:spPr>
      </p:pic>
      <p:sp>
        <p:nvSpPr>
          <p:cNvPr id="28" name="文本框 27">
            <a:extLst>
              <a:ext uri="{FF2B5EF4-FFF2-40B4-BE49-F238E27FC236}">
                <a16:creationId xmlns:a16="http://schemas.microsoft.com/office/drawing/2014/main" id="{D9DC39C2-979E-DDF5-8750-4B9458886E1C}"/>
              </a:ext>
            </a:extLst>
          </p:cNvPr>
          <p:cNvSpPr txBox="1"/>
          <p:nvPr/>
        </p:nvSpPr>
        <p:spPr>
          <a:xfrm>
            <a:off x="2480079" y="4076700"/>
            <a:ext cx="2631027" cy="584775"/>
          </a:xfrm>
          <a:prstGeom prst="rect">
            <a:avLst/>
          </a:prstGeom>
          <a:noFill/>
        </p:spPr>
        <p:txBody>
          <a:bodyPr wrap="square">
            <a:spAutoFit/>
          </a:bodyPr>
          <a:lstStyle/>
          <a:p>
            <a:r>
              <a:rPr lang="en-US" altLang="zh-CN" sz="1600" dirty="0"/>
              <a:t>1911</a:t>
            </a:r>
          </a:p>
          <a:p>
            <a:r>
              <a:rPr lang="zh-CN" altLang="en-US" sz="1600" dirty="0"/>
              <a:t>第一次索尔维会议</a:t>
            </a:r>
            <a:endParaRPr lang="en-US" altLang="zh-CN" sz="1600" dirty="0"/>
          </a:p>
        </p:txBody>
      </p:sp>
    </p:spTree>
    <p:extLst>
      <p:ext uri="{BB962C8B-B14F-4D97-AF65-F5344CB8AC3E}">
        <p14:creationId xmlns:p14="http://schemas.microsoft.com/office/powerpoint/2010/main" val="973658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DC8AE-C635-84CC-1AB5-BE1CD2A51E0C}"/>
            </a:ext>
          </a:extLst>
        </p:cNvPr>
        <p:cNvGrpSpPr/>
        <p:nvPr/>
      </p:nvGrpSpPr>
      <p:grpSpPr>
        <a:xfrm>
          <a:off x="0" y="0"/>
          <a:ext cx="0" cy="0"/>
          <a:chOff x="0" y="0"/>
          <a:chExt cx="0" cy="0"/>
        </a:xfrm>
      </p:grpSpPr>
      <p:sp>
        <p:nvSpPr>
          <p:cNvPr id="27" name="矩形: 圆角 26">
            <a:extLst>
              <a:ext uri="{FF2B5EF4-FFF2-40B4-BE49-F238E27FC236}">
                <a16:creationId xmlns:a16="http://schemas.microsoft.com/office/drawing/2014/main" id="{9D12FA24-8A8B-F1F7-9E30-3AF396E0974F}"/>
              </a:ext>
            </a:extLst>
          </p:cNvPr>
          <p:cNvSpPr/>
          <p:nvPr/>
        </p:nvSpPr>
        <p:spPr>
          <a:xfrm>
            <a:off x="8604897" y="1240156"/>
            <a:ext cx="3208017" cy="4863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0BADF124-2C95-D2B4-CB71-DCC13927FDC5}"/>
              </a:ext>
            </a:extLst>
          </p:cNvPr>
          <p:cNvSpPr>
            <a:spLocks noGrp="1"/>
          </p:cNvSpPr>
          <p:nvPr>
            <p:ph type="title"/>
          </p:nvPr>
        </p:nvSpPr>
        <p:spPr/>
        <p:txBody>
          <a:bodyPr/>
          <a:lstStyle/>
          <a:p>
            <a:r>
              <a:rPr lang="zh-CN" altLang="en-US" dirty="0"/>
              <a:t>晶格动力学研究的历史</a:t>
            </a:r>
            <a:endParaRPr lang="en-US" dirty="0"/>
          </a:p>
        </p:txBody>
      </p:sp>
      <p:graphicFrame>
        <p:nvGraphicFramePr>
          <p:cNvPr id="4" name="表格 3">
            <a:extLst>
              <a:ext uri="{FF2B5EF4-FFF2-40B4-BE49-F238E27FC236}">
                <a16:creationId xmlns:a16="http://schemas.microsoft.com/office/drawing/2014/main" id="{D220749C-0CA1-82FF-396F-D28096258F7B}"/>
              </a:ext>
            </a:extLst>
          </p:cNvPr>
          <p:cNvGraphicFramePr>
            <a:graphicFrameLocks noGrp="1"/>
          </p:cNvGraphicFramePr>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10</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
        <p:nvSpPr>
          <p:cNvPr id="7" name="箭头: 五边形 6">
            <a:extLst>
              <a:ext uri="{FF2B5EF4-FFF2-40B4-BE49-F238E27FC236}">
                <a16:creationId xmlns:a16="http://schemas.microsoft.com/office/drawing/2014/main" id="{26D2BF13-BDA8-18E5-1090-46BE670FBD7B}"/>
              </a:ext>
            </a:extLst>
          </p:cNvPr>
          <p:cNvSpPr/>
          <p:nvPr/>
        </p:nvSpPr>
        <p:spPr>
          <a:xfrm>
            <a:off x="514350" y="3429000"/>
            <a:ext cx="984250" cy="352424"/>
          </a:xfrm>
          <a:prstGeom prst="homePlat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V 形 9">
            <a:extLst>
              <a:ext uri="{FF2B5EF4-FFF2-40B4-BE49-F238E27FC236}">
                <a16:creationId xmlns:a16="http://schemas.microsoft.com/office/drawing/2014/main" id="{58C33427-AD8A-AEBF-BEBC-451EAC5846F1}"/>
              </a:ext>
            </a:extLst>
          </p:cNvPr>
          <p:cNvSpPr/>
          <p:nvPr/>
        </p:nvSpPr>
        <p:spPr>
          <a:xfrm>
            <a:off x="1498600" y="3429000"/>
            <a:ext cx="5905500" cy="352424"/>
          </a:xfrm>
          <a:prstGeom prst="chevron">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箭头: V 形 11">
            <a:extLst>
              <a:ext uri="{FF2B5EF4-FFF2-40B4-BE49-F238E27FC236}">
                <a16:creationId xmlns:a16="http://schemas.microsoft.com/office/drawing/2014/main" id="{0B8A6148-7DB4-A79E-09B0-59F8A62B75A9}"/>
              </a:ext>
            </a:extLst>
          </p:cNvPr>
          <p:cNvSpPr/>
          <p:nvPr/>
        </p:nvSpPr>
        <p:spPr>
          <a:xfrm>
            <a:off x="7404100" y="3429000"/>
            <a:ext cx="1060450" cy="352424"/>
          </a:xfrm>
          <a:prstGeom prst="chevron">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7" name="直接连接符 16">
            <a:extLst>
              <a:ext uri="{FF2B5EF4-FFF2-40B4-BE49-F238E27FC236}">
                <a16:creationId xmlns:a16="http://schemas.microsoft.com/office/drawing/2014/main" id="{A50D901E-A2CD-AEA3-5CB1-A921B0EE4E54}"/>
              </a:ext>
            </a:extLst>
          </p:cNvPr>
          <p:cNvCxnSpPr>
            <a:cxnSpLocks/>
          </p:cNvCxnSpPr>
          <p:nvPr/>
        </p:nvCxnSpPr>
        <p:spPr>
          <a:xfrm flipV="1">
            <a:off x="650240" y="3025774"/>
            <a:ext cx="0" cy="755650"/>
          </a:xfrm>
          <a:prstGeom prst="line">
            <a:avLst/>
          </a:prstGeom>
          <a:ln w="19050"/>
        </p:spPr>
        <p:style>
          <a:lnRef idx="1">
            <a:schemeClr val="dk1"/>
          </a:lnRef>
          <a:fillRef idx="0">
            <a:schemeClr val="dk1"/>
          </a:fillRef>
          <a:effectRef idx="0">
            <a:schemeClr val="dk1"/>
          </a:effectRef>
          <a:fontRef idx="minor">
            <a:schemeClr val="tx1"/>
          </a:fontRef>
        </p:style>
      </p:cxnSp>
      <p:sp>
        <p:nvSpPr>
          <p:cNvPr id="22" name="文本框 21">
            <a:extLst>
              <a:ext uri="{FF2B5EF4-FFF2-40B4-BE49-F238E27FC236}">
                <a16:creationId xmlns:a16="http://schemas.microsoft.com/office/drawing/2014/main" id="{F2D8FC5F-B2A0-0BED-D9C8-A2FEFBC117E5}"/>
              </a:ext>
            </a:extLst>
          </p:cNvPr>
          <p:cNvSpPr txBox="1"/>
          <p:nvPr/>
        </p:nvSpPr>
        <p:spPr>
          <a:xfrm>
            <a:off x="271889" y="1595181"/>
            <a:ext cx="677108" cy="1385957"/>
          </a:xfrm>
          <a:prstGeom prst="rect">
            <a:avLst/>
          </a:prstGeom>
          <a:noFill/>
        </p:spPr>
        <p:txBody>
          <a:bodyPr vert="eaVert" wrap="none" rtlCol="0">
            <a:spAutoFit/>
          </a:bodyPr>
          <a:lstStyle/>
          <a:p>
            <a:r>
              <a:rPr lang="en-US" altLang="zh-CN" sz="1600" dirty="0"/>
              <a:t>1819</a:t>
            </a:r>
          </a:p>
          <a:p>
            <a:r>
              <a:rPr lang="zh-CN" altLang="en-US" sz="1600" dirty="0"/>
              <a:t>杜隆</a:t>
            </a:r>
            <a:r>
              <a:rPr lang="en-US" altLang="zh-CN" sz="1600" dirty="0"/>
              <a:t>-</a:t>
            </a:r>
            <a:r>
              <a:rPr lang="zh-CN" altLang="en-US" sz="1600" dirty="0"/>
              <a:t>珀蒂定律</a:t>
            </a:r>
          </a:p>
        </p:txBody>
      </p:sp>
      <p:sp>
        <p:nvSpPr>
          <p:cNvPr id="29" name="文本框 28">
            <a:extLst>
              <a:ext uri="{FF2B5EF4-FFF2-40B4-BE49-F238E27FC236}">
                <a16:creationId xmlns:a16="http://schemas.microsoft.com/office/drawing/2014/main" id="{AF73683D-CDE7-FFFC-9A3B-714BD552AC82}"/>
              </a:ext>
            </a:extLst>
          </p:cNvPr>
          <p:cNvSpPr txBox="1"/>
          <p:nvPr/>
        </p:nvSpPr>
        <p:spPr>
          <a:xfrm>
            <a:off x="8716191" y="3617211"/>
            <a:ext cx="2985428" cy="1951038"/>
          </a:xfrm>
          <a:prstGeom prst="rect">
            <a:avLst/>
          </a:prstGeom>
          <a:noFill/>
        </p:spPr>
        <p:txBody>
          <a:bodyPr wrap="square" lIns="36000" tIns="36000" rIns="36000" bIns="36000">
            <a:spAutoFit/>
          </a:bodyPr>
          <a:lstStyle/>
          <a:p>
            <a:pPr>
              <a:lnSpc>
                <a:spcPct val="110000"/>
              </a:lnSpc>
              <a:spcAft>
                <a:spcPts val="1200"/>
              </a:spcAft>
            </a:pPr>
            <a:r>
              <a:rPr lang="zh-CN" altLang="en-US" sz="1600" b="0" i="0" dirty="0">
                <a:solidFill>
                  <a:schemeClr val="tx1"/>
                </a:solidFill>
                <a:effectLst/>
                <a:latin typeface="Calibri" panose="020F0502020204030204" pitchFamily="34" charset="0"/>
                <a:ea typeface="黑体" panose="02010609060101010101" pitchFamily="49" charset="-122"/>
              </a:rPr>
              <a:t>苏联物理学家伊戈尔</a:t>
            </a:r>
            <a:r>
              <a:rPr lang="en-US" altLang="zh-CN" sz="1600" b="0" i="0" dirty="0">
                <a:solidFill>
                  <a:schemeClr val="tx1"/>
                </a:solidFill>
                <a:effectLst/>
                <a:latin typeface="Calibri" panose="020F0502020204030204" pitchFamily="34" charset="0"/>
                <a:ea typeface="黑体" panose="02010609060101010101" pitchFamily="49" charset="-122"/>
              </a:rPr>
              <a:t>·</a:t>
            </a:r>
            <a:r>
              <a:rPr lang="zh-CN" altLang="en-US" sz="1600" b="0" i="0" dirty="0">
                <a:solidFill>
                  <a:schemeClr val="tx1"/>
                </a:solidFill>
                <a:effectLst/>
                <a:latin typeface="Calibri" panose="020F0502020204030204" pitchFamily="34" charset="0"/>
                <a:ea typeface="黑体" panose="02010609060101010101" pitchFamily="49" charset="-122"/>
              </a:rPr>
              <a:t>塔姆在 </a:t>
            </a:r>
            <a:r>
              <a:rPr lang="en-US" altLang="zh-CN" sz="1600" b="0" i="0" dirty="0">
                <a:solidFill>
                  <a:schemeClr val="tx1"/>
                </a:solidFill>
                <a:effectLst/>
                <a:latin typeface="Calibri" panose="020F0502020204030204" pitchFamily="34" charset="0"/>
                <a:ea typeface="黑体" panose="02010609060101010101" pitchFamily="49" charset="-122"/>
              </a:rPr>
              <a:t>1929</a:t>
            </a:r>
            <a:r>
              <a:rPr lang="zh-CN" altLang="en-US" sz="1600" b="0" i="0" dirty="0">
                <a:solidFill>
                  <a:schemeClr val="tx1"/>
                </a:solidFill>
                <a:effectLst/>
                <a:latin typeface="Calibri" panose="020F0502020204030204" pitchFamily="34" charset="0"/>
                <a:ea typeface="黑体" panose="02010609060101010101" pitchFamily="49" charset="-122"/>
              </a:rPr>
              <a:t>年明确讨论了晶格弹性波的量子化激发，随后同为苏联物理学家的弗伦克尔在 </a:t>
            </a:r>
            <a:r>
              <a:rPr lang="en-US" altLang="zh-CN" sz="1600" b="0" i="0" dirty="0">
                <a:solidFill>
                  <a:schemeClr val="tx1"/>
                </a:solidFill>
                <a:effectLst/>
                <a:latin typeface="Calibri" panose="020F0502020204030204" pitchFamily="34" charset="0"/>
                <a:ea typeface="黑体" panose="02010609060101010101" pitchFamily="49" charset="-122"/>
              </a:rPr>
              <a:t>1932 </a:t>
            </a:r>
            <a:r>
              <a:rPr lang="zh-CN" altLang="en-US" sz="1600" b="0" i="0" dirty="0">
                <a:solidFill>
                  <a:schemeClr val="tx1"/>
                </a:solidFill>
                <a:effectLst/>
                <a:latin typeface="Calibri" panose="020F0502020204030204" pitchFamily="34" charset="0"/>
                <a:ea typeface="黑体" panose="02010609060101010101" pitchFamily="49" charset="-122"/>
              </a:rPr>
              <a:t>年使用</a:t>
            </a:r>
            <a:r>
              <a:rPr lang="en-US" altLang="zh-CN" sz="1600" b="0" i="0" dirty="0">
                <a:solidFill>
                  <a:schemeClr val="tx1"/>
                </a:solidFill>
                <a:effectLst/>
                <a:latin typeface="Calibri" panose="020F0502020204030204" pitchFamily="34" charset="0"/>
                <a:ea typeface="黑体" panose="02010609060101010101" pitchFamily="49" charset="-122"/>
              </a:rPr>
              <a:t>phonon</a:t>
            </a:r>
            <a:r>
              <a:rPr lang="zh-CN" altLang="en-US" sz="1600" b="0" i="0" dirty="0">
                <a:solidFill>
                  <a:schemeClr val="tx1"/>
                </a:solidFill>
                <a:effectLst/>
                <a:latin typeface="Calibri" panose="020F0502020204030204" pitchFamily="34" charset="0"/>
                <a:ea typeface="黑体" panose="02010609060101010101" pitchFamily="49" charset="-122"/>
              </a:rPr>
              <a:t>一词来称呼这种“声</a:t>
            </a:r>
            <a:r>
              <a:rPr lang="en-US" altLang="zh-CN" sz="1600" b="0" i="0" dirty="0">
                <a:solidFill>
                  <a:schemeClr val="tx1"/>
                </a:solidFill>
                <a:effectLst/>
                <a:latin typeface="Calibri" panose="020F0502020204030204" pitchFamily="34" charset="0"/>
                <a:ea typeface="黑体" panose="02010609060101010101" pitchFamily="49" charset="-122"/>
              </a:rPr>
              <a:t>/</a:t>
            </a:r>
            <a:r>
              <a:rPr lang="zh-CN" altLang="en-US" sz="1600" b="0" i="0" dirty="0">
                <a:solidFill>
                  <a:schemeClr val="tx1"/>
                </a:solidFill>
                <a:effectLst/>
                <a:latin typeface="Calibri" panose="020F0502020204030204" pitchFamily="34" charset="0"/>
                <a:ea typeface="黑体" panose="02010609060101010101" pitchFamily="49" charset="-122"/>
              </a:rPr>
              <a:t>热量子”。从此，声子逐渐成为凝聚态物理的基本概念。</a:t>
            </a:r>
          </a:p>
        </p:txBody>
      </p:sp>
      <p:sp>
        <p:nvSpPr>
          <p:cNvPr id="5" name="文本框 4">
            <a:extLst>
              <a:ext uri="{FF2B5EF4-FFF2-40B4-BE49-F238E27FC236}">
                <a16:creationId xmlns:a16="http://schemas.microsoft.com/office/drawing/2014/main" id="{CAB935F2-9F68-57F5-DF16-1B659D6A9D08}"/>
              </a:ext>
            </a:extLst>
          </p:cNvPr>
          <p:cNvSpPr txBox="1"/>
          <p:nvPr/>
        </p:nvSpPr>
        <p:spPr>
          <a:xfrm>
            <a:off x="1102055" y="3070860"/>
            <a:ext cx="652743" cy="369332"/>
          </a:xfrm>
          <a:prstGeom prst="rect">
            <a:avLst/>
          </a:prstGeom>
          <a:noFill/>
        </p:spPr>
        <p:txBody>
          <a:bodyPr wrap="none" rtlCol="0">
            <a:spAutoFit/>
          </a:bodyPr>
          <a:lstStyle/>
          <a:p>
            <a:r>
              <a:rPr lang="en-US" altLang="zh-CN" dirty="0"/>
              <a:t>1900</a:t>
            </a:r>
            <a:endParaRPr lang="zh-CN" altLang="en-US" dirty="0"/>
          </a:p>
        </p:txBody>
      </p:sp>
      <p:sp>
        <p:nvSpPr>
          <p:cNvPr id="8" name="文本框 7">
            <a:extLst>
              <a:ext uri="{FF2B5EF4-FFF2-40B4-BE49-F238E27FC236}">
                <a16:creationId xmlns:a16="http://schemas.microsoft.com/office/drawing/2014/main" id="{F8FD1482-D4B7-90C5-07B0-8FB373560D47}"/>
              </a:ext>
            </a:extLst>
          </p:cNvPr>
          <p:cNvSpPr txBox="1"/>
          <p:nvPr/>
        </p:nvSpPr>
        <p:spPr>
          <a:xfrm>
            <a:off x="7025384" y="3070860"/>
            <a:ext cx="652743" cy="369332"/>
          </a:xfrm>
          <a:prstGeom prst="rect">
            <a:avLst/>
          </a:prstGeom>
          <a:noFill/>
        </p:spPr>
        <p:txBody>
          <a:bodyPr wrap="none" rtlCol="0">
            <a:spAutoFit/>
          </a:bodyPr>
          <a:lstStyle/>
          <a:p>
            <a:r>
              <a:rPr lang="en-US" altLang="zh-CN" dirty="0"/>
              <a:t>2000</a:t>
            </a:r>
            <a:endParaRPr lang="zh-CN" altLang="en-US" dirty="0"/>
          </a:p>
        </p:txBody>
      </p:sp>
      <p:cxnSp>
        <p:nvCxnSpPr>
          <p:cNvPr id="9" name="直接连接符 8">
            <a:extLst>
              <a:ext uri="{FF2B5EF4-FFF2-40B4-BE49-F238E27FC236}">
                <a16:creationId xmlns:a16="http://schemas.microsoft.com/office/drawing/2014/main" id="{7C8766AA-9D44-D233-75C5-485F67552697}"/>
              </a:ext>
            </a:extLst>
          </p:cNvPr>
          <p:cNvCxnSpPr>
            <a:cxnSpLocks/>
          </p:cNvCxnSpPr>
          <p:nvPr/>
        </p:nvCxnSpPr>
        <p:spPr>
          <a:xfrm flipV="1">
            <a:off x="1427480" y="3781424"/>
            <a:ext cx="0" cy="287656"/>
          </a:xfrm>
          <a:prstGeom prst="line">
            <a:avLst/>
          </a:prstGeom>
          <a:ln w="19050"/>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861C7914-B6F0-8FF0-9BC1-FFF132745306}"/>
              </a:ext>
            </a:extLst>
          </p:cNvPr>
          <p:cNvSpPr txBox="1"/>
          <p:nvPr/>
        </p:nvSpPr>
        <p:spPr>
          <a:xfrm>
            <a:off x="482766" y="4073811"/>
            <a:ext cx="1808779" cy="584775"/>
          </a:xfrm>
          <a:prstGeom prst="rect">
            <a:avLst/>
          </a:prstGeom>
          <a:noFill/>
        </p:spPr>
        <p:txBody>
          <a:bodyPr wrap="square">
            <a:spAutoFit/>
          </a:bodyPr>
          <a:lstStyle/>
          <a:p>
            <a:r>
              <a:rPr lang="en-US" altLang="zh-CN" sz="1600" dirty="0"/>
              <a:t>1900 – 1905</a:t>
            </a:r>
          </a:p>
          <a:p>
            <a:r>
              <a:rPr lang="zh-CN" altLang="en-US" sz="1600" dirty="0"/>
              <a:t>量子论的建立</a:t>
            </a:r>
            <a:endParaRPr lang="en-US" altLang="zh-CN" sz="1600" dirty="0"/>
          </a:p>
        </p:txBody>
      </p:sp>
      <p:sp>
        <p:nvSpPr>
          <p:cNvPr id="30" name="文本框 29">
            <a:extLst>
              <a:ext uri="{FF2B5EF4-FFF2-40B4-BE49-F238E27FC236}">
                <a16:creationId xmlns:a16="http://schemas.microsoft.com/office/drawing/2014/main" id="{7BDC9353-11B6-4218-6F2E-B187B8263CD4}"/>
              </a:ext>
            </a:extLst>
          </p:cNvPr>
          <p:cNvSpPr txBox="1"/>
          <p:nvPr/>
        </p:nvSpPr>
        <p:spPr>
          <a:xfrm>
            <a:off x="9094648" y="2981138"/>
            <a:ext cx="994870" cy="307777"/>
          </a:xfrm>
          <a:prstGeom prst="rect">
            <a:avLst/>
          </a:prstGeom>
          <a:noFill/>
        </p:spPr>
        <p:txBody>
          <a:bodyPr wrap="square">
            <a:spAutoFit/>
          </a:bodyPr>
          <a:lstStyle/>
          <a:p>
            <a:r>
              <a:rPr lang="en-US" altLang="zh-CN" sz="1400" dirty="0">
                <a:solidFill>
                  <a:srgbClr val="393939"/>
                </a:solidFill>
              </a:rPr>
              <a:t>Igor Tamm</a:t>
            </a:r>
            <a:endParaRPr lang="zh-CN" altLang="zh-CN" sz="1400" i="0" dirty="0">
              <a:solidFill>
                <a:srgbClr val="393939"/>
              </a:solidFill>
              <a:effectLst/>
            </a:endParaRPr>
          </a:p>
        </p:txBody>
      </p:sp>
      <p:cxnSp>
        <p:nvCxnSpPr>
          <p:cNvPr id="3" name="直接连接符 2">
            <a:extLst>
              <a:ext uri="{FF2B5EF4-FFF2-40B4-BE49-F238E27FC236}">
                <a16:creationId xmlns:a16="http://schemas.microsoft.com/office/drawing/2014/main" id="{89176890-0DD8-4C94-1A6C-CBBA30F14F18}"/>
              </a:ext>
            </a:extLst>
          </p:cNvPr>
          <p:cNvCxnSpPr>
            <a:cxnSpLocks/>
          </p:cNvCxnSpPr>
          <p:nvPr/>
        </p:nvCxnSpPr>
        <p:spPr>
          <a:xfrm flipV="1">
            <a:off x="2001178" y="3015688"/>
            <a:ext cx="0" cy="755650"/>
          </a:xfrm>
          <a:prstGeom prst="line">
            <a:avLst/>
          </a:prstGeom>
          <a:ln w="19050"/>
        </p:spPr>
        <p:style>
          <a:lnRef idx="1">
            <a:schemeClr val="dk1"/>
          </a:lnRef>
          <a:fillRef idx="0">
            <a:schemeClr val="dk1"/>
          </a:fillRef>
          <a:effectRef idx="0">
            <a:schemeClr val="dk1"/>
          </a:effectRef>
          <a:fontRef idx="minor">
            <a:schemeClr val="tx1"/>
          </a:fontRef>
        </p:style>
      </p:cxnSp>
      <p:cxnSp>
        <p:nvCxnSpPr>
          <p:cNvPr id="6" name="直接连接符 5">
            <a:extLst>
              <a:ext uri="{FF2B5EF4-FFF2-40B4-BE49-F238E27FC236}">
                <a16:creationId xmlns:a16="http://schemas.microsoft.com/office/drawing/2014/main" id="{B57C0569-ED1B-3539-F951-503FD5A1980F}"/>
              </a:ext>
            </a:extLst>
          </p:cNvPr>
          <p:cNvCxnSpPr>
            <a:cxnSpLocks/>
          </p:cNvCxnSpPr>
          <p:nvPr/>
        </p:nvCxnSpPr>
        <p:spPr>
          <a:xfrm flipV="1">
            <a:off x="2753483" y="3025774"/>
            <a:ext cx="0" cy="1050926"/>
          </a:xfrm>
          <a:prstGeom prst="line">
            <a:avLst/>
          </a:prstGeom>
          <a:ln w="19050"/>
        </p:spPr>
        <p:style>
          <a:lnRef idx="1">
            <a:schemeClr val="dk1"/>
          </a:lnRef>
          <a:fillRef idx="0">
            <a:schemeClr val="dk1"/>
          </a:fillRef>
          <a:effectRef idx="0">
            <a:schemeClr val="dk1"/>
          </a:effectRef>
          <a:fontRef idx="minor">
            <a:schemeClr val="tx1"/>
          </a:fontRef>
        </p:style>
      </p:cxnSp>
      <p:sp>
        <p:nvSpPr>
          <p:cNvPr id="13" name="文本框 12">
            <a:extLst>
              <a:ext uri="{FF2B5EF4-FFF2-40B4-BE49-F238E27FC236}">
                <a16:creationId xmlns:a16="http://schemas.microsoft.com/office/drawing/2014/main" id="{3D4D6153-470F-953C-4570-7487D2EFB55C}"/>
              </a:ext>
            </a:extLst>
          </p:cNvPr>
          <p:cNvSpPr txBox="1"/>
          <p:nvPr/>
        </p:nvSpPr>
        <p:spPr>
          <a:xfrm>
            <a:off x="1662624" y="1595181"/>
            <a:ext cx="677108" cy="1385957"/>
          </a:xfrm>
          <a:prstGeom prst="rect">
            <a:avLst/>
          </a:prstGeom>
          <a:noFill/>
        </p:spPr>
        <p:txBody>
          <a:bodyPr vert="eaVert" wrap="square">
            <a:spAutoFit/>
          </a:bodyPr>
          <a:lstStyle/>
          <a:p>
            <a:r>
              <a:rPr lang="en-US" altLang="zh-CN" sz="1600" dirty="0"/>
              <a:t>1907</a:t>
            </a:r>
          </a:p>
          <a:p>
            <a:r>
              <a:rPr lang="zh-CN" altLang="zh-CN" sz="1600" dirty="0"/>
              <a:t>爱因斯坦模型</a:t>
            </a:r>
            <a:endParaRPr lang="en-US" altLang="zh-CN" sz="1600" dirty="0"/>
          </a:p>
        </p:txBody>
      </p:sp>
      <p:sp>
        <p:nvSpPr>
          <p:cNvPr id="23" name="文本框 22">
            <a:extLst>
              <a:ext uri="{FF2B5EF4-FFF2-40B4-BE49-F238E27FC236}">
                <a16:creationId xmlns:a16="http://schemas.microsoft.com/office/drawing/2014/main" id="{6980529E-FFAE-97AE-7FD2-824C959F328B}"/>
              </a:ext>
            </a:extLst>
          </p:cNvPr>
          <p:cNvSpPr txBox="1"/>
          <p:nvPr/>
        </p:nvSpPr>
        <p:spPr>
          <a:xfrm>
            <a:off x="2291545" y="1806340"/>
            <a:ext cx="1169551" cy="1325563"/>
          </a:xfrm>
          <a:prstGeom prst="rect">
            <a:avLst/>
          </a:prstGeom>
          <a:noFill/>
        </p:spPr>
        <p:txBody>
          <a:bodyPr vert="eaVert" wrap="square">
            <a:spAutoFit/>
          </a:bodyPr>
          <a:lstStyle/>
          <a:p>
            <a:r>
              <a:rPr lang="en-US" altLang="zh-CN" sz="1600" dirty="0"/>
              <a:t>1912</a:t>
            </a:r>
          </a:p>
          <a:p>
            <a:r>
              <a:rPr lang="zh-CN" altLang="en-US" sz="1600" dirty="0"/>
              <a:t>德拜模型</a:t>
            </a:r>
            <a:endParaRPr lang="en-US" altLang="zh-CN" sz="1600" dirty="0"/>
          </a:p>
          <a:p>
            <a:r>
              <a:rPr lang="zh-CN" altLang="en-US" sz="1600" dirty="0"/>
              <a:t>波恩</a:t>
            </a:r>
            <a:r>
              <a:rPr lang="en-US" altLang="zh-CN" sz="1600" dirty="0"/>
              <a:t>-</a:t>
            </a:r>
            <a:r>
              <a:rPr lang="zh-CN" altLang="en-US" sz="1600" dirty="0"/>
              <a:t>冯</a:t>
            </a:r>
            <a:r>
              <a:rPr lang="en-US" altLang="zh-CN" sz="1600" dirty="0"/>
              <a:t>·</a:t>
            </a:r>
            <a:r>
              <a:rPr lang="zh-CN" altLang="en-US" sz="1600" dirty="0"/>
              <a:t>卡门晶格理论</a:t>
            </a:r>
            <a:endParaRPr lang="en-US" altLang="zh-CN" sz="1600" dirty="0"/>
          </a:p>
        </p:txBody>
      </p:sp>
      <p:sp>
        <p:nvSpPr>
          <p:cNvPr id="41" name="文本框 40">
            <a:extLst>
              <a:ext uri="{FF2B5EF4-FFF2-40B4-BE49-F238E27FC236}">
                <a16:creationId xmlns:a16="http://schemas.microsoft.com/office/drawing/2014/main" id="{1D317F63-7A81-81C9-C7A4-0593ABF70E5B}"/>
              </a:ext>
            </a:extLst>
          </p:cNvPr>
          <p:cNvSpPr txBox="1"/>
          <p:nvPr/>
        </p:nvSpPr>
        <p:spPr>
          <a:xfrm>
            <a:off x="10190822" y="2981138"/>
            <a:ext cx="1221257" cy="307777"/>
          </a:xfrm>
          <a:prstGeom prst="rect">
            <a:avLst/>
          </a:prstGeom>
          <a:noFill/>
        </p:spPr>
        <p:txBody>
          <a:bodyPr wrap="square">
            <a:spAutoFit/>
          </a:bodyPr>
          <a:lstStyle/>
          <a:p>
            <a:r>
              <a:rPr lang="en-US" altLang="zh-CN" sz="1400" dirty="0">
                <a:solidFill>
                  <a:srgbClr val="393939"/>
                </a:solidFill>
              </a:rPr>
              <a:t>Yakov Frenkel </a:t>
            </a:r>
            <a:endParaRPr lang="zh-CN" altLang="zh-CN" sz="1400" i="0" dirty="0">
              <a:solidFill>
                <a:srgbClr val="393939"/>
              </a:solidFill>
              <a:effectLst/>
            </a:endParaRPr>
          </a:p>
        </p:txBody>
      </p:sp>
      <p:cxnSp>
        <p:nvCxnSpPr>
          <p:cNvPr id="11" name="直接连接符 10">
            <a:extLst>
              <a:ext uri="{FF2B5EF4-FFF2-40B4-BE49-F238E27FC236}">
                <a16:creationId xmlns:a16="http://schemas.microsoft.com/office/drawing/2014/main" id="{1B27D4D4-AAC6-CDB8-B8E9-C79529FAE9A1}"/>
              </a:ext>
            </a:extLst>
          </p:cNvPr>
          <p:cNvCxnSpPr>
            <a:cxnSpLocks/>
          </p:cNvCxnSpPr>
          <p:nvPr/>
        </p:nvCxnSpPr>
        <p:spPr>
          <a:xfrm flipV="1">
            <a:off x="3667760" y="3025774"/>
            <a:ext cx="0" cy="755650"/>
          </a:xfrm>
          <a:prstGeom prst="line">
            <a:avLst/>
          </a:prstGeom>
          <a:ln w="19050"/>
        </p:spPr>
        <p:style>
          <a:lnRef idx="1">
            <a:schemeClr val="dk1"/>
          </a:lnRef>
          <a:fillRef idx="0">
            <a:schemeClr val="dk1"/>
          </a:fillRef>
          <a:effectRef idx="0">
            <a:schemeClr val="dk1"/>
          </a:effectRef>
          <a:fontRef idx="minor">
            <a:schemeClr val="tx1"/>
          </a:fontRef>
        </p:style>
      </p:cxnSp>
      <p:pic>
        <p:nvPicPr>
          <p:cNvPr id="19" name="图片 18">
            <a:extLst>
              <a:ext uri="{FF2B5EF4-FFF2-40B4-BE49-F238E27FC236}">
                <a16:creationId xmlns:a16="http://schemas.microsoft.com/office/drawing/2014/main" id="{5885A9A8-E777-9B21-DC3A-278006DFE7FE}"/>
              </a:ext>
            </a:extLst>
          </p:cNvPr>
          <p:cNvPicPr>
            <a:picLocks noChangeAspect="1"/>
          </p:cNvPicPr>
          <p:nvPr/>
        </p:nvPicPr>
        <p:blipFill>
          <a:blip r:embed="rId2">
            <a:extLst>
              <a:ext uri="{28A0092B-C50C-407E-A947-70E740481C1C}">
                <a14:useLocalDpi xmlns:a14="http://schemas.microsoft.com/office/drawing/2010/main" val="0"/>
              </a:ext>
            </a:extLst>
          </a:blip>
          <a:srcRect r="53302" b="15222"/>
          <a:stretch>
            <a:fillRect/>
          </a:stretch>
        </p:blipFill>
        <p:spPr>
          <a:xfrm>
            <a:off x="9094648" y="1595250"/>
            <a:ext cx="1011781" cy="1377634"/>
          </a:xfrm>
          <a:prstGeom prst="rect">
            <a:avLst/>
          </a:prstGeom>
        </p:spPr>
      </p:pic>
      <p:pic>
        <p:nvPicPr>
          <p:cNvPr id="24" name="图片 23">
            <a:extLst>
              <a:ext uri="{FF2B5EF4-FFF2-40B4-BE49-F238E27FC236}">
                <a16:creationId xmlns:a16="http://schemas.microsoft.com/office/drawing/2014/main" id="{E95A327C-EDD5-4BA2-96B5-721368523130}"/>
              </a:ext>
            </a:extLst>
          </p:cNvPr>
          <p:cNvPicPr>
            <a:picLocks noChangeAspect="1"/>
          </p:cNvPicPr>
          <p:nvPr/>
        </p:nvPicPr>
        <p:blipFill>
          <a:blip r:embed="rId3">
            <a:extLst>
              <a:ext uri="{28A0092B-C50C-407E-A947-70E740481C1C}">
                <a14:useLocalDpi xmlns:a14="http://schemas.microsoft.com/office/drawing/2010/main" val="0"/>
              </a:ext>
            </a:extLst>
          </a:blip>
          <a:srcRect l="13110" t="-600" r="13754" b="27464"/>
          <a:stretch>
            <a:fillRect/>
          </a:stretch>
        </p:blipFill>
        <p:spPr>
          <a:xfrm>
            <a:off x="10208587" y="1595249"/>
            <a:ext cx="1046834" cy="1377633"/>
          </a:xfrm>
          <a:prstGeom prst="rect">
            <a:avLst/>
          </a:prstGeom>
        </p:spPr>
      </p:pic>
      <p:sp>
        <p:nvSpPr>
          <p:cNvPr id="26" name="文本框 25">
            <a:extLst>
              <a:ext uri="{FF2B5EF4-FFF2-40B4-BE49-F238E27FC236}">
                <a16:creationId xmlns:a16="http://schemas.microsoft.com/office/drawing/2014/main" id="{5C1D4FCB-963F-EA05-9BDF-FF38AE648294}"/>
              </a:ext>
            </a:extLst>
          </p:cNvPr>
          <p:cNvSpPr txBox="1"/>
          <p:nvPr/>
        </p:nvSpPr>
        <p:spPr>
          <a:xfrm>
            <a:off x="3587104" y="4129116"/>
            <a:ext cx="2631027" cy="707886"/>
          </a:xfrm>
          <a:prstGeom prst="rect">
            <a:avLst/>
          </a:prstGeom>
          <a:noFill/>
        </p:spPr>
        <p:txBody>
          <a:bodyPr wrap="square">
            <a:spAutoFit/>
          </a:bodyPr>
          <a:lstStyle/>
          <a:p>
            <a:r>
              <a:rPr lang="en-US" altLang="zh-CN" sz="2000" dirty="0"/>
              <a:t>1929-1932</a:t>
            </a:r>
          </a:p>
          <a:p>
            <a:r>
              <a:rPr lang="zh-CN" altLang="en-US" sz="2000" dirty="0"/>
              <a:t>“声子”概念形成</a:t>
            </a:r>
            <a:endParaRPr lang="en-US" altLang="zh-CN" sz="2000" dirty="0"/>
          </a:p>
        </p:txBody>
      </p:sp>
      <p:cxnSp>
        <p:nvCxnSpPr>
          <p:cNvPr id="28" name="直接连接符 27">
            <a:extLst>
              <a:ext uri="{FF2B5EF4-FFF2-40B4-BE49-F238E27FC236}">
                <a16:creationId xmlns:a16="http://schemas.microsoft.com/office/drawing/2014/main" id="{234CD6B8-F714-7942-B3E4-58940D73A152}"/>
              </a:ext>
            </a:extLst>
          </p:cNvPr>
          <p:cNvCxnSpPr>
            <a:cxnSpLocks/>
          </p:cNvCxnSpPr>
          <p:nvPr/>
        </p:nvCxnSpPr>
        <p:spPr>
          <a:xfrm flipV="1">
            <a:off x="3843020" y="3781424"/>
            <a:ext cx="0" cy="287656"/>
          </a:xfrm>
          <a:prstGeom prst="line">
            <a:avLst/>
          </a:prstGeom>
          <a:ln w="19050"/>
        </p:spPr>
        <p:style>
          <a:lnRef idx="1">
            <a:schemeClr val="dk1"/>
          </a:lnRef>
          <a:fillRef idx="0">
            <a:schemeClr val="dk1"/>
          </a:fillRef>
          <a:effectRef idx="0">
            <a:schemeClr val="dk1"/>
          </a:effectRef>
          <a:fontRef idx="minor">
            <a:schemeClr val="tx1"/>
          </a:fontRef>
        </p:style>
      </p:cxnSp>
      <p:sp>
        <p:nvSpPr>
          <p:cNvPr id="32" name="文本框 31">
            <a:extLst>
              <a:ext uri="{FF2B5EF4-FFF2-40B4-BE49-F238E27FC236}">
                <a16:creationId xmlns:a16="http://schemas.microsoft.com/office/drawing/2014/main" id="{A6704375-2608-272D-3660-08CAFCC8672C}"/>
              </a:ext>
            </a:extLst>
          </p:cNvPr>
          <p:cNvSpPr txBox="1"/>
          <p:nvPr/>
        </p:nvSpPr>
        <p:spPr>
          <a:xfrm>
            <a:off x="2431892" y="4139564"/>
            <a:ext cx="677108" cy="1851660"/>
          </a:xfrm>
          <a:prstGeom prst="rect">
            <a:avLst/>
          </a:prstGeom>
          <a:noFill/>
        </p:spPr>
        <p:txBody>
          <a:bodyPr vert="eaVert" wrap="square">
            <a:spAutoFit/>
          </a:bodyPr>
          <a:lstStyle/>
          <a:p>
            <a:r>
              <a:rPr lang="en-US" altLang="zh-CN" sz="1600" dirty="0"/>
              <a:t>1911</a:t>
            </a:r>
          </a:p>
          <a:p>
            <a:r>
              <a:rPr lang="zh-CN" altLang="en-US" sz="1600" dirty="0"/>
              <a:t>第一次索尔维会议</a:t>
            </a:r>
            <a:endParaRPr lang="en-US" altLang="zh-CN" sz="1600" dirty="0"/>
          </a:p>
        </p:txBody>
      </p:sp>
      <p:sp>
        <p:nvSpPr>
          <p:cNvPr id="36" name="文本框 35">
            <a:extLst>
              <a:ext uri="{FF2B5EF4-FFF2-40B4-BE49-F238E27FC236}">
                <a16:creationId xmlns:a16="http://schemas.microsoft.com/office/drawing/2014/main" id="{FE564577-5BC2-53E3-CA09-42EE3895BA75}"/>
              </a:ext>
            </a:extLst>
          </p:cNvPr>
          <p:cNvSpPr txBox="1"/>
          <p:nvPr/>
        </p:nvSpPr>
        <p:spPr>
          <a:xfrm>
            <a:off x="3229004" y="2104000"/>
            <a:ext cx="923330" cy="1172736"/>
          </a:xfrm>
          <a:prstGeom prst="rect">
            <a:avLst/>
          </a:prstGeom>
          <a:noFill/>
        </p:spPr>
        <p:txBody>
          <a:bodyPr vert="eaVert" wrap="square">
            <a:spAutoFit/>
          </a:bodyPr>
          <a:lstStyle/>
          <a:p>
            <a:r>
              <a:rPr lang="en-US" altLang="zh-CN" sz="1600" dirty="0"/>
              <a:t>1928</a:t>
            </a:r>
          </a:p>
          <a:p>
            <a:r>
              <a:rPr lang="zh-CN" altLang="en-US" sz="1600" dirty="0"/>
              <a:t>拉曼散射</a:t>
            </a:r>
            <a:endParaRPr lang="en-US" altLang="zh-CN" sz="1600" dirty="0"/>
          </a:p>
        </p:txBody>
      </p:sp>
    </p:spTree>
    <p:extLst>
      <p:ext uri="{BB962C8B-B14F-4D97-AF65-F5344CB8AC3E}">
        <p14:creationId xmlns:p14="http://schemas.microsoft.com/office/powerpoint/2010/main" val="1439705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6C1FE-15C6-4B80-E513-546A63E1D9DB}"/>
            </a:ext>
          </a:extLst>
        </p:cNvPr>
        <p:cNvGrpSpPr/>
        <p:nvPr/>
      </p:nvGrpSpPr>
      <p:grpSpPr>
        <a:xfrm>
          <a:off x="0" y="0"/>
          <a:ext cx="0" cy="0"/>
          <a:chOff x="0" y="0"/>
          <a:chExt cx="0" cy="0"/>
        </a:xfrm>
      </p:grpSpPr>
      <p:sp>
        <p:nvSpPr>
          <p:cNvPr id="27" name="矩形: 圆角 26">
            <a:extLst>
              <a:ext uri="{FF2B5EF4-FFF2-40B4-BE49-F238E27FC236}">
                <a16:creationId xmlns:a16="http://schemas.microsoft.com/office/drawing/2014/main" id="{899993AB-C38D-07CF-6B79-6DADBD1E304D}"/>
              </a:ext>
            </a:extLst>
          </p:cNvPr>
          <p:cNvSpPr/>
          <p:nvPr/>
        </p:nvSpPr>
        <p:spPr>
          <a:xfrm>
            <a:off x="8604897" y="1240156"/>
            <a:ext cx="3208017" cy="4863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2742B637-C377-1802-8B6F-AC98A88F319F}"/>
              </a:ext>
            </a:extLst>
          </p:cNvPr>
          <p:cNvSpPr>
            <a:spLocks noGrp="1"/>
          </p:cNvSpPr>
          <p:nvPr>
            <p:ph type="title"/>
          </p:nvPr>
        </p:nvSpPr>
        <p:spPr/>
        <p:txBody>
          <a:bodyPr/>
          <a:lstStyle/>
          <a:p>
            <a:r>
              <a:rPr lang="zh-CN" altLang="en-US" dirty="0"/>
              <a:t>晶格动力学研究的历史</a:t>
            </a:r>
            <a:endParaRPr lang="en-US" dirty="0"/>
          </a:p>
        </p:txBody>
      </p:sp>
      <p:graphicFrame>
        <p:nvGraphicFramePr>
          <p:cNvPr id="4" name="表格 3">
            <a:extLst>
              <a:ext uri="{FF2B5EF4-FFF2-40B4-BE49-F238E27FC236}">
                <a16:creationId xmlns:a16="http://schemas.microsoft.com/office/drawing/2014/main" id="{23D4B178-991D-7F62-6CB5-40313C9AF7E9}"/>
              </a:ext>
            </a:extLst>
          </p:cNvPr>
          <p:cNvGraphicFramePr>
            <a:graphicFrameLocks noGrp="1"/>
          </p:cNvGraphicFramePr>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11</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
        <p:nvSpPr>
          <p:cNvPr id="7" name="箭头: 五边形 6">
            <a:extLst>
              <a:ext uri="{FF2B5EF4-FFF2-40B4-BE49-F238E27FC236}">
                <a16:creationId xmlns:a16="http://schemas.microsoft.com/office/drawing/2014/main" id="{83830D22-DD2D-56C0-4E95-D196FBD8FA59}"/>
              </a:ext>
            </a:extLst>
          </p:cNvPr>
          <p:cNvSpPr/>
          <p:nvPr/>
        </p:nvSpPr>
        <p:spPr>
          <a:xfrm>
            <a:off x="514350" y="3429000"/>
            <a:ext cx="984250" cy="352424"/>
          </a:xfrm>
          <a:prstGeom prst="homePlat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V 形 9">
            <a:extLst>
              <a:ext uri="{FF2B5EF4-FFF2-40B4-BE49-F238E27FC236}">
                <a16:creationId xmlns:a16="http://schemas.microsoft.com/office/drawing/2014/main" id="{3F2C9B35-1F78-A495-D8C1-D4F6EFA30287}"/>
              </a:ext>
            </a:extLst>
          </p:cNvPr>
          <p:cNvSpPr/>
          <p:nvPr/>
        </p:nvSpPr>
        <p:spPr>
          <a:xfrm>
            <a:off x="1498600" y="3429000"/>
            <a:ext cx="5905500" cy="352424"/>
          </a:xfrm>
          <a:prstGeom prst="chevron">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箭头: V 形 11">
            <a:extLst>
              <a:ext uri="{FF2B5EF4-FFF2-40B4-BE49-F238E27FC236}">
                <a16:creationId xmlns:a16="http://schemas.microsoft.com/office/drawing/2014/main" id="{D8AB4245-5C96-BC19-14C3-F847DC7AADC7}"/>
              </a:ext>
            </a:extLst>
          </p:cNvPr>
          <p:cNvSpPr/>
          <p:nvPr/>
        </p:nvSpPr>
        <p:spPr>
          <a:xfrm>
            <a:off x="7404100" y="3429000"/>
            <a:ext cx="1060450" cy="352424"/>
          </a:xfrm>
          <a:prstGeom prst="chevron">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7" name="直接连接符 16">
            <a:extLst>
              <a:ext uri="{FF2B5EF4-FFF2-40B4-BE49-F238E27FC236}">
                <a16:creationId xmlns:a16="http://schemas.microsoft.com/office/drawing/2014/main" id="{54B00140-9B71-DD5B-23D1-61314E57DF88}"/>
              </a:ext>
            </a:extLst>
          </p:cNvPr>
          <p:cNvCxnSpPr>
            <a:cxnSpLocks/>
          </p:cNvCxnSpPr>
          <p:nvPr/>
        </p:nvCxnSpPr>
        <p:spPr>
          <a:xfrm flipV="1">
            <a:off x="650240" y="3025774"/>
            <a:ext cx="0" cy="755650"/>
          </a:xfrm>
          <a:prstGeom prst="line">
            <a:avLst/>
          </a:prstGeom>
          <a:ln w="19050"/>
        </p:spPr>
        <p:style>
          <a:lnRef idx="1">
            <a:schemeClr val="dk1"/>
          </a:lnRef>
          <a:fillRef idx="0">
            <a:schemeClr val="dk1"/>
          </a:fillRef>
          <a:effectRef idx="0">
            <a:schemeClr val="dk1"/>
          </a:effectRef>
          <a:fontRef idx="minor">
            <a:schemeClr val="tx1"/>
          </a:fontRef>
        </p:style>
      </p:cxnSp>
      <p:sp>
        <p:nvSpPr>
          <p:cNvPr id="22" name="文本框 21">
            <a:extLst>
              <a:ext uri="{FF2B5EF4-FFF2-40B4-BE49-F238E27FC236}">
                <a16:creationId xmlns:a16="http://schemas.microsoft.com/office/drawing/2014/main" id="{91BA2865-5593-C3F4-93EB-529597F90F1A}"/>
              </a:ext>
            </a:extLst>
          </p:cNvPr>
          <p:cNvSpPr txBox="1"/>
          <p:nvPr/>
        </p:nvSpPr>
        <p:spPr>
          <a:xfrm>
            <a:off x="271889" y="1595181"/>
            <a:ext cx="677108" cy="1385957"/>
          </a:xfrm>
          <a:prstGeom prst="rect">
            <a:avLst/>
          </a:prstGeom>
          <a:noFill/>
        </p:spPr>
        <p:txBody>
          <a:bodyPr vert="eaVert" wrap="none" rtlCol="0">
            <a:spAutoFit/>
          </a:bodyPr>
          <a:lstStyle/>
          <a:p>
            <a:r>
              <a:rPr lang="en-US" altLang="zh-CN" sz="1600" dirty="0"/>
              <a:t>1819</a:t>
            </a:r>
          </a:p>
          <a:p>
            <a:r>
              <a:rPr lang="zh-CN" altLang="en-US" sz="1600" dirty="0"/>
              <a:t>杜隆</a:t>
            </a:r>
            <a:r>
              <a:rPr lang="en-US" altLang="zh-CN" sz="1600" dirty="0"/>
              <a:t>-</a:t>
            </a:r>
            <a:r>
              <a:rPr lang="zh-CN" altLang="en-US" sz="1600" dirty="0"/>
              <a:t>珀蒂定律</a:t>
            </a:r>
          </a:p>
        </p:txBody>
      </p:sp>
      <p:sp>
        <p:nvSpPr>
          <p:cNvPr id="29" name="文本框 28">
            <a:extLst>
              <a:ext uri="{FF2B5EF4-FFF2-40B4-BE49-F238E27FC236}">
                <a16:creationId xmlns:a16="http://schemas.microsoft.com/office/drawing/2014/main" id="{BD9CAF21-FCB9-4045-A400-CF2ACA9F53CA}"/>
              </a:ext>
            </a:extLst>
          </p:cNvPr>
          <p:cNvSpPr txBox="1"/>
          <p:nvPr/>
        </p:nvSpPr>
        <p:spPr>
          <a:xfrm>
            <a:off x="8716191" y="3617211"/>
            <a:ext cx="2985428" cy="1951038"/>
          </a:xfrm>
          <a:prstGeom prst="rect">
            <a:avLst/>
          </a:prstGeom>
          <a:noFill/>
        </p:spPr>
        <p:txBody>
          <a:bodyPr wrap="square" lIns="36000" tIns="36000" rIns="36000" bIns="36000">
            <a:spAutoFit/>
          </a:bodyPr>
          <a:lstStyle/>
          <a:p>
            <a:pPr>
              <a:lnSpc>
                <a:spcPct val="110000"/>
              </a:lnSpc>
              <a:spcAft>
                <a:spcPts val="1200"/>
              </a:spcAft>
            </a:pPr>
            <a:r>
              <a:rPr lang="zh-CN" altLang="en-US" sz="1600" b="0" i="0" dirty="0">
                <a:solidFill>
                  <a:schemeClr val="tx1"/>
                </a:solidFill>
                <a:effectLst/>
                <a:latin typeface="Calibri" panose="020F0502020204030204" pitchFamily="34" charset="0"/>
                <a:ea typeface="黑体" panose="02010609060101010101" pitchFamily="49" charset="-122"/>
              </a:rPr>
              <a:t>中国物理学家黄昆与导师</a:t>
            </a:r>
            <a:r>
              <a:rPr lang="en-US" altLang="zh-CN" sz="1600" b="0" i="0" dirty="0">
                <a:solidFill>
                  <a:schemeClr val="tx1"/>
                </a:solidFill>
                <a:effectLst/>
                <a:latin typeface="Calibri" panose="020F0502020204030204" pitchFamily="34" charset="0"/>
                <a:ea typeface="黑体" panose="02010609060101010101" pitchFamily="49" charset="-122"/>
              </a:rPr>
              <a:t>Max Born</a:t>
            </a:r>
            <a:r>
              <a:rPr lang="zh-CN" altLang="en-US" sz="1600" b="0" i="0" dirty="0">
                <a:solidFill>
                  <a:schemeClr val="tx1"/>
                </a:solidFill>
                <a:effectLst/>
                <a:latin typeface="Calibri" panose="020F0502020204030204" pitchFamily="34" charset="0"/>
                <a:ea typeface="黑体" panose="02010609060101010101" pitchFamily="49" charset="-122"/>
              </a:rPr>
              <a:t>合</a:t>
            </a:r>
            <a:r>
              <a:rPr lang="zh-CN" altLang="en-US" sz="1600" dirty="0">
                <a:latin typeface="Calibri" panose="020F0502020204030204" pitchFamily="34" charset="0"/>
                <a:ea typeface="黑体" panose="02010609060101010101" pitchFamily="49" charset="-122"/>
              </a:rPr>
              <a:t>作，将晶格动力学几十年的发展结</a:t>
            </a:r>
            <a:r>
              <a:rPr lang="zh-CN" altLang="en-US" sz="1600" b="0" i="0" dirty="0">
                <a:solidFill>
                  <a:schemeClr val="tx1"/>
                </a:solidFill>
                <a:effectLst/>
                <a:latin typeface="Calibri" panose="020F0502020204030204" pitchFamily="34" charset="0"/>
                <a:ea typeface="黑体" panose="02010609060101010101" pitchFamily="49" charset="-122"/>
              </a:rPr>
              <a:t>合自身取得的一系列成果，包括黄散射、黄</a:t>
            </a:r>
            <a:r>
              <a:rPr lang="en-US" altLang="zh-CN" sz="1600" b="0" i="0" dirty="0">
                <a:solidFill>
                  <a:schemeClr val="tx1"/>
                </a:solidFill>
                <a:effectLst/>
                <a:latin typeface="Calibri" panose="020F0502020204030204" pitchFamily="34" charset="0"/>
                <a:ea typeface="黑体" panose="02010609060101010101" pitchFamily="49" charset="-122"/>
              </a:rPr>
              <a:t>-</a:t>
            </a:r>
            <a:r>
              <a:rPr lang="zh-CN" altLang="en-US" sz="1600" b="0" i="0" dirty="0">
                <a:solidFill>
                  <a:schemeClr val="tx1"/>
                </a:solidFill>
                <a:effectLst/>
                <a:latin typeface="Calibri" panose="020F0502020204030204" pitchFamily="34" charset="0"/>
                <a:ea typeface="黑体" panose="02010609060101010101" pitchFamily="49" charset="-122"/>
              </a:rPr>
              <a:t>里斯理论、黄方程，系统整</a:t>
            </a:r>
            <a:r>
              <a:rPr lang="zh-CN" altLang="en-US" sz="1600" dirty="0">
                <a:latin typeface="Calibri" panose="020F0502020204030204" pitchFamily="34" charset="0"/>
                <a:ea typeface="黑体" panose="02010609060101010101" pitchFamily="49" charset="-122"/>
              </a:rPr>
              <a:t>理并统一为一个完整理论体系，此书成为</a:t>
            </a:r>
            <a:r>
              <a:rPr lang="zh-CN" altLang="en-US" sz="1600" b="0" i="0" dirty="0">
                <a:solidFill>
                  <a:schemeClr val="tx1"/>
                </a:solidFill>
                <a:effectLst/>
                <a:latin typeface="Calibri" panose="020F0502020204030204" pitchFamily="34" charset="0"/>
                <a:ea typeface="黑体" panose="02010609060101010101" pitchFamily="49" charset="-122"/>
              </a:rPr>
              <a:t>现代晶格动力学的奠基性著作。</a:t>
            </a:r>
          </a:p>
        </p:txBody>
      </p:sp>
      <p:sp>
        <p:nvSpPr>
          <p:cNvPr id="5" name="文本框 4">
            <a:extLst>
              <a:ext uri="{FF2B5EF4-FFF2-40B4-BE49-F238E27FC236}">
                <a16:creationId xmlns:a16="http://schemas.microsoft.com/office/drawing/2014/main" id="{85DAD4E6-D826-0055-6478-E850C28428C1}"/>
              </a:ext>
            </a:extLst>
          </p:cNvPr>
          <p:cNvSpPr txBox="1"/>
          <p:nvPr/>
        </p:nvSpPr>
        <p:spPr>
          <a:xfrm>
            <a:off x="1102055" y="3070860"/>
            <a:ext cx="652743" cy="369332"/>
          </a:xfrm>
          <a:prstGeom prst="rect">
            <a:avLst/>
          </a:prstGeom>
          <a:noFill/>
        </p:spPr>
        <p:txBody>
          <a:bodyPr wrap="none" rtlCol="0">
            <a:spAutoFit/>
          </a:bodyPr>
          <a:lstStyle/>
          <a:p>
            <a:r>
              <a:rPr lang="en-US" altLang="zh-CN" dirty="0"/>
              <a:t>1900</a:t>
            </a:r>
            <a:endParaRPr lang="zh-CN" altLang="en-US" dirty="0"/>
          </a:p>
        </p:txBody>
      </p:sp>
      <p:sp>
        <p:nvSpPr>
          <p:cNvPr id="8" name="文本框 7">
            <a:extLst>
              <a:ext uri="{FF2B5EF4-FFF2-40B4-BE49-F238E27FC236}">
                <a16:creationId xmlns:a16="http://schemas.microsoft.com/office/drawing/2014/main" id="{9F097841-58B8-277B-D66A-08B430F87ECF}"/>
              </a:ext>
            </a:extLst>
          </p:cNvPr>
          <p:cNvSpPr txBox="1"/>
          <p:nvPr/>
        </p:nvSpPr>
        <p:spPr>
          <a:xfrm>
            <a:off x="7025384" y="3070860"/>
            <a:ext cx="652743" cy="369332"/>
          </a:xfrm>
          <a:prstGeom prst="rect">
            <a:avLst/>
          </a:prstGeom>
          <a:noFill/>
        </p:spPr>
        <p:txBody>
          <a:bodyPr wrap="none" rtlCol="0">
            <a:spAutoFit/>
          </a:bodyPr>
          <a:lstStyle/>
          <a:p>
            <a:r>
              <a:rPr lang="en-US" altLang="zh-CN" dirty="0"/>
              <a:t>2000</a:t>
            </a:r>
            <a:endParaRPr lang="zh-CN" altLang="en-US" dirty="0"/>
          </a:p>
        </p:txBody>
      </p:sp>
      <p:cxnSp>
        <p:nvCxnSpPr>
          <p:cNvPr id="9" name="直接连接符 8">
            <a:extLst>
              <a:ext uri="{FF2B5EF4-FFF2-40B4-BE49-F238E27FC236}">
                <a16:creationId xmlns:a16="http://schemas.microsoft.com/office/drawing/2014/main" id="{9F11C4F7-079B-4C2F-129B-1738D8813D7D}"/>
              </a:ext>
            </a:extLst>
          </p:cNvPr>
          <p:cNvCxnSpPr>
            <a:cxnSpLocks/>
          </p:cNvCxnSpPr>
          <p:nvPr/>
        </p:nvCxnSpPr>
        <p:spPr>
          <a:xfrm flipV="1">
            <a:off x="1427480" y="3781424"/>
            <a:ext cx="0" cy="287656"/>
          </a:xfrm>
          <a:prstGeom prst="line">
            <a:avLst/>
          </a:prstGeom>
          <a:ln w="19050"/>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3BB48096-0C5F-B21E-15C1-4FBDA33F6FAA}"/>
              </a:ext>
            </a:extLst>
          </p:cNvPr>
          <p:cNvSpPr txBox="1"/>
          <p:nvPr/>
        </p:nvSpPr>
        <p:spPr>
          <a:xfrm>
            <a:off x="482766" y="4073811"/>
            <a:ext cx="1808779" cy="584775"/>
          </a:xfrm>
          <a:prstGeom prst="rect">
            <a:avLst/>
          </a:prstGeom>
          <a:noFill/>
        </p:spPr>
        <p:txBody>
          <a:bodyPr wrap="square">
            <a:spAutoFit/>
          </a:bodyPr>
          <a:lstStyle/>
          <a:p>
            <a:r>
              <a:rPr lang="en-US" altLang="zh-CN" sz="1600" dirty="0"/>
              <a:t>1900 – 1905</a:t>
            </a:r>
          </a:p>
          <a:p>
            <a:r>
              <a:rPr lang="zh-CN" altLang="en-US" sz="1600" dirty="0"/>
              <a:t>量子论的建立</a:t>
            </a:r>
            <a:endParaRPr lang="en-US" altLang="zh-CN" sz="1600" dirty="0"/>
          </a:p>
        </p:txBody>
      </p:sp>
      <p:cxnSp>
        <p:nvCxnSpPr>
          <p:cNvPr id="3" name="直接连接符 2">
            <a:extLst>
              <a:ext uri="{FF2B5EF4-FFF2-40B4-BE49-F238E27FC236}">
                <a16:creationId xmlns:a16="http://schemas.microsoft.com/office/drawing/2014/main" id="{0A23851C-C1C6-AFFD-A20D-F4EB9254BD90}"/>
              </a:ext>
            </a:extLst>
          </p:cNvPr>
          <p:cNvCxnSpPr>
            <a:cxnSpLocks/>
          </p:cNvCxnSpPr>
          <p:nvPr/>
        </p:nvCxnSpPr>
        <p:spPr>
          <a:xfrm flipV="1">
            <a:off x="2001178" y="3015688"/>
            <a:ext cx="0" cy="755650"/>
          </a:xfrm>
          <a:prstGeom prst="line">
            <a:avLst/>
          </a:prstGeom>
          <a:ln w="19050"/>
        </p:spPr>
        <p:style>
          <a:lnRef idx="1">
            <a:schemeClr val="dk1"/>
          </a:lnRef>
          <a:fillRef idx="0">
            <a:schemeClr val="dk1"/>
          </a:fillRef>
          <a:effectRef idx="0">
            <a:schemeClr val="dk1"/>
          </a:effectRef>
          <a:fontRef idx="minor">
            <a:schemeClr val="tx1"/>
          </a:fontRef>
        </p:style>
      </p:cxnSp>
      <p:cxnSp>
        <p:nvCxnSpPr>
          <p:cNvPr id="6" name="直接连接符 5">
            <a:extLst>
              <a:ext uri="{FF2B5EF4-FFF2-40B4-BE49-F238E27FC236}">
                <a16:creationId xmlns:a16="http://schemas.microsoft.com/office/drawing/2014/main" id="{40914BD1-C53F-600E-79D6-6F2915DA7E1C}"/>
              </a:ext>
            </a:extLst>
          </p:cNvPr>
          <p:cNvCxnSpPr>
            <a:cxnSpLocks/>
          </p:cNvCxnSpPr>
          <p:nvPr/>
        </p:nvCxnSpPr>
        <p:spPr>
          <a:xfrm flipV="1">
            <a:off x="2753483" y="3025774"/>
            <a:ext cx="0" cy="1050926"/>
          </a:xfrm>
          <a:prstGeom prst="line">
            <a:avLst/>
          </a:prstGeom>
          <a:ln w="19050"/>
        </p:spPr>
        <p:style>
          <a:lnRef idx="1">
            <a:schemeClr val="dk1"/>
          </a:lnRef>
          <a:fillRef idx="0">
            <a:schemeClr val="dk1"/>
          </a:fillRef>
          <a:effectRef idx="0">
            <a:schemeClr val="dk1"/>
          </a:effectRef>
          <a:fontRef idx="minor">
            <a:schemeClr val="tx1"/>
          </a:fontRef>
        </p:style>
      </p:cxnSp>
      <p:sp>
        <p:nvSpPr>
          <p:cNvPr id="13" name="文本框 12">
            <a:extLst>
              <a:ext uri="{FF2B5EF4-FFF2-40B4-BE49-F238E27FC236}">
                <a16:creationId xmlns:a16="http://schemas.microsoft.com/office/drawing/2014/main" id="{7EA76871-8EBF-1CB2-44C2-19E32660FE22}"/>
              </a:ext>
            </a:extLst>
          </p:cNvPr>
          <p:cNvSpPr txBox="1"/>
          <p:nvPr/>
        </p:nvSpPr>
        <p:spPr>
          <a:xfrm>
            <a:off x="1662624" y="1595181"/>
            <a:ext cx="677108" cy="1385957"/>
          </a:xfrm>
          <a:prstGeom prst="rect">
            <a:avLst/>
          </a:prstGeom>
          <a:noFill/>
        </p:spPr>
        <p:txBody>
          <a:bodyPr vert="eaVert" wrap="square">
            <a:spAutoFit/>
          </a:bodyPr>
          <a:lstStyle/>
          <a:p>
            <a:r>
              <a:rPr lang="en-US" altLang="zh-CN" sz="1600" dirty="0"/>
              <a:t>1907</a:t>
            </a:r>
          </a:p>
          <a:p>
            <a:r>
              <a:rPr lang="zh-CN" altLang="zh-CN" sz="1600" dirty="0"/>
              <a:t>爱因斯坦模型</a:t>
            </a:r>
            <a:endParaRPr lang="en-US" altLang="zh-CN" sz="1600" dirty="0"/>
          </a:p>
        </p:txBody>
      </p:sp>
      <p:sp>
        <p:nvSpPr>
          <p:cNvPr id="23" name="文本框 22">
            <a:extLst>
              <a:ext uri="{FF2B5EF4-FFF2-40B4-BE49-F238E27FC236}">
                <a16:creationId xmlns:a16="http://schemas.microsoft.com/office/drawing/2014/main" id="{C2573FC9-D0C6-D629-E71A-8B6E54CE6C8B}"/>
              </a:ext>
            </a:extLst>
          </p:cNvPr>
          <p:cNvSpPr txBox="1"/>
          <p:nvPr/>
        </p:nvSpPr>
        <p:spPr>
          <a:xfrm>
            <a:off x="2291545" y="1806340"/>
            <a:ext cx="1169551" cy="1325563"/>
          </a:xfrm>
          <a:prstGeom prst="rect">
            <a:avLst/>
          </a:prstGeom>
          <a:noFill/>
        </p:spPr>
        <p:txBody>
          <a:bodyPr vert="eaVert" wrap="square">
            <a:spAutoFit/>
          </a:bodyPr>
          <a:lstStyle/>
          <a:p>
            <a:r>
              <a:rPr lang="en-US" altLang="zh-CN" sz="1600" dirty="0"/>
              <a:t>1912</a:t>
            </a:r>
          </a:p>
          <a:p>
            <a:r>
              <a:rPr lang="zh-CN" altLang="en-US" sz="1600" dirty="0"/>
              <a:t>德拜模型</a:t>
            </a:r>
            <a:endParaRPr lang="en-US" altLang="zh-CN" sz="1600" dirty="0"/>
          </a:p>
          <a:p>
            <a:r>
              <a:rPr lang="zh-CN" altLang="en-US" sz="1600" dirty="0"/>
              <a:t>波恩</a:t>
            </a:r>
            <a:r>
              <a:rPr lang="en-US" altLang="zh-CN" sz="1600" dirty="0"/>
              <a:t>-</a:t>
            </a:r>
            <a:r>
              <a:rPr lang="zh-CN" altLang="en-US" sz="1600" dirty="0"/>
              <a:t>冯</a:t>
            </a:r>
            <a:r>
              <a:rPr lang="en-US" altLang="zh-CN" sz="1600" dirty="0"/>
              <a:t>·</a:t>
            </a:r>
            <a:r>
              <a:rPr lang="zh-CN" altLang="en-US" sz="1600" dirty="0"/>
              <a:t>卡门晶格理论</a:t>
            </a:r>
            <a:endParaRPr lang="en-US" altLang="zh-CN" sz="1600" dirty="0"/>
          </a:p>
        </p:txBody>
      </p:sp>
      <p:cxnSp>
        <p:nvCxnSpPr>
          <p:cNvPr id="11" name="直接连接符 10">
            <a:extLst>
              <a:ext uri="{FF2B5EF4-FFF2-40B4-BE49-F238E27FC236}">
                <a16:creationId xmlns:a16="http://schemas.microsoft.com/office/drawing/2014/main" id="{4483FACB-1F70-A45D-0E6A-9EF153CF3F0B}"/>
              </a:ext>
            </a:extLst>
          </p:cNvPr>
          <p:cNvCxnSpPr>
            <a:cxnSpLocks/>
          </p:cNvCxnSpPr>
          <p:nvPr/>
        </p:nvCxnSpPr>
        <p:spPr>
          <a:xfrm flipV="1">
            <a:off x="3667760" y="3025774"/>
            <a:ext cx="0" cy="755650"/>
          </a:xfrm>
          <a:prstGeom prst="line">
            <a:avLst/>
          </a:prstGeom>
          <a:ln w="19050"/>
        </p:spPr>
        <p:style>
          <a:lnRef idx="1">
            <a:schemeClr val="dk1"/>
          </a:lnRef>
          <a:fillRef idx="0">
            <a:schemeClr val="dk1"/>
          </a:fillRef>
          <a:effectRef idx="0">
            <a:schemeClr val="dk1"/>
          </a:effectRef>
          <a:fontRef idx="minor">
            <a:schemeClr val="tx1"/>
          </a:fontRef>
        </p:style>
      </p:cxnSp>
      <p:sp>
        <p:nvSpPr>
          <p:cNvPr id="26" name="文本框 25">
            <a:extLst>
              <a:ext uri="{FF2B5EF4-FFF2-40B4-BE49-F238E27FC236}">
                <a16:creationId xmlns:a16="http://schemas.microsoft.com/office/drawing/2014/main" id="{CDC3B2C6-9B59-AC7C-0B4A-4E46FDF6D0E2}"/>
              </a:ext>
            </a:extLst>
          </p:cNvPr>
          <p:cNvSpPr txBox="1"/>
          <p:nvPr/>
        </p:nvSpPr>
        <p:spPr>
          <a:xfrm>
            <a:off x="3504466" y="4134340"/>
            <a:ext cx="677108" cy="1862108"/>
          </a:xfrm>
          <a:prstGeom prst="rect">
            <a:avLst/>
          </a:prstGeom>
          <a:noFill/>
        </p:spPr>
        <p:txBody>
          <a:bodyPr vert="eaVert" wrap="square">
            <a:spAutoFit/>
          </a:bodyPr>
          <a:lstStyle/>
          <a:p>
            <a:r>
              <a:rPr lang="en-US" altLang="zh-CN" sz="1600" dirty="0"/>
              <a:t>1929-1932</a:t>
            </a:r>
          </a:p>
          <a:p>
            <a:r>
              <a:rPr lang="zh-CN" altLang="en-US" sz="1600" dirty="0"/>
              <a:t>“声子”概念形成</a:t>
            </a:r>
            <a:endParaRPr lang="en-US" altLang="zh-CN" sz="1600" dirty="0"/>
          </a:p>
        </p:txBody>
      </p:sp>
      <p:cxnSp>
        <p:nvCxnSpPr>
          <p:cNvPr id="28" name="直接连接符 27">
            <a:extLst>
              <a:ext uri="{FF2B5EF4-FFF2-40B4-BE49-F238E27FC236}">
                <a16:creationId xmlns:a16="http://schemas.microsoft.com/office/drawing/2014/main" id="{6128625F-2FEB-F582-7ECA-08962349DEC3}"/>
              </a:ext>
            </a:extLst>
          </p:cNvPr>
          <p:cNvCxnSpPr>
            <a:cxnSpLocks/>
          </p:cNvCxnSpPr>
          <p:nvPr/>
        </p:nvCxnSpPr>
        <p:spPr>
          <a:xfrm flipV="1">
            <a:off x="3843020" y="3781424"/>
            <a:ext cx="0" cy="287656"/>
          </a:xfrm>
          <a:prstGeom prst="line">
            <a:avLst/>
          </a:prstGeom>
          <a:ln w="19050"/>
        </p:spPr>
        <p:style>
          <a:lnRef idx="1">
            <a:schemeClr val="dk1"/>
          </a:lnRef>
          <a:fillRef idx="0">
            <a:schemeClr val="dk1"/>
          </a:fillRef>
          <a:effectRef idx="0">
            <a:schemeClr val="dk1"/>
          </a:effectRef>
          <a:fontRef idx="minor">
            <a:schemeClr val="tx1"/>
          </a:fontRef>
        </p:style>
      </p:cxnSp>
      <p:sp>
        <p:nvSpPr>
          <p:cNvPr id="32" name="文本框 31">
            <a:extLst>
              <a:ext uri="{FF2B5EF4-FFF2-40B4-BE49-F238E27FC236}">
                <a16:creationId xmlns:a16="http://schemas.microsoft.com/office/drawing/2014/main" id="{539A6235-4255-6C35-035D-DCB6F3D33EDD}"/>
              </a:ext>
            </a:extLst>
          </p:cNvPr>
          <p:cNvSpPr txBox="1"/>
          <p:nvPr/>
        </p:nvSpPr>
        <p:spPr>
          <a:xfrm>
            <a:off x="2431892" y="4139564"/>
            <a:ext cx="677108" cy="1851660"/>
          </a:xfrm>
          <a:prstGeom prst="rect">
            <a:avLst/>
          </a:prstGeom>
          <a:noFill/>
        </p:spPr>
        <p:txBody>
          <a:bodyPr vert="eaVert" wrap="square">
            <a:spAutoFit/>
          </a:bodyPr>
          <a:lstStyle/>
          <a:p>
            <a:r>
              <a:rPr lang="en-US" altLang="zh-CN" sz="1600" dirty="0"/>
              <a:t>1911</a:t>
            </a:r>
          </a:p>
          <a:p>
            <a:r>
              <a:rPr lang="zh-CN" altLang="en-US" sz="1600" dirty="0"/>
              <a:t>第一次索尔维会议</a:t>
            </a:r>
            <a:endParaRPr lang="en-US" altLang="zh-CN" sz="1600" dirty="0"/>
          </a:p>
        </p:txBody>
      </p:sp>
      <p:sp>
        <p:nvSpPr>
          <p:cNvPr id="36" name="文本框 35">
            <a:extLst>
              <a:ext uri="{FF2B5EF4-FFF2-40B4-BE49-F238E27FC236}">
                <a16:creationId xmlns:a16="http://schemas.microsoft.com/office/drawing/2014/main" id="{9FB88BB0-CF61-8B90-99FD-2859BC7D70F5}"/>
              </a:ext>
            </a:extLst>
          </p:cNvPr>
          <p:cNvSpPr txBox="1"/>
          <p:nvPr/>
        </p:nvSpPr>
        <p:spPr>
          <a:xfrm>
            <a:off x="3229004" y="2104000"/>
            <a:ext cx="923330" cy="1172736"/>
          </a:xfrm>
          <a:prstGeom prst="rect">
            <a:avLst/>
          </a:prstGeom>
          <a:noFill/>
        </p:spPr>
        <p:txBody>
          <a:bodyPr vert="eaVert" wrap="square">
            <a:spAutoFit/>
          </a:bodyPr>
          <a:lstStyle/>
          <a:p>
            <a:r>
              <a:rPr lang="en-US" altLang="zh-CN" sz="1600" dirty="0"/>
              <a:t>1928</a:t>
            </a:r>
          </a:p>
          <a:p>
            <a:r>
              <a:rPr lang="zh-CN" altLang="en-US" sz="1600" dirty="0"/>
              <a:t>拉曼散射</a:t>
            </a:r>
            <a:endParaRPr lang="en-US" altLang="zh-CN" sz="1600" dirty="0"/>
          </a:p>
        </p:txBody>
      </p:sp>
      <p:cxnSp>
        <p:nvCxnSpPr>
          <p:cNvPr id="14" name="直接连接符 13">
            <a:extLst>
              <a:ext uri="{FF2B5EF4-FFF2-40B4-BE49-F238E27FC236}">
                <a16:creationId xmlns:a16="http://schemas.microsoft.com/office/drawing/2014/main" id="{CB2D5F5A-FED4-2512-C320-D766B374C996}"/>
              </a:ext>
            </a:extLst>
          </p:cNvPr>
          <p:cNvCxnSpPr>
            <a:cxnSpLocks/>
          </p:cNvCxnSpPr>
          <p:nvPr/>
        </p:nvCxnSpPr>
        <p:spPr>
          <a:xfrm flipV="1">
            <a:off x="4726940" y="3025774"/>
            <a:ext cx="0" cy="755650"/>
          </a:xfrm>
          <a:prstGeom prst="line">
            <a:avLst/>
          </a:prstGeom>
          <a:ln w="19050"/>
        </p:spPr>
        <p:style>
          <a:lnRef idx="1">
            <a:schemeClr val="dk1"/>
          </a:lnRef>
          <a:fillRef idx="0">
            <a:schemeClr val="dk1"/>
          </a:fillRef>
          <a:effectRef idx="0">
            <a:schemeClr val="dk1"/>
          </a:effectRef>
          <a:fontRef idx="minor">
            <a:schemeClr val="tx1"/>
          </a:fontRef>
        </p:style>
      </p:cxnSp>
      <p:sp>
        <p:nvSpPr>
          <p:cNvPr id="18" name="文本框 17">
            <a:extLst>
              <a:ext uri="{FF2B5EF4-FFF2-40B4-BE49-F238E27FC236}">
                <a16:creationId xmlns:a16="http://schemas.microsoft.com/office/drawing/2014/main" id="{C7E9BD60-0E7A-9912-477D-FF0E2D95B39F}"/>
              </a:ext>
            </a:extLst>
          </p:cNvPr>
          <p:cNvSpPr txBox="1"/>
          <p:nvPr/>
        </p:nvSpPr>
        <p:spPr>
          <a:xfrm>
            <a:off x="4451350" y="2307802"/>
            <a:ext cx="3208017" cy="707886"/>
          </a:xfrm>
          <a:prstGeom prst="rect">
            <a:avLst/>
          </a:prstGeom>
          <a:noFill/>
        </p:spPr>
        <p:txBody>
          <a:bodyPr wrap="square">
            <a:spAutoFit/>
          </a:bodyPr>
          <a:lstStyle/>
          <a:p>
            <a:r>
              <a:rPr lang="en-US" altLang="zh-CN" sz="2000" dirty="0"/>
              <a:t>1954</a:t>
            </a:r>
          </a:p>
          <a:p>
            <a:r>
              <a:rPr lang="zh-CN" altLang="en-US" sz="2000" dirty="0"/>
              <a:t>波恩</a:t>
            </a:r>
            <a:r>
              <a:rPr lang="en-US" altLang="zh-CN" sz="2000" dirty="0"/>
              <a:t>-</a:t>
            </a:r>
            <a:r>
              <a:rPr lang="zh-CN" altLang="en-US" sz="2000" dirty="0"/>
              <a:t>黄</a:t>
            </a:r>
            <a:r>
              <a:rPr lang="en-US" altLang="zh-CN" sz="2000" dirty="0"/>
              <a:t>《</a:t>
            </a:r>
            <a:r>
              <a:rPr lang="zh-CN" altLang="en-US" sz="2000" dirty="0"/>
              <a:t>晶格动力学理论</a:t>
            </a:r>
            <a:r>
              <a:rPr lang="en-US" altLang="zh-CN" sz="2000" dirty="0"/>
              <a:t>》</a:t>
            </a:r>
          </a:p>
        </p:txBody>
      </p:sp>
      <p:pic>
        <p:nvPicPr>
          <p:cNvPr id="31" name="图片 30">
            <a:extLst>
              <a:ext uri="{FF2B5EF4-FFF2-40B4-BE49-F238E27FC236}">
                <a16:creationId xmlns:a16="http://schemas.microsoft.com/office/drawing/2014/main" id="{038730D9-8AB3-0860-8CF9-1C8F0A9679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5789" y="1486873"/>
            <a:ext cx="1107651" cy="1641858"/>
          </a:xfrm>
          <a:prstGeom prst="rect">
            <a:avLst/>
          </a:prstGeom>
        </p:spPr>
      </p:pic>
      <p:pic>
        <p:nvPicPr>
          <p:cNvPr id="34" name="图片 33">
            <a:extLst>
              <a:ext uri="{FF2B5EF4-FFF2-40B4-BE49-F238E27FC236}">
                <a16:creationId xmlns:a16="http://schemas.microsoft.com/office/drawing/2014/main" id="{2ADEBFEB-726D-022D-68D0-3D6204BDF28F}"/>
              </a:ext>
            </a:extLst>
          </p:cNvPr>
          <p:cNvPicPr>
            <a:picLocks noChangeAspect="1"/>
          </p:cNvPicPr>
          <p:nvPr/>
        </p:nvPicPr>
        <p:blipFill>
          <a:blip r:embed="rId3">
            <a:extLst>
              <a:ext uri="{28A0092B-C50C-407E-A947-70E740481C1C}">
                <a14:useLocalDpi xmlns:a14="http://schemas.microsoft.com/office/drawing/2010/main" val="0"/>
              </a:ext>
            </a:extLst>
          </a:blip>
          <a:srcRect l="5013" t="-442" r="5588" b="11043"/>
          <a:stretch>
            <a:fillRect/>
          </a:stretch>
        </p:blipFill>
        <p:spPr>
          <a:xfrm>
            <a:off x="10239618" y="1481866"/>
            <a:ext cx="1172395" cy="1650037"/>
          </a:xfrm>
          <a:prstGeom prst="rect">
            <a:avLst/>
          </a:prstGeom>
        </p:spPr>
      </p:pic>
      <p:sp>
        <p:nvSpPr>
          <p:cNvPr id="37" name="文本框 36">
            <a:extLst>
              <a:ext uri="{FF2B5EF4-FFF2-40B4-BE49-F238E27FC236}">
                <a16:creationId xmlns:a16="http://schemas.microsoft.com/office/drawing/2014/main" id="{EA3BA3F5-0BBE-90BF-A2D2-EAF708D45248}"/>
              </a:ext>
            </a:extLst>
          </p:cNvPr>
          <p:cNvSpPr txBox="1"/>
          <p:nvPr/>
        </p:nvSpPr>
        <p:spPr>
          <a:xfrm>
            <a:off x="9911949" y="3196358"/>
            <a:ext cx="994870" cy="307777"/>
          </a:xfrm>
          <a:prstGeom prst="rect">
            <a:avLst/>
          </a:prstGeom>
          <a:noFill/>
        </p:spPr>
        <p:txBody>
          <a:bodyPr wrap="square">
            <a:spAutoFit/>
          </a:bodyPr>
          <a:lstStyle/>
          <a:p>
            <a:r>
              <a:rPr lang="zh-CN" altLang="en-US" sz="1400" i="0" dirty="0">
                <a:solidFill>
                  <a:srgbClr val="393939"/>
                </a:solidFill>
                <a:effectLst/>
              </a:rPr>
              <a:t>黄昆</a:t>
            </a:r>
            <a:endParaRPr lang="zh-CN" altLang="zh-CN" sz="1400" i="0" dirty="0">
              <a:solidFill>
                <a:srgbClr val="393939"/>
              </a:solidFill>
              <a:effectLst/>
            </a:endParaRPr>
          </a:p>
        </p:txBody>
      </p:sp>
    </p:spTree>
    <p:extLst>
      <p:ext uri="{BB962C8B-B14F-4D97-AF65-F5344CB8AC3E}">
        <p14:creationId xmlns:p14="http://schemas.microsoft.com/office/powerpoint/2010/main" val="577507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3F06F-065B-9A56-5BB0-56B2AFC0B8DB}"/>
            </a:ext>
          </a:extLst>
        </p:cNvPr>
        <p:cNvGrpSpPr/>
        <p:nvPr/>
      </p:nvGrpSpPr>
      <p:grpSpPr>
        <a:xfrm>
          <a:off x="0" y="0"/>
          <a:ext cx="0" cy="0"/>
          <a:chOff x="0" y="0"/>
          <a:chExt cx="0" cy="0"/>
        </a:xfrm>
      </p:grpSpPr>
      <p:sp>
        <p:nvSpPr>
          <p:cNvPr id="27" name="矩形: 圆角 26">
            <a:extLst>
              <a:ext uri="{FF2B5EF4-FFF2-40B4-BE49-F238E27FC236}">
                <a16:creationId xmlns:a16="http://schemas.microsoft.com/office/drawing/2014/main" id="{3A9A74E5-244A-35AD-44C5-03F9814D331A}"/>
              </a:ext>
            </a:extLst>
          </p:cNvPr>
          <p:cNvSpPr/>
          <p:nvPr/>
        </p:nvSpPr>
        <p:spPr>
          <a:xfrm>
            <a:off x="8604897" y="1240156"/>
            <a:ext cx="3208017" cy="4863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403D20E7-C4F6-FF77-FD9A-3F8248087137}"/>
              </a:ext>
            </a:extLst>
          </p:cNvPr>
          <p:cNvSpPr>
            <a:spLocks noGrp="1"/>
          </p:cNvSpPr>
          <p:nvPr>
            <p:ph type="title"/>
          </p:nvPr>
        </p:nvSpPr>
        <p:spPr/>
        <p:txBody>
          <a:bodyPr/>
          <a:lstStyle/>
          <a:p>
            <a:r>
              <a:rPr lang="zh-CN" altLang="en-US" dirty="0"/>
              <a:t>晶格动力学研究的历史</a:t>
            </a:r>
            <a:endParaRPr lang="en-US" dirty="0"/>
          </a:p>
        </p:txBody>
      </p:sp>
      <p:graphicFrame>
        <p:nvGraphicFramePr>
          <p:cNvPr id="4" name="表格 3">
            <a:extLst>
              <a:ext uri="{FF2B5EF4-FFF2-40B4-BE49-F238E27FC236}">
                <a16:creationId xmlns:a16="http://schemas.microsoft.com/office/drawing/2014/main" id="{211850BD-13D5-30DC-CF01-B04DD8381768}"/>
              </a:ext>
            </a:extLst>
          </p:cNvPr>
          <p:cNvGraphicFramePr>
            <a:graphicFrameLocks noGrp="1"/>
          </p:cNvGraphicFramePr>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12</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
        <p:nvSpPr>
          <p:cNvPr id="7" name="箭头: 五边形 6">
            <a:extLst>
              <a:ext uri="{FF2B5EF4-FFF2-40B4-BE49-F238E27FC236}">
                <a16:creationId xmlns:a16="http://schemas.microsoft.com/office/drawing/2014/main" id="{2D85EFD5-687D-13E1-074F-E87602406220}"/>
              </a:ext>
            </a:extLst>
          </p:cNvPr>
          <p:cNvSpPr/>
          <p:nvPr/>
        </p:nvSpPr>
        <p:spPr>
          <a:xfrm>
            <a:off x="514350" y="3429000"/>
            <a:ext cx="984250" cy="352424"/>
          </a:xfrm>
          <a:prstGeom prst="homePlat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V 形 9">
            <a:extLst>
              <a:ext uri="{FF2B5EF4-FFF2-40B4-BE49-F238E27FC236}">
                <a16:creationId xmlns:a16="http://schemas.microsoft.com/office/drawing/2014/main" id="{08847B43-D6F5-797E-53EA-24B22B4922C6}"/>
              </a:ext>
            </a:extLst>
          </p:cNvPr>
          <p:cNvSpPr/>
          <p:nvPr/>
        </p:nvSpPr>
        <p:spPr>
          <a:xfrm>
            <a:off x="1498600" y="3429000"/>
            <a:ext cx="5905500" cy="352424"/>
          </a:xfrm>
          <a:prstGeom prst="chevron">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箭头: V 形 11">
            <a:extLst>
              <a:ext uri="{FF2B5EF4-FFF2-40B4-BE49-F238E27FC236}">
                <a16:creationId xmlns:a16="http://schemas.microsoft.com/office/drawing/2014/main" id="{458BF446-C27E-B058-F42B-8C85D98ECA08}"/>
              </a:ext>
            </a:extLst>
          </p:cNvPr>
          <p:cNvSpPr/>
          <p:nvPr/>
        </p:nvSpPr>
        <p:spPr>
          <a:xfrm>
            <a:off x="7404100" y="3429000"/>
            <a:ext cx="1060450" cy="352424"/>
          </a:xfrm>
          <a:prstGeom prst="chevron">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7" name="直接连接符 16">
            <a:extLst>
              <a:ext uri="{FF2B5EF4-FFF2-40B4-BE49-F238E27FC236}">
                <a16:creationId xmlns:a16="http://schemas.microsoft.com/office/drawing/2014/main" id="{4DFBC67D-749C-38CC-A41E-8D97ADB056AC}"/>
              </a:ext>
            </a:extLst>
          </p:cNvPr>
          <p:cNvCxnSpPr>
            <a:cxnSpLocks/>
          </p:cNvCxnSpPr>
          <p:nvPr/>
        </p:nvCxnSpPr>
        <p:spPr>
          <a:xfrm flipV="1">
            <a:off x="650240" y="3025774"/>
            <a:ext cx="0" cy="755650"/>
          </a:xfrm>
          <a:prstGeom prst="line">
            <a:avLst/>
          </a:prstGeom>
          <a:ln w="19050"/>
        </p:spPr>
        <p:style>
          <a:lnRef idx="1">
            <a:schemeClr val="dk1"/>
          </a:lnRef>
          <a:fillRef idx="0">
            <a:schemeClr val="dk1"/>
          </a:fillRef>
          <a:effectRef idx="0">
            <a:schemeClr val="dk1"/>
          </a:effectRef>
          <a:fontRef idx="minor">
            <a:schemeClr val="tx1"/>
          </a:fontRef>
        </p:style>
      </p:cxnSp>
      <p:sp>
        <p:nvSpPr>
          <p:cNvPr id="22" name="文本框 21">
            <a:extLst>
              <a:ext uri="{FF2B5EF4-FFF2-40B4-BE49-F238E27FC236}">
                <a16:creationId xmlns:a16="http://schemas.microsoft.com/office/drawing/2014/main" id="{64FFACF2-44B7-EE34-FA6D-5A0634A67C67}"/>
              </a:ext>
            </a:extLst>
          </p:cNvPr>
          <p:cNvSpPr txBox="1"/>
          <p:nvPr/>
        </p:nvSpPr>
        <p:spPr>
          <a:xfrm>
            <a:off x="271889" y="1595181"/>
            <a:ext cx="677108" cy="1385957"/>
          </a:xfrm>
          <a:prstGeom prst="rect">
            <a:avLst/>
          </a:prstGeom>
          <a:noFill/>
        </p:spPr>
        <p:txBody>
          <a:bodyPr vert="eaVert" wrap="none" rtlCol="0">
            <a:spAutoFit/>
          </a:bodyPr>
          <a:lstStyle/>
          <a:p>
            <a:r>
              <a:rPr lang="en-US" altLang="zh-CN" sz="1600" dirty="0"/>
              <a:t>1819</a:t>
            </a:r>
          </a:p>
          <a:p>
            <a:r>
              <a:rPr lang="zh-CN" altLang="en-US" sz="1600" dirty="0"/>
              <a:t>杜隆</a:t>
            </a:r>
            <a:r>
              <a:rPr lang="en-US" altLang="zh-CN" sz="1600" dirty="0"/>
              <a:t>-</a:t>
            </a:r>
            <a:r>
              <a:rPr lang="zh-CN" altLang="en-US" sz="1600" dirty="0"/>
              <a:t>珀蒂定律</a:t>
            </a:r>
          </a:p>
        </p:txBody>
      </p:sp>
      <p:sp>
        <p:nvSpPr>
          <p:cNvPr id="29" name="文本框 28">
            <a:extLst>
              <a:ext uri="{FF2B5EF4-FFF2-40B4-BE49-F238E27FC236}">
                <a16:creationId xmlns:a16="http://schemas.microsoft.com/office/drawing/2014/main" id="{9D6D614B-80C0-3224-2EA8-3776F766CC0C}"/>
              </a:ext>
            </a:extLst>
          </p:cNvPr>
          <p:cNvSpPr txBox="1"/>
          <p:nvPr/>
        </p:nvSpPr>
        <p:spPr>
          <a:xfrm>
            <a:off x="8716191" y="3715342"/>
            <a:ext cx="2985428" cy="1409351"/>
          </a:xfrm>
          <a:prstGeom prst="rect">
            <a:avLst/>
          </a:prstGeom>
          <a:noFill/>
        </p:spPr>
        <p:txBody>
          <a:bodyPr wrap="square" lIns="36000" tIns="36000" rIns="36000" bIns="36000">
            <a:spAutoFit/>
          </a:bodyPr>
          <a:lstStyle/>
          <a:p>
            <a:pPr>
              <a:lnSpc>
                <a:spcPct val="110000"/>
              </a:lnSpc>
              <a:spcAft>
                <a:spcPts val="1200"/>
              </a:spcAft>
            </a:pPr>
            <a:r>
              <a:rPr lang="en-US" altLang="zh-CN" sz="1600" b="0" i="0" dirty="0">
                <a:solidFill>
                  <a:schemeClr val="tx1"/>
                </a:solidFill>
                <a:effectLst/>
                <a:latin typeface="Calibri" panose="020F0502020204030204" pitchFamily="34" charset="0"/>
                <a:ea typeface="黑体" panose="02010609060101010101" pitchFamily="49" charset="-122"/>
              </a:rPr>
              <a:t>Brockhouse</a:t>
            </a:r>
            <a:r>
              <a:rPr lang="zh-CN" altLang="en-US" sz="1600" b="0" i="0" dirty="0">
                <a:solidFill>
                  <a:schemeClr val="tx1"/>
                </a:solidFill>
                <a:effectLst/>
                <a:latin typeface="Calibri" panose="020F0502020204030204" pitchFamily="34" charset="0"/>
                <a:ea typeface="黑体" panose="02010609060101010101" pitchFamily="49" charset="-122"/>
              </a:rPr>
              <a:t>和</a:t>
            </a:r>
            <a:r>
              <a:rPr lang="en-US" altLang="zh-CN" sz="1600" b="0" i="0" dirty="0">
                <a:solidFill>
                  <a:schemeClr val="tx1"/>
                </a:solidFill>
                <a:effectLst/>
                <a:latin typeface="Calibri" panose="020F0502020204030204" pitchFamily="34" charset="0"/>
                <a:ea typeface="黑体" panose="02010609060101010101" pitchFamily="49" charset="-122"/>
              </a:rPr>
              <a:t>Stewart</a:t>
            </a:r>
            <a:r>
              <a:rPr lang="zh-CN" altLang="en-US" sz="1600" b="0" i="0" dirty="0">
                <a:solidFill>
                  <a:schemeClr val="tx1"/>
                </a:solidFill>
                <a:effectLst/>
                <a:latin typeface="Calibri" panose="020F0502020204030204" pitchFamily="34" charset="0"/>
                <a:ea typeface="黑体" panose="02010609060101010101" pitchFamily="49" charset="-122"/>
              </a:rPr>
              <a:t>利用非弹性中子散射，在单晶</a:t>
            </a:r>
            <a:r>
              <a:rPr lang="en-US" altLang="zh-CN" sz="1600" b="0" i="0" dirty="0">
                <a:solidFill>
                  <a:schemeClr val="tx1"/>
                </a:solidFill>
                <a:effectLst/>
                <a:latin typeface="Calibri" panose="020F0502020204030204" pitchFamily="34" charset="0"/>
                <a:ea typeface="黑体" panose="02010609060101010101" pitchFamily="49" charset="-122"/>
              </a:rPr>
              <a:t>Al</a:t>
            </a:r>
            <a:r>
              <a:rPr lang="zh-CN" altLang="en-US" sz="1600" b="0" i="0" dirty="0">
                <a:solidFill>
                  <a:schemeClr val="tx1"/>
                </a:solidFill>
                <a:effectLst/>
                <a:latin typeface="Calibri" panose="020F0502020204030204" pitchFamily="34" charset="0"/>
                <a:ea typeface="黑体" panose="02010609060101010101" pitchFamily="49" charset="-122"/>
              </a:rPr>
              <a:t>中直接确定了声子的完整色散关系。这是晶格动</a:t>
            </a:r>
            <a:r>
              <a:rPr lang="zh-CN" altLang="en-US" sz="1600" dirty="0">
                <a:latin typeface="Calibri" panose="020F0502020204030204" pitchFamily="34" charset="0"/>
                <a:ea typeface="黑体" panose="02010609060101010101" pitchFamily="49" charset="-122"/>
              </a:rPr>
              <a:t>力学实验测量手段的一次重大飞跃。</a:t>
            </a:r>
            <a:endParaRPr lang="zh-CN" altLang="en-US" sz="1600" b="0" i="0" dirty="0">
              <a:solidFill>
                <a:schemeClr val="tx1"/>
              </a:solidFill>
              <a:effectLst/>
              <a:latin typeface="Calibri" panose="020F0502020204030204" pitchFamily="34" charset="0"/>
              <a:ea typeface="黑体" panose="02010609060101010101" pitchFamily="49" charset="-122"/>
            </a:endParaRPr>
          </a:p>
        </p:txBody>
      </p:sp>
      <p:sp>
        <p:nvSpPr>
          <p:cNvPr id="5" name="文本框 4">
            <a:extLst>
              <a:ext uri="{FF2B5EF4-FFF2-40B4-BE49-F238E27FC236}">
                <a16:creationId xmlns:a16="http://schemas.microsoft.com/office/drawing/2014/main" id="{9DAADEE7-717F-8CA1-3BA4-214D68859BBE}"/>
              </a:ext>
            </a:extLst>
          </p:cNvPr>
          <p:cNvSpPr txBox="1"/>
          <p:nvPr/>
        </p:nvSpPr>
        <p:spPr>
          <a:xfrm>
            <a:off x="1102055" y="3070860"/>
            <a:ext cx="652743" cy="369332"/>
          </a:xfrm>
          <a:prstGeom prst="rect">
            <a:avLst/>
          </a:prstGeom>
          <a:noFill/>
        </p:spPr>
        <p:txBody>
          <a:bodyPr wrap="none" rtlCol="0">
            <a:spAutoFit/>
          </a:bodyPr>
          <a:lstStyle/>
          <a:p>
            <a:r>
              <a:rPr lang="en-US" altLang="zh-CN" dirty="0"/>
              <a:t>1900</a:t>
            </a:r>
            <a:endParaRPr lang="zh-CN" altLang="en-US" dirty="0"/>
          </a:p>
        </p:txBody>
      </p:sp>
      <p:sp>
        <p:nvSpPr>
          <p:cNvPr id="8" name="文本框 7">
            <a:extLst>
              <a:ext uri="{FF2B5EF4-FFF2-40B4-BE49-F238E27FC236}">
                <a16:creationId xmlns:a16="http://schemas.microsoft.com/office/drawing/2014/main" id="{7769F146-3830-85BE-D8D6-5886EBE9D50B}"/>
              </a:ext>
            </a:extLst>
          </p:cNvPr>
          <p:cNvSpPr txBox="1"/>
          <p:nvPr/>
        </p:nvSpPr>
        <p:spPr>
          <a:xfrm>
            <a:off x="7025384" y="3070860"/>
            <a:ext cx="652743" cy="369332"/>
          </a:xfrm>
          <a:prstGeom prst="rect">
            <a:avLst/>
          </a:prstGeom>
          <a:noFill/>
        </p:spPr>
        <p:txBody>
          <a:bodyPr wrap="none" rtlCol="0">
            <a:spAutoFit/>
          </a:bodyPr>
          <a:lstStyle/>
          <a:p>
            <a:r>
              <a:rPr lang="en-US" altLang="zh-CN" dirty="0"/>
              <a:t>2000</a:t>
            </a:r>
            <a:endParaRPr lang="zh-CN" altLang="en-US" dirty="0"/>
          </a:p>
        </p:txBody>
      </p:sp>
      <p:cxnSp>
        <p:nvCxnSpPr>
          <p:cNvPr id="9" name="直接连接符 8">
            <a:extLst>
              <a:ext uri="{FF2B5EF4-FFF2-40B4-BE49-F238E27FC236}">
                <a16:creationId xmlns:a16="http://schemas.microsoft.com/office/drawing/2014/main" id="{CF7338E6-D5F6-449C-944C-2F87B6220828}"/>
              </a:ext>
            </a:extLst>
          </p:cNvPr>
          <p:cNvCxnSpPr>
            <a:cxnSpLocks/>
          </p:cNvCxnSpPr>
          <p:nvPr/>
        </p:nvCxnSpPr>
        <p:spPr>
          <a:xfrm flipV="1">
            <a:off x="1427480" y="3781424"/>
            <a:ext cx="0" cy="287656"/>
          </a:xfrm>
          <a:prstGeom prst="line">
            <a:avLst/>
          </a:prstGeom>
          <a:ln w="19050"/>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3D6E06A4-E012-BA86-AA22-FD0EFB60A111}"/>
              </a:ext>
            </a:extLst>
          </p:cNvPr>
          <p:cNvSpPr txBox="1"/>
          <p:nvPr/>
        </p:nvSpPr>
        <p:spPr>
          <a:xfrm>
            <a:off x="482766" y="4073811"/>
            <a:ext cx="1808779" cy="584775"/>
          </a:xfrm>
          <a:prstGeom prst="rect">
            <a:avLst/>
          </a:prstGeom>
          <a:noFill/>
        </p:spPr>
        <p:txBody>
          <a:bodyPr wrap="square">
            <a:spAutoFit/>
          </a:bodyPr>
          <a:lstStyle/>
          <a:p>
            <a:r>
              <a:rPr lang="en-US" altLang="zh-CN" sz="1600" dirty="0"/>
              <a:t>1900 – 1905</a:t>
            </a:r>
          </a:p>
          <a:p>
            <a:r>
              <a:rPr lang="zh-CN" altLang="en-US" sz="1600" dirty="0"/>
              <a:t>量子论的建立</a:t>
            </a:r>
            <a:endParaRPr lang="en-US" altLang="zh-CN" sz="1600" dirty="0"/>
          </a:p>
        </p:txBody>
      </p:sp>
      <p:cxnSp>
        <p:nvCxnSpPr>
          <p:cNvPr id="3" name="直接连接符 2">
            <a:extLst>
              <a:ext uri="{FF2B5EF4-FFF2-40B4-BE49-F238E27FC236}">
                <a16:creationId xmlns:a16="http://schemas.microsoft.com/office/drawing/2014/main" id="{A91FF7B3-1951-B32F-54F6-27F7D18138C1}"/>
              </a:ext>
            </a:extLst>
          </p:cNvPr>
          <p:cNvCxnSpPr>
            <a:cxnSpLocks/>
          </p:cNvCxnSpPr>
          <p:nvPr/>
        </p:nvCxnSpPr>
        <p:spPr>
          <a:xfrm flipV="1">
            <a:off x="2001178" y="3015688"/>
            <a:ext cx="0" cy="755650"/>
          </a:xfrm>
          <a:prstGeom prst="line">
            <a:avLst/>
          </a:prstGeom>
          <a:ln w="19050"/>
        </p:spPr>
        <p:style>
          <a:lnRef idx="1">
            <a:schemeClr val="dk1"/>
          </a:lnRef>
          <a:fillRef idx="0">
            <a:schemeClr val="dk1"/>
          </a:fillRef>
          <a:effectRef idx="0">
            <a:schemeClr val="dk1"/>
          </a:effectRef>
          <a:fontRef idx="minor">
            <a:schemeClr val="tx1"/>
          </a:fontRef>
        </p:style>
      </p:cxnSp>
      <p:cxnSp>
        <p:nvCxnSpPr>
          <p:cNvPr id="6" name="直接连接符 5">
            <a:extLst>
              <a:ext uri="{FF2B5EF4-FFF2-40B4-BE49-F238E27FC236}">
                <a16:creationId xmlns:a16="http://schemas.microsoft.com/office/drawing/2014/main" id="{48F5045B-159C-BF47-4A06-4ABD5D8ACCC8}"/>
              </a:ext>
            </a:extLst>
          </p:cNvPr>
          <p:cNvCxnSpPr>
            <a:cxnSpLocks/>
          </p:cNvCxnSpPr>
          <p:nvPr/>
        </p:nvCxnSpPr>
        <p:spPr>
          <a:xfrm flipV="1">
            <a:off x="2753483" y="3025774"/>
            <a:ext cx="0" cy="1050926"/>
          </a:xfrm>
          <a:prstGeom prst="line">
            <a:avLst/>
          </a:prstGeom>
          <a:ln w="19050"/>
        </p:spPr>
        <p:style>
          <a:lnRef idx="1">
            <a:schemeClr val="dk1"/>
          </a:lnRef>
          <a:fillRef idx="0">
            <a:schemeClr val="dk1"/>
          </a:fillRef>
          <a:effectRef idx="0">
            <a:schemeClr val="dk1"/>
          </a:effectRef>
          <a:fontRef idx="minor">
            <a:schemeClr val="tx1"/>
          </a:fontRef>
        </p:style>
      </p:cxnSp>
      <p:sp>
        <p:nvSpPr>
          <p:cNvPr id="13" name="文本框 12">
            <a:extLst>
              <a:ext uri="{FF2B5EF4-FFF2-40B4-BE49-F238E27FC236}">
                <a16:creationId xmlns:a16="http://schemas.microsoft.com/office/drawing/2014/main" id="{6B69BEA4-44E1-31FE-8770-314D2E221875}"/>
              </a:ext>
            </a:extLst>
          </p:cNvPr>
          <p:cNvSpPr txBox="1"/>
          <p:nvPr/>
        </p:nvSpPr>
        <p:spPr>
          <a:xfrm>
            <a:off x="1662624" y="1595181"/>
            <a:ext cx="677108" cy="1385957"/>
          </a:xfrm>
          <a:prstGeom prst="rect">
            <a:avLst/>
          </a:prstGeom>
          <a:noFill/>
        </p:spPr>
        <p:txBody>
          <a:bodyPr vert="eaVert" wrap="square">
            <a:spAutoFit/>
          </a:bodyPr>
          <a:lstStyle/>
          <a:p>
            <a:r>
              <a:rPr lang="en-US" altLang="zh-CN" sz="1600" dirty="0"/>
              <a:t>1907</a:t>
            </a:r>
          </a:p>
          <a:p>
            <a:r>
              <a:rPr lang="zh-CN" altLang="zh-CN" sz="1600" dirty="0"/>
              <a:t>爱因斯坦模型</a:t>
            </a:r>
            <a:endParaRPr lang="en-US" altLang="zh-CN" sz="1600" dirty="0"/>
          </a:p>
        </p:txBody>
      </p:sp>
      <p:sp>
        <p:nvSpPr>
          <p:cNvPr id="23" name="文本框 22">
            <a:extLst>
              <a:ext uri="{FF2B5EF4-FFF2-40B4-BE49-F238E27FC236}">
                <a16:creationId xmlns:a16="http://schemas.microsoft.com/office/drawing/2014/main" id="{B8017F27-0417-A098-11B7-5BCFBD6C8CAF}"/>
              </a:ext>
            </a:extLst>
          </p:cNvPr>
          <p:cNvSpPr txBox="1"/>
          <p:nvPr/>
        </p:nvSpPr>
        <p:spPr>
          <a:xfrm>
            <a:off x="2291545" y="1806340"/>
            <a:ext cx="1169551" cy="1325563"/>
          </a:xfrm>
          <a:prstGeom prst="rect">
            <a:avLst/>
          </a:prstGeom>
          <a:noFill/>
        </p:spPr>
        <p:txBody>
          <a:bodyPr vert="eaVert" wrap="square">
            <a:spAutoFit/>
          </a:bodyPr>
          <a:lstStyle/>
          <a:p>
            <a:r>
              <a:rPr lang="en-US" altLang="zh-CN" sz="1600" dirty="0"/>
              <a:t>1912</a:t>
            </a:r>
          </a:p>
          <a:p>
            <a:r>
              <a:rPr lang="zh-CN" altLang="en-US" sz="1600" dirty="0"/>
              <a:t>德拜模型</a:t>
            </a:r>
            <a:endParaRPr lang="en-US" altLang="zh-CN" sz="1600" dirty="0"/>
          </a:p>
          <a:p>
            <a:r>
              <a:rPr lang="zh-CN" altLang="en-US" sz="1600" dirty="0"/>
              <a:t>波恩</a:t>
            </a:r>
            <a:r>
              <a:rPr lang="en-US" altLang="zh-CN" sz="1600" dirty="0"/>
              <a:t>-</a:t>
            </a:r>
            <a:r>
              <a:rPr lang="zh-CN" altLang="en-US" sz="1600" dirty="0"/>
              <a:t>冯</a:t>
            </a:r>
            <a:r>
              <a:rPr lang="en-US" altLang="zh-CN" sz="1600" dirty="0"/>
              <a:t>·</a:t>
            </a:r>
            <a:r>
              <a:rPr lang="zh-CN" altLang="en-US" sz="1600" dirty="0"/>
              <a:t>卡门晶格理论</a:t>
            </a:r>
            <a:endParaRPr lang="en-US" altLang="zh-CN" sz="1600" dirty="0"/>
          </a:p>
        </p:txBody>
      </p:sp>
      <p:cxnSp>
        <p:nvCxnSpPr>
          <p:cNvPr id="11" name="直接连接符 10">
            <a:extLst>
              <a:ext uri="{FF2B5EF4-FFF2-40B4-BE49-F238E27FC236}">
                <a16:creationId xmlns:a16="http://schemas.microsoft.com/office/drawing/2014/main" id="{AB003E08-F12B-C616-B4F3-E16E04FB789E}"/>
              </a:ext>
            </a:extLst>
          </p:cNvPr>
          <p:cNvCxnSpPr>
            <a:cxnSpLocks/>
          </p:cNvCxnSpPr>
          <p:nvPr/>
        </p:nvCxnSpPr>
        <p:spPr>
          <a:xfrm flipV="1">
            <a:off x="3667760" y="3025774"/>
            <a:ext cx="0" cy="755650"/>
          </a:xfrm>
          <a:prstGeom prst="line">
            <a:avLst/>
          </a:prstGeom>
          <a:ln w="19050"/>
        </p:spPr>
        <p:style>
          <a:lnRef idx="1">
            <a:schemeClr val="dk1"/>
          </a:lnRef>
          <a:fillRef idx="0">
            <a:schemeClr val="dk1"/>
          </a:fillRef>
          <a:effectRef idx="0">
            <a:schemeClr val="dk1"/>
          </a:effectRef>
          <a:fontRef idx="minor">
            <a:schemeClr val="tx1"/>
          </a:fontRef>
        </p:style>
      </p:cxnSp>
      <p:sp>
        <p:nvSpPr>
          <p:cNvPr id="26" name="文本框 25">
            <a:extLst>
              <a:ext uri="{FF2B5EF4-FFF2-40B4-BE49-F238E27FC236}">
                <a16:creationId xmlns:a16="http://schemas.microsoft.com/office/drawing/2014/main" id="{5B78E5C8-4B65-6AFD-47BC-08316E48E924}"/>
              </a:ext>
            </a:extLst>
          </p:cNvPr>
          <p:cNvSpPr txBox="1"/>
          <p:nvPr/>
        </p:nvSpPr>
        <p:spPr>
          <a:xfrm>
            <a:off x="3504466" y="4134340"/>
            <a:ext cx="677108" cy="1862108"/>
          </a:xfrm>
          <a:prstGeom prst="rect">
            <a:avLst/>
          </a:prstGeom>
          <a:noFill/>
        </p:spPr>
        <p:txBody>
          <a:bodyPr vert="eaVert" wrap="square">
            <a:spAutoFit/>
          </a:bodyPr>
          <a:lstStyle/>
          <a:p>
            <a:r>
              <a:rPr lang="en-US" altLang="zh-CN" sz="1600" dirty="0"/>
              <a:t>1929-1932</a:t>
            </a:r>
          </a:p>
          <a:p>
            <a:r>
              <a:rPr lang="zh-CN" altLang="en-US" sz="1600" dirty="0"/>
              <a:t>“声子”概念形成</a:t>
            </a:r>
            <a:endParaRPr lang="en-US" altLang="zh-CN" sz="1600" dirty="0"/>
          </a:p>
        </p:txBody>
      </p:sp>
      <p:cxnSp>
        <p:nvCxnSpPr>
          <p:cNvPr id="28" name="直接连接符 27">
            <a:extLst>
              <a:ext uri="{FF2B5EF4-FFF2-40B4-BE49-F238E27FC236}">
                <a16:creationId xmlns:a16="http://schemas.microsoft.com/office/drawing/2014/main" id="{D60AA98E-F7CE-C0AC-C6C6-094927C76931}"/>
              </a:ext>
            </a:extLst>
          </p:cNvPr>
          <p:cNvCxnSpPr>
            <a:cxnSpLocks/>
          </p:cNvCxnSpPr>
          <p:nvPr/>
        </p:nvCxnSpPr>
        <p:spPr>
          <a:xfrm flipV="1">
            <a:off x="3843020" y="3781424"/>
            <a:ext cx="0" cy="287656"/>
          </a:xfrm>
          <a:prstGeom prst="line">
            <a:avLst/>
          </a:prstGeom>
          <a:ln w="19050"/>
        </p:spPr>
        <p:style>
          <a:lnRef idx="1">
            <a:schemeClr val="dk1"/>
          </a:lnRef>
          <a:fillRef idx="0">
            <a:schemeClr val="dk1"/>
          </a:fillRef>
          <a:effectRef idx="0">
            <a:schemeClr val="dk1"/>
          </a:effectRef>
          <a:fontRef idx="minor">
            <a:schemeClr val="tx1"/>
          </a:fontRef>
        </p:style>
      </p:cxnSp>
      <p:sp>
        <p:nvSpPr>
          <p:cNvPr id="32" name="文本框 31">
            <a:extLst>
              <a:ext uri="{FF2B5EF4-FFF2-40B4-BE49-F238E27FC236}">
                <a16:creationId xmlns:a16="http://schemas.microsoft.com/office/drawing/2014/main" id="{A5FDEF13-F6B3-5154-5DCC-84EBBAAF6C6E}"/>
              </a:ext>
            </a:extLst>
          </p:cNvPr>
          <p:cNvSpPr txBox="1"/>
          <p:nvPr/>
        </p:nvSpPr>
        <p:spPr>
          <a:xfrm>
            <a:off x="2431892" y="4139564"/>
            <a:ext cx="677108" cy="1851660"/>
          </a:xfrm>
          <a:prstGeom prst="rect">
            <a:avLst/>
          </a:prstGeom>
          <a:noFill/>
        </p:spPr>
        <p:txBody>
          <a:bodyPr vert="eaVert" wrap="square">
            <a:spAutoFit/>
          </a:bodyPr>
          <a:lstStyle/>
          <a:p>
            <a:r>
              <a:rPr lang="en-US" altLang="zh-CN" sz="1600" dirty="0"/>
              <a:t>1911</a:t>
            </a:r>
          </a:p>
          <a:p>
            <a:r>
              <a:rPr lang="zh-CN" altLang="en-US" sz="1600" dirty="0"/>
              <a:t>第一次索尔维会议</a:t>
            </a:r>
            <a:endParaRPr lang="en-US" altLang="zh-CN" sz="1600" dirty="0"/>
          </a:p>
        </p:txBody>
      </p:sp>
      <p:sp>
        <p:nvSpPr>
          <p:cNvPr id="36" name="文本框 35">
            <a:extLst>
              <a:ext uri="{FF2B5EF4-FFF2-40B4-BE49-F238E27FC236}">
                <a16:creationId xmlns:a16="http://schemas.microsoft.com/office/drawing/2014/main" id="{4C9A1053-CE4D-CEA4-F78C-12FF41E59905}"/>
              </a:ext>
            </a:extLst>
          </p:cNvPr>
          <p:cNvSpPr txBox="1"/>
          <p:nvPr/>
        </p:nvSpPr>
        <p:spPr>
          <a:xfrm>
            <a:off x="3229004" y="2104000"/>
            <a:ext cx="923330" cy="1172736"/>
          </a:xfrm>
          <a:prstGeom prst="rect">
            <a:avLst/>
          </a:prstGeom>
          <a:noFill/>
        </p:spPr>
        <p:txBody>
          <a:bodyPr vert="eaVert" wrap="square">
            <a:spAutoFit/>
          </a:bodyPr>
          <a:lstStyle/>
          <a:p>
            <a:r>
              <a:rPr lang="en-US" altLang="zh-CN" sz="1600" dirty="0"/>
              <a:t>1928</a:t>
            </a:r>
          </a:p>
          <a:p>
            <a:r>
              <a:rPr lang="zh-CN" altLang="en-US" sz="1600" dirty="0"/>
              <a:t>拉曼散射</a:t>
            </a:r>
            <a:endParaRPr lang="en-US" altLang="zh-CN" sz="1600" dirty="0"/>
          </a:p>
        </p:txBody>
      </p:sp>
      <p:cxnSp>
        <p:nvCxnSpPr>
          <p:cNvPr id="14" name="直接连接符 13">
            <a:extLst>
              <a:ext uri="{FF2B5EF4-FFF2-40B4-BE49-F238E27FC236}">
                <a16:creationId xmlns:a16="http://schemas.microsoft.com/office/drawing/2014/main" id="{D98976E0-CC0D-F9A7-2378-E215EE7F750B}"/>
              </a:ext>
            </a:extLst>
          </p:cNvPr>
          <p:cNvCxnSpPr>
            <a:cxnSpLocks/>
          </p:cNvCxnSpPr>
          <p:nvPr/>
        </p:nvCxnSpPr>
        <p:spPr>
          <a:xfrm flipV="1">
            <a:off x="4726940" y="3025774"/>
            <a:ext cx="0" cy="755650"/>
          </a:xfrm>
          <a:prstGeom prst="line">
            <a:avLst/>
          </a:prstGeom>
          <a:ln w="19050"/>
        </p:spPr>
        <p:style>
          <a:lnRef idx="1">
            <a:schemeClr val="dk1"/>
          </a:lnRef>
          <a:fillRef idx="0">
            <a:schemeClr val="dk1"/>
          </a:fillRef>
          <a:effectRef idx="0">
            <a:schemeClr val="dk1"/>
          </a:effectRef>
          <a:fontRef idx="minor">
            <a:schemeClr val="tx1"/>
          </a:fontRef>
        </p:style>
      </p:cxnSp>
      <p:sp>
        <p:nvSpPr>
          <p:cNvPr id="18" name="文本框 17">
            <a:extLst>
              <a:ext uri="{FF2B5EF4-FFF2-40B4-BE49-F238E27FC236}">
                <a16:creationId xmlns:a16="http://schemas.microsoft.com/office/drawing/2014/main" id="{C6FA551D-31B5-65EA-A210-064C9D12056F}"/>
              </a:ext>
            </a:extLst>
          </p:cNvPr>
          <p:cNvSpPr txBox="1"/>
          <p:nvPr/>
        </p:nvSpPr>
        <p:spPr>
          <a:xfrm>
            <a:off x="4288512" y="1611310"/>
            <a:ext cx="923330" cy="1473622"/>
          </a:xfrm>
          <a:prstGeom prst="rect">
            <a:avLst/>
          </a:prstGeom>
          <a:noFill/>
        </p:spPr>
        <p:txBody>
          <a:bodyPr vert="eaVert" wrap="square">
            <a:spAutoFit/>
          </a:bodyPr>
          <a:lstStyle/>
          <a:p>
            <a:r>
              <a:rPr lang="en-US" altLang="zh-CN" sz="1600" dirty="0"/>
              <a:t>1954</a:t>
            </a:r>
          </a:p>
          <a:p>
            <a:r>
              <a:rPr lang="zh-CN" altLang="en-US" sz="1600" dirty="0"/>
              <a:t>波恩</a:t>
            </a:r>
            <a:r>
              <a:rPr lang="en-US" altLang="zh-CN" sz="1600" dirty="0"/>
              <a:t>-</a:t>
            </a:r>
            <a:r>
              <a:rPr lang="zh-CN" altLang="en-US" sz="1600" dirty="0"/>
              <a:t>黄</a:t>
            </a:r>
            <a:r>
              <a:rPr lang="en-US" altLang="zh-CN" sz="1600" dirty="0"/>
              <a:t>《</a:t>
            </a:r>
            <a:r>
              <a:rPr lang="zh-CN" altLang="en-US" sz="1600" dirty="0"/>
              <a:t>晶格动力学理论</a:t>
            </a:r>
            <a:r>
              <a:rPr lang="en-US" altLang="zh-CN" sz="1600" dirty="0"/>
              <a:t>》</a:t>
            </a:r>
          </a:p>
        </p:txBody>
      </p:sp>
      <p:sp>
        <p:nvSpPr>
          <p:cNvPr id="37" name="文本框 36">
            <a:extLst>
              <a:ext uri="{FF2B5EF4-FFF2-40B4-BE49-F238E27FC236}">
                <a16:creationId xmlns:a16="http://schemas.microsoft.com/office/drawing/2014/main" id="{A63804C5-50CF-7D59-3F4E-1E3818C76552}"/>
              </a:ext>
            </a:extLst>
          </p:cNvPr>
          <p:cNvSpPr txBox="1"/>
          <p:nvPr/>
        </p:nvSpPr>
        <p:spPr>
          <a:xfrm>
            <a:off x="9339987" y="3149533"/>
            <a:ext cx="1765701" cy="307777"/>
          </a:xfrm>
          <a:prstGeom prst="rect">
            <a:avLst/>
          </a:prstGeom>
          <a:noFill/>
        </p:spPr>
        <p:txBody>
          <a:bodyPr wrap="square">
            <a:spAutoFit/>
          </a:bodyPr>
          <a:lstStyle/>
          <a:p>
            <a:r>
              <a:rPr lang="en-US" altLang="zh-CN" sz="1400" i="0" dirty="0">
                <a:solidFill>
                  <a:srgbClr val="393939"/>
                </a:solidFill>
                <a:effectLst/>
              </a:rPr>
              <a:t>Bertram Brockhouse</a:t>
            </a:r>
            <a:endParaRPr lang="zh-CN" altLang="zh-CN" sz="1400" i="0" dirty="0">
              <a:solidFill>
                <a:srgbClr val="393939"/>
              </a:solidFill>
              <a:effectLst/>
            </a:endParaRPr>
          </a:p>
        </p:txBody>
      </p:sp>
      <p:cxnSp>
        <p:nvCxnSpPr>
          <p:cNvPr id="15" name="直接连接符 14">
            <a:extLst>
              <a:ext uri="{FF2B5EF4-FFF2-40B4-BE49-F238E27FC236}">
                <a16:creationId xmlns:a16="http://schemas.microsoft.com/office/drawing/2014/main" id="{DFCE42F0-A09E-7FF5-9B5A-B8002CF5CF15}"/>
              </a:ext>
            </a:extLst>
          </p:cNvPr>
          <p:cNvCxnSpPr>
            <a:cxnSpLocks/>
          </p:cNvCxnSpPr>
          <p:nvPr/>
        </p:nvCxnSpPr>
        <p:spPr>
          <a:xfrm flipV="1">
            <a:off x="4925060" y="3782376"/>
            <a:ext cx="0" cy="287656"/>
          </a:xfrm>
          <a:prstGeom prst="line">
            <a:avLst/>
          </a:prstGeom>
          <a:ln w="19050"/>
        </p:spPr>
        <p:style>
          <a:lnRef idx="1">
            <a:schemeClr val="dk1"/>
          </a:lnRef>
          <a:fillRef idx="0">
            <a:schemeClr val="dk1"/>
          </a:fillRef>
          <a:effectRef idx="0">
            <a:schemeClr val="dk1"/>
          </a:effectRef>
          <a:fontRef idx="minor">
            <a:schemeClr val="tx1"/>
          </a:fontRef>
        </p:style>
      </p:cxnSp>
      <p:pic>
        <p:nvPicPr>
          <p:cNvPr id="20" name="图片 19">
            <a:extLst>
              <a:ext uri="{FF2B5EF4-FFF2-40B4-BE49-F238E27FC236}">
                <a16:creationId xmlns:a16="http://schemas.microsoft.com/office/drawing/2014/main" id="{B8227E62-61FD-43F9-83A5-1C45ECF97E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38517" y="1358834"/>
            <a:ext cx="1482367" cy="1790699"/>
          </a:xfrm>
          <a:prstGeom prst="rect">
            <a:avLst/>
          </a:prstGeom>
        </p:spPr>
      </p:pic>
      <p:sp>
        <p:nvSpPr>
          <p:cNvPr id="24" name="文本框 23">
            <a:extLst>
              <a:ext uri="{FF2B5EF4-FFF2-40B4-BE49-F238E27FC236}">
                <a16:creationId xmlns:a16="http://schemas.microsoft.com/office/drawing/2014/main" id="{CF621F3C-37A7-09EF-DDA7-ACB525C8EEBB}"/>
              </a:ext>
            </a:extLst>
          </p:cNvPr>
          <p:cNvSpPr txBox="1"/>
          <p:nvPr/>
        </p:nvSpPr>
        <p:spPr>
          <a:xfrm>
            <a:off x="4698608" y="4066075"/>
            <a:ext cx="2941785" cy="707886"/>
          </a:xfrm>
          <a:prstGeom prst="rect">
            <a:avLst/>
          </a:prstGeom>
          <a:noFill/>
        </p:spPr>
        <p:txBody>
          <a:bodyPr vert="horz" wrap="square">
            <a:spAutoFit/>
          </a:bodyPr>
          <a:lstStyle/>
          <a:p>
            <a:r>
              <a:rPr lang="en-US" altLang="zh-CN" sz="2000" dirty="0"/>
              <a:t>1955 -</a:t>
            </a:r>
          </a:p>
          <a:p>
            <a:r>
              <a:rPr lang="zh-CN" altLang="en-US" sz="2000" dirty="0"/>
              <a:t>非弹性中子散射</a:t>
            </a:r>
            <a:endParaRPr lang="en-US" altLang="zh-CN" sz="2000" dirty="0"/>
          </a:p>
        </p:txBody>
      </p:sp>
    </p:spTree>
    <p:extLst>
      <p:ext uri="{BB962C8B-B14F-4D97-AF65-F5344CB8AC3E}">
        <p14:creationId xmlns:p14="http://schemas.microsoft.com/office/powerpoint/2010/main" val="812112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41954-108C-6382-A745-C2AC4C811A0E}"/>
            </a:ext>
          </a:extLst>
        </p:cNvPr>
        <p:cNvGrpSpPr/>
        <p:nvPr/>
      </p:nvGrpSpPr>
      <p:grpSpPr>
        <a:xfrm>
          <a:off x="0" y="0"/>
          <a:ext cx="0" cy="0"/>
          <a:chOff x="0" y="0"/>
          <a:chExt cx="0" cy="0"/>
        </a:xfrm>
      </p:grpSpPr>
      <p:sp>
        <p:nvSpPr>
          <p:cNvPr id="27" name="矩形: 圆角 26">
            <a:extLst>
              <a:ext uri="{FF2B5EF4-FFF2-40B4-BE49-F238E27FC236}">
                <a16:creationId xmlns:a16="http://schemas.microsoft.com/office/drawing/2014/main" id="{ED5F1190-2B23-0EDF-AF6F-4E491D1EB27E}"/>
              </a:ext>
            </a:extLst>
          </p:cNvPr>
          <p:cNvSpPr/>
          <p:nvPr/>
        </p:nvSpPr>
        <p:spPr>
          <a:xfrm>
            <a:off x="8604897" y="1240156"/>
            <a:ext cx="3208017" cy="4863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80794F2C-65F2-C082-AEB8-FA3733083DD4}"/>
              </a:ext>
            </a:extLst>
          </p:cNvPr>
          <p:cNvSpPr>
            <a:spLocks noGrp="1"/>
          </p:cNvSpPr>
          <p:nvPr>
            <p:ph type="title"/>
          </p:nvPr>
        </p:nvSpPr>
        <p:spPr/>
        <p:txBody>
          <a:bodyPr/>
          <a:lstStyle/>
          <a:p>
            <a:r>
              <a:rPr lang="zh-CN" altLang="en-US" dirty="0"/>
              <a:t>晶格动力学研究的历史</a:t>
            </a:r>
            <a:endParaRPr lang="en-US" dirty="0"/>
          </a:p>
        </p:txBody>
      </p:sp>
      <p:graphicFrame>
        <p:nvGraphicFramePr>
          <p:cNvPr id="4" name="表格 3">
            <a:extLst>
              <a:ext uri="{FF2B5EF4-FFF2-40B4-BE49-F238E27FC236}">
                <a16:creationId xmlns:a16="http://schemas.microsoft.com/office/drawing/2014/main" id="{E67D9233-C481-3862-2C00-DC262C97580E}"/>
              </a:ext>
            </a:extLst>
          </p:cNvPr>
          <p:cNvGraphicFramePr>
            <a:graphicFrameLocks noGrp="1"/>
          </p:cNvGraphicFramePr>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13</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
        <p:nvSpPr>
          <p:cNvPr id="7" name="箭头: 五边形 6">
            <a:extLst>
              <a:ext uri="{FF2B5EF4-FFF2-40B4-BE49-F238E27FC236}">
                <a16:creationId xmlns:a16="http://schemas.microsoft.com/office/drawing/2014/main" id="{54660FD6-3279-5DD9-38CB-C66D2FC2670F}"/>
              </a:ext>
            </a:extLst>
          </p:cNvPr>
          <p:cNvSpPr/>
          <p:nvPr/>
        </p:nvSpPr>
        <p:spPr>
          <a:xfrm>
            <a:off x="514350" y="3429000"/>
            <a:ext cx="984250" cy="352424"/>
          </a:xfrm>
          <a:prstGeom prst="homePlat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V 形 9">
            <a:extLst>
              <a:ext uri="{FF2B5EF4-FFF2-40B4-BE49-F238E27FC236}">
                <a16:creationId xmlns:a16="http://schemas.microsoft.com/office/drawing/2014/main" id="{71C1E618-0651-B922-CE05-03ACE37321A4}"/>
              </a:ext>
            </a:extLst>
          </p:cNvPr>
          <p:cNvSpPr/>
          <p:nvPr/>
        </p:nvSpPr>
        <p:spPr>
          <a:xfrm>
            <a:off x="1498600" y="3429000"/>
            <a:ext cx="5905500" cy="352424"/>
          </a:xfrm>
          <a:prstGeom prst="chevron">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箭头: V 形 11">
            <a:extLst>
              <a:ext uri="{FF2B5EF4-FFF2-40B4-BE49-F238E27FC236}">
                <a16:creationId xmlns:a16="http://schemas.microsoft.com/office/drawing/2014/main" id="{3A8E9FDA-5EEB-A8A5-A86C-8A758AF16A49}"/>
              </a:ext>
            </a:extLst>
          </p:cNvPr>
          <p:cNvSpPr/>
          <p:nvPr/>
        </p:nvSpPr>
        <p:spPr>
          <a:xfrm>
            <a:off x="7404100" y="3429000"/>
            <a:ext cx="1060450" cy="352424"/>
          </a:xfrm>
          <a:prstGeom prst="chevron">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7" name="直接连接符 16">
            <a:extLst>
              <a:ext uri="{FF2B5EF4-FFF2-40B4-BE49-F238E27FC236}">
                <a16:creationId xmlns:a16="http://schemas.microsoft.com/office/drawing/2014/main" id="{9BB7EE60-130A-9721-0F27-864706F6D1C9}"/>
              </a:ext>
            </a:extLst>
          </p:cNvPr>
          <p:cNvCxnSpPr>
            <a:cxnSpLocks/>
          </p:cNvCxnSpPr>
          <p:nvPr/>
        </p:nvCxnSpPr>
        <p:spPr>
          <a:xfrm flipV="1">
            <a:off x="650240" y="3025774"/>
            <a:ext cx="0" cy="755650"/>
          </a:xfrm>
          <a:prstGeom prst="line">
            <a:avLst/>
          </a:prstGeom>
          <a:ln w="19050"/>
        </p:spPr>
        <p:style>
          <a:lnRef idx="1">
            <a:schemeClr val="dk1"/>
          </a:lnRef>
          <a:fillRef idx="0">
            <a:schemeClr val="dk1"/>
          </a:fillRef>
          <a:effectRef idx="0">
            <a:schemeClr val="dk1"/>
          </a:effectRef>
          <a:fontRef idx="minor">
            <a:schemeClr val="tx1"/>
          </a:fontRef>
        </p:style>
      </p:cxnSp>
      <p:sp>
        <p:nvSpPr>
          <p:cNvPr id="22" name="文本框 21">
            <a:extLst>
              <a:ext uri="{FF2B5EF4-FFF2-40B4-BE49-F238E27FC236}">
                <a16:creationId xmlns:a16="http://schemas.microsoft.com/office/drawing/2014/main" id="{5839464B-2146-B97A-8715-BAC3131BA222}"/>
              </a:ext>
            </a:extLst>
          </p:cNvPr>
          <p:cNvSpPr txBox="1"/>
          <p:nvPr/>
        </p:nvSpPr>
        <p:spPr>
          <a:xfrm>
            <a:off x="271889" y="1595181"/>
            <a:ext cx="677108" cy="1385957"/>
          </a:xfrm>
          <a:prstGeom prst="rect">
            <a:avLst/>
          </a:prstGeom>
          <a:noFill/>
        </p:spPr>
        <p:txBody>
          <a:bodyPr vert="eaVert" wrap="none" rtlCol="0">
            <a:spAutoFit/>
          </a:bodyPr>
          <a:lstStyle/>
          <a:p>
            <a:r>
              <a:rPr lang="en-US" altLang="zh-CN" sz="1600" dirty="0"/>
              <a:t>1819</a:t>
            </a:r>
          </a:p>
          <a:p>
            <a:r>
              <a:rPr lang="zh-CN" altLang="en-US" sz="1600" dirty="0"/>
              <a:t>杜隆</a:t>
            </a:r>
            <a:r>
              <a:rPr lang="en-US" altLang="zh-CN" sz="1600" dirty="0"/>
              <a:t>-</a:t>
            </a:r>
            <a:r>
              <a:rPr lang="zh-CN" altLang="en-US" sz="1600" dirty="0"/>
              <a:t>珀蒂定律</a:t>
            </a:r>
          </a:p>
        </p:txBody>
      </p:sp>
      <p:sp>
        <p:nvSpPr>
          <p:cNvPr id="29" name="文本框 28">
            <a:extLst>
              <a:ext uri="{FF2B5EF4-FFF2-40B4-BE49-F238E27FC236}">
                <a16:creationId xmlns:a16="http://schemas.microsoft.com/office/drawing/2014/main" id="{00922F46-09C3-5B76-8B63-C541455377C7}"/>
              </a:ext>
            </a:extLst>
          </p:cNvPr>
          <p:cNvSpPr txBox="1"/>
          <p:nvPr/>
        </p:nvSpPr>
        <p:spPr>
          <a:xfrm>
            <a:off x="8716191" y="3470701"/>
            <a:ext cx="2985428" cy="2104926"/>
          </a:xfrm>
          <a:prstGeom prst="rect">
            <a:avLst/>
          </a:prstGeom>
          <a:noFill/>
        </p:spPr>
        <p:txBody>
          <a:bodyPr wrap="square" lIns="36000" tIns="36000" rIns="36000" bIns="36000">
            <a:spAutoFit/>
          </a:bodyPr>
          <a:lstStyle/>
          <a:p>
            <a:pPr>
              <a:lnSpc>
                <a:spcPct val="110000"/>
              </a:lnSpc>
              <a:spcAft>
                <a:spcPts val="1200"/>
              </a:spcAft>
            </a:pPr>
            <a:r>
              <a:rPr lang="en-US" altLang="zh-CN" sz="1600" b="0" i="0" dirty="0">
                <a:solidFill>
                  <a:schemeClr val="tx1"/>
                </a:solidFill>
                <a:effectLst/>
                <a:latin typeface="Calibri" panose="020F0502020204030204" pitchFamily="34" charset="0"/>
                <a:ea typeface="黑体" panose="02010609060101010101" pitchFamily="49" charset="-122"/>
              </a:rPr>
              <a:t>Cochran</a:t>
            </a:r>
            <a:r>
              <a:rPr lang="zh-CN" altLang="en-US" sz="1600" b="0" i="0" dirty="0">
                <a:solidFill>
                  <a:schemeClr val="tx1"/>
                </a:solidFill>
                <a:effectLst/>
                <a:latin typeface="Calibri" panose="020F0502020204030204" pitchFamily="34" charset="0"/>
                <a:ea typeface="黑体" panose="02010609060101010101" pitchFamily="49" charset="-122"/>
              </a:rPr>
              <a:t>和</a:t>
            </a:r>
            <a:r>
              <a:rPr lang="en-US" altLang="zh-CN" sz="1600" dirty="0">
                <a:solidFill>
                  <a:srgbClr val="393939"/>
                </a:solidFill>
              </a:rPr>
              <a:t>Anderson</a:t>
            </a:r>
            <a:r>
              <a:rPr lang="zh-CN" altLang="en-US" sz="1600" dirty="0">
                <a:solidFill>
                  <a:srgbClr val="393939"/>
                </a:solidFill>
              </a:rPr>
              <a:t>提出，</a:t>
            </a:r>
            <a:r>
              <a:rPr lang="zh-CN" altLang="en-US" sz="1600" b="0" i="0" dirty="0">
                <a:solidFill>
                  <a:schemeClr val="tx1"/>
                </a:solidFill>
                <a:effectLst/>
                <a:latin typeface="Calibri" panose="020F0502020204030204" pitchFamily="34" charset="0"/>
                <a:ea typeface="黑体" panose="02010609060101010101" pitchFamily="49" charset="-122"/>
              </a:rPr>
              <a:t>一些铁电或结构相变可以理解为某个特定简正模随温度降低而不断“软化” ，最终使高对称结构失去稳定性。</a:t>
            </a:r>
            <a:endParaRPr lang="en-US" altLang="zh-CN" sz="1600" b="0" i="0" dirty="0">
              <a:solidFill>
                <a:schemeClr val="tx1"/>
              </a:solidFill>
              <a:effectLst/>
              <a:latin typeface="Calibri" panose="020F0502020204030204" pitchFamily="34" charset="0"/>
              <a:ea typeface="黑体" panose="02010609060101010101" pitchFamily="49" charset="-122"/>
            </a:endParaRPr>
          </a:p>
          <a:p>
            <a:pPr>
              <a:lnSpc>
                <a:spcPct val="110000"/>
              </a:lnSpc>
              <a:spcAft>
                <a:spcPts val="1200"/>
              </a:spcAft>
            </a:pPr>
            <a:r>
              <a:rPr lang="zh-CN" altLang="en-US" sz="1600" b="0" i="0" dirty="0">
                <a:solidFill>
                  <a:schemeClr val="tx1"/>
                </a:solidFill>
                <a:effectLst/>
                <a:latin typeface="Calibri" panose="020F0502020204030204" pitchFamily="34" charset="0"/>
                <a:ea typeface="黑体" panose="02010609060101010101" pitchFamily="49" charset="-122"/>
              </a:rPr>
              <a:t>这标志着声子频率本身成为晶体相变的直接指标。</a:t>
            </a:r>
          </a:p>
        </p:txBody>
      </p:sp>
      <p:sp>
        <p:nvSpPr>
          <p:cNvPr id="5" name="文本框 4">
            <a:extLst>
              <a:ext uri="{FF2B5EF4-FFF2-40B4-BE49-F238E27FC236}">
                <a16:creationId xmlns:a16="http://schemas.microsoft.com/office/drawing/2014/main" id="{96C01BBC-2EDC-E079-46DE-E38CA3BEC8B5}"/>
              </a:ext>
            </a:extLst>
          </p:cNvPr>
          <p:cNvSpPr txBox="1"/>
          <p:nvPr/>
        </p:nvSpPr>
        <p:spPr>
          <a:xfrm>
            <a:off x="1102055" y="3070860"/>
            <a:ext cx="652743" cy="369332"/>
          </a:xfrm>
          <a:prstGeom prst="rect">
            <a:avLst/>
          </a:prstGeom>
          <a:noFill/>
        </p:spPr>
        <p:txBody>
          <a:bodyPr wrap="none" rtlCol="0">
            <a:spAutoFit/>
          </a:bodyPr>
          <a:lstStyle/>
          <a:p>
            <a:r>
              <a:rPr lang="en-US" altLang="zh-CN" dirty="0"/>
              <a:t>1900</a:t>
            </a:r>
            <a:endParaRPr lang="zh-CN" altLang="en-US" dirty="0"/>
          </a:p>
        </p:txBody>
      </p:sp>
      <p:sp>
        <p:nvSpPr>
          <p:cNvPr id="8" name="文本框 7">
            <a:extLst>
              <a:ext uri="{FF2B5EF4-FFF2-40B4-BE49-F238E27FC236}">
                <a16:creationId xmlns:a16="http://schemas.microsoft.com/office/drawing/2014/main" id="{A5C2AA23-2255-F659-5092-0D884ABEEF84}"/>
              </a:ext>
            </a:extLst>
          </p:cNvPr>
          <p:cNvSpPr txBox="1"/>
          <p:nvPr/>
        </p:nvSpPr>
        <p:spPr>
          <a:xfrm>
            <a:off x="7025384" y="3070860"/>
            <a:ext cx="652743" cy="369332"/>
          </a:xfrm>
          <a:prstGeom prst="rect">
            <a:avLst/>
          </a:prstGeom>
          <a:noFill/>
        </p:spPr>
        <p:txBody>
          <a:bodyPr wrap="none" rtlCol="0">
            <a:spAutoFit/>
          </a:bodyPr>
          <a:lstStyle/>
          <a:p>
            <a:r>
              <a:rPr lang="en-US" altLang="zh-CN" dirty="0"/>
              <a:t>2000</a:t>
            </a:r>
            <a:endParaRPr lang="zh-CN" altLang="en-US" dirty="0"/>
          </a:p>
        </p:txBody>
      </p:sp>
      <p:cxnSp>
        <p:nvCxnSpPr>
          <p:cNvPr id="9" name="直接连接符 8">
            <a:extLst>
              <a:ext uri="{FF2B5EF4-FFF2-40B4-BE49-F238E27FC236}">
                <a16:creationId xmlns:a16="http://schemas.microsoft.com/office/drawing/2014/main" id="{083FA5DD-6E5B-2DC1-01D1-155A5F10E083}"/>
              </a:ext>
            </a:extLst>
          </p:cNvPr>
          <p:cNvCxnSpPr>
            <a:cxnSpLocks/>
          </p:cNvCxnSpPr>
          <p:nvPr/>
        </p:nvCxnSpPr>
        <p:spPr>
          <a:xfrm flipV="1">
            <a:off x="1427480" y="3781424"/>
            <a:ext cx="0" cy="287656"/>
          </a:xfrm>
          <a:prstGeom prst="line">
            <a:avLst/>
          </a:prstGeom>
          <a:ln w="19050"/>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89106051-645E-417B-E361-51F294FABD01}"/>
              </a:ext>
            </a:extLst>
          </p:cNvPr>
          <p:cNvSpPr txBox="1"/>
          <p:nvPr/>
        </p:nvSpPr>
        <p:spPr>
          <a:xfrm>
            <a:off x="482766" y="4073811"/>
            <a:ext cx="1808779" cy="584775"/>
          </a:xfrm>
          <a:prstGeom prst="rect">
            <a:avLst/>
          </a:prstGeom>
          <a:noFill/>
        </p:spPr>
        <p:txBody>
          <a:bodyPr wrap="square">
            <a:spAutoFit/>
          </a:bodyPr>
          <a:lstStyle/>
          <a:p>
            <a:r>
              <a:rPr lang="en-US" altLang="zh-CN" sz="1600" dirty="0"/>
              <a:t>1900 – 1905</a:t>
            </a:r>
          </a:p>
          <a:p>
            <a:r>
              <a:rPr lang="zh-CN" altLang="en-US" sz="1600" dirty="0"/>
              <a:t>量子论的建立</a:t>
            </a:r>
            <a:endParaRPr lang="en-US" altLang="zh-CN" sz="1600" dirty="0"/>
          </a:p>
        </p:txBody>
      </p:sp>
      <p:cxnSp>
        <p:nvCxnSpPr>
          <p:cNvPr id="3" name="直接连接符 2">
            <a:extLst>
              <a:ext uri="{FF2B5EF4-FFF2-40B4-BE49-F238E27FC236}">
                <a16:creationId xmlns:a16="http://schemas.microsoft.com/office/drawing/2014/main" id="{3D4D0796-48BF-BC79-6CF8-51DE06C43238}"/>
              </a:ext>
            </a:extLst>
          </p:cNvPr>
          <p:cNvCxnSpPr>
            <a:cxnSpLocks/>
          </p:cNvCxnSpPr>
          <p:nvPr/>
        </p:nvCxnSpPr>
        <p:spPr>
          <a:xfrm flipV="1">
            <a:off x="2001178" y="3015688"/>
            <a:ext cx="0" cy="755650"/>
          </a:xfrm>
          <a:prstGeom prst="line">
            <a:avLst/>
          </a:prstGeom>
          <a:ln w="19050"/>
        </p:spPr>
        <p:style>
          <a:lnRef idx="1">
            <a:schemeClr val="dk1"/>
          </a:lnRef>
          <a:fillRef idx="0">
            <a:schemeClr val="dk1"/>
          </a:fillRef>
          <a:effectRef idx="0">
            <a:schemeClr val="dk1"/>
          </a:effectRef>
          <a:fontRef idx="minor">
            <a:schemeClr val="tx1"/>
          </a:fontRef>
        </p:style>
      </p:cxnSp>
      <p:cxnSp>
        <p:nvCxnSpPr>
          <p:cNvPr id="6" name="直接连接符 5">
            <a:extLst>
              <a:ext uri="{FF2B5EF4-FFF2-40B4-BE49-F238E27FC236}">
                <a16:creationId xmlns:a16="http://schemas.microsoft.com/office/drawing/2014/main" id="{6DD6484A-E59E-27C9-7166-3FE29C9F8670}"/>
              </a:ext>
            </a:extLst>
          </p:cNvPr>
          <p:cNvCxnSpPr>
            <a:cxnSpLocks/>
          </p:cNvCxnSpPr>
          <p:nvPr/>
        </p:nvCxnSpPr>
        <p:spPr>
          <a:xfrm flipV="1">
            <a:off x="2753483" y="3025774"/>
            <a:ext cx="0" cy="1050926"/>
          </a:xfrm>
          <a:prstGeom prst="line">
            <a:avLst/>
          </a:prstGeom>
          <a:ln w="19050"/>
        </p:spPr>
        <p:style>
          <a:lnRef idx="1">
            <a:schemeClr val="dk1"/>
          </a:lnRef>
          <a:fillRef idx="0">
            <a:schemeClr val="dk1"/>
          </a:fillRef>
          <a:effectRef idx="0">
            <a:schemeClr val="dk1"/>
          </a:effectRef>
          <a:fontRef idx="minor">
            <a:schemeClr val="tx1"/>
          </a:fontRef>
        </p:style>
      </p:cxnSp>
      <p:sp>
        <p:nvSpPr>
          <p:cNvPr id="13" name="文本框 12">
            <a:extLst>
              <a:ext uri="{FF2B5EF4-FFF2-40B4-BE49-F238E27FC236}">
                <a16:creationId xmlns:a16="http://schemas.microsoft.com/office/drawing/2014/main" id="{CBCF9D32-4222-5AF7-4861-180E39DF5ACC}"/>
              </a:ext>
            </a:extLst>
          </p:cNvPr>
          <p:cNvSpPr txBox="1"/>
          <p:nvPr/>
        </p:nvSpPr>
        <p:spPr>
          <a:xfrm>
            <a:off x="1662624" y="1595181"/>
            <a:ext cx="677108" cy="1385957"/>
          </a:xfrm>
          <a:prstGeom prst="rect">
            <a:avLst/>
          </a:prstGeom>
          <a:noFill/>
        </p:spPr>
        <p:txBody>
          <a:bodyPr vert="eaVert" wrap="square">
            <a:spAutoFit/>
          </a:bodyPr>
          <a:lstStyle/>
          <a:p>
            <a:r>
              <a:rPr lang="en-US" altLang="zh-CN" sz="1600" dirty="0"/>
              <a:t>1907</a:t>
            </a:r>
          </a:p>
          <a:p>
            <a:r>
              <a:rPr lang="zh-CN" altLang="zh-CN" sz="1600" dirty="0"/>
              <a:t>爱因斯坦模型</a:t>
            </a:r>
            <a:endParaRPr lang="en-US" altLang="zh-CN" sz="1600" dirty="0"/>
          </a:p>
        </p:txBody>
      </p:sp>
      <p:sp>
        <p:nvSpPr>
          <p:cNvPr id="23" name="文本框 22">
            <a:extLst>
              <a:ext uri="{FF2B5EF4-FFF2-40B4-BE49-F238E27FC236}">
                <a16:creationId xmlns:a16="http://schemas.microsoft.com/office/drawing/2014/main" id="{98D0CED1-E9C2-56F7-D40F-724CA48D19E0}"/>
              </a:ext>
            </a:extLst>
          </p:cNvPr>
          <p:cNvSpPr txBox="1"/>
          <p:nvPr/>
        </p:nvSpPr>
        <p:spPr>
          <a:xfrm>
            <a:off x="2291545" y="1806340"/>
            <a:ext cx="1169551" cy="1325563"/>
          </a:xfrm>
          <a:prstGeom prst="rect">
            <a:avLst/>
          </a:prstGeom>
          <a:noFill/>
        </p:spPr>
        <p:txBody>
          <a:bodyPr vert="eaVert" wrap="square">
            <a:spAutoFit/>
          </a:bodyPr>
          <a:lstStyle/>
          <a:p>
            <a:r>
              <a:rPr lang="en-US" altLang="zh-CN" sz="1600" dirty="0"/>
              <a:t>1912</a:t>
            </a:r>
          </a:p>
          <a:p>
            <a:r>
              <a:rPr lang="zh-CN" altLang="en-US" sz="1600" dirty="0"/>
              <a:t>德拜模型</a:t>
            </a:r>
            <a:endParaRPr lang="en-US" altLang="zh-CN" sz="1600" dirty="0"/>
          </a:p>
          <a:p>
            <a:r>
              <a:rPr lang="zh-CN" altLang="en-US" sz="1600" dirty="0"/>
              <a:t>波恩</a:t>
            </a:r>
            <a:r>
              <a:rPr lang="en-US" altLang="zh-CN" sz="1600" dirty="0"/>
              <a:t>-</a:t>
            </a:r>
            <a:r>
              <a:rPr lang="zh-CN" altLang="en-US" sz="1600" dirty="0"/>
              <a:t>冯</a:t>
            </a:r>
            <a:r>
              <a:rPr lang="en-US" altLang="zh-CN" sz="1600" dirty="0"/>
              <a:t>·</a:t>
            </a:r>
            <a:r>
              <a:rPr lang="zh-CN" altLang="en-US" sz="1600" dirty="0"/>
              <a:t>卡门晶格理论</a:t>
            </a:r>
            <a:endParaRPr lang="en-US" altLang="zh-CN" sz="1600" dirty="0"/>
          </a:p>
        </p:txBody>
      </p:sp>
      <p:cxnSp>
        <p:nvCxnSpPr>
          <p:cNvPr id="11" name="直接连接符 10">
            <a:extLst>
              <a:ext uri="{FF2B5EF4-FFF2-40B4-BE49-F238E27FC236}">
                <a16:creationId xmlns:a16="http://schemas.microsoft.com/office/drawing/2014/main" id="{AB07B842-8876-406B-A375-C3D4C2C8EE6B}"/>
              </a:ext>
            </a:extLst>
          </p:cNvPr>
          <p:cNvCxnSpPr>
            <a:cxnSpLocks/>
          </p:cNvCxnSpPr>
          <p:nvPr/>
        </p:nvCxnSpPr>
        <p:spPr>
          <a:xfrm flipV="1">
            <a:off x="3667760" y="3025774"/>
            <a:ext cx="0" cy="755650"/>
          </a:xfrm>
          <a:prstGeom prst="line">
            <a:avLst/>
          </a:prstGeom>
          <a:ln w="19050"/>
        </p:spPr>
        <p:style>
          <a:lnRef idx="1">
            <a:schemeClr val="dk1"/>
          </a:lnRef>
          <a:fillRef idx="0">
            <a:schemeClr val="dk1"/>
          </a:fillRef>
          <a:effectRef idx="0">
            <a:schemeClr val="dk1"/>
          </a:effectRef>
          <a:fontRef idx="minor">
            <a:schemeClr val="tx1"/>
          </a:fontRef>
        </p:style>
      </p:cxnSp>
      <p:sp>
        <p:nvSpPr>
          <p:cNvPr id="26" name="文本框 25">
            <a:extLst>
              <a:ext uri="{FF2B5EF4-FFF2-40B4-BE49-F238E27FC236}">
                <a16:creationId xmlns:a16="http://schemas.microsoft.com/office/drawing/2014/main" id="{9BD9A218-8D1F-6CC3-4079-598AF7E081B2}"/>
              </a:ext>
            </a:extLst>
          </p:cNvPr>
          <p:cNvSpPr txBox="1"/>
          <p:nvPr/>
        </p:nvSpPr>
        <p:spPr>
          <a:xfrm>
            <a:off x="3504466" y="4134340"/>
            <a:ext cx="677108" cy="1862108"/>
          </a:xfrm>
          <a:prstGeom prst="rect">
            <a:avLst/>
          </a:prstGeom>
          <a:noFill/>
        </p:spPr>
        <p:txBody>
          <a:bodyPr vert="eaVert" wrap="square">
            <a:spAutoFit/>
          </a:bodyPr>
          <a:lstStyle/>
          <a:p>
            <a:r>
              <a:rPr lang="en-US" altLang="zh-CN" sz="1600" dirty="0"/>
              <a:t>1929-1932</a:t>
            </a:r>
          </a:p>
          <a:p>
            <a:r>
              <a:rPr lang="zh-CN" altLang="en-US" sz="1600" dirty="0"/>
              <a:t>“声子”概念形成</a:t>
            </a:r>
            <a:endParaRPr lang="en-US" altLang="zh-CN" sz="1600" dirty="0"/>
          </a:p>
        </p:txBody>
      </p:sp>
      <p:cxnSp>
        <p:nvCxnSpPr>
          <p:cNvPr id="28" name="直接连接符 27">
            <a:extLst>
              <a:ext uri="{FF2B5EF4-FFF2-40B4-BE49-F238E27FC236}">
                <a16:creationId xmlns:a16="http://schemas.microsoft.com/office/drawing/2014/main" id="{860787E2-43B1-6D66-0FEC-FC68250FAA10}"/>
              </a:ext>
            </a:extLst>
          </p:cNvPr>
          <p:cNvCxnSpPr>
            <a:cxnSpLocks/>
          </p:cNvCxnSpPr>
          <p:nvPr/>
        </p:nvCxnSpPr>
        <p:spPr>
          <a:xfrm flipV="1">
            <a:off x="3843020" y="3781424"/>
            <a:ext cx="0" cy="287656"/>
          </a:xfrm>
          <a:prstGeom prst="line">
            <a:avLst/>
          </a:prstGeom>
          <a:ln w="19050"/>
        </p:spPr>
        <p:style>
          <a:lnRef idx="1">
            <a:schemeClr val="dk1"/>
          </a:lnRef>
          <a:fillRef idx="0">
            <a:schemeClr val="dk1"/>
          </a:fillRef>
          <a:effectRef idx="0">
            <a:schemeClr val="dk1"/>
          </a:effectRef>
          <a:fontRef idx="minor">
            <a:schemeClr val="tx1"/>
          </a:fontRef>
        </p:style>
      </p:cxnSp>
      <p:sp>
        <p:nvSpPr>
          <p:cNvPr id="32" name="文本框 31">
            <a:extLst>
              <a:ext uri="{FF2B5EF4-FFF2-40B4-BE49-F238E27FC236}">
                <a16:creationId xmlns:a16="http://schemas.microsoft.com/office/drawing/2014/main" id="{A7B1EC18-38DD-7A6F-F148-26AF4C483AD6}"/>
              </a:ext>
            </a:extLst>
          </p:cNvPr>
          <p:cNvSpPr txBox="1"/>
          <p:nvPr/>
        </p:nvSpPr>
        <p:spPr>
          <a:xfrm>
            <a:off x="2431892" y="4139564"/>
            <a:ext cx="677108" cy="1851660"/>
          </a:xfrm>
          <a:prstGeom prst="rect">
            <a:avLst/>
          </a:prstGeom>
          <a:noFill/>
        </p:spPr>
        <p:txBody>
          <a:bodyPr vert="eaVert" wrap="square">
            <a:spAutoFit/>
          </a:bodyPr>
          <a:lstStyle/>
          <a:p>
            <a:r>
              <a:rPr lang="en-US" altLang="zh-CN" sz="1600" dirty="0"/>
              <a:t>1911</a:t>
            </a:r>
          </a:p>
          <a:p>
            <a:r>
              <a:rPr lang="zh-CN" altLang="en-US" sz="1600" dirty="0"/>
              <a:t>第一次索尔维会议</a:t>
            </a:r>
            <a:endParaRPr lang="en-US" altLang="zh-CN" sz="1600" dirty="0"/>
          </a:p>
        </p:txBody>
      </p:sp>
      <p:sp>
        <p:nvSpPr>
          <p:cNvPr id="36" name="文本框 35">
            <a:extLst>
              <a:ext uri="{FF2B5EF4-FFF2-40B4-BE49-F238E27FC236}">
                <a16:creationId xmlns:a16="http://schemas.microsoft.com/office/drawing/2014/main" id="{B689D31A-1BDB-9820-BC1A-17182306D0D4}"/>
              </a:ext>
            </a:extLst>
          </p:cNvPr>
          <p:cNvSpPr txBox="1"/>
          <p:nvPr/>
        </p:nvSpPr>
        <p:spPr>
          <a:xfrm>
            <a:off x="3229004" y="2104000"/>
            <a:ext cx="923330" cy="1172736"/>
          </a:xfrm>
          <a:prstGeom prst="rect">
            <a:avLst/>
          </a:prstGeom>
          <a:noFill/>
        </p:spPr>
        <p:txBody>
          <a:bodyPr vert="eaVert" wrap="square">
            <a:spAutoFit/>
          </a:bodyPr>
          <a:lstStyle/>
          <a:p>
            <a:r>
              <a:rPr lang="en-US" altLang="zh-CN" sz="1600" dirty="0"/>
              <a:t>1928</a:t>
            </a:r>
          </a:p>
          <a:p>
            <a:r>
              <a:rPr lang="zh-CN" altLang="en-US" sz="1600" dirty="0"/>
              <a:t>拉曼散射</a:t>
            </a:r>
            <a:endParaRPr lang="en-US" altLang="zh-CN" sz="1600" dirty="0"/>
          </a:p>
        </p:txBody>
      </p:sp>
      <p:cxnSp>
        <p:nvCxnSpPr>
          <p:cNvPr id="14" name="直接连接符 13">
            <a:extLst>
              <a:ext uri="{FF2B5EF4-FFF2-40B4-BE49-F238E27FC236}">
                <a16:creationId xmlns:a16="http://schemas.microsoft.com/office/drawing/2014/main" id="{64B4D647-555A-0C2C-5EA4-E46F46D76FA8}"/>
              </a:ext>
            </a:extLst>
          </p:cNvPr>
          <p:cNvCxnSpPr>
            <a:cxnSpLocks/>
          </p:cNvCxnSpPr>
          <p:nvPr/>
        </p:nvCxnSpPr>
        <p:spPr>
          <a:xfrm flipV="1">
            <a:off x="4726940" y="3025774"/>
            <a:ext cx="0" cy="755650"/>
          </a:xfrm>
          <a:prstGeom prst="line">
            <a:avLst/>
          </a:prstGeom>
          <a:ln w="19050"/>
        </p:spPr>
        <p:style>
          <a:lnRef idx="1">
            <a:schemeClr val="dk1"/>
          </a:lnRef>
          <a:fillRef idx="0">
            <a:schemeClr val="dk1"/>
          </a:fillRef>
          <a:effectRef idx="0">
            <a:schemeClr val="dk1"/>
          </a:effectRef>
          <a:fontRef idx="minor">
            <a:schemeClr val="tx1"/>
          </a:fontRef>
        </p:style>
      </p:cxnSp>
      <p:sp>
        <p:nvSpPr>
          <p:cNvPr id="18" name="文本框 17">
            <a:extLst>
              <a:ext uri="{FF2B5EF4-FFF2-40B4-BE49-F238E27FC236}">
                <a16:creationId xmlns:a16="http://schemas.microsoft.com/office/drawing/2014/main" id="{BF970B7D-7E93-8E58-3126-1F841B74CAA4}"/>
              </a:ext>
            </a:extLst>
          </p:cNvPr>
          <p:cNvSpPr txBox="1"/>
          <p:nvPr/>
        </p:nvSpPr>
        <p:spPr>
          <a:xfrm>
            <a:off x="4288512" y="1611310"/>
            <a:ext cx="923330" cy="1473622"/>
          </a:xfrm>
          <a:prstGeom prst="rect">
            <a:avLst/>
          </a:prstGeom>
          <a:noFill/>
        </p:spPr>
        <p:txBody>
          <a:bodyPr vert="eaVert" wrap="square">
            <a:spAutoFit/>
          </a:bodyPr>
          <a:lstStyle/>
          <a:p>
            <a:r>
              <a:rPr lang="en-US" altLang="zh-CN" sz="1600" dirty="0"/>
              <a:t>1954</a:t>
            </a:r>
          </a:p>
          <a:p>
            <a:r>
              <a:rPr lang="zh-CN" altLang="en-US" sz="1600" dirty="0"/>
              <a:t>波恩</a:t>
            </a:r>
            <a:r>
              <a:rPr lang="en-US" altLang="zh-CN" sz="1600" dirty="0"/>
              <a:t>-</a:t>
            </a:r>
            <a:r>
              <a:rPr lang="zh-CN" altLang="en-US" sz="1600" dirty="0"/>
              <a:t>黄</a:t>
            </a:r>
            <a:r>
              <a:rPr lang="en-US" altLang="zh-CN" sz="1600" dirty="0"/>
              <a:t>《</a:t>
            </a:r>
            <a:r>
              <a:rPr lang="zh-CN" altLang="en-US" sz="1600" dirty="0"/>
              <a:t>晶格动力学理论</a:t>
            </a:r>
            <a:r>
              <a:rPr lang="en-US" altLang="zh-CN" sz="1600" dirty="0"/>
              <a:t>》</a:t>
            </a:r>
          </a:p>
        </p:txBody>
      </p:sp>
      <p:sp>
        <p:nvSpPr>
          <p:cNvPr id="37" name="文本框 36">
            <a:extLst>
              <a:ext uri="{FF2B5EF4-FFF2-40B4-BE49-F238E27FC236}">
                <a16:creationId xmlns:a16="http://schemas.microsoft.com/office/drawing/2014/main" id="{3E3D917E-97CB-1059-6AD9-4FAB32376F96}"/>
              </a:ext>
            </a:extLst>
          </p:cNvPr>
          <p:cNvSpPr txBox="1"/>
          <p:nvPr/>
        </p:nvSpPr>
        <p:spPr>
          <a:xfrm>
            <a:off x="8768487" y="2997133"/>
            <a:ext cx="1765701" cy="307777"/>
          </a:xfrm>
          <a:prstGeom prst="rect">
            <a:avLst/>
          </a:prstGeom>
          <a:noFill/>
        </p:spPr>
        <p:txBody>
          <a:bodyPr wrap="square">
            <a:spAutoFit/>
          </a:bodyPr>
          <a:lstStyle/>
          <a:p>
            <a:r>
              <a:rPr lang="en-US" altLang="zh-CN" sz="1400" i="0" dirty="0">
                <a:solidFill>
                  <a:srgbClr val="393939"/>
                </a:solidFill>
                <a:effectLst/>
              </a:rPr>
              <a:t>William Cochran</a:t>
            </a:r>
            <a:endParaRPr lang="zh-CN" altLang="zh-CN" sz="1400" i="0" dirty="0">
              <a:solidFill>
                <a:srgbClr val="393939"/>
              </a:solidFill>
              <a:effectLst/>
            </a:endParaRPr>
          </a:p>
        </p:txBody>
      </p:sp>
      <p:cxnSp>
        <p:nvCxnSpPr>
          <p:cNvPr id="15" name="直接连接符 14">
            <a:extLst>
              <a:ext uri="{FF2B5EF4-FFF2-40B4-BE49-F238E27FC236}">
                <a16:creationId xmlns:a16="http://schemas.microsoft.com/office/drawing/2014/main" id="{FE4FE244-E8AF-106B-1FE2-832F68A7A7B0}"/>
              </a:ext>
            </a:extLst>
          </p:cNvPr>
          <p:cNvCxnSpPr>
            <a:cxnSpLocks/>
          </p:cNvCxnSpPr>
          <p:nvPr/>
        </p:nvCxnSpPr>
        <p:spPr>
          <a:xfrm flipV="1">
            <a:off x="4925060" y="3782376"/>
            <a:ext cx="0" cy="287656"/>
          </a:xfrm>
          <a:prstGeom prst="line">
            <a:avLst/>
          </a:prstGeom>
          <a:ln w="19050"/>
        </p:spPr>
        <p:style>
          <a:lnRef idx="1">
            <a:schemeClr val="dk1"/>
          </a:lnRef>
          <a:fillRef idx="0">
            <a:schemeClr val="dk1"/>
          </a:fillRef>
          <a:effectRef idx="0">
            <a:schemeClr val="dk1"/>
          </a:effectRef>
          <a:fontRef idx="minor">
            <a:schemeClr val="tx1"/>
          </a:fontRef>
        </p:style>
      </p:cxnSp>
      <p:sp>
        <p:nvSpPr>
          <p:cNvPr id="24" name="文本框 23">
            <a:extLst>
              <a:ext uri="{FF2B5EF4-FFF2-40B4-BE49-F238E27FC236}">
                <a16:creationId xmlns:a16="http://schemas.microsoft.com/office/drawing/2014/main" id="{83F10FC8-04A5-42D5-509A-72F327102127}"/>
              </a:ext>
            </a:extLst>
          </p:cNvPr>
          <p:cNvSpPr txBox="1"/>
          <p:nvPr/>
        </p:nvSpPr>
        <p:spPr>
          <a:xfrm>
            <a:off x="4577040" y="4134340"/>
            <a:ext cx="677108" cy="1786085"/>
          </a:xfrm>
          <a:prstGeom prst="rect">
            <a:avLst/>
          </a:prstGeom>
          <a:noFill/>
        </p:spPr>
        <p:txBody>
          <a:bodyPr vert="eaVert" wrap="square">
            <a:spAutoFit/>
          </a:bodyPr>
          <a:lstStyle/>
          <a:p>
            <a:r>
              <a:rPr lang="en-US" altLang="zh-CN" sz="1600" dirty="0"/>
              <a:t>1955 -</a:t>
            </a:r>
          </a:p>
          <a:p>
            <a:r>
              <a:rPr lang="zh-CN" altLang="en-US" sz="1600" dirty="0"/>
              <a:t>非弹性中子散射</a:t>
            </a:r>
            <a:endParaRPr lang="en-US" altLang="zh-CN" sz="1600" dirty="0"/>
          </a:p>
        </p:txBody>
      </p:sp>
      <p:sp>
        <p:nvSpPr>
          <p:cNvPr id="21" name="文本框 20">
            <a:extLst>
              <a:ext uri="{FF2B5EF4-FFF2-40B4-BE49-F238E27FC236}">
                <a16:creationId xmlns:a16="http://schemas.microsoft.com/office/drawing/2014/main" id="{E12C72EE-5652-DE38-DF0B-A6926602DAF3}"/>
              </a:ext>
            </a:extLst>
          </p:cNvPr>
          <p:cNvSpPr txBox="1"/>
          <p:nvPr/>
        </p:nvSpPr>
        <p:spPr>
          <a:xfrm>
            <a:off x="5509267" y="2254183"/>
            <a:ext cx="2941785" cy="707886"/>
          </a:xfrm>
          <a:prstGeom prst="rect">
            <a:avLst/>
          </a:prstGeom>
          <a:noFill/>
        </p:spPr>
        <p:txBody>
          <a:bodyPr vert="horz" wrap="square">
            <a:spAutoFit/>
          </a:bodyPr>
          <a:lstStyle/>
          <a:p>
            <a:r>
              <a:rPr lang="en-US" altLang="zh-CN" sz="2000" dirty="0"/>
              <a:t>1959</a:t>
            </a:r>
          </a:p>
          <a:p>
            <a:r>
              <a:rPr lang="zh-CN" altLang="en-US" sz="2000" dirty="0"/>
              <a:t>软模理论与结构相变</a:t>
            </a:r>
            <a:endParaRPr lang="en-US" altLang="zh-CN" sz="2000" dirty="0"/>
          </a:p>
        </p:txBody>
      </p:sp>
      <p:cxnSp>
        <p:nvCxnSpPr>
          <p:cNvPr id="25" name="直接连接符 24">
            <a:extLst>
              <a:ext uri="{FF2B5EF4-FFF2-40B4-BE49-F238E27FC236}">
                <a16:creationId xmlns:a16="http://schemas.microsoft.com/office/drawing/2014/main" id="{C4F22A75-756A-FA9C-A9FC-9307C13C3B4A}"/>
              </a:ext>
            </a:extLst>
          </p:cNvPr>
          <p:cNvCxnSpPr>
            <a:cxnSpLocks/>
          </p:cNvCxnSpPr>
          <p:nvPr/>
        </p:nvCxnSpPr>
        <p:spPr>
          <a:xfrm flipV="1">
            <a:off x="5709920" y="3015688"/>
            <a:ext cx="0" cy="755650"/>
          </a:xfrm>
          <a:prstGeom prst="line">
            <a:avLst/>
          </a:prstGeom>
          <a:ln w="19050"/>
        </p:spPr>
        <p:style>
          <a:lnRef idx="1">
            <a:schemeClr val="dk1"/>
          </a:lnRef>
          <a:fillRef idx="0">
            <a:schemeClr val="dk1"/>
          </a:fillRef>
          <a:effectRef idx="0">
            <a:schemeClr val="dk1"/>
          </a:effectRef>
          <a:fontRef idx="minor">
            <a:schemeClr val="tx1"/>
          </a:fontRef>
        </p:style>
      </p:cxnSp>
      <p:pic>
        <p:nvPicPr>
          <p:cNvPr id="31" name="图片 30">
            <a:extLst>
              <a:ext uri="{FF2B5EF4-FFF2-40B4-BE49-F238E27FC236}">
                <a16:creationId xmlns:a16="http://schemas.microsoft.com/office/drawing/2014/main" id="{6520E8EC-3A85-6D3E-CC6E-4AC61BFF7B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3745" y="1552183"/>
            <a:ext cx="1173900" cy="1404000"/>
          </a:xfrm>
          <a:prstGeom prst="rect">
            <a:avLst/>
          </a:prstGeom>
        </p:spPr>
      </p:pic>
      <p:pic>
        <p:nvPicPr>
          <p:cNvPr id="34" name="图片 33">
            <a:extLst>
              <a:ext uri="{FF2B5EF4-FFF2-40B4-BE49-F238E27FC236}">
                <a16:creationId xmlns:a16="http://schemas.microsoft.com/office/drawing/2014/main" id="{8EF831C5-D3EE-82E4-31D3-0A103BB773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22487" y="1552183"/>
            <a:ext cx="1059591" cy="1404000"/>
          </a:xfrm>
          <a:prstGeom prst="rect">
            <a:avLst/>
          </a:prstGeom>
        </p:spPr>
      </p:pic>
      <p:sp>
        <p:nvSpPr>
          <p:cNvPr id="38" name="文本框 37">
            <a:extLst>
              <a:ext uri="{FF2B5EF4-FFF2-40B4-BE49-F238E27FC236}">
                <a16:creationId xmlns:a16="http://schemas.microsoft.com/office/drawing/2014/main" id="{FC69A202-5125-8076-A6AA-073238E292B8}"/>
              </a:ext>
            </a:extLst>
          </p:cNvPr>
          <p:cNvSpPr txBox="1"/>
          <p:nvPr/>
        </p:nvSpPr>
        <p:spPr>
          <a:xfrm>
            <a:off x="10187560" y="2996246"/>
            <a:ext cx="1765701" cy="307777"/>
          </a:xfrm>
          <a:prstGeom prst="rect">
            <a:avLst/>
          </a:prstGeom>
          <a:noFill/>
        </p:spPr>
        <p:txBody>
          <a:bodyPr wrap="square">
            <a:spAutoFit/>
          </a:bodyPr>
          <a:lstStyle/>
          <a:p>
            <a:r>
              <a:rPr lang="en-US" altLang="zh-CN" sz="1400" i="0" dirty="0">
                <a:solidFill>
                  <a:srgbClr val="393939"/>
                </a:solidFill>
                <a:effectLst/>
              </a:rPr>
              <a:t>Philip W. Anderson</a:t>
            </a:r>
            <a:endParaRPr lang="zh-CN" altLang="zh-CN" sz="1400" i="0" dirty="0">
              <a:solidFill>
                <a:srgbClr val="393939"/>
              </a:solidFill>
              <a:effectLst/>
            </a:endParaRPr>
          </a:p>
        </p:txBody>
      </p:sp>
    </p:spTree>
    <p:extLst>
      <p:ext uri="{BB962C8B-B14F-4D97-AF65-F5344CB8AC3E}">
        <p14:creationId xmlns:p14="http://schemas.microsoft.com/office/powerpoint/2010/main" val="30301335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B051C-78D0-EEB2-ADA7-712155130065}"/>
            </a:ext>
          </a:extLst>
        </p:cNvPr>
        <p:cNvGrpSpPr/>
        <p:nvPr/>
      </p:nvGrpSpPr>
      <p:grpSpPr>
        <a:xfrm>
          <a:off x="0" y="0"/>
          <a:ext cx="0" cy="0"/>
          <a:chOff x="0" y="0"/>
          <a:chExt cx="0" cy="0"/>
        </a:xfrm>
      </p:grpSpPr>
      <p:sp>
        <p:nvSpPr>
          <p:cNvPr id="27" name="矩形: 圆角 26">
            <a:extLst>
              <a:ext uri="{FF2B5EF4-FFF2-40B4-BE49-F238E27FC236}">
                <a16:creationId xmlns:a16="http://schemas.microsoft.com/office/drawing/2014/main" id="{7EC12B46-10BD-42EA-8958-7277EBD76308}"/>
              </a:ext>
            </a:extLst>
          </p:cNvPr>
          <p:cNvSpPr/>
          <p:nvPr/>
        </p:nvSpPr>
        <p:spPr>
          <a:xfrm>
            <a:off x="8604897" y="1240156"/>
            <a:ext cx="3208017" cy="486346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F4197FE0-6CBE-77B5-134E-0000E817F6DE}"/>
              </a:ext>
            </a:extLst>
          </p:cNvPr>
          <p:cNvSpPr>
            <a:spLocks noGrp="1"/>
          </p:cNvSpPr>
          <p:nvPr>
            <p:ph type="title"/>
          </p:nvPr>
        </p:nvSpPr>
        <p:spPr/>
        <p:txBody>
          <a:bodyPr/>
          <a:lstStyle/>
          <a:p>
            <a:r>
              <a:rPr lang="zh-CN" altLang="en-US" dirty="0"/>
              <a:t>晶格动力学研究的历史</a:t>
            </a:r>
            <a:endParaRPr lang="en-US" dirty="0"/>
          </a:p>
        </p:txBody>
      </p:sp>
      <p:graphicFrame>
        <p:nvGraphicFramePr>
          <p:cNvPr id="4" name="表格 3">
            <a:extLst>
              <a:ext uri="{FF2B5EF4-FFF2-40B4-BE49-F238E27FC236}">
                <a16:creationId xmlns:a16="http://schemas.microsoft.com/office/drawing/2014/main" id="{B4121629-1BC4-4475-EB8D-02309F38C359}"/>
              </a:ext>
            </a:extLst>
          </p:cNvPr>
          <p:cNvGraphicFramePr>
            <a:graphicFrameLocks noGrp="1"/>
          </p:cNvGraphicFramePr>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14</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
        <p:nvSpPr>
          <p:cNvPr id="7" name="箭头: 五边形 6">
            <a:extLst>
              <a:ext uri="{FF2B5EF4-FFF2-40B4-BE49-F238E27FC236}">
                <a16:creationId xmlns:a16="http://schemas.microsoft.com/office/drawing/2014/main" id="{DBCB42BA-3739-8B45-581F-0869FB134371}"/>
              </a:ext>
            </a:extLst>
          </p:cNvPr>
          <p:cNvSpPr/>
          <p:nvPr/>
        </p:nvSpPr>
        <p:spPr>
          <a:xfrm>
            <a:off x="514350" y="3429000"/>
            <a:ext cx="984250" cy="352424"/>
          </a:xfrm>
          <a:prstGeom prst="homePlat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V 形 9">
            <a:extLst>
              <a:ext uri="{FF2B5EF4-FFF2-40B4-BE49-F238E27FC236}">
                <a16:creationId xmlns:a16="http://schemas.microsoft.com/office/drawing/2014/main" id="{DD9EF777-6EF7-21B9-B912-715152A90954}"/>
              </a:ext>
            </a:extLst>
          </p:cNvPr>
          <p:cNvSpPr/>
          <p:nvPr/>
        </p:nvSpPr>
        <p:spPr>
          <a:xfrm>
            <a:off x="1498600" y="3429000"/>
            <a:ext cx="5905500" cy="352424"/>
          </a:xfrm>
          <a:prstGeom prst="chevron">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箭头: V 形 11">
            <a:extLst>
              <a:ext uri="{FF2B5EF4-FFF2-40B4-BE49-F238E27FC236}">
                <a16:creationId xmlns:a16="http://schemas.microsoft.com/office/drawing/2014/main" id="{5D634259-04A1-6E62-275A-97242E6FC6E6}"/>
              </a:ext>
            </a:extLst>
          </p:cNvPr>
          <p:cNvSpPr/>
          <p:nvPr/>
        </p:nvSpPr>
        <p:spPr>
          <a:xfrm>
            <a:off x="7404100" y="3429000"/>
            <a:ext cx="1060450" cy="352424"/>
          </a:xfrm>
          <a:prstGeom prst="chevron">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7" name="直接连接符 16">
            <a:extLst>
              <a:ext uri="{FF2B5EF4-FFF2-40B4-BE49-F238E27FC236}">
                <a16:creationId xmlns:a16="http://schemas.microsoft.com/office/drawing/2014/main" id="{E9C48621-C2B5-59DD-2085-8D1288EA8D5B}"/>
              </a:ext>
            </a:extLst>
          </p:cNvPr>
          <p:cNvCxnSpPr>
            <a:cxnSpLocks/>
          </p:cNvCxnSpPr>
          <p:nvPr/>
        </p:nvCxnSpPr>
        <p:spPr>
          <a:xfrm flipV="1">
            <a:off x="650240" y="3025774"/>
            <a:ext cx="0" cy="755650"/>
          </a:xfrm>
          <a:prstGeom prst="line">
            <a:avLst/>
          </a:prstGeom>
          <a:ln w="19050"/>
        </p:spPr>
        <p:style>
          <a:lnRef idx="1">
            <a:schemeClr val="dk1"/>
          </a:lnRef>
          <a:fillRef idx="0">
            <a:schemeClr val="dk1"/>
          </a:fillRef>
          <a:effectRef idx="0">
            <a:schemeClr val="dk1"/>
          </a:effectRef>
          <a:fontRef idx="minor">
            <a:schemeClr val="tx1"/>
          </a:fontRef>
        </p:style>
      </p:cxnSp>
      <p:sp>
        <p:nvSpPr>
          <p:cNvPr id="22" name="文本框 21">
            <a:extLst>
              <a:ext uri="{FF2B5EF4-FFF2-40B4-BE49-F238E27FC236}">
                <a16:creationId xmlns:a16="http://schemas.microsoft.com/office/drawing/2014/main" id="{A0001C79-F14B-F77D-9010-BABBD9A5386A}"/>
              </a:ext>
            </a:extLst>
          </p:cNvPr>
          <p:cNvSpPr txBox="1"/>
          <p:nvPr/>
        </p:nvSpPr>
        <p:spPr>
          <a:xfrm>
            <a:off x="271889" y="1595181"/>
            <a:ext cx="677108" cy="1385957"/>
          </a:xfrm>
          <a:prstGeom prst="rect">
            <a:avLst/>
          </a:prstGeom>
          <a:noFill/>
        </p:spPr>
        <p:txBody>
          <a:bodyPr vert="eaVert" wrap="none" rtlCol="0">
            <a:spAutoFit/>
          </a:bodyPr>
          <a:lstStyle/>
          <a:p>
            <a:r>
              <a:rPr lang="en-US" altLang="zh-CN" sz="1600" dirty="0"/>
              <a:t>1819</a:t>
            </a:r>
          </a:p>
          <a:p>
            <a:r>
              <a:rPr lang="zh-CN" altLang="en-US" sz="1600" dirty="0"/>
              <a:t>杜隆</a:t>
            </a:r>
            <a:r>
              <a:rPr lang="en-US" altLang="zh-CN" sz="1600" dirty="0"/>
              <a:t>-</a:t>
            </a:r>
            <a:r>
              <a:rPr lang="zh-CN" altLang="en-US" sz="1600" dirty="0"/>
              <a:t>珀蒂定律</a:t>
            </a:r>
          </a:p>
        </p:txBody>
      </p:sp>
      <p:sp>
        <p:nvSpPr>
          <p:cNvPr id="29" name="文本框 28">
            <a:extLst>
              <a:ext uri="{FF2B5EF4-FFF2-40B4-BE49-F238E27FC236}">
                <a16:creationId xmlns:a16="http://schemas.microsoft.com/office/drawing/2014/main" id="{A9716C37-B21C-53AC-B864-87582E68C6D5}"/>
              </a:ext>
            </a:extLst>
          </p:cNvPr>
          <p:cNvSpPr txBox="1"/>
          <p:nvPr/>
        </p:nvSpPr>
        <p:spPr>
          <a:xfrm>
            <a:off x="8723806" y="1781009"/>
            <a:ext cx="2985428" cy="4000830"/>
          </a:xfrm>
          <a:prstGeom prst="rect">
            <a:avLst/>
          </a:prstGeom>
          <a:noFill/>
        </p:spPr>
        <p:txBody>
          <a:bodyPr wrap="square" lIns="36000" tIns="36000" rIns="36000" bIns="36000">
            <a:spAutoFit/>
          </a:bodyPr>
          <a:lstStyle/>
          <a:p>
            <a:pPr>
              <a:lnSpc>
                <a:spcPct val="110000"/>
              </a:lnSpc>
              <a:spcAft>
                <a:spcPts val="1200"/>
              </a:spcAft>
            </a:pPr>
            <a:r>
              <a:rPr lang="zh-CN" altLang="en-US" sz="1600" b="0" i="0" dirty="0">
                <a:solidFill>
                  <a:schemeClr val="tx1"/>
                </a:solidFill>
                <a:effectLst/>
                <a:latin typeface="Calibri" panose="020F0502020204030204" pitchFamily="34" charset="0"/>
                <a:ea typeface="黑体" panose="02010609060101010101" pitchFamily="49" charset="-122"/>
              </a:rPr>
              <a:t>随着密度泛函理论（</a:t>
            </a:r>
            <a:r>
              <a:rPr lang="en-US" altLang="zh-CN" sz="1600" b="0" i="0" dirty="0">
                <a:solidFill>
                  <a:schemeClr val="tx1"/>
                </a:solidFill>
                <a:effectLst/>
                <a:latin typeface="Calibri" panose="020F0502020204030204" pitchFamily="34" charset="0"/>
                <a:ea typeface="黑体" panose="02010609060101010101" pitchFamily="49" charset="-122"/>
              </a:rPr>
              <a:t>DFT</a:t>
            </a:r>
            <a:r>
              <a:rPr lang="zh-CN" altLang="en-US" sz="1600" b="0" i="0" dirty="0">
                <a:solidFill>
                  <a:schemeClr val="tx1"/>
                </a:solidFill>
                <a:effectLst/>
                <a:latin typeface="Calibri" panose="020F0502020204030204" pitchFamily="34" charset="0"/>
                <a:ea typeface="黑体" panose="02010609060101010101" pitchFamily="49" charset="-122"/>
              </a:rPr>
              <a:t>）和密度泛函微扰理论（</a:t>
            </a:r>
            <a:r>
              <a:rPr lang="en-US" altLang="zh-CN" sz="1600" b="0" i="0" dirty="0">
                <a:solidFill>
                  <a:schemeClr val="tx1"/>
                </a:solidFill>
                <a:effectLst/>
                <a:latin typeface="Calibri" panose="020F0502020204030204" pitchFamily="34" charset="0"/>
                <a:ea typeface="黑体" panose="02010609060101010101" pitchFamily="49" charset="-122"/>
              </a:rPr>
              <a:t>DFPT</a:t>
            </a:r>
            <a:r>
              <a:rPr lang="zh-CN" altLang="en-US" sz="1600" b="0" i="0" dirty="0">
                <a:solidFill>
                  <a:schemeClr val="tx1"/>
                </a:solidFill>
                <a:effectLst/>
                <a:latin typeface="Calibri" panose="020F0502020204030204" pitchFamily="34" charset="0"/>
                <a:ea typeface="黑体" panose="02010609060101010101" pitchFamily="49" charset="-122"/>
              </a:rPr>
              <a:t>）的发展，力常数、声子色散、介电响应乃至电子</a:t>
            </a:r>
            <a:r>
              <a:rPr lang="en-US" altLang="zh-CN" sz="1600" b="0" i="0" dirty="0">
                <a:solidFill>
                  <a:schemeClr val="tx1"/>
                </a:solidFill>
                <a:effectLst/>
                <a:latin typeface="Calibri" panose="020F0502020204030204" pitchFamily="34" charset="0"/>
                <a:ea typeface="黑体" panose="02010609060101010101" pitchFamily="49" charset="-122"/>
              </a:rPr>
              <a:t>–</a:t>
            </a:r>
            <a:r>
              <a:rPr lang="zh-CN" altLang="en-US" sz="1600" b="0" i="0" dirty="0">
                <a:solidFill>
                  <a:schemeClr val="tx1"/>
                </a:solidFill>
                <a:effectLst/>
                <a:latin typeface="Calibri" panose="020F0502020204030204" pitchFamily="34" charset="0"/>
                <a:ea typeface="黑体" panose="02010609060101010101" pitchFamily="49" charset="-122"/>
              </a:rPr>
              <a:t>声子耦合等晶格动力学参数能直接从电子结构计算得到。</a:t>
            </a:r>
            <a:endParaRPr lang="en-US" altLang="zh-CN" sz="1600" b="0" i="0" dirty="0">
              <a:solidFill>
                <a:schemeClr val="tx1"/>
              </a:solidFill>
              <a:effectLst/>
              <a:latin typeface="Calibri" panose="020F0502020204030204" pitchFamily="34" charset="0"/>
              <a:ea typeface="黑体" panose="02010609060101010101" pitchFamily="49" charset="-122"/>
            </a:endParaRPr>
          </a:p>
          <a:p>
            <a:pPr>
              <a:lnSpc>
                <a:spcPct val="110000"/>
              </a:lnSpc>
              <a:spcAft>
                <a:spcPts val="1200"/>
              </a:spcAft>
            </a:pPr>
            <a:r>
              <a:rPr lang="zh-CN" altLang="en-US" sz="1600" b="0" i="0" dirty="0">
                <a:solidFill>
                  <a:schemeClr val="tx1"/>
                </a:solidFill>
                <a:effectLst/>
                <a:latin typeface="Calibri" panose="020F0502020204030204" pitchFamily="34" charset="0"/>
                <a:ea typeface="黑体" panose="02010609060101010101" pitchFamily="49" charset="-122"/>
              </a:rPr>
              <a:t>飞秒激光泵浦结合超快</a:t>
            </a:r>
            <a:r>
              <a:rPr lang="en-US" altLang="zh-CN" sz="1600" b="0" i="0" dirty="0">
                <a:solidFill>
                  <a:schemeClr val="tx1"/>
                </a:solidFill>
                <a:effectLst/>
                <a:latin typeface="Calibri" panose="020F0502020204030204" pitchFamily="34" charset="0"/>
                <a:ea typeface="黑体" panose="02010609060101010101" pitchFamily="49" charset="-122"/>
              </a:rPr>
              <a:t>X</a:t>
            </a:r>
            <a:r>
              <a:rPr lang="zh-CN" altLang="en-US" sz="1600" b="0" i="0" dirty="0">
                <a:solidFill>
                  <a:schemeClr val="tx1"/>
                </a:solidFill>
                <a:effectLst/>
                <a:latin typeface="Calibri" panose="020F0502020204030204" pitchFamily="34" charset="0"/>
                <a:ea typeface="黑体" panose="02010609060101010101" pitchFamily="49" charset="-122"/>
              </a:rPr>
              <a:t>射线衍射、电子衍射等技术，使人们可以直接观测原子位置随时间的演化，例如实时追踪</a:t>
            </a:r>
            <a:r>
              <a:rPr lang="en-US" altLang="zh-CN" sz="1600" b="0" i="0" dirty="0">
                <a:solidFill>
                  <a:schemeClr val="tx1"/>
                </a:solidFill>
                <a:effectLst/>
                <a:latin typeface="Calibri" panose="020F0502020204030204" pitchFamily="34" charset="0"/>
                <a:ea typeface="黑体" panose="02010609060101010101" pitchFamily="49" charset="-122"/>
              </a:rPr>
              <a:t>GaAs</a:t>
            </a:r>
            <a:r>
              <a:rPr lang="zh-CN" altLang="en-US" sz="1600" b="0" i="0" dirty="0">
                <a:solidFill>
                  <a:schemeClr val="tx1"/>
                </a:solidFill>
                <a:effectLst/>
                <a:latin typeface="Calibri" panose="020F0502020204030204" pitchFamily="34" charset="0"/>
                <a:ea typeface="黑体" panose="02010609060101010101" pitchFamily="49" charset="-122"/>
              </a:rPr>
              <a:t>中相干声学声子的传播。超快实验在时间和空间分辨率上的进一步提升，使得我们能够研究相干声子、非平衡晶格以及光诱导结构相变等崭新的物理过程。</a:t>
            </a:r>
          </a:p>
        </p:txBody>
      </p:sp>
      <p:sp>
        <p:nvSpPr>
          <p:cNvPr id="5" name="文本框 4">
            <a:extLst>
              <a:ext uri="{FF2B5EF4-FFF2-40B4-BE49-F238E27FC236}">
                <a16:creationId xmlns:a16="http://schemas.microsoft.com/office/drawing/2014/main" id="{BE4796A1-70A2-0091-8230-50209A140EE8}"/>
              </a:ext>
            </a:extLst>
          </p:cNvPr>
          <p:cNvSpPr txBox="1"/>
          <p:nvPr/>
        </p:nvSpPr>
        <p:spPr>
          <a:xfrm>
            <a:off x="1102055" y="3070860"/>
            <a:ext cx="652743" cy="369332"/>
          </a:xfrm>
          <a:prstGeom prst="rect">
            <a:avLst/>
          </a:prstGeom>
          <a:noFill/>
        </p:spPr>
        <p:txBody>
          <a:bodyPr wrap="none" rtlCol="0">
            <a:spAutoFit/>
          </a:bodyPr>
          <a:lstStyle/>
          <a:p>
            <a:r>
              <a:rPr lang="en-US" altLang="zh-CN" dirty="0"/>
              <a:t>1900</a:t>
            </a:r>
            <a:endParaRPr lang="zh-CN" altLang="en-US" dirty="0"/>
          </a:p>
        </p:txBody>
      </p:sp>
      <p:sp>
        <p:nvSpPr>
          <p:cNvPr id="8" name="文本框 7">
            <a:extLst>
              <a:ext uri="{FF2B5EF4-FFF2-40B4-BE49-F238E27FC236}">
                <a16:creationId xmlns:a16="http://schemas.microsoft.com/office/drawing/2014/main" id="{CA41BC9E-C14E-BD69-D346-AFD933016A00}"/>
              </a:ext>
            </a:extLst>
          </p:cNvPr>
          <p:cNvSpPr txBox="1"/>
          <p:nvPr/>
        </p:nvSpPr>
        <p:spPr>
          <a:xfrm>
            <a:off x="7025384" y="3070860"/>
            <a:ext cx="652743" cy="369332"/>
          </a:xfrm>
          <a:prstGeom prst="rect">
            <a:avLst/>
          </a:prstGeom>
          <a:noFill/>
        </p:spPr>
        <p:txBody>
          <a:bodyPr wrap="none" rtlCol="0">
            <a:spAutoFit/>
          </a:bodyPr>
          <a:lstStyle/>
          <a:p>
            <a:r>
              <a:rPr lang="en-US" altLang="zh-CN" dirty="0"/>
              <a:t>2000</a:t>
            </a:r>
            <a:endParaRPr lang="zh-CN" altLang="en-US" dirty="0"/>
          </a:p>
        </p:txBody>
      </p:sp>
      <p:cxnSp>
        <p:nvCxnSpPr>
          <p:cNvPr id="9" name="直接连接符 8">
            <a:extLst>
              <a:ext uri="{FF2B5EF4-FFF2-40B4-BE49-F238E27FC236}">
                <a16:creationId xmlns:a16="http://schemas.microsoft.com/office/drawing/2014/main" id="{2CA58387-200F-5FB8-2047-6626541104C8}"/>
              </a:ext>
            </a:extLst>
          </p:cNvPr>
          <p:cNvCxnSpPr>
            <a:cxnSpLocks/>
          </p:cNvCxnSpPr>
          <p:nvPr/>
        </p:nvCxnSpPr>
        <p:spPr>
          <a:xfrm flipV="1">
            <a:off x="1427480" y="3781424"/>
            <a:ext cx="0" cy="287656"/>
          </a:xfrm>
          <a:prstGeom prst="line">
            <a:avLst/>
          </a:prstGeom>
          <a:ln w="19050"/>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3026A0D7-CBBC-81AF-9CC2-BD72A1FDEE9F}"/>
              </a:ext>
            </a:extLst>
          </p:cNvPr>
          <p:cNvSpPr txBox="1"/>
          <p:nvPr/>
        </p:nvSpPr>
        <p:spPr>
          <a:xfrm>
            <a:off x="482766" y="4073811"/>
            <a:ext cx="1808779" cy="584775"/>
          </a:xfrm>
          <a:prstGeom prst="rect">
            <a:avLst/>
          </a:prstGeom>
          <a:noFill/>
        </p:spPr>
        <p:txBody>
          <a:bodyPr wrap="square">
            <a:spAutoFit/>
          </a:bodyPr>
          <a:lstStyle/>
          <a:p>
            <a:r>
              <a:rPr lang="en-US" altLang="zh-CN" sz="1600" dirty="0"/>
              <a:t>1900 – 1905</a:t>
            </a:r>
          </a:p>
          <a:p>
            <a:r>
              <a:rPr lang="zh-CN" altLang="en-US" sz="1600" dirty="0"/>
              <a:t>量子论的建立</a:t>
            </a:r>
            <a:endParaRPr lang="en-US" altLang="zh-CN" sz="1600" dirty="0"/>
          </a:p>
        </p:txBody>
      </p:sp>
      <p:cxnSp>
        <p:nvCxnSpPr>
          <p:cNvPr id="3" name="直接连接符 2">
            <a:extLst>
              <a:ext uri="{FF2B5EF4-FFF2-40B4-BE49-F238E27FC236}">
                <a16:creationId xmlns:a16="http://schemas.microsoft.com/office/drawing/2014/main" id="{F3CDDE86-5181-3EF7-72DD-F887D2BF3F71}"/>
              </a:ext>
            </a:extLst>
          </p:cNvPr>
          <p:cNvCxnSpPr>
            <a:cxnSpLocks/>
          </p:cNvCxnSpPr>
          <p:nvPr/>
        </p:nvCxnSpPr>
        <p:spPr>
          <a:xfrm flipV="1">
            <a:off x="2001178" y="3015688"/>
            <a:ext cx="0" cy="755650"/>
          </a:xfrm>
          <a:prstGeom prst="line">
            <a:avLst/>
          </a:prstGeom>
          <a:ln w="19050"/>
        </p:spPr>
        <p:style>
          <a:lnRef idx="1">
            <a:schemeClr val="dk1"/>
          </a:lnRef>
          <a:fillRef idx="0">
            <a:schemeClr val="dk1"/>
          </a:fillRef>
          <a:effectRef idx="0">
            <a:schemeClr val="dk1"/>
          </a:effectRef>
          <a:fontRef idx="minor">
            <a:schemeClr val="tx1"/>
          </a:fontRef>
        </p:style>
      </p:cxnSp>
      <p:cxnSp>
        <p:nvCxnSpPr>
          <p:cNvPr id="6" name="直接连接符 5">
            <a:extLst>
              <a:ext uri="{FF2B5EF4-FFF2-40B4-BE49-F238E27FC236}">
                <a16:creationId xmlns:a16="http://schemas.microsoft.com/office/drawing/2014/main" id="{C2414337-ED0B-FBB9-E660-33F55610FB8D}"/>
              </a:ext>
            </a:extLst>
          </p:cNvPr>
          <p:cNvCxnSpPr>
            <a:cxnSpLocks/>
          </p:cNvCxnSpPr>
          <p:nvPr/>
        </p:nvCxnSpPr>
        <p:spPr>
          <a:xfrm flipV="1">
            <a:off x="2753483" y="3025774"/>
            <a:ext cx="0" cy="1050926"/>
          </a:xfrm>
          <a:prstGeom prst="line">
            <a:avLst/>
          </a:prstGeom>
          <a:ln w="19050"/>
        </p:spPr>
        <p:style>
          <a:lnRef idx="1">
            <a:schemeClr val="dk1"/>
          </a:lnRef>
          <a:fillRef idx="0">
            <a:schemeClr val="dk1"/>
          </a:fillRef>
          <a:effectRef idx="0">
            <a:schemeClr val="dk1"/>
          </a:effectRef>
          <a:fontRef idx="minor">
            <a:schemeClr val="tx1"/>
          </a:fontRef>
        </p:style>
      </p:cxnSp>
      <p:sp>
        <p:nvSpPr>
          <p:cNvPr id="13" name="文本框 12">
            <a:extLst>
              <a:ext uri="{FF2B5EF4-FFF2-40B4-BE49-F238E27FC236}">
                <a16:creationId xmlns:a16="http://schemas.microsoft.com/office/drawing/2014/main" id="{7123B5CC-FEA6-8C8D-7920-F4ECAEBFCB56}"/>
              </a:ext>
            </a:extLst>
          </p:cNvPr>
          <p:cNvSpPr txBox="1"/>
          <p:nvPr/>
        </p:nvSpPr>
        <p:spPr>
          <a:xfrm>
            <a:off x="1662624" y="1595181"/>
            <a:ext cx="677108" cy="1385957"/>
          </a:xfrm>
          <a:prstGeom prst="rect">
            <a:avLst/>
          </a:prstGeom>
          <a:noFill/>
        </p:spPr>
        <p:txBody>
          <a:bodyPr vert="eaVert" wrap="square">
            <a:spAutoFit/>
          </a:bodyPr>
          <a:lstStyle/>
          <a:p>
            <a:r>
              <a:rPr lang="en-US" altLang="zh-CN" sz="1600" dirty="0"/>
              <a:t>1907</a:t>
            </a:r>
          </a:p>
          <a:p>
            <a:r>
              <a:rPr lang="zh-CN" altLang="zh-CN" sz="1600" dirty="0"/>
              <a:t>爱因斯坦模型</a:t>
            </a:r>
            <a:endParaRPr lang="en-US" altLang="zh-CN" sz="1600" dirty="0"/>
          </a:p>
        </p:txBody>
      </p:sp>
      <p:sp>
        <p:nvSpPr>
          <p:cNvPr id="23" name="文本框 22">
            <a:extLst>
              <a:ext uri="{FF2B5EF4-FFF2-40B4-BE49-F238E27FC236}">
                <a16:creationId xmlns:a16="http://schemas.microsoft.com/office/drawing/2014/main" id="{31BF99CF-5BE8-887A-169A-8325085B2511}"/>
              </a:ext>
            </a:extLst>
          </p:cNvPr>
          <p:cNvSpPr txBox="1"/>
          <p:nvPr/>
        </p:nvSpPr>
        <p:spPr>
          <a:xfrm>
            <a:off x="2291545" y="1806340"/>
            <a:ext cx="1169551" cy="1325563"/>
          </a:xfrm>
          <a:prstGeom prst="rect">
            <a:avLst/>
          </a:prstGeom>
          <a:noFill/>
        </p:spPr>
        <p:txBody>
          <a:bodyPr vert="eaVert" wrap="square">
            <a:spAutoFit/>
          </a:bodyPr>
          <a:lstStyle/>
          <a:p>
            <a:r>
              <a:rPr lang="en-US" altLang="zh-CN" sz="1600" dirty="0"/>
              <a:t>1912</a:t>
            </a:r>
          </a:p>
          <a:p>
            <a:r>
              <a:rPr lang="zh-CN" altLang="en-US" sz="1600" dirty="0"/>
              <a:t>德拜模型</a:t>
            </a:r>
            <a:endParaRPr lang="en-US" altLang="zh-CN" sz="1600" dirty="0"/>
          </a:p>
          <a:p>
            <a:r>
              <a:rPr lang="zh-CN" altLang="en-US" sz="1600" dirty="0"/>
              <a:t>波恩</a:t>
            </a:r>
            <a:r>
              <a:rPr lang="en-US" altLang="zh-CN" sz="1600" dirty="0"/>
              <a:t>-</a:t>
            </a:r>
            <a:r>
              <a:rPr lang="zh-CN" altLang="en-US" sz="1600" dirty="0"/>
              <a:t>冯</a:t>
            </a:r>
            <a:r>
              <a:rPr lang="en-US" altLang="zh-CN" sz="1600" dirty="0"/>
              <a:t>·</a:t>
            </a:r>
            <a:r>
              <a:rPr lang="zh-CN" altLang="en-US" sz="1600" dirty="0"/>
              <a:t>卡门晶格理论</a:t>
            </a:r>
            <a:endParaRPr lang="en-US" altLang="zh-CN" sz="1600" dirty="0"/>
          </a:p>
        </p:txBody>
      </p:sp>
      <p:cxnSp>
        <p:nvCxnSpPr>
          <p:cNvPr id="11" name="直接连接符 10">
            <a:extLst>
              <a:ext uri="{FF2B5EF4-FFF2-40B4-BE49-F238E27FC236}">
                <a16:creationId xmlns:a16="http://schemas.microsoft.com/office/drawing/2014/main" id="{E0E5F481-9829-D9CB-2F46-36B7CD916AAE}"/>
              </a:ext>
            </a:extLst>
          </p:cNvPr>
          <p:cNvCxnSpPr>
            <a:cxnSpLocks/>
          </p:cNvCxnSpPr>
          <p:nvPr/>
        </p:nvCxnSpPr>
        <p:spPr>
          <a:xfrm flipV="1">
            <a:off x="3667760" y="3025774"/>
            <a:ext cx="0" cy="755650"/>
          </a:xfrm>
          <a:prstGeom prst="line">
            <a:avLst/>
          </a:prstGeom>
          <a:ln w="19050"/>
        </p:spPr>
        <p:style>
          <a:lnRef idx="1">
            <a:schemeClr val="dk1"/>
          </a:lnRef>
          <a:fillRef idx="0">
            <a:schemeClr val="dk1"/>
          </a:fillRef>
          <a:effectRef idx="0">
            <a:schemeClr val="dk1"/>
          </a:effectRef>
          <a:fontRef idx="minor">
            <a:schemeClr val="tx1"/>
          </a:fontRef>
        </p:style>
      </p:cxnSp>
      <p:sp>
        <p:nvSpPr>
          <p:cNvPr id="26" name="文本框 25">
            <a:extLst>
              <a:ext uri="{FF2B5EF4-FFF2-40B4-BE49-F238E27FC236}">
                <a16:creationId xmlns:a16="http://schemas.microsoft.com/office/drawing/2014/main" id="{9A40EDAB-A489-E0A7-C32E-85DDE2177347}"/>
              </a:ext>
            </a:extLst>
          </p:cNvPr>
          <p:cNvSpPr txBox="1"/>
          <p:nvPr/>
        </p:nvSpPr>
        <p:spPr>
          <a:xfrm>
            <a:off x="3504466" y="4134340"/>
            <a:ext cx="677108" cy="1862108"/>
          </a:xfrm>
          <a:prstGeom prst="rect">
            <a:avLst/>
          </a:prstGeom>
          <a:noFill/>
        </p:spPr>
        <p:txBody>
          <a:bodyPr vert="eaVert" wrap="square">
            <a:spAutoFit/>
          </a:bodyPr>
          <a:lstStyle/>
          <a:p>
            <a:r>
              <a:rPr lang="en-US" altLang="zh-CN" sz="1600" dirty="0"/>
              <a:t>1929-1932</a:t>
            </a:r>
          </a:p>
          <a:p>
            <a:r>
              <a:rPr lang="zh-CN" altLang="en-US" sz="1600" dirty="0"/>
              <a:t>“声子”概念形成</a:t>
            </a:r>
            <a:endParaRPr lang="en-US" altLang="zh-CN" sz="1600" dirty="0"/>
          </a:p>
        </p:txBody>
      </p:sp>
      <p:cxnSp>
        <p:nvCxnSpPr>
          <p:cNvPr id="28" name="直接连接符 27">
            <a:extLst>
              <a:ext uri="{FF2B5EF4-FFF2-40B4-BE49-F238E27FC236}">
                <a16:creationId xmlns:a16="http://schemas.microsoft.com/office/drawing/2014/main" id="{AF8B4E8D-823B-4298-714A-836DE7DEBED8}"/>
              </a:ext>
            </a:extLst>
          </p:cNvPr>
          <p:cNvCxnSpPr>
            <a:cxnSpLocks/>
          </p:cNvCxnSpPr>
          <p:nvPr/>
        </p:nvCxnSpPr>
        <p:spPr>
          <a:xfrm flipV="1">
            <a:off x="3843020" y="3781424"/>
            <a:ext cx="0" cy="287656"/>
          </a:xfrm>
          <a:prstGeom prst="line">
            <a:avLst/>
          </a:prstGeom>
          <a:ln w="19050"/>
        </p:spPr>
        <p:style>
          <a:lnRef idx="1">
            <a:schemeClr val="dk1"/>
          </a:lnRef>
          <a:fillRef idx="0">
            <a:schemeClr val="dk1"/>
          </a:fillRef>
          <a:effectRef idx="0">
            <a:schemeClr val="dk1"/>
          </a:effectRef>
          <a:fontRef idx="minor">
            <a:schemeClr val="tx1"/>
          </a:fontRef>
        </p:style>
      </p:cxnSp>
      <p:sp>
        <p:nvSpPr>
          <p:cNvPr id="32" name="文本框 31">
            <a:extLst>
              <a:ext uri="{FF2B5EF4-FFF2-40B4-BE49-F238E27FC236}">
                <a16:creationId xmlns:a16="http://schemas.microsoft.com/office/drawing/2014/main" id="{0F90DAAA-5FF8-BD34-7AA8-FE99EC41E2FE}"/>
              </a:ext>
            </a:extLst>
          </p:cNvPr>
          <p:cNvSpPr txBox="1"/>
          <p:nvPr/>
        </p:nvSpPr>
        <p:spPr>
          <a:xfrm>
            <a:off x="2431892" y="4139564"/>
            <a:ext cx="677108" cy="1851660"/>
          </a:xfrm>
          <a:prstGeom prst="rect">
            <a:avLst/>
          </a:prstGeom>
          <a:noFill/>
        </p:spPr>
        <p:txBody>
          <a:bodyPr vert="eaVert" wrap="square">
            <a:spAutoFit/>
          </a:bodyPr>
          <a:lstStyle/>
          <a:p>
            <a:r>
              <a:rPr lang="en-US" altLang="zh-CN" sz="1600" dirty="0"/>
              <a:t>1911</a:t>
            </a:r>
          </a:p>
          <a:p>
            <a:r>
              <a:rPr lang="zh-CN" altLang="en-US" sz="1600" dirty="0"/>
              <a:t>第一次索尔维会议</a:t>
            </a:r>
            <a:endParaRPr lang="en-US" altLang="zh-CN" sz="1600" dirty="0"/>
          </a:p>
        </p:txBody>
      </p:sp>
      <p:sp>
        <p:nvSpPr>
          <p:cNvPr id="36" name="文本框 35">
            <a:extLst>
              <a:ext uri="{FF2B5EF4-FFF2-40B4-BE49-F238E27FC236}">
                <a16:creationId xmlns:a16="http://schemas.microsoft.com/office/drawing/2014/main" id="{B8F5CD4B-7237-A170-2456-5C86349F220C}"/>
              </a:ext>
            </a:extLst>
          </p:cNvPr>
          <p:cNvSpPr txBox="1"/>
          <p:nvPr/>
        </p:nvSpPr>
        <p:spPr>
          <a:xfrm>
            <a:off x="3229004" y="2104000"/>
            <a:ext cx="923330" cy="1172736"/>
          </a:xfrm>
          <a:prstGeom prst="rect">
            <a:avLst/>
          </a:prstGeom>
          <a:noFill/>
        </p:spPr>
        <p:txBody>
          <a:bodyPr vert="eaVert" wrap="square">
            <a:spAutoFit/>
          </a:bodyPr>
          <a:lstStyle/>
          <a:p>
            <a:r>
              <a:rPr lang="en-US" altLang="zh-CN" sz="1600" dirty="0"/>
              <a:t>1928</a:t>
            </a:r>
          </a:p>
          <a:p>
            <a:r>
              <a:rPr lang="zh-CN" altLang="en-US" sz="1600" dirty="0"/>
              <a:t>拉曼散射</a:t>
            </a:r>
            <a:endParaRPr lang="en-US" altLang="zh-CN" sz="1600" dirty="0"/>
          </a:p>
        </p:txBody>
      </p:sp>
      <p:cxnSp>
        <p:nvCxnSpPr>
          <p:cNvPr id="14" name="直接连接符 13">
            <a:extLst>
              <a:ext uri="{FF2B5EF4-FFF2-40B4-BE49-F238E27FC236}">
                <a16:creationId xmlns:a16="http://schemas.microsoft.com/office/drawing/2014/main" id="{22D1AACE-847D-4D1C-B9EB-8FF3526DFC65}"/>
              </a:ext>
            </a:extLst>
          </p:cNvPr>
          <p:cNvCxnSpPr>
            <a:cxnSpLocks/>
          </p:cNvCxnSpPr>
          <p:nvPr/>
        </p:nvCxnSpPr>
        <p:spPr>
          <a:xfrm flipV="1">
            <a:off x="4726940" y="3025774"/>
            <a:ext cx="0" cy="755650"/>
          </a:xfrm>
          <a:prstGeom prst="line">
            <a:avLst/>
          </a:prstGeom>
          <a:ln w="19050"/>
        </p:spPr>
        <p:style>
          <a:lnRef idx="1">
            <a:schemeClr val="dk1"/>
          </a:lnRef>
          <a:fillRef idx="0">
            <a:schemeClr val="dk1"/>
          </a:fillRef>
          <a:effectRef idx="0">
            <a:schemeClr val="dk1"/>
          </a:effectRef>
          <a:fontRef idx="minor">
            <a:schemeClr val="tx1"/>
          </a:fontRef>
        </p:style>
      </p:cxnSp>
      <p:sp>
        <p:nvSpPr>
          <p:cNvPr id="18" name="文本框 17">
            <a:extLst>
              <a:ext uri="{FF2B5EF4-FFF2-40B4-BE49-F238E27FC236}">
                <a16:creationId xmlns:a16="http://schemas.microsoft.com/office/drawing/2014/main" id="{8796CC51-E390-41CA-5B47-F6239A3CD76F}"/>
              </a:ext>
            </a:extLst>
          </p:cNvPr>
          <p:cNvSpPr txBox="1"/>
          <p:nvPr/>
        </p:nvSpPr>
        <p:spPr>
          <a:xfrm>
            <a:off x="4288512" y="1611310"/>
            <a:ext cx="923330" cy="1473622"/>
          </a:xfrm>
          <a:prstGeom prst="rect">
            <a:avLst/>
          </a:prstGeom>
          <a:noFill/>
        </p:spPr>
        <p:txBody>
          <a:bodyPr vert="eaVert" wrap="square">
            <a:spAutoFit/>
          </a:bodyPr>
          <a:lstStyle/>
          <a:p>
            <a:r>
              <a:rPr lang="en-US" altLang="zh-CN" sz="1600" dirty="0"/>
              <a:t>1954</a:t>
            </a:r>
          </a:p>
          <a:p>
            <a:r>
              <a:rPr lang="zh-CN" altLang="en-US" sz="1600" dirty="0"/>
              <a:t>波恩</a:t>
            </a:r>
            <a:r>
              <a:rPr lang="en-US" altLang="zh-CN" sz="1600" dirty="0"/>
              <a:t>-</a:t>
            </a:r>
            <a:r>
              <a:rPr lang="zh-CN" altLang="en-US" sz="1600" dirty="0"/>
              <a:t>黄</a:t>
            </a:r>
            <a:r>
              <a:rPr lang="en-US" altLang="zh-CN" sz="1600" dirty="0"/>
              <a:t>《</a:t>
            </a:r>
            <a:r>
              <a:rPr lang="zh-CN" altLang="en-US" sz="1600" dirty="0"/>
              <a:t>晶格动力学理论</a:t>
            </a:r>
            <a:r>
              <a:rPr lang="en-US" altLang="zh-CN" sz="1600" dirty="0"/>
              <a:t>》</a:t>
            </a:r>
          </a:p>
        </p:txBody>
      </p:sp>
      <p:cxnSp>
        <p:nvCxnSpPr>
          <p:cNvPr id="15" name="直接连接符 14">
            <a:extLst>
              <a:ext uri="{FF2B5EF4-FFF2-40B4-BE49-F238E27FC236}">
                <a16:creationId xmlns:a16="http://schemas.microsoft.com/office/drawing/2014/main" id="{CDA57B6F-1C54-9F0A-CCFF-41D1390480D7}"/>
              </a:ext>
            </a:extLst>
          </p:cNvPr>
          <p:cNvCxnSpPr>
            <a:cxnSpLocks/>
          </p:cNvCxnSpPr>
          <p:nvPr/>
        </p:nvCxnSpPr>
        <p:spPr>
          <a:xfrm flipV="1">
            <a:off x="4925060" y="3782376"/>
            <a:ext cx="0" cy="287656"/>
          </a:xfrm>
          <a:prstGeom prst="line">
            <a:avLst/>
          </a:prstGeom>
          <a:ln w="19050"/>
        </p:spPr>
        <p:style>
          <a:lnRef idx="1">
            <a:schemeClr val="dk1"/>
          </a:lnRef>
          <a:fillRef idx="0">
            <a:schemeClr val="dk1"/>
          </a:fillRef>
          <a:effectRef idx="0">
            <a:schemeClr val="dk1"/>
          </a:effectRef>
          <a:fontRef idx="minor">
            <a:schemeClr val="tx1"/>
          </a:fontRef>
        </p:style>
      </p:cxnSp>
      <p:sp>
        <p:nvSpPr>
          <p:cNvPr id="24" name="文本框 23">
            <a:extLst>
              <a:ext uri="{FF2B5EF4-FFF2-40B4-BE49-F238E27FC236}">
                <a16:creationId xmlns:a16="http://schemas.microsoft.com/office/drawing/2014/main" id="{11F0810B-7549-EA92-0F49-7064075F220A}"/>
              </a:ext>
            </a:extLst>
          </p:cNvPr>
          <p:cNvSpPr txBox="1"/>
          <p:nvPr/>
        </p:nvSpPr>
        <p:spPr>
          <a:xfrm>
            <a:off x="4577040" y="4134340"/>
            <a:ext cx="677108" cy="1786085"/>
          </a:xfrm>
          <a:prstGeom prst="rect">
            <a:avLst/>
          </a:prstGeom>
          <a:noFill/>
        </p:spPr>
        <p:txBody>
          <a:bodyPr vert="eaVert" wrap="square">
            <a:spAutoFit/>
          </a:bodyPr>
          <a:lstStyle/>
          <a:p>
            <a:r>
              <a:rPr lang="en-US" altLang="zh-CN" sz="1600" dirty="0"/>
              <a:t>1955 -</a:t>
            </a:r>
          </a:p>
          <a:p>
            <a:r>
              <a:rPr lang="zh-CN" altLang="en-US" sz="1600" dirty="0"/>
              <a:t>非弹性中子散射</a:t>
            </a:r>
            <a:endParaRPr lang="en-US" altLang="zh-CN" sz="1600" dirty="0"/>
          </a:p>
        </p:txBody>
      </p:sp>
      <p:sp>
        <p:nvSpPr>
          <p:cNvPr id="21" name="文本框 20">
            <a:extLst>
              <a:ext uri="{FF2B5EF4-FFF2-40B4-BE49-F238E27FC236}">
                <a16:creationId xmlns:a16="http://schemas.microsoft.com/office/drawing/2014/main" id="{1001DA69-CD8D-EAF9-8170-86C1710045DA}"/>
              </a:ext>
            </a:extLst>
          </p:cNvPr>
          <p:cNvSpPr txBox="1"/>
          <p:nvPr/>
        </p:nvSpPr>
        <p:spPr>
          <a:xfrm>
            <a:off x="5280924" y="1884851"/>
            <a:ext cx="923330" cy="1186009"/>
          </a:xfrm>
          <a:prstGeom prst="rect">
            <a:avLst/>
          </a:prstGeom>
          <a:noFill/>
        </p:spPr>
        <p:txBody>
          <a:bodyPr vert="eaVert" wrap="square">
            <a:spAutoFit/>
          </a:bodyPr>
          <a:lstStyle/>
          <a:p>
            <a:r>
              <a:rPr lang="en-US" altLang="zh-CN" sz="1600" dirty="0"/>
              <a:t>1959</a:t>
            </a:r>
          </a:p>
          <a:p>
            <a:r>
              <a:rPr lang="zh-CN" altLang="en-US" sz="1600" dirty="0"/>
              <a:t>软模理论与结构相变</a:t>
            </a:r>
            <a:endParaRPr lang="en-US" altLang="zh-CN" sz="1600" dirty="0"/>
          </a:p>
        </p:txBody>
      </p:sp>
      <p:cxnSp>
        <p:nvCxnSpPr>
          <p:cNvPr id="25" name="直接连接符 24">
            <a:extLst>
              <a:ext uri="{FF2B5EF4-FFF2-40B4-BE49-F238E27FC236}">
                <a16:creationId xmlns:a16="http://schemas.microsoft.com/office/drawing/2014/main" id="{DF6C889D-3705-9814-8244-0ABCBDD3915C}"/>
              </a:ext>
            </a:extLst>
          </p:cNvPr>
          <p:cNvCxnSpPr>
            <a:cxnSpLocks/>
          </p:cNvCxnSpPr>
          <p:nvPr/>
        </p:nvCxnSpPr>
        <p:spPr>
          <a:xfrm flipV="1">
            <a:off x="5709920" y="3015688"/>
            <a:ext cx="0" cy="755650"/>
          </a:xfrm>
          <a:prstGeom prst="line">
            <a:avLst/>
          </a:prstGeom>
          <a:ln w="19050"/>
        </p:spPr>
        <p:style>
          <a:lnRef idx="1">
            <a:schemeClr val="dk1"/>
          </a:lnRef>
          <a:fillRef idx="0">
            <a:schemeClr val="dk1"/>
          </a:fillRef>
          <a:effectRef idx="0">
            <a:schemeClr val="dk1"/>
          </a:effectRef>
          <a:fontRef idx="minor">
            <a:schemeClr val="tx1"/>
          </a:fontRef>
        </p:style>
      </p:cxnSp>
      <p:sp>
        <p:nvSpPr>
          <p:cNvPr id="20" name="文本框 19">
            <a:extLst>
              <a:ext uri="{FF2B5EF4-FFF2-40B4-BE49-F238E27FC236}">
                <a16:creationId xmlns:a16="http://schemas.microsoft.com/office/drawing/2014/main" id="{B9C66E49-417E-9C61-9C32-0FC9010AD792}"/>
              </a:ext>
            </a:extLst>
          </p:cNvPr>
          <p:cNvSpPr txBox="1"/>
          <p:nvPr/>
        </p:nvSpPr>
        <p:spPr>
          <a:xfrm>
            <a:off x="6314927" y="2297716"/>
            <a:ext cx="2941785" cy="707886"/>
          </a:xfrm>
          <a:prstGeom prst="rect">
            <a:avLst/>
          </a:prstGeom>
          <a:noFill/>
        </p:spPr>
        <p:txBody>
          <a:bodyPr vert="horz" wrap="square">
            <a:spAutoFit/>
          </a:bodyPr>
          <a:lstStyle/>
          <a:p>
            <a:r>
              <a:rPr lang="en-US" altLang="zh-CN" sz="2000" dirty="0"/>
              <a:t>1980s - </a:t>
            </a:r>
          </a:p>
          <a:p>
            <a:r>
              <a:rPr lang="zh-CN" altLang="en-US" sz="2000" dirty="0"/>
              <a:t>第一性原理方法</a:t>
            </a:r>
            <a:endParaRPr lang="en-US" altLang="zh-CN" sz="2000" dirty="0"/>
          </a:p>
        </p:txBody>
      </p:sp>
      <p:cxnSp>
        <p:nvCxnSpPr>
          <p:cNvPr id="30" name="直接连接符 29">
            <a:extLst>
              <a:ext uri="{FF2B5EF4-FFF2-40B4-BE49-F238E27FC236}">
                <a16:creationId xmlns:a16="http://schemas.microsoft.com/office/drawing/2014/main" id="{AFBCC2D7-BEBA-E097-43CD-DD7EDF876B90}"/>
              </a:ext>
            </a:extLst>
          </p:cNvPr>
          <p:cNvCxnSpPr>
            <a:cxnSpLocks/>
          </p:cNvCxnSpPr>
          <p:nvPr/>
        </p:nvCxnSpPr>
        <p:spPr>
          <a:xfrm flipV="1">
            <a:off x="6639560" y="3015688"/>
            <a:ext cx="0" cy="755650"/>
          </a:xfrm>
          <a:prstGeom prst="line">
            <a:avLst/>
          </a:prstGeom>
          <a:ln w="19050"/>
        </p:spPr>
        <p:style>
          <a:lnRef idx="1">
            <a:schemeClr val="dk1"/>
          </a:lnRef>
          <a:fillRef idx="0">
            <a:schemeClr val="dk1"/>
          </a:fillRef>
          <a:effectRef idx="0">
            <a:schemeClr val="dk1"/>
          </a:effectRef>
          <a:fontRef idx="minor">
            <a:schemeClr val="tx1"/>
          </a:fontRef>
        </p:style>
      </p:cxnSp>
      <p:cxnSp>
        <p:nvCxnSpPr>
          <p:cNvPr id="33" name="直接连接符 32">
            <a:extLst>
              <a:ext uri="{FF2B5EF4-FFF2-40B4-BE49-F238E27FC236}">
                <a16:creationId xmlns:a16="http://schemas.microsoft.com/office/drawing/2014/main" id="{C4D60A8D-8C36-91DF-EFBD-48C5EE2058FA}"/>
              </a:ext>
            </a:extLst>
          </p:cNvPr>
          <p:cNvCxnSpPr>
            <a:cxnSpLocks/>
          </p:cNvCxnSpPr>
          <p:nvPr/>
        </p:nvCxnSpPr>
        <p:spPr>
          <a:xfrm flipV="1">
            <a:off x="6906004" y="3781424"/>
            <a:ext cx="0" cy="287656"/>
          </a:xfrm>
          <a:prstGeom prst="line">
            <a:avLst/>
          </a:prstGeom>
          <a:ln w="19050"/>
        </p:spPr>
        <p:style>
          <a:lnRef idx="1">
            <a:schemeClr val="dk1"/>
          </a:lnRef>
          <a:fillRef idx="0">
            <a:schemeClr val="dk1"/>
          </a:fillRef>
          <a:effectRef idx="0">
            <a:schemeClr val="dk1"/>
          </a:effectRef>
          <a:fontRef idx="minor">
            <a:schemeClr val="tx1"/>
          </a:fontRef>
        </p:style>
      </p:cxnSp>
      <p:sp>
        <p:nvSpPr>
          <p:cNvPr id="39" name="文本框 38">
            <a:extLst>
              <a:ext uri="{FF2B5EF4-FFF2-40B4-BE49-F238E27FC236}">
                <a16:creationId xmlns:a16="http://schemas.microsoft.com/office/drawing/2014/main" id="{17FAE6C9-CC7F-BBB6-4D7A-2826A30D88B7}"/>
              </a:ext>
            </a:extLst>
          </p:cNvPr>
          <p:cNvSpPr txBox="1"/>
          <p:nvPr/>
        </p:nvSpPr>
        <p:spPr>
          <a:xfrm>
            <a:off x="6334728" y="4068435"/>
            <a:ext cx="2034054" cy="1015663"/>
          </a:xfrm>
          <a:prstGeom prst="rect">
            <a:avLst/>
          </a:prstGeom>
          <a:noFill/>
        </p:spPr>
        <p:txBody>
          <a:bodyPr vert="horz" wrap="square">
            <a:spAutoFit/>
          </a:bodyPr>
          <a:lstStyle/>
          <a:p>
            <a:r>
              <a:rPr lang="en-US" altLang="zh-CN" sz="2000" dirty="0"/>
              <a:t>1990s - </a:t>
            </a:r>
          </a:p>
          <a:p>
            <a:r>
              <a:rPr lang="zh-CN" altLang="en-US" sz="2000" dirty="0"/>
              <a:t>超快实验与实时结构探测</a:t>
            </a:r>
            <a:endParaRPr lang="en-US" altLang="zh-CN" sz="2000" dirty="0"/>
          </a:p>
        </p:txBody>
      </p:sp>
    </p:spTree>
    <p:extLst>
      <p:ext uri="{BB962C8B-B14F-4D97-AF65-F5344CB8AC3E}">
        <p14:creationId xmlns:p14="http://schemas.microsoft.com/office/powerpoint/2010/main" val="4213661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D5A81B59-0EDA-DDE2-824D-4C55BDEAD89B}"/>
              </a:ext>
            </a:extLst>
          </p:cNvPr>
          <p:cNvSpPr>
            <a:spLocks noGrp="1"/>
          </p:cNvSpPr>
          <p:nvPr>
            <p:ph type="title"/>
          </p:nvPr>
        </p:nvSpPr>
        <p:spPr/>
        <p:txBody>
          <a:bodyPr/>
          <a:lstStyle/>
          <a:p>
            <a:r>
              <a:rPr lang="zh-CN" altLang="en-US" sz="4400" dirty="0">
                <a:solidFill>
                  <a:schemeClr val="tx1"/>
                </a:solidFill>
              </a:rPr>
              <a:t>固体热容</a:t>
            </a:r>
            <a:endParaRPr lang="en-US" dirty="0"/>
          </a:p>
        </p:txBody>
      </p:sp>
      <mc:AlternateContent xmlns:mc="http://schemas.openxmlformats.org/markup-compatibility/2006">
        <mc:Choice xmlns:a14="http://schemas.microsoft.com/office/drawing/2010/main" Requires="a14">
          <p:sp>
            <p:nvSpPr>
              <p:cNvPr id="6" name="内容占位符 5">
                <a:extLst>
                  <a:ext uri="{FF2B5EF4-FFF2-40B4-BE49-F238E27FC236}">
                    <a16:creationId xmlns:a16="http://schemas.microsoft.com/office/drawing/2014/main" id="{DAC7E898-93D3-1669-D66C-13E2FF28B8A3}"/>
                  </a:ext>
                </a:extLst>
              </p:cNvPr>
              <p:cNvSpPr>
                <a:spLocks noGrp="1"/>
              </p:cNvSpPr>
              <p:nvPr>
                <p:ph idx="1"/>
              </p:nvPr>
            </p:nvSpPr>
            <p:spPr/>
            <p:txBody>
              <a:bodyPr>
                <a:noAutofit/>
              </a:bodyPr>
              <a:lstStyle/>
              <a:p>
                <a:pPr>
                  <a:lnSpc>
                    <a:spcPct val="100000"/>
                  </a:lnSpc>
                  <a:spcBef>
                    <a:spcPts val="0"/>
                  </a:spcBef>
                  <a:spcAft>
                    <a:spcPts val="1200"/>
                  </a:spcAft>
                </a:pPr>
                <a:r>
                  <a:rPr lang="zh-CN" altLang="en-US" sz="1800" dirty="0"/>
                  <a:t>热容（</a:t>
                </a:r>
                <a:r>
                  <a:rPr lang="en-US" altLang="zh-CN" sz="1800" dirty="0"/>
                  <a:t>heat capacity</a:t>
                </a:r>
                <a:r>
                  <a:rPr lang="zh-CN" altLang="en-US" sz="1800" dirty="0"/>
                  <a:t>）：物质的温度每升高一个单位温度所要吸收的热量</a:t>
                </a:r>
                <a:endParaRPr lang="en-US" altLang="zh-CN" sz="1800" dirty="0"/>
              </a:p>
              <a:p>
                <a:pPr marL="0" indent="0">
                  <a:lnSpc>
                    <a:spcPct val="100000"/>
                  </a:lnSpc>
                  <a:spcBef>
                    <a:spcPts val="0"/>
                  </a:spcBef>
                  <a:spcAft>
                    <a:spcPts val="1200"/>
                  </a:spcAft>
                  <a:buNone/>
                </a:pPr>
                <a14:m>
                  <m:oMathPara xmlns:m="http://schemas.openxmlformats.org/officeDocument/2006/math">
                    <m:oMath>
                      <m:r>
                        <a:rPr lang="en-US" altLang="zh-CN" sz="1800" b="0" i="1" smtClean="0">
                          <a:latin typeface="Cambria Math" panose="02040503050406030204" pitchFamily="18" charset="0"/>
                        </a:rPr>
                        <m:t>𝐶</m:t>
                      </m:r>
                      <m:r>
                        <a:rPr lang="en-US" altLang="zh-CN" sz="1800" b="0" i="1" smtClean="0">
                          <a:latin typeface="Cambria Math" panose="02040503050406030204" pitchFamily="18" charset="0"/>
                        </a:rPr>
                        <m:t>=</m:t>
                      </m:r>
                      <m:f>
                        <m:fPr>
                          <m:ctrlPr>
                            <a:rPr lang="zh-CN" altLang="en-US" sz="1800" b="0" i="1" smtClean="0">
                              <a:latin typeface="Cambria Math" panose="02040503050406030204" pitchFamily="18" charset="0"/>
                            </a:rPr>
                          </m:ctrlPr>
                        </m:fPr>
                        <m:num>
                          <m:r>
                            <a:rPr lang="zh-CN" altLang="en-US" sz="1800" b="0" i="1" smtClean="0">
                              <a:latin typeface="Cambria Math" panose="02040503050406030204" pitchFamily="18" charset="0"/>
                            </a:rPr>
                            <m:t>𝜕</m:t>
                          </m:r>
                          <m:r>
                            <a:rPr lang="en-US" altLang="zh-CN" sz="1800" b="0" i="1" smtClean="0">
                              <a:latin typeface="Cambria Math" panose="02040503050406030204" pitchFamily="18" charset="0"/>
                            </a:rPr>
                            <m:t>𝐸</m:t>
                          </m:r>
                        </m:num>
                        <m:den>
                          <m:r>
                            <a:rPr lang="zh-CN" altLang="en-US" sz="1800" b="0" i="1" smtClean="0">
                              <a:latin typeface="Cambria Math" panose="02040503050406030204" pitchFamily="18" charset="0"/>
                            </a:rPr>
                            <m:t>𝜕</m:t>
                          </m:r>
                          <m:r>
                            <a:rPr lang="en-US" altLang="zh-CN" sz="1800" b="0" i="1" smtClean="0">
                              <a:latin typeface="Cambria Math" panose="02040503050406030204" pitchFamily="18" charset="0"/>
                            </a:rPr>
                            <m:t>𝑇</m:t>
                          </m:r>
                        </m:den>
                      </m:f>
                    </m:oMath>
                  </m:oMathPara>
                </a14:m>
                <a:endParaRPr lang="en-US" altLang="zh-CN" sz="1800" dirty="0"/>
              </a:p>
              <a:p>
                <a:pPr>
                  <a:lnSpc>
                    <a:spcPct val="100000"/>
                  </a:lnSpc>
                  <a:spcBef>
                    <a:spcPts val="0"/>
                  </a:spcBef>
                  <a:spcAft>
                    <a:spcPts val="1200"/>
                  </a:spcAft>
                </a:pPr>
                <a:r>
                  <a:rPr lang="zh-CN" altLang="en-US" sz="1800" dirty="0"/>
                  <a:t>热容与质量、体积成正比，实际中常使用比热（</a:t>
                </a:r>
                <a:r>
                  <a:rPr lang="en-US" altLang="zh-CN" sz="1800" dirty="0"/>
                  <a:t>specific heat capacity</a:t>
                </a:r>
                <a:r>
                  <a:rPr lang="zh-CN" altLang="en-US" sz="1800" dirty="0"/>
                  <a:t>）描述每单位体积（或质量）的热容</a:t>
                </a:r>
                <a:endParaRPr lang="en-US" altLang="zh-CN" sz="1800" dirty="0"/>
              </a:p>
              <a:p>
                <a:pPr>
                  <a:lnSpc>
                    <a:spcPct val="100000"/>
                  </a:lnSpc>
                  <a:spcBef>
                    <a:spcPts val="0"/>
                  </a:spcBef>
                  <a:spcAft>
                    <a:spcPts val="1200"/>
                  </a:spcAft>
                </a:pPr>
                <a:r>
                  <a:rPr lang="zh-CN" altLang="en-US" sz="1800" dirty="0"/>
                  <a:t>等容比热（体积不变）和等压比热（压强不变）</a:t>
                </a:r>
                <a:endParaRPr lang="en-US" altLang="zh-CN" sz="1800" dirty="0"/>
              </a:p>
              <a:p>
                <a:pPr marL="0" indent="0">
                  <a:lnSpc>
                    <a:spcPct val="100000"/>
                  </a:lnSpc>
                  <a:spcBef>
                    <a:spcPts val="0"/>
                  </a:spcBef>
                  <a:spcAft>
                    <a:spcPts val="1200"/>
                  </a:spcAft>
                  <a:buNone/>
                </a:pPr>
                <a14:m>
                  <m:oMathPara xmlns:m="http://schemas.openxmlformats.org/officeDocument/2006/math">
                    <m:oMath>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𝑐</m:t>
                          </m:r>
                        </m:e>
                        <m:sub>
                          <m:r>
                            <a:rPr lang="en-US" altLang="zh-CN" sz="1800" b="0" i="1" smtClean="0">
                              <a:latin typeface="Cambria Math" panose="02040503050406030204" pitchFamily="18" charset="0"/>
                            </a:rPr>
                            <m:t>𝑉</m:t>
                          </m:r>
                        </m:sub>
                      </m:sSub>
                      <m:r>
                        <a:rPr lang="en-US" altLang="zh-CN" sz="1800" b="0" i="1" smtClean="0">
                          <a:latin typeface="Cambria Math" panose="02040503050406030204" pitchFamily="18" charset="0"/>
                        </a:rPr>
                        <m:t>=</m:t>
                      </m:r>
                      <m:sSub>
                        <m:sSubPr>
                          <m:ctrlPr>
                            <a:rPr lang="en-US" altLang="zh-CN" sz="1800" b="0" i="1" smtClean="0">
                              <a:latin typeface="Cambria Math" panose="02040503050406030204" pitchFamily="18" charset="0"/>
                            </a:rPr>
                          </m:ctrlPr>
                        </m:sSubPr>
                        <m:e>
                          <m:d>
                            <m:dPr>
                              <m:ctrlPr>
                                <a:rPr lang="en-US" altLang="zh-CN" sz="1800" i="1">
                                  <a:latin typeface="Cambria Math" panose="02040503050406030204" pitchFamily="18" charset="0"/>
                                </a:rPr>
                              </m:ctrlPr>
                            </m:dPr>
                            <m:e>
                              <m:f>
                                <m:fPr>
                                  <m:ctrlPr>
                                    <a:rPr lang="zh-CN" altLang="en-US" sz="1800" i="1">
                                      <a:latin typeface="Cambria Math" panose="02040503050406030204" pitchFamily="18" charset="0"/>
                                    </a:rPr>
                                  </m:ctrlPr>
                                </m:fPr>
                                <m:num>
                                  <m:r>
                                    <a:rPr lang="zh-CN" altLang="en-US" sz="1800" i="1">
                                      <a:latin typeface="Cambria Math" panose="02040503050406030204" pitchFamily="18" charset="0"/>
                                    </a:rPr>
                                    <m:t>𝜕</m:t>
                                  </m:r>
                                  <m:r>
                                    <a:rPr lang="en-US" altLang="zh-CN" sz="1800" b="0" i="1" smtClean="0">
                                      <a:latin typeface="Cambria Math" panose="02040503050406030204" pitchFamily="18" charset="0"/>
                                    </a:rPr>
                                    <m:t>𝑈</m:t>
                                  </m:r>
                                </m:num>
                                <m:den>
                                  <m:r>
                                    <a:rPr lang="zh-CN" altLang="en-US" sz="1800" i="1">
                                      <a:latin typeface="Cambria Math" panose="02040503050406030204" pitchFamily="18" charset="0"/>
                                    </a:rPr>
                                    <m:t>𝜕</m:t>
                                  </m:r>
                                  <m:r>
                                    <a:rPr lang="en-US" altLang="zh-CN" sz="1800" i="1">
                                      <a:latin typeface="Cambria Math" panose="02040503050406030204" pitchFamily="18" charset="0"/>
                                    </a:rPr>
                                    <m:t>𝑇</m:t>
                                  </m:r>
                                </m:den>
                              </m:f>
                            </m:e>
                          </m:d>
                        </m:e>
                        <m:sub>
                          <m:r>
                            <a:rPr lang="en-US" altLang="zh-CN" sz="1800" b="0" i="1" smtClean="0">
                              <a:latin typeface="Cambria Math" panose="02040503050406030204" pitchFamily="18" charset="0"/>
                            </a:rPr>
                            <m:t>𝑉</m:t>
                          </m:r>
                        </m:sub>
                      </m:sSub>
                      <m:r>
                        <a:rPr lang="en-US" altLang="zh-CN" sz="1800" b="0" i="1" smtClean="0">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𝑐</m:t>
                          </m:r>
                        </m:e>
                        <m:sub>
                          <m:r>
                            <a:rPr lang="en-US" altLang="zh-CN" sz="1800" b="0" i="1" smtClean="0">
                              <a:latin typeface="Cambria Math" panose="02040503050406030204" pitchFamily="18" charset="0"/>
                            </a:rPr>
                            <m:t>𝑃</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d>
                            <m:dPr>
                              <m:ctrlPr>
                                <a:rPr lang="en-US" altLang="zh-CN" sz="1800" i="1">
                                  <a:latin typeface="Cambria Math" panose="02040503050406030204" pitchFamily="18" charset="0"/>
                                </a:rPr>
                              </m:ctrlPr>
                            </m:dPr>
                            <m:e>
                              <m:f>
                                <m:fPr>
                                  <m:ctrlPr>
                                    <a:rPr lang="zh-CN" altLang="en-US" sz="1800" i="1">
                                      <a:latin typeface="Cambria Math" panose="02040503050406030204" pitchFamily="18" charset="0"/>
                                    </a:rPr>
                                  </m:ctrlPr>
                                </m:fPr>
                                <m:num>
                                  <m:r>
                                    <a:rPr lang="zh-CN" altLang="en-US" sz="1800" i="1">
                                      <a:latin typeface="Cambria Math" panose="02040503050406030204" pitchFamily="18" charset="0"/>
                                    </a:rPr>
                                    <m:t>𝜕</m:t>
                                  </m:r>
                                  <m:r>
                                    <a:rPr lang="en-US" altLang="zh-CN" sz="1800" b="0" i="1" smtClean="0">
                                      <a:latin typeface="Cambria Math" panose="02040503050406030204" pitchFamily="18" charset="0"/>
                                    </a:rPr>
                                    <m:t>𝐻</m:t>
                                  </m:r>
                                </m:num>
                                <m:den>
                                  <m:r>
                                    <a:rPr lang="zh-CN" altLang="en-US" sz="1800" i="1">
                                      <a:latin typeface="Cambria Math" panose="02040503050406030204" pitchFamily="18" charset="0"/>
                                    </a:rPr>
                                    <m:t>𝜕</m:t>
                                  </m:r>
                                  <m:r>
                                    <a:rPr lang="en-US" altLang="zh-CN" sz="1800" i="1">
                                      <a:latin typeface="Cambria Math" panose="02040503050406030204" pitchFamily="18" charset="0"/>
                                    </a:rPr>
                                    <m:t>𝑇</m:t>
                                  </m:r>
                                </m:den>
                              </m:f>
                            </m:e>
                          </m:d>
                        </m:e>
                        <m:sub>
                          <m:r>
                            <a:rPr lang="en-US" altLang="zh-CN" sz="1800" b="0" i="1" smtClean="0">
                              <a:latin typeface="Cambria Math" panose="02040503050406030204" pitchFamily="18" charset="0"/>
                            </a:rPr>
                            <m:t>𝑃</m:t>
                          </m:r>
                        </m:sub>
                      </m:sSub>
                    </m:oMath>
                  </m:oMathPara>
                </a14:m>
                <a:endParaRPr lang="en-US" altLang="zh-CN" sz="1800" dirty="0"/>
              </a:p>
              <a:p>
                <a:pPr>
                  <a:lnSpc>
                    <a:spcPct val="100000"/>
                  </a:lnSpc>
                  <a:spcBef>
                    <a:spcPts val="0"/>
                  </a:spcBef>
                  <a:spcAft>
                    <a:spcPts val="1200"/>
                  </a:spcAft>
                </a:pPr>
                <a:r>
                  <a:rPr lang="zh-CN" altLang="en-US" sz="1800" dirty="0"/>
                  <a:t>多数固体在常温常压下</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𝑐</m:t>
                        </m:r>
                      </m:e>
                      <m:sub>
                        <m:r>
                          <a:rPr lang="en-US" altLang="zh-CN" sz="1800" i="1">
                            <a:latin typeface="Cambria Math" panose="02040503050406030204" pitchFamily="18" charset="0"/>
                          </a:rPr>
                          <m:t>𝑉</m:t>
                        </m:r>
                      </m:sub>
                    </m:sSub>
                    <m:r>
                      <a:rPr lang="en-US" altLang="zh-CN" sz="1800" i="1" smtClean="0">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𝑐</m:t>
                        </m:r>
                      </m:e>
                      <m:sub>
                        <m:r>
                          <a:rPr lang="en-US" altLang="zh-CN" sz="1800" i="1">
                            <a:latin typeface="Cambria Math" panose="02040503050406030204" pitchFamily="18" charset="0"/>
                          </a:rPr>
                          <m:t>𝑃</m:t>
                        </m:r>
                      </m:sub>
                    </m:sSub>
                  </m:oMath>
                </a14:m>
                <a:r>
                  <a:rPr lang="zh-CN" altLang="en-US" sz="1800" dirty="0"/>
                  <a:t>（</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𝑐</m:t>
                        </m:r>
                      </m:e>
                      <m:sub>
                        <m:r>
                          <a:rPr lang="en-US" altLang="zh-CN" sz="1800" i="1">
                            <a:latin typeface="Cambria Math" panose="02040503050406030204" pitchFamily="18" charset="0"/>
                          </a:rPr>
                          <m:t>𝑃</m:t>
                        </m:r>
                      </m:sub>
                    </m:sSub>
                  </m:oMath>
                </a14:m>
                <a:r>
                  <a:rPr lang="zh-CN" altLang="en-US" sz="1800" dirty="0"/>
                  <a:t>略大），故</a:t>
                </a:r>
                <a:r>
                  <a:rPr lang="zh-CN" altLang="en-US" sz="1800" dirty="0">
                    <a:solidFill>
                      <a:srgbClr val="FF0000"/>
                    </a:solidFill>
                  </a:rPr>
                  <a:t>本课不做严格区分</a:t>
                </a:r>
                <a:endParaRPr lang="en-US" altLang="zh-CN" sz="1800" dirty="0">
                  <a:solidFill>
                    <a:srgbClr val="FF0000"/>
                  </a:solidFill>
                </a:endParaRPr>
              </a:p>
              <a:p>
                <a:pPr>
                  <a:lnSpc>
                    <a:spcPct val="100000"/>
                  </a:lnSpc>
                  <a:spcBef>
                    <a:spcPts val="0"/>
                  </a:spcBef>
                  <a:spcAft>
                    <a:spcPts val="1200"/>
                  </a:spcAft>
                </a:pPr>
                <a:r>
                  <a:rPr lang="zh-CN" altLang="en-US" sz="1800" dirty="0"/>
                  <a:t>杜隆</a:t>
                </a:r>
                <a:r>
                  <a:rPr lang="en-US" altLang="zh-CN" sz="1800" dirty="0"/>
                  <a:t>-</a:t>
                </a:r>
                <a:r>
                  <a:rPr lang="zh-CN" altLang="en-US" sz="1800" dirty="0"/>
                  <a:t>珀蒂定律（</a:t>
                </a:r>
                <a:r>
                  <a:rPr lang="en-US" altLang="zh-CN" sz="1800" dirty="0"/>
                  <a:t>1819</a:t>
                </a:r>
                <a:r>
                  <a:rPr lang="zh-CN" altLang="en-US" sz="1800" dirty="0"/>
                  <a:t>，</a:t>
                </a:r>
                <a:r>
                  <a:rPr lang="en-US" altLang="zh-CN" sz="1800" dirty="0"/>
                  <a:t>Dulong-Petit law</a:t>
                </a:r>
                <a:r>
                  <a:rPr lang="zh-CN" altLang="en-US" sz="1800" dirty="0"/>
                  <a:t>）</a:t>
                </a:r>
                <a:endParaRPr lang="en-US" altLang="zh-CN" sz="1800" dirty="0"/>
              </a:p>
              <a:p>
                <a:pPr>
                  <a:lnSpc>
                    <a:spcPct val="100000"/>
                  </a:lnSpc>
                  <a:spcBef>
                    <a:spcPts val="0"/>
                  </a:spcBef>
                  <a:spcAft>
                    <a:spcPts val="1200"/>
                  </a:spcAft>
                </a:pPr>
                <a:r>
                  <a:rPr lang="zh-CN" altLang="en-US" sz="1800" dirty="0"/>
                  <a:t>爱因斯坦模型（</a:t>
                </a:r>
                <a:r>
                  <a:rPr lang="en-US" altLang="zh-CN" sz="1800" dirty="0"/>
                  <a:t>1907</a:t>
                </a:r>
                <a:r>
                  <a:rPr lang="zh-CN" altLang="en-US" sz="1800" dirty="0"/>
                  <a:t>，</a:t>
                </a:r>
                <a:r>
                  <a:rPr lang="en-US" altLang="zh-CN" sz="1800" dirty="0"/>
                  <a:t>Einstein model</a:t>
                </a:r>
                <a:r>
                  <a:rPr lang="zh-CN" altLang="en-US" sz="1800" dirty="0"/>
                  <a:t>）</a:t>
                </a:r>
                <a:endParaRPr lang="en-US" altLang="zh-CN" sz="1800" dirty="0"/>
              </a:p>
              <a:p>
                <a:pPr>
                  <a:lnSpc>
                    <a:spcPct val="100000"/>
                  </a:lnSpc>
                  <a:spcBef>
                    <a:spcPts val="0"/>
                  </a:spcBef>
                  <a:spcAft>
                    <a:spcPts val="1200"/>
                  </a:spcAft>
                </a:pPr>
                <a:r>
                  <a:rPr lang="zh-CN" altLang="en-US" sz="1800" dirty="0"/>
                  <a:t>德拜模型（</a:t>
                </a:r>
                <a:r>
                  <a:rPr lang="en-US" altLang="zh-CN" sz="1800" dirty="0"/>
                  <a:t>1912</a:t>
                </a:r>
                <a:r>
                  <a:rPr lang="zh-CN" altLang="en-US" sz="1800" dirty="0"/>
                  <a:t>，</a:t>
                </a:r>
                <a:r>
                  <a:rPr lang="en-US" altLang="zh-CN" sz="1800" dirty="0"/>
                  <a:t>Debye model</a:t>
                </a:r>
                <a:r>
                  <a:rPr lang="zh-CN" altLang="en-US" sz="1800" dirty="0"/>
                  <a:t>）</a:t>
                </a:r>
                <a:endParaRPr lang="en-US" sz="1800" dirty="0"/>
              </a:p>
            </p:txBody>
          </p:sp>
        </mc:Choice>
        <mc:Fallback>
          <p:sp>
            <p:nvSpPr>
              <p:cNvPr id="6" name="内容占位符 5">
                <a:extLst>
                  <a:ext uri="{FF2B5EF4-FFF2-40B4-BE49-F238E27FC236}">
                    <a16:creationId xmlns:a16="http://schemas.microsoft.com/office/drawing/2014/main" id="{DAC7E898-93D3-1669-D66C-13E2FF28B8A3}"/>
                  </a:ext>
                </a:extLst>
              </p:cNvPr>
              <p:cNvSpPr>
                <a:spLocks noGrp="1" noRot="1" noChangeAspect="1" noMove="1" noResize="1" noEditPoints="1" noAdjustHandles="1" noChangeArrowheads="1" noChangeShapeType="1" noTextEdit="1"/>
              </p:cNvSpPr>
              <p:nvPr>
                <p:ph idx="1"/>
              </p:nvPr>
            </p:nvSpPr>
            <p:spPr>
              <a:blipFill>
                <a:blip r:embed="rId2"/>
                <a:stretch>
                  <a:fillRect l="-406" t="-1120" b="-9944"/>
                </a:stretch>
              </a:blipFill>
            </p:spPr>
            <p:txBody>
              <a:bodyPr/>
              <a:lstStyle/>
              <a:p>
                <a:r>
                  <a:rPr lang="zh-CN" altLang="en-US">
                    <a:noFill/>
                  </a:rPr>
                  <a:t> </a:t>
                </a:r>
              </a:p>
            </p:txBody>
          </p:sp>
        </mc:Fallback>
      </mc:AlternateContent>
      <p:graphicFrame>
        <p:nvGraphicFramePr>
          <p:cNvPr id="2" name="表格 1">
            <a:extLst>
              <a:ext uri="{FF2B5EF4-FFF2-40B4-BE49-F238E27FC236}">
                <a16:creationId xmlns:a16="http://schemas.microsoft.com/office/drawing/2014/main" id="{FF35C542-1A8D-4152-AB27-0104EB042880}"/>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15</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486927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fade">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fade">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fade">
                                      <p:cBhvr>
                                        <p:cTn id="42" dur="500"/>
                                        <p:tgtEl>
                                          <p:spTgt spid="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
                                            <p:txEl>
                                              <p:pRg st="8" end="8"/>
                                            </p:txEl>
                                          </p:spTgt>
                                        </p:tgtEl>
                                        <p:attrNameLst>
                                          <p:attrName>style.visibility</p:attrName>
                                        </p:attrNameLst>
                                      </p:cBhvr>
                                      <p:to>
                                        <p:strVal val="visible"/>
                                      </p:to>
                                    </p:set>
                                    <p:animEffect transition="in" filter="fade">
                                      <p:cBhvr>
                                        <p:cTn id="47"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5186E46F-6F05-1D43-7B22-D85DCCF65BB6}"/>
              </a:ext>
            </a:extLst>
          </p:cNvPr>
          <p:cNvPicPr>
            <a:picLocks noChangeAspect="1"/>
          </p:cNvPicPr>
          <p:nvPr/>
        </p:nvPicPr>
        <p:blipFill>
          <a:blip r:embed="rId2"/>
          <a:stretch>
            <a:fillRect/>
          </a:stretch>
        </p:blipFill>
        <p:spPr>
          <a:xfrm>
            <a:off x="1921165" y="442055"/>
            <a:ext cx="8349670" cy="5973890"/>
          </a:xfrm>
          <a:prstGeom prst="rect">
            <a:avLst/>
          </a:prstGeom>
        </p:spPr>
      </p:pic>
      <p:graphicFrame>
        <p:nvGraphicFramePr>
          <p:cNvPr id="2" name="表格 1">
            <a:extLst>
              <a:ext uri="{FF2B5EF4-FFF2-40B4-BE49-F238E27FC236}">
                <a16:creationId xmlns:a16="http://schemas.microsoft.com/office/drawing/2014/main" id="{2035DDD2-EC73-EB46-3F79-B1AEA888A1C1}"/>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16</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35175615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C62B4A-11C0-D17A-8953-B692BB49980D}"/>
              </a:ext>
            </a:extLst>
          </p:cNvPr>
          <p:cNvSpPr>
            <a:spLocks noGrp="1"/>
          </p:cNvSpPr>
          <p:nvPr>
            <p:ph type="title"/>
          </p:nvPr>
        </p:nvSpPr>
        <p:spPr/>
        <p:txBody>
          <a:bodyPr/>
          <a:lstStyle/>
          <a:p>
            <a:r>
              <a:rPr lang="zh-CN" altLang="en-US" dirty="0">
                <a:solidFill>
                  <a:srgbClr val="FF0000"/>
                </a:solidFill>
              </a:rPr>
              <a:t>杜隆</a:t>
            </a:r>
            <a:r>
              <a:rPr lang="en-US" altLang="zh-CN" dirty="0">
                <a:solidFill>
                  <a:srgbClr val="FF0000"/>
                </a:solidFill>
              </a:rPr>
              <a:t>-</a:t>
            </a:r>
            <a:r>
              <a:rPr lang="zh-CN" altLang="en-US" dirty="0">
                <a:solidFill>
                  <a:srgbClr val="FF0000"/>
                </a:solidFill>
              </a:rPr>
              <a:t>珀蒂定律（</a:t>
            </a:r>
            <a:r>
              <a:rPr lang="en-US" altLang="zh-CN" dirty="0">
                <a:solidFill>
                  <a:srgbClr val="FF0000"/>
                </a:solidFill>
              </a:rPr>
              <a:t>Dulong-Petit law</a:t>
            </a:r>
            <a:r>
              <a:rPr lang="zh-CN" altLang="en-US" dirty="0">
                <a:solidFill>
                  <a:srgbClr val="FF0000"/>
                </a:solidFill>
              </a:rPr>
              <a:t>）</a:t>
            </a:r>
            <a:endParaRPr lang="en-US" dirty="0">
              <a:solidFill>
                <a:srgbClr val="FF0000"/>
              </a:solidFill>
            </a:endParaRP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2B31CC65-F558-DA17-2F61-0301D54D18D4}"/>
                  </a:ext>
                </a:extLst>
              </p:cNvPr>
              <p:cNvSpPr>
                <a:spLocks noGrp="1"/>
              </p:cNvSpPr>
              <p:nvPr>
                <p:ph idx="1"/>
              </p:nvPr>
            </p:nvSpPr>
            <p:spPr/>
            <p:txBody>
              <a:bodyPr>
                <a:normAutofit/>
              </a:bodyPr>
              <a:lstStyle/>
              <a:p>
                <a:pPr>
                  <a:lnSpc>
                    <a:spcPct val="100000"/>
                  </a:lnSpc>
                  <a:spcBef>
                    <a:spcPts val="0"/>
                  </a:spcBef>
                  <a:spcAft>
                    <a:spcPts val="1200"/>
                  </a:spcAft>
                </a:pPr>
                <a:r>
                  <a:rPr lang="zh-CN" altLang="en-US" sz="2000" dirty="0"/>
                  <a:t>能量均分定理（统计物理教材）：每个自由度的平均能量是</a:t>
                </a:r>
                <a14:m>
                  <m:oMath xmlns:m="http://schemas.openxmlformats.org/officeDocument/2006/math">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2</m:t>
                        </m:r>
                      </m:den>
                    </m:f>
                    <m:r>
                      <a:rPr lang="en-US" altLang="zh-CN" sz="2000" b="0" i="1" smtClean="0">
                        <a:latin typeface="Cambria Math" panose="02040503050406030204" pitchFamily="18" charset="0"/>
                      </a:rPr>
                      <m:t>𝑘𝑇</m:t>
                    </m:r>
                  </m:oMath>
                </a14:m>
                <a:r>
                  <a:rPr lang="zh-CN" altLang="en-US" sz="2000" dirty="0"/>
                  <a:t>，</a:t>
                </a:r>
                <a:endParaRPr lang="en-US" altLang="zh-CN" sz="2000" dirty="0"/>
              </a:p>
              <a:p>
                <a:pPr>
                  <a:lnSpc>
                    <a:spcPct val="100000"/>
                  </a:lnSpc>
                  <a:spcBef>
                    <a:spcPts val="0"/>
                  </a:spcBef>
                  <a:spcAft>
                    <a:spcPts val="1200"/>
                  </a:spcAft>
                </a:pPr>
                <a:r>
                  <a:rPr lang="zh-CN" altLang="en-US" sz="2000" dirty="0"/>
                  <a:t>单元素固体中每摩尔有</a:t>
                </a:r>
                <a:r>
                  <a:rPr lang="en-US" altLang="zh-CN" sz="2000" dirty="0"/>
                  <a:t>N</a:t>
                </a:r>
                <a:r>
                  <a:rPr lang="en-US" altLang="zh-CN" sz="2000" baseline="-25000" dirty="0"/>
                  <a:t>A</a:t>
                </a:r>
                <a:r>
                  <a:rPr lang="zh-CN" altLang="en-US" sz="2000" dirty="0"/>
                  <a:t>个原子，共</a:t>
                </a:r>
                <a:r>
                  <a:rPr lang="en-US" altLang="zh-CN" sz="2000" dirty="0"/>
                  <a:t>6N</a:t>
                </a:r>
                <a:r>
                  <a:rPr lang="en-US" altLang="zh-CN" sz="2000" baseline="-25000" dirty="0"/>
                  <a:t>A</a:t>
                </a:r>
                <a:r>
                  <a:rPr lang="zh-CN" altLang="en-US" sz="2000" dirty="0"/>
                  <a:t>个自由度（</a:t>
                </a:r>
                <a:r>
                  <a:rPr lang="en-US" altLang="zh-CN" sz="2000" dirty="0"/>
                  <a:t>3N</a:t>
                </a:r>
                <a:r>
                  <a:rPr lang="en-US" altLang="zh-CN" sz="2000" baseline="-25000" dirty="0"/>
                  <a:t>A</a:t>
                </a:r>
                <a:r>
                  <a:rPr lang="zh-CN" altLang="en-US" sz="2000" dirty="0"/>
                  <a:t>个空间自由度</a:t>
                </a:r>
                <a:r>
                  <a:rPr lang="en-US" altLang="zh-CN" sz="2000" dirty="0"/>
                  <a:t>+ 3N</a:t>
                </a:r>
                <a:r>
                  <a:rPr lang="en-US" altLang="zh-CN" sz="2000" baseline="-25000" dirty="0"/>
                  <a:t>A</a:t>
                </a:r>
                <a:r>
                  <a:rPr lang="zh-CN" altLang="en-US" sz="2000" dirty="0"/>
                  <a:t>个动量自由度）</a:t>
                </a:r>
                <a:endParaRPr lang="en-US" altLang="zh-CN" sz="2000" dirty="0"/>
              </a:p>
              <a:p>
                <a:pPr>
                  <a:lnSpc>
                    <a:spcPct val="100000"/>
                  </a:lnSpc>
                  <a:spcBef>
                    <a:spcPts val="0"/>
                  </a:spcBef>
                  <a:spcAft>
                    <a:spcPts val="1200"/>
                  </a:spcAft>
                </a:pPr>
                <a14:m>
                  <m:oMath xmlns:m="http://schemas.openxmlformats.org/officeDocument/2006/math">
                    <m:r>
                      <a:rPr lang="zh-CN" altLang="en-US" sz="2000" b="0" i="1" smtClean="0">
                        <a:latin typeface="Cambria Math" panose="02040503050406030204" pitchFamily="18" charset="0"/>
                      </a:rPr>
                      <m:t>总能</m:t>
                    </m:r>
                    <m:r>
                      <a:rPr lang="en-US" altLang="zh-CN" sz="2000" b="0" i="1" smtClean="0">
                        <a:latin typeface="Cambria Math" panose="02040503050406030204" pitchFamily="18" charset="0"/>
                      </a:rPr>
                      <m:t>𝐸</m:t>
                    </m:r>
                    <m:r>
                      <a:rPr lang="en-US" sz="2000" b="0" i="1" smtClean="0">
                        <a:latin typeface="Cambria Math" panose="02040503050406030204" pitchFamily="18" charset="0"/>
                      </a:rPr>
                      <m:t>=3</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𝐴</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𝑘</m:t>
                        </m:r>
                      </m:e>
                      <m:sub>
                        <m:r>
                          <a:rPr lang="en-US" sz="2000" b="0" i="1" smtClean="0">
                            <a:latin typeface="Cambria Math" panose="02040503050406030204" pitchFamily="18" charset="0"/>
                          </a:rPr>
                          <m:t>𝐵</m:t>
                        </m:r>
                      </m:sub>
                    </m:sSub>
                    <m:r>
                      <a:rPr lang="en-US" sz="2000" b="0" i="1" smtClean="0">
                        <a:latin typeface="Cambria Math" panose="02040503050406030204" pitchFamily="18" charset="0"/>
                      </a:rPr>
                      <m:t>𝑇</m:t>
                    </m:r>
                  </m:oMath>
                </a14:m>
                <a:endParaRPr lang="en-US" sz="2000" dirty="0"/>
              </a:p>
              <a:p>
                <a:pPr>
                  <a:lnSpc>
                    <a:spcPct val="100000"/>
                  </a:lnSpc>
                  <a:spcBef>
                    <a:spcPts val="0"/>
                  </a:spcBef>
                  <a:spcAft>
                    <a:spcPts val="1200"/>
                  </a:spcAft>
                </a:pPr>
                <a14:m>
                  <m:oMath xmlns:m="http://schemas.openxmlformats.org/officeDocument/2006/math">
                    <m:r>
                      <a:rPr lang="zh-CN" altLang="en-US" sz="2000" i="1" dirty="0" smtClean="0">
                        <a:solidFill>
                          <a:srgbClr val="FF0000"/>
                        </a:solidFill>
                        <a:latin typeface="Cambria Math" panose="02040503050406030204" pitchFamily="18" charset="0"/>
                      </a:rPr>
                      <m:t>热容</m:t>
                    </m:r>
                    <m:r>
                      <a:rPr lang="en-US" altLang="zh-CN" sz="2000" b="0" i="1" dirty="0" smtClean="0">
                        <a:solidFill>
                          <a:srgbClr val="FF0000"/>
                        </a:solidFill>
                        <a:latin typeface="Cambria Math" panose="02040503050406030204" pitchFamily="18" charset="0"/>
                      </a:rPr>
                      <m:t>𝐶</m:t>
                    </m:r>
                    <m:r>
                      <a:rPr lang="en-US" altLang="zh-CN" sz="2000" b="0" i="1" smtClean="0">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3</m:t>
                    </m:r>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𝑁</m:t>
                        </m:r>
                      </m:e>
                      <m:sub>
                        <m:r>
                          <a:rPr lang="en-US" sz="2000" i="1">
                            <a:solidFill>
                              <a:srgbClr val="FF0000"/>
                            </a:solidFill>
                            <a:latin typeface="Cambria Math" panose="02040503050406030204" pitchFamily="18" charset="0"/>
                          </a:rPr>
                          <m:t>𝐴</m:t>
                        </m:r>
                      </m:sub>
                    </m:sSub>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𝑘</m:t>
                        </m:r>
                      </m:e>
                      <m:sub>
                        <m:r>
                          <a:rPr lang="en-US" sz="2000" i="1">
                            <a:solidFill>
                              <a:srgbClr val="FF0000"/>
                            </a:solidFill>
                            <a:latin typeface="Cambria Math" panose="02040503050406030204" pitchFamily="18" charset="0"/>
                          </a:rPr>
                          <m:t>𝐵</m:t>
                        </m:r>
                      </m:sub>
                    </m:sSub>
                    <m:r>
                      <a:rPr lang="en-US" altLang="zh-CN" sz="2000" i="1" smtClean="0">
                        <a:solidFill>
                          <a:srgbClr val="FF0000"/>
                        </a:solidFill>
                        <a:latin typeface="Cambria Math" panose="02040503050406030204" pitchFamily="18" charset="0"/>
                      </a:rPr>
                      <m:t>=</m:t>
                    </m:r>
                    <m:r>
                      <a:rPr lang="en-US" altLang="zh-CN" sz="2000" b="0" i="0" smtClean="0">
                        <a:solidFill>
                          <a:srgbClr val="FF0000"/>
                        </a:solidFill>
                        <a:latin typeface="Cambria Math" panose="02040503050406030204" pitchFamily="18" charset="0"/>
                      </a:rPr>
                      <m:t>24.9</m:t>
                    </m:r>
                  </m:oMath>
                </a14:m>
                <a:r>
                  <a:rPr lang="en-US" altLang="zh-CN" sz="2000" dirty="0">
                    <a:solidFill>
                      <a:srgbClr val="FF0000"/>
                    </a:solidFill>
                  </a:rPr>
                  <a:t> J/mol/K</a:t>
                </a:r>
                <a:r>
                  <a:rPr lang="zh-CN" altLang="en-US" sz="2000" dirty="0">
                    <a:solidFill>
                      <a:srgbClr val="FF0000"/>
                    </a:solidFill>
                  </a:rPr>
                  <a:t>，为与温度无关的恒定值</a:t>
                </a:r>
                <a:endParaRPr lang="en-US" sz="2000" dirty="0">
                  <a:solidFill>
                    <a:srgbClr val="FF0000"/>
                  </a:solidFill>
                </a:endParaRPr>
              </a:p>
              <a:p>
                <a:pPr marL="0" indent="0">
                  <a:lnSpc>
                    <a:spcPct val="100000"/>
                  </a:lnSpc>
                  <a:spcBef>
                    <a:spcPts val="0"/>
                  </a:spcBef>
                  <a:spcAft>
                    <a:spcPts val="1200"/>
                  </a:spcAft>
                  <a:buNone/>
                </a:pPr>
                <a:endParaRPr lang="en-US" sz="2000" dirty="0"/>
              </a:p>
            </p:txBody>
          </p:sp>
        </mc:Choice>
        <mc:Fallback>
          <p:sp>
            <p:nvSpPr>
              <p:cNvPr id="3" name="内容占位符 2">
                <a:extLst>
                  <a:ext uri="{FF2B5EF4-FFF2-40B4-BE49-F238E27FC236}">
                    <a16:creationId xmlns:a16="http://schemas.microsoft.com/office/drawing/2014/main" id="{2B31CC65-F558-DA17-2F61-0301D54D18D4}"/>
                  </a:ext>
                </a:extLst>
              </p:cNvPr>
              <p:cNvSpPr>
                <a:spLocks noGrp="1" noRot="1" noChangeAspect="1" noMove="1" noResize="1" noEditPoints="1" noAdjustHandles="1" noChangeArrowheads="1" noChangeShapeType="1" noTextEdit="1"/>
              </p:cNvSpPr>
              <p:nvPr>
                <p:ph idx="1"/>
              </p:nvPr>
            </p:nvSpPr>
            <p:spPr>
              <a:blipFill>
                <a:blip r:embed="rId2"/>
                <a:stretch>
                  <a:fillRect l="-522"/>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E492D202-1E52-4A7A-F60D-F755C57A255B}"/>
              </a:ext>
            </a:extLst>
          </p:cNvPr>
          <p:cNvPicPr>
            <a:picLocks noChangeAspect="1"/>
          </p:cNvPicPr>
          <p:nvPr/>
        </p:nvPicPr>
        <p:blipFill>
          <a:blip r:embed="rId3"/>
          <a:stretch>
            <a:fillRect/>
          </a:stretch>
        </p:blipFill>
        <p:spPr>
          <a:xfrm>
            <a:off x="4142509" y="4431079"/>
            <a:ext cx="3232382" cy="2312654"/>
          </a:xfrm>
          <a:prstGeom prst="rect">
            <a:avLst/>
          </a:prstGeom>
        </p:spPr>
      </p:pic>
      <p:cxnSp>
        <p:nvCxnSpPr>
          <p:cNvPr id="7" name="直接连接符 6">
            <a:extLst>
              <a:ext uri="{FF2B5EF4-FFF2-40B4-BE49-F238E27FC236}">
                <a16:creationId xmlns:a16="http://schemas.microsoft.com/office/drawing/2014/main" id="{AD8AF8DD-E0CE-65A2-042F-88C7CDE64DA2}"/>
              </a:ext>
            </a:extLst>
          </p:cNvPr>
          <p:cNvCxnSpPr/>
          <p:nvPr/>
        </p:nvCxnSpPr>
        <p:spPr>
          <a:xfrm>
            <a:off x="4501660" y="4732215"/>
            <a:ext cx="387003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66D0DE2F-FCBE-126F-4800-04E59E662597}"/>
                  </a:ext>
                </a:extLst>
              </p:cNvPr>
              <p:cNvSpPr txBox="1"/>
              <p:nvPr/>
            </p:nvSpPr>
            <p:spPr>
              <a:xfrm>
                <a:off x="8406865" y="4547549"/>
                <a:ext cx="1528614" cy="369332"/>
              </a:xfrm>
              <a:prstGeom prst="rect">
                <a:avLst/>
              </a:prstGeom>
              <a:noFill/>
            </p:spPr>
            <p:txBody>
              <a:bodyPr wrap="square">
                <a:spAutoFit/>
              </a:bodyPr>
              <a:lstStyle/>
              <a:p>
                <a14:m>
                  <m:oMath xmlns:m="http://schemas.openxmlformats.org/officeDocument/2006/math">
                    <m:r>
                      <a:rPr lang="en-US" altLang="zh-CN" b="0" i="0" smtClean="0">
                        <a:solidFill>
                          <a:srgbClr val="FF0000"/>
                        </a:solidFill>
                        <a:latin typeface="Cambria Math" panose="02040503050406030204" pitchFamily="18" charset="0"/>
                      </a:rPr>
                      <m:t>24.9</m:t>
                    </m:r>
                  </m:oMath>
                </a14:m>
                <a:r>
                  <a:rPr lang="en-US" altLang="zh-CN" dirty="0">
                    <a:solidFill>
                      <a:srgbClr val="FF0000"/>
                    </a:solidFill>
                  </a:rPr>
                  <a:t> J/mol/K</a:t>
                </a:r>
                <a:endParaRPr lang="zh-CN" altLang="en-US" dirty="0">
                  <a:solidFill>
                    <a:srgbClr val="FF0000"/>
                  </a:solidFill>
                </a:endParaRPr>
              </a:p>
            </p:txBody>
          </p:sp>
        </mc:Choice>
        <mc:Fallback xmlns="">
          <p:sp>
            <p:nvSpPr>
              <p:cNvPr id="6" name="文本框 5">
                <a:extLst>
                  <a:ext uri="{FF2B5EF4-FFF2-40B4-BE49-F238E27FC236}">
                    <a16:creationId xmlns:a16="http://schemas.microsoft.com/office/drawing/2014/main" id="{66D0DE2F-FCBE-126F-4800-04E59E662597}"/>
                  </a:ext>
                </a:extLst>
              </p:cNvPr>
              <p:cNvSpPr txBox="1">
                <a:spLocks noRot="1" noChangeAspect="1" noMove="1" noResize="1" noEditPoints="1" noAdjustHandles="1" noChangeArrowheads="1" noChangeShapeType="1" noTextEdit="1"/>
              </p:cNvSpPr>
              <p:nvPr/>
            </p:nvSpPr>
            <p:spPr>
              <a:xfrm>
                <a:off x="8406865" y="4547549"/>
                <a:ext cx="1528614" cy="369332"/>
              </a:xfrm>
              <a:prstGeom prst="rect">
                <a:avLst/>
              </a:prstGeom>
              <a:blipFill>
                <a:blip r:embed="rId4"/>
                <a:stretch>
                  <a:fillRect t="-9836" b="-24590"/>
                </a:stretch>
              </a:blipFill>
            </p:spPr>
            <p:txBody>
              <a:bodyPr/>
              <a:lstStyle/>
              <a:p>
                <a:r>
                  <a:rPr lang="zh-CN" altLang="en-US">
                    <a:noFill/>
                  </a:rPr>
                  <a:t> </a:t>
                </a:r>
              </a:p>
            </p:txBody>
          </p:sp>
        </mc:Fallback>
      </mc:AlternateContent>
      <p:graphicFrame>
        <p:nvGraphicFramePr>
          <p:cNvPr id="4" name="表格 3">
            <a:extLst>
              <a:ext uri="{FF2B5EF4-FFF2-40B4-BE49-F238E27FC236}">
                <a16:creationId xmlns:a16="http://schemas.microsoft.com/office/drawing/2014/main" id="{28D4DCE3-4870-6170-8351-8D659A2610AF}"/>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17</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756915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750D33-C8DB-7866-62CA-2B78DF2C7B34}"/>
              </a:ext>
            </a:extLst>
          </p:cNvPr>
          <p:cNvSpPr>
            <a:spLocks noGrp="1"/>
          </p:cNvSpPr>
          <p:nvPr>
            <p:ph type="title"/>
          </p:nvPr>
        </p:nvSpPr>
        <p:spPr/>
        <p:txBody>
          <a:bodyPr/>
          <a:lstStyle/>
          <a:p>
            <a:r>
              <a:rPr lang="zh-CN" altLang="en-US" dirty="0"/>
              <a:t>杜隆</a:t>
            </a:r>
            <a:r>
              <a:rPr lang="en-US" altLang="zh-CN" dirty="0"/>
              <a:t>-</a:t>
            </a:r>
            <a:r>
              <a:rPr lang="zh-CN" altLang="en-US" dirty="0"/>
              <a:t>珀蒂定律的失败（</a:t>
            </a:r>
            <a:r>
              <a:rPr lang="en-US" altLang="zh-CN" dirty="0"/>
              <a:t>1</a:t>
            </a:r>
            <a:r>
              <a:rPr lang="zh-CN" altLang="en-US" dirty="0"/>
              <a:t>）</a:t>
            </a:r>
          </a:p>
        </p:txBody>
      </p:sp>
      <p:pic>
        <p:nvPicPr>
          <p:cNvPr id="7" name="内容占位符 6" descr="图表&#10;&#10;AI 生成的内容可能不正确。">
            <a:extLst>
              <a:ext uri="{FF2B5EF4-FFF2-40B4-BE49-F238E27FC236}">
                <a16:creationId xmlns:a16="http://schemas.microsoft.com/office/drawing/2014/main" id="{E7FAC9FE-FA56-1F1B-AC6B-E4C411AADD3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1990725"/>
            <a:ext cx="5181600" cy="4021137"/>
          </a:xfrm>
        </p:spPr>
      </p:pic>
      <p:sp>
        <p:nvSpPr>
          <p:cNvPr id="5" name="内容占位符 4">
            <a:extLst>
              <a:ext uri="{FF2B5EF4-FFF2-40B4-BE49-F238E27FC236}">
                <a16:creationId xmlns:a16="http://schemas.microsoft.com/office/drawing/2014/main" id="{9B036C1C-D594-385F-9F3B-2C698EFC7987}"/>
              </a:ext>
            </a:extLst>
          </p:cNvPr>
          <p:cNvSpPr>
            <a:spLocks noGrp="1"/>
          </p:cNvSpPr>
          <p:nvPr>
            <p:ph sz="half" idx="2"/>
          </p:nvPr>
        </p:nvSpPr>
        <p:spPr>
          <a:xfrm>
            <a:off x="6172200" y="2719753"/>
            <a:ext cx="5181600" cy="3457209"/>
          </a:xfrm>
        </p:spPr>
        <p:txBody>
          <a:bodyPr>
            <a:normAutofit/>
          </a:bodyPr>
          <a:lstStyle/>
          <a:p>
            <a:pPr>
              <a:lnSpc>
                <a:spcPct val="100000"/>
              </a:lnSpc>
              <a:spcBef>
                <a:spcPts val="0"/>
              </a:spcBef>
              <a:spcAft>
                <a:spcPts val="1200"/>
              </a:spcAft>
            </a:pPr>
            <a:r>
              <a:rPr lang="zh-CN" altLang="en-US" sz="2000" dirty="0"/>
              <a:t>对于原子间键合紧密的轻原子构成的晶体，例如金属铍和金刚石，杜隆</a:t>
            </a:r>
            <a:r>
              <a:rPr lang="en-US" altLang="zh-CN" sz="2000" dirty="0"/>
              <a:t>-</a:t>
            </a:r>
            <a:r>
              <a:rPr lang="zh-CN" altLang="en-US" sz="2000" dirty="0"/>
              <a:t>珀蒂定律在室温下不成立。它预测的热容高于实际值</a:t>
            </a:r>
          </a:p>
        </p:txBody>
      </p:sp>
      <p:sp>
        <p:nvSpPr>
          <p:cNvPr id="8" name="文本框 7">
            <a:extLst>
              <a:ext uri="{FF2B5EF4-FFF2-40B4-BE49-F238E27FC236}">
                <a16:creationId xmlns:a16="http://schemas.microsoft.com/office/drawing/2014/main" id="{A8D44146-D66B-A137-602E-74FAAFCF27A2}"/>
              </a:ext>
            </a:extLst>
          </p:cNvPr>
          <p:cNvSpPr txBox="1"/>
          <p:nvPr/>
        </p:nvSpPr>
        <p:spPr>
          <a:xfrm>
            <a:off x="838200" y="6308209"/>
            <a:ext cx="5296643" cy="369332"/>
          </a:xfrm>
          <a:prstGeom prst="rect">
            <a:avLst/>
          </a:prstGeom>
          <a:noFill/>
        </p:spPr>
        <p:txBody>
          <a:bodyPr wrap="none" rtlCol="0">
            <a:spAutoFit/>
          </a:bodyPr>
          <a:lstStyle/>
          <a:p>
            <a:r>
              <a:rPr lang="en-US" altLang="zh-CN" dirty="0"/>
              <a:t>25</a:t>
            </a:r>
            <a:r>
              <a:rPr lang="zh-CN" altLang="en-US" dirty="0"/>
              <a:t>摄氏度下各物质的等压比热，黑色横线为</a:t>
            </a:r>
            <a:r>
              <a:rPr lang="en-US" altLang="zh-CN" dirty="0"/>
              <a:t>DP</a:t>
            </a:r>
            <a:r>
              <a:rPr lang="zh-CN" altLang="en-US" dirty="0"/>
              <a:t>定律</a:t>
            </a:r>
          </a:p>
        </p:txBody>
      </p:sp>
      <p:graphicFrame>
        <p:nvGraphicFramePr>
          <p:cNvPr id="3" name="表格 2">
            <a:extLst>
              <a:ext uri="{FF2B5EF4-FFF2-40B4-BE49-F238E27FC236}">
                <a16:creationId xmlns:a16="http://schemas.microsoft.com/office/drawing/2014/main" id="{A316A058-2F16-1E4C-A7DC-2D21AF6207A3}"/>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18</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9282827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C10944-C911-F4D5-2449-272E8EC3D9B8}"/>
              </a:ext>
            </a:extLst>
          </p:cNvPr>
          <p:cNvSpPr>
            <a:spLocks noGrp="1"/>
          </p:cNvSpPr>
          <p:nvPr>
            <p:ph type="title"/>
          </p:nvPr>
        </p:nvSpPr>
        <p:spPr/>
        <p:txBody>
          <a:bodyPr/>
          <a:lstStyle/>
          <a:p>
            <a:r>
              <a:rPr lang="zh-CN" altLang="en-US" dirty="0"/>
              <a:t>杜隆</a:t>
            </a:r>
            <a:r>
              <a:rPr lang="en-US" altLang="zh-CN" dirty="0"/>
              <a:t>-</a:t>
            </a:r>
            <a:r>
              <a:rPr lang="zh-CN" altLang="en-US" dirty="0"/>
              <a:t>珀蒂定律的失败（</a:t>
            </a:r>
            <a:r>
              <a:rPr lang="en-US" altLang="zh-CN" dirty="0"/>
              <a:t>2</a:t>
            </a:r>
            <a:r>
              <a:rPr lang="zh-CN" altLang="en-US" dirty="0"/>
              <a:t>）</a:t>
            </a:r>
            <a:endParaRPr lang="en-US" dirty="0"/>
          </a:p>
        </p:txBody>
      </p:sp>
      <p:sp>
        <p:nvSpPr>
          <p:cNvPr id="3" name="内容占位符 2">
            <a:extLst>
              <a:ext uri="{FF2B5EF4-FFF2-40B4-BE49-F238E27FC236}">
                <a16:creationId xmlns:a16="http://schemas.microsoft.com/office/drawing/2014/main" id="{387BC7A2-7B6D-F528-83F1-C536809A687F}"/>
              </a:ext>
            </a:extLst>
          </p:cNvPr>
          <p:cNvSpPr>
            <a:spLocks noGrp="1"/>
          </p:cNvSpPr>
          <p:nvPr>
            <p:ph idx="1"/>
          </p:nvPr>
        </p:nvSpPr>
        <p:spPr/>
        <p:txBody>
          <a:bodyPr>
            <a:normAutofit/>
          </a:bodyPr>
          <a:lstStyle/>
          <a:p>
            <a:pPr>
              <a:lnSpc>
                <a:spcPct val="100000"/>
              </a:lnSpc>
              <a:spcBef>
                <a:spcPts val="0"/>
              </a:spcBef>
              <a:spcAft>
                <a:spcPts val="1200"/>
              </a:spcAft>
            </a:pPr>
            <a:r>
              <a:rPr lang="zh-CN" altLang="en-US" sz="2000" dirty="0"/>
              <a:t>实验上，固体热容随温度下降而下降，当</a:t>
            </a:r>
            <a:r>
              <a:rPr lang="en-US" altLang="zh-CN" sz="2000" dirty="0"/>
              <a:t>T=0</a:t>
            </a:r>
            <a:r>
              <a:rPr lang="zh-CN" altLang="en-US" sz="2000" dirty="0"/>
              <a:t>时，</a:t>
            </a:r>
            <a:r>
              <a:rPr lang="en-US" altLang="zh-CN" sz="2000" dirty="0"/>
              <a:t>C=0</a:t>
            </a:r>
          </a:p>
          <a:p>
            <a:pPr>
              <a:lnSpc>
                <a:spcPct val="100000"/>
              </a:lnSpc>
              <a:spcBef>
                <a:spcPts val="0"/>
              </a:spcBef>
              <a:spcAft>
                <a:spcPts val="1200"/>
              </a:spcAft>
            </a:pPr>
            <a:r>
              <a:rPr lang="zh-CN" altLang="en-US" sz="2000" dirty="0"/>
              <a:t>理论上，热力学第三定律亦指出，当</a:t>
            </a:r>
            <a:r>
              <a:rPr lang="en-US" altLang="zh-CN" sz="2000" dirty="0"/>
              <a:t>T</a:t>
            </a:r>
            <a:r>
              <a:rPr lang="en-US" altLang="zh-CN" sz="2000" dirty="0">
                <a:sym typeface="Wingdings" panose="05000000000000000000" pitchFamily="2" charset="2"/>
              </a:rPr>
              <a:t></a:t>
            </a:r>
            <a:r>
              <a:rPr lang="en-US" altLang="zh-CN" sz="2000" dirty="0"/>
              <a:t>0</a:t>
            </a:r>
            <a:r>
              <a:rPr lang="zh-CN" altLang="en-US" sz="2000" dirty="0"/>
              <a:t>时，</a:t>
            </a:r>
            <a:r>
              <a:rPr lang="en-US" altLang="zh-CN" sz="2000" dirty="0"/>
              <a:t>C</a:t>
            </a:r>
            <a:r>
              <a:rPr lang="en-US" altLang="zh-CN" sz="2000" dirty="0">
                <a:sym typeface="Wingdings" panose="05000000000000000000" pitchFamily="2" charset="2"/>
              </a:rPr>
              <a:t></a:t>
            </a:r>
            <a:r>
              <a:rPr lang="en-US" altLang="zh-CN" sz="2000" dirty="0"/>
              <a:t>0</a:t>
            </a:r>
          </a:p>
          <a:p>
            <a:pPr>
              <a:lnSpc>
                <a:spcPct val="100000"/>
              </a:lnSpc>
              <a:spcBef>
                <a:spcPts val="0"/>
              </a:spcBef>
              <a:spcAft>
                <a:spcPts val="1200"/>
              </a:spcAft>
            </a:pPr>
            <a:endParaRPr lang="en-US" sz="2000" dirty="0"/>
          </a:p>
        </p:txBody>
      </p:sp>
      <p:pic>
        <p:nvPicPr>
          <p:cNvPr id="5" name="图片 4">
            <a:extLst>
              <a:ext uri="{FF2B5EF4-FFF2-40B4-BE49-F238E27FC236}">
                <a16:creationId xmlns:a16="http://schemas.microsoft.com/office/drawing/2014/main" id="{A9FB4F67-D63E-3C67-B5FF-29014E0ACF18}"/>
              </a:ext>
            </a:extLst>
          </p:cNvPr>
          <p:cNvPicPr>
            <a:picLocks noChangeAspect="1"/>
          </p:cNvPicPr>
          <p:nvPr/>
        </p:nvPicPr>
        <p:blipFill>
          <a:blip r:embed="rId2"/>
          <a:stretch>
            <a:fillRect/>
          </a:stretch>
        </p:blipFill>
        <p:spPr>
          <a:xfrm>
            <a:off x="3094944" y="2930771"/>
            <a:ext cx="5363787" cy="3837598"/>
          </a:xfrm>
          <a:prstGeom prst="rect">
            <a:avLst/>
          </a:prstGeom>
        </p:spPr>
      </p:pic>
      <p:graphicFrame>
        <p:nvGraphicFramePr>
          <p:cNvPr id="4" name="表格 3">
            <a:extLst>
              <a:ext uri="{FF2B5EF4-FFF2-40B4-BE49-F238E27FC236}">
                <a16:creationId xmlns:a16="http://schemas.microsoft.com/office/drawing/2014/main" id="{C407B799-B48F-26D2-288C-59ADD1EED42A}"/>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19</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501015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824291C3-5EAD-94CB-D018-9DE01F4613B6}"/>
              </a:ext>
            </a:extLst>
          </p:cNvPr>
          <p:cNvSpPr/>
          <p:nvPr/>
        </p:nvSpPr>
        <p:spPr>
          <a:xfrm>
            <a:off x="1091942" y="1526788"/>
            <a:ext cx="9655571" cy="494169"/>
          </a:xfrm>
          <a:prstGeom prst="roundRect">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a:extLst>
              <a:ext uri="{FF2B5EF4-FFF2-40B4-BE49-F238E27FC236}">
                <a16:creationId xmlns:a16="http://schemas.microsoft.com/office/drawing/2014/main" id="{D23B2049-38B3-E808-6340-584600B56A9D}"/>
              </a:ext>
            </a:extLst>
          </p:cNvPr>
          <p:cNvSpPr/>
          <p:nvPr/>
        </p:nvSpPr>
        <p:spPr>
          <a:xfrm>
            <a:off x="4564011" y="3804891"/>
            <a:ext cx="3032543" cy="814001"/>
          </a:xfrm>
          <a:prstGeom prst="roundRect">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4BBFA73C-8674-8A41-4FDC-5A045936A314}"/>
              </a:ext>
            </a:extLst>
          </p:cNvPr>
          <p:cNvSpPr>
            <a:spLocks noGrp="1"/>
          </p:cNvSpPr>
          <p:nvPr>
            <p:ph type="title"/>
          </p:nvPr>
        </p:nvSpPr>
        <p:spPr/>
        <p:txBody>
          <a:bodyPr/>
          <a:lstStyle/>
          <a:p>
            <a:r>
              <a:rPr lang="zh-CN" altLang="en-US" dirty="0">
                <a:solidFill>
                  <a:srgbClr val="FF0000"/>
                </a:solidFill>
              </a:rPr>
              <a:t>爱因斯坦模型</a:t>
            </a:r>
            <a:endParaRPr lang="en-US" dirty="0">
              <a:solidFill>
                <a:srgbClr val="FF0000"/>
              </a:solidFill>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2B790CE-7335-EABE-1ABC-EC3115257573}"/>
                  </a:ext>
                </a:extLst>
              </p:cNvPr>
              <p:cNvSpPr>
                <a:spLocks noGrp="1"/>
              </p:cNvSpPr>
              <p:nvPr>
                <p:ph idx="1"/>
              </p:nvPr>
            </p:nvSpPr>
            <p:spPr>
              <a:xfrm>
                <a:off x="838200" y="1535723"/>
                <a:ext cx="10515600" cy="4957152"/>
              </a:xfrm>
            </p:spPr>
            <p:txBody>
              <a:bodyPr>
                <a:normAutofit fontScale="92500"/>
              </a:bodyPr>
              <a:lstStyle/>
              <a:p>
                <a:pPr>
                  <a:lnSpc>
                    <a:spcPct val="100000"/>
                  </a:lnSpc>
                  <a:spcBef>
                    <a:spcPts val="0"/>
                  </a:spcBef>
                  <a:spcAft>
                    <a:spcPts val="600"/>
                  </a:spcAft>
                </a:pPr>
                <a:r>
                  <a:rPr lang="zh-CN" altLang="en-US" b="1" dirty="0">
                    <a:solidFill>
                      <a:srgbClr val="FF0000"/>
                    </a:solidFill>
                  </a:rPr>
                  <a:t>假设：</a:t>
                </a:r>
                <a:r>
                  <a:rPr lang="zh-CN" altLang="en-US" dirty="0">
                    <a:solidFill>
                      <a:srgbClr val="FF0000"/>
                    </a:solidFill>
                  </a:rPr>
                  <a:t>固体中所有简正模具有相同的频率</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𝜔</m:t>
                        </m:r>
                      </m:e>
                      <m:sub>
                        <m:r>
                          <a:rPr lang="en-US" i="1">
                            <a:solidFill>
                              <a:srgbClr val="FF0000"/>
                            </a:solidFill>
                            <a:latin typeface="Cambria Math" panose="02040503050406030204" pitchFamily="18" charset="0"/>
                          </a:rPr>
                          <m:t>0</m:t>
                        </m:r>
                      </m:sub>
                    </m:sSub>
                  </m:oMath>
                </a14:m>
                <a:r>
                  <a:rPr lang="en-US" dirty="0"/>
                  <a:t>（</a:t>
                </a:r>
                <a:r>
                  <a:rPr lang="zh-CN" altLang="en-US" dirty="0">
                    <a:solidFill>
                      <a:srgbClr val="FF0000"/>
                    </a:solidFill>
                  </a:rPr>
                  <a:t>所有声子频率相同</a:t>
                </a:r>
                <a:r>
                  <a:rPr lang="en-US" dirty="0"/>
                  <a:t>）</a:t>
                </a:r>
              </a:p>
              <a:p>
                <a:pPr>
                  <a:lnSpc>
                    <a:spcPct val="100000"/>
                  </a:lnSpc>
                  <a:spcBef>
                    <a:spcPts val="0"/>
                  </a:spcBef>
                  <a:spcAft>
                    <a:spcPts val="600"/>
                  </a:spcAft>
                </a:pPr>
                <a:r>
                  <a:rPr lang="zh-CN" altLang="en-US" sz="2800" dirty="0"/>
                  <a:t>每个简谐振动的</a:t>
                </a:r>
                <a:r>
                  <a:rPr lang="zh-CN" altLang="en-US" dirty="0"/>
                  <a:t>平均能量为</a:t>
                </a:r>
                <a:endParaRPr lang="en-US" altLang="zh-CN" dirty="0"/>
              </a:p>
              <a:p>
                <a:pPr marL="0" indent="0">
                  <a:lnSpc>
                    <a:spcPct val="100000"/>
                  </a:lnSpc>
                  <a:spcBef>
                    <a:spcPts val="0"/>
                  </a:spcBef>
                  <a:spcAft>
                    <a:spcPts val="600"/>
                  </a:spcAft>
                  <a:buNone/>
                </a:pPr>
                <a14:m>
                  <m:oMathPara xmlns:m="http://schemas.openxmlformats.org/officeDocument/2006/math">
                    <m:oMath>
                      <m:d>
                        <m:dPr>
                          <m:begChr m:val="⟨"/>
                          <m:endChr m:val="⟩"/>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𝜀</m:t>
                          </m:r>
                        </m:e>
                      </m:d>
                      <m:r>
                        <a:rPr lang="en-US" altLang="zh-CN" i="1">
                          <a:solidFill>
                            <a:schemeClr val="tx1"/>
                          </a:solidFill>
                          <a:latin typeface="Cambria Math" panose="02040503050406030204" pitchFamily="18" charset="0"/>
                        </a:rPr>
                        <m:t>=</m:t>
                      </m:r>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1</m:t>
                          </m:r>
                        </m:num>
                        <m:den>
                          <m:r>
                            <a:rPr lang="en-US" i="1">
                              <a:solidFill>
                                <a:schemeClr val="tx1"/>
                              </a:solidFill>
                              <a:latin typeface="Cambria Math" panose="02040503050406030204" pitchFamily="18" charset="0"/>
                            </a:rPr>
                            <m:t>2</m:t>
                          </m:r>
                        </m:den>
                      </m:f>
                      <m:r>
                        <m:rPr>
                          <m:sty m:val="p"/>
                        </m:rPr>
                        <a:rPr lang="en-US" i="1">
                          <a:solidFill>
                            <a:schemeClr val="tx1"/>
                          </a:solidFill>
                          <a:latin typeface="Cambria Math" panose="02040503050406030204" pitchFamily="18" charset="0"/>
                        </a:rPr>
                        <m:t>ℏ</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𝜔</m:t>
                          </m:r>
                        </m:e>
                        <m:sub>
                          <m:r>
                            <a:rPr lang="en-US" i="1">
                              <a:solidFill>
                                <a:schemeClr val="tx1"/>
                              </a:solidFill>
                              <a:latin typeface="Cambria Math" panose="02040503050406030204" pitchFamily="18" charset="0"/>
                            </a:rPr>
                            <m:t>0</m:t>
                          </m:r>
                        </m:sub>
                      </m:sSub>
                      <m:r>
                        <a:rPr lang="en-US" b="0" i="1" smtClean="0">
                          <a:solidFill>
                            <a:schemeClr val="tx1"/>
                          </a:solidFill>
                          <a:latin typeface="Cambria Math" panose="02040503050406030204" pitchFamily="18" charset="0"/>
                        </a:rPr>
                        <m:t>+</m:t>
                      </m:r>
                      <m:f>
                        <m:fPr>
                          <m:ctrlPr>
                            <a:rPr lang="en-US" i="1">
                              <a:solidFill>
                                <a:schemeClr val="tx1"/>
                              </a:solidFill>
                              <a:latin typeface="Cambria Math" panose="02040503050406030204" pitchFamily="18" charset="0"/>
                            </a:rPr>
                          </m:ctrlPr>
                        </m:fPr>
                        <m:num>
                          <m:r>
                            <m:rPr>
                              <m:sty m:val="p"/>
                            </m:rPr>
                            <a:rPr lang="en-US" i="1">
                              <a:solidFill>
                                <a:schemeClr val="tx1"/>
                              </a:solidFill>
                              <a:latin typeface="Cambria Math" panose="02040503050406030204" pitchFamily="18" charset="0"/>
                            </a:rPr>
                            <m:t>ℏ</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𝜔</m:t>
                              </m:r>
                            </m:e>
                            <m:sub>
                              <m:r>
                                <a:rPr lang="en-US" i="1">
                                  <a:solidFill>
                                    <a:schemeClr val="tx1"/>
                                  </a:solidFill>
                                  <a:latin typeface="Cambria Math" panose="02040503050406030204" pitchFamily="18" charset="0"/>
                                </a:rPr>
                                <m:t>0</m:t>
                              </m:r>
                            </m:sub>
                          </m:sSub>
                        </m:num>
                        <m:den>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f>
                                <m:fPr>
                                  <m:type m:val="lin"/>
                                  <m:ctrlPr>
                                    <a:rPr lang="en-US" i="1">
                                      <a:solidFill>
                                        <a:schemeClr val="tx1"/>
                                      </a:solidFill>
                                      <a:latin typeface="Cambria Math" panose="02040503050406030204" pitchFamily="18" charset="0"/>
                                    </a:rPr>
                                  </m:ctrlPr>
                                </m:fPr>
                                <m:num>
                                  <m:r>
                                    <m:rPr>
                                      <m:sty m:val="p"/>
                                    </m:rPr>
                                    <a:rPr lang="en-US" i="1">
                                      <a:solidFill>
                                        <a:schemeClr val="tx1"/>
                                      </a:solidFill>
                                      <a:latin typeface="Cambria Math" panose="02040503050406030204" pitchFamily="18" charset="0"/>
                                    </a:rPr>
                                    <m:t>ℏ</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𝜔</m:t>
                                      </m:r>
                                    </m:e>
                                    <m:sub>
                                      <m:r>
                                        <a:rPr lang="en-US" i="1">
                                          <a:solidFill>
                                            <a:schemeClr val="tx1"/>
                                          </a:solidFill>
                                          <a:latin typeface="Cambria Math" panose="02040503050406030204" pitchFamily="18" charset="0"/>
                                        </a:rPr>
                                        <m:t>0</m:t>
                                      </m:r>
                                    </m:sub>
                                  </m:sSub>
                                </m:num>
                                <m:den>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𝑘</m:t>
                                      </m:r>
                                    </m:e>
                                    <m:sub>
                                      <m:r>
                                        <a:rPr lang="en-US" i="1">
                                          <a:solidFill>
                                            <a:schemeClr val="tx1"/>
                                          </a:solidFill>
                                          <a:latin typeface="Cambria Math" panose="02040503050406030204" pitchFamily="18" charset="0"/>
                                        </a:rPr>
                                        <m:t>𝐵</m:t>
                                      </m:r>
                                    </m:sub>
                                  </m:sSub>
                                  <m:r>
                                    <a:rPr lang="en-US" i="1">
                                      <a:solidFill>
                                        <a:schemeClr val="tx1"/>
                                      </a:solidFill>
                                      <a:latin typeface="Cambria Math" panose="02040503050406030204" pitchFamily="18" charset="0"/>
                                      <a:ea typeface="Cambria Math" panose="02040503050406030204" pitchFamily="18" charset="0"/>
                                    </a:rPr>
                                    <m:t>𝑇</m:t>
                                  </m:r>
                                </m:den>
                              </m:f>
                            </m:sup>
                          </m:sSup>
                          <m:r>
                            <a:rPr lang="en-US" b="0" i="1" smtClean="0">
                              <a:solidFill>
                                <a:schemeClr val="tx1"/>
                              </a:solidFill>
                              <a:latin typeface="Cambria Math" panose="02040503050406030204" pitchFamily="18" charset="0"/>
                              <a:ea typeface="Cambria Math" panose="02040503050406030204" pitchFamily="18" charset="0"/>
                            </a:rPr>
                            <m:t>−1</m:t>
                          </m:r>
                        </m:den>
                      </m:f>
                      <m:r>
                        <a:rPr lang="en-US" b="0" i="1" smtClean="0">
                          <a:solidFill>
                            <a:schemeClr val="tx1"/>
                          </a:solidFill>
                          <a:latin typeface="Cambria Math" panose="02040503050406030204" pitchFamily="18" charset="0"/>
                          <a:ea typeface="Cambria Math" panose="02040503050406030204" pitchFamily="18" charset="0"/>
                        </a:rPr>
                        <m:t>=</m:t>
                      </m:r>
                      <m:d>
                        <m:dPr>
                          <m:ctrlPr>
                            <a:rPr lang="en-US" altLang="zh-CN" b="0" i="1" smtClean="0">
                              <a:solidFill>
                                <a:srgbClr val="FF0000"/>
                              </a:solidFill>
                              <a:latin typeface="Cambria Math" panose="02040503050406030204" pitchFamily="18" charset="0"/>
                              <a:ea typeface="Cambria Math" panose="02040503050406030204" pitchFamily="18" charset="0"/>
                            </a:rPr>
                          </m:ctrlPr>
                        </m:dPr>
                        <m:e>
                          <m:f>
                            <m:fPr>
                              <m:ctrlPr>
                                <a:rPr lang="en-US" altLang="zh-CN" b="0" i="1" smtClean="0">
                                  <a:solidFill>
                                    <a:srgbClr val="FF0000"/>
                                  </a:solidFill>
                                  <a:latin typeface="Cambria Math" panose="02040503050406030204" pitchFamily="18" charset="0"/>
                                  <a:ea typeface="Cambria Math" panose="02040503050406030204" pitchFamily="18" charset="0"/>
                                </a:rPr>
                              </m:ctrlPr>
                            </m:fPr>
                            <m:num>
                              <m:r>
                                <a:rPr lang="en-US" altLang="zh-CN" b="0" i="1" smtClean="0">
                                  <a:solidFill>
                                    <a:srgbClr val="FF0000"/>
                                  </a:solidFill>
                                  <a:latin typeface="Cambria Math" panose="02040503050406030204" pitchFamily="18" charset="0"/>
                                  <a:ea typeface="Cambria Math" panose="02040503050406030204" pitchFamily="18" charset="0"/>
                                </a:rPr>
                                <m:t>1</m:t>
                              </m:r>
                            </m:num>
                            <m:den>
                              <m:r>
                                <a:rPr lang="en-US" altLang="zh-CN" b="0" i="1" smtClean="0">
                                  <a:solidFill>
                                    <a:srgbClr val="FF0000"/>
                                  </a:solidFill>
                                  <a:latin typeface="Cambria Math" panose="02040503050406030204" pitchFamily="18" charset="0"/>
                                  <a:ea typeface="Cambria Math" panose="02040503050406030204" pitchFamily="18" charset="0"/>
                                </a:rPr>
                                <m:t>2</m:t>
                              </m:r>
                            </m:den>
                          </m:f>
                          <m:r>
                            <a:rPr lang="en-US" altLang="zh-CN" b="0" i="1" smtClean="0">
                              <a:solidFill>
                                <a:srgbClr val="FF0000"/>
                              </a:solidFill>
                              <a:latin typeface="Cambria Math" panose="02040503050406030204" pitchFamily="18" charset="0"/>
                              <a:ea typeface="Cambria Math" panose="02040503050406030204" pitchFamily="18" charset="0"/>
                            </a:rPr>
                            <m:t>+</m:t>
                          </m:r>
                          <m:sSub>
                            <m:sSubPr>
                              <m:ctrlPr>
                                <a:rPr lang="en-US" altLang="zh-CN" b="0" i="1" smtClean="0">
                                  <a:solidFill>
                                    <a:srgbClr val="FF0000"/>
                                  </a:solidFill>
                                  <a:latin typeface="Cambria Math" panose="02040503050406030204" pitchFamily="18" charset="0"/>
                                  <a:ea typeface="Cambria Math" panose="02040503050406030204" pitchFamily="18" charset="0"/>
                                </a:rPr>
                              </m:ctrlPr>
                            </m:sSubPr>
                            <m:e>
                              <m:r>
                                <a:rPr lang="en-US" altLang="zh-CN" b="0" i="1" smtClean="0">
                                  <a:solidFill>
                                    <a:srgbClr val="FF0000"/>
                                  </a:solidFill>
                                  <a:latin typeface="Cambria Math" panose="02040503050406030204" pitchFamily="18" charset="0"/>
                                  <a:ea typeface="Cambria Math" panose="02040503050406030204" pitchFamily="18" charset="0"/>
                                </a:rPr>
                                <m:t>𝑓</m:t>
                              </m:r>
                            </m:e>
                            <m:sub>
                              <m:r>
                                <a:rPr lang="en-US" altLang="zh-CN" b="0" i="1" smtClean="0">
                                  <a:solidFill>
                                    <a:srgbClr val="FF0000"/>
                                  </a:solidFill>
                                  <a:latin typeface="Cambria Math" panose="02040503050406030204" pitchFamily="18" charset="0"/>
                                  <a:ea typeface="Cambria Math" panose="02040503050406030204" pitchFamily="18" charset="0"/>
                                </a:rPr>
                                <m:t>𝐵𝐸</m:t>
                              </m:r>
                            </m:sub>
                          </m:sSub>
                          <m:d>
                            <m:dPr>
                              <m:ctrlPr>
                                <a:rPr lang="en-US" altLang="zh-CN" i="1">
                                  <a:solidFill>
                                    <a:srgbClr val="FF0000"/>
                                  </a:solidFill>
                                  <a:latin typeface="Cambria Math" panose="02040503050406030204" pitchFamily="18" charset="0"/>
                                </a:rPr>
                              </m:ctrlPr>
                            </m:dPr>
                            <m:e>
                              <m:r>
                                <m:rPr>
                                  <m:sty m:val="p"/>
                                </m:rPr>
                                <a:rPr lang="en-US" altLang="zh-CN" i="1">
                                  <a:solidFill>
                                    <a:srgbClr val="FF0000"/>
                                  </a:solidFill>
                                  <a:latin typeface="Cambria Math" panose="02040503050406030204" pitchFamily="18" charset="0"/>
                                </a:rPr>
                                <m:t>ℏ</m:t>
                              </m:r>
                              <m:sSub>
                                <m:sSubPr>
                                  <m:ctrlPr>
                                    <a:rPr lang="en-US"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𝜔</m:t>
                                  </m:r>
                                </m:e>
                                <m:sub>
                                  <m:r>
                                    <a:rPr lang="en-US" altLang="zh-CN" i="1">
                                      <a:solidFill>
                                        <a:srgbClr val="FF0000"/>
                                      </a:solidFill>
                                      <a:latin typeface="Cambria Math" panose="02040503050406030204" pitchFamily="18" charset="0"/>
                                    </a:rPr>
                                    <m:t>0</m:t>
                                  </m:r>
                                </m:sub>
                              </m:sSub>
                            </m:e>
                          </m:d>
                        </m:e>
                      </m:d>
                      <m:r>
                        <m:rPr>
                          <m:sty m:val="p"/>
                        </m:rPr>
                        <a:rPr lang="en-US" altLang="zh-CN" i="1">
                          <a:latin typeface="Cambria Math" panose="02040503050406030204" pitchFamily="18" charset="0"/>
                        </a:rPr>
                        <m:t>ℏ</m:t>
                      </m:r>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0</m:t>
                          </m:r>
                        </m:sub>
                      </m:sSub>
                      <m:r>
                        <a:rPr lang="en-US" altLang="zh-CN" b="0" i="1" smtClean="0">
                          <a:solidFill>
                            <a:schemeClr val="tx1"/>
                          </a:solidFill>
                          <a:latin typeface="Cambria Math" panose="02040503050406030204" pitchFamily="18" charset="0"/>
                          <a:ea typeface="Cambria Math" panose="02040503050406030204" pitchFamily="18" charset="0"/>
                        </a:rPr>
                        <m:t>=</m:t>
                      </m:r>
                      <m:d>
                        <m:dPr>
                          <m:begChr m:val="⟨"/>
                          <m:endChr m:val="⟩"/>
                          <m:ctrlPr>
                            <a:rPr lang="en-US" altLang="zh-CN" i="1">
                              <a:solidFill>
                                <a:srgbClr val="FF0000"/>
                              </a:solidFill>
                              <a:latin typeface="Cambria Math" panose="02040503050406030204" pitchFamily="18" charset="0"/>
                              <a:ea typeface="Cambria Math" panose="02040503050406030204" pitchFamily="18" charset="0"/>
                            </a:rPr>
                          </m:ctrlPr>
                        </m:dPr>
                        <m:e>
                          <m:sSub>
                            <m:sSubPr>
                              <m:ctrlPr>
                                <a:rPr lang="en-US" altLang="zh-CN" i="1">
                                  <a:solidFill>
                                    <a:srgbClr val="FF0000"/>
                                  </a:solidFill>
                                  <a:latin typeface="Cambria Math" panose="02040503050406030204" pitchFamily="18" charset="0"/>
                                  <a:ea typeface="Cambria Math" panose="02040503050406030204" pitchFamily="18" charset="0"/>
                                </a:rPr>
                              </m:ctrlPr>
                            </m:sSubPr>
                            <m:e>
                              <m:r>
                                <a:rPr lang="en-US" altLang="zh-CN" i="1">
                                  <a:solidFill>
                                    <a:srgbClr val="FF0000"/>
                                  </a:solidFill>
                                  <a:latin typeface="Cambria Math" panose="02040503050406030204" pitchFamily="18" charset="0"/>
                                  <a:ea typeface="Cambria Math" panose="02040503050406030204" pitchFamily="18" charset="0"/>
                                </a:rPr>
                                <m:t>𝑛</m:t>
                              </m:r>
                            </m:e>
                            <m:sub>
                              <m:r>
                                <a:rPr lang="en-US" altLang="zh-CN" i="1">
                                  <a:solidFill>
                                    <a:srgbClr val="FF0000"/>
                                  </a:solidFill>
                                  <a:latin typeface="Cambria Math" panose="02040503050406030204" pitchFamily="18" charset="0"/>
                                  <a:ea typeface="Cambria Math" panose="02040503050406030204" pitchFamily="18" charset="0"/>
                                </a:rPr>
                                <m:t>𝑝ℎ</m:t>
                              </m:r>
                            </m:sub>
                          </m:sSub>
                        </m:e>
                      </m:d>
                      <m:r>
                        <m:rPr>
                          <m:sty m:val="p"/>
                        </m:rPr>
                        <a:rPr lang="en-US" altLang="zh-CN" i="1">
                          <a:latin typeface="Cambria Math" panose="02040503050406030204" pitchFamily="18" charset="0"/>
                        </a:rPr>
                        <m:t>ℏ</m:t>
                      </m:r>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0</m:t>
                          </m:r>
                        </m:sub>
                      </m:sSub>
                    </m:oMath>
                  </m:oMathPara>
                </a14:m>
                <a:endParaRPr lang="en-US" dirty="0"/>
              </a:p>
              <a:p>
                <a:pPr>
                  <a:lnSpc>
                    <a:spcPct val="100000"/>
                  </a:lnSpc>
                  <a:spcBef>
                    <a:spcPts val="0"/>
                  </a:spcBef>
                  <a:spcAft>
                    <a:spcPts val="600"/>
                  </a:spcAft>
                </a:pPr>
                <a:r>
                  <a:rPr lang="zh-CN" altLang="en-US" dirty="0"/>
                  <a:t>晶格振动总能为</a:t>
                </a:r>
                <a:endParaRPr lang="en-US" altLang="zh-CN" dirty="0"/>
              </a:p>
              <a:p>
                <a:pPr marL="0" indent="0">
                  <a:lnSpc>
                    <a:spcPct val="100000"/>
                  </a:lnSpc>
                  <a:spcBef>
                    <a:spcPts val="0"/>
                  </a:spcBef>
                  <a:spcAft>
                    <a:spcPts val="600"/>
                  </a:spcAft>
                  <a:buNone/>
                </a:pPr>
                <a14:m>
                  <m:oMathPara xmlns:m="http://schemas.openxmlformats.org/officeDocument/2006/math">
                    <m:oMath>
                      <m:r>
                        <a:rPr lang="en-US" altLang="zh-CN" i="1" smtClean="0">
                          <a:latin typeface="Cambria Math" panose="02040503050406030204" pitchFamily="18" charset="0"/>
                          <a:ea typeface="Cambria Math" panose="02040503050406030204" pitchFamily="18" charset="0"/>
                        </a:rPr>
                        <m:t>𝐸</m:t>
                      </m:r>
                      <m:r>
                        <a:rPr lang="en-US" altLang="zh-CN" i="1">
                          <a:solidFill>
                            <a:schemeClr val="tx1"/>
                          </a:solidFill>
                          <a:latin typeface="Cambria Math" panose="02040503050406030204" pitchFamily="18" charset="0"/>
                        </a:rPr>
                        <m:t>=</m:t>
                      </m:r>
                      <m:r>
                        <a:rPr lang="en-US" i="1">
                          <a:latin typeface="Cambria Math" panose="02040503050406030204" pitchFamily="18" charset="0"/>
                        </a:rPr>
                        <m:t>3</m:t>
                      </m:r>
                      <m:r>
                        <a:rPr lang="en-US" b="0" i="1" smtClean="0">
                          <a:latin typeface="Cambria Math" panose="02040503050406030204" pitchFamily="18" charset="0"/>
                        </a:rPr>
                        <m:t>𝑁</m:t>
                      </m:r>
                      <m:d>
                        <m:dPr>
                          <m:begChr m:val="⟨"/>
                          <m:endChr m:val="⟩"/>
                          <m:ctrlPr>
                            <a:rPr lang="en-US" altLang="zh-CN" i="1">
                              <a:latin typeface="Cambria Math" panose="02040503050406030204" pitchFamily="18" charset="0"/>
                              <a:ea typeface="Cambria Math" panose="02040503050406030204" pitchFamily="18" charset="0"/>
                            </a:rPr>
                          </m:ctrlPr>
                        </m:dPr>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𝑛</m:t>
                              </m:r>
                            </m:e>
                            <m:sub>
                              <m:r>
                                <a:rPr lang="en-US" altLang="zh-CN" i="1">
                                  <a:latin typeface="Cambria Math" panose="02040503050406030204" pitchFamily="18" charset="0"/>
                                  <a:ea typeface="Cambria Math" panose="02040503050406030204" pitchFamily="18" charset="0"/>
                                </a:rPr>
                                <m:t>𝑝ℎ</m:t>
                              </m:r>
                            </m:sub>
                          </m:sSub>
                        </m:e>
                      </m:d>
                      <m:r>
                        <m:rPr>
                          <m:sty m:val="p"/>
                        </m:rPr>
                        <a:rPr lang="en-US" altLang="zh-CN" i="1">
                          <a:latin typeface="Cambria Math" panose="02040503050406030204" pitchFamily="18" charset="0"/>
                        </a:rPr>
                        <m:t>ℏ</m:t>
                      </m:r>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0</m:t>
                          </m:r>
                        </m:sub>
                      </m:sSub>
                    </m:oMath>
                  </m:oMathPara>
                </a14:m>
                <a:endParaRPr lang="en-US" dirty="0">
                  <a:ea typeface="Cambria Math" panose="02040503050406030204" pitchFamily="18" charset="0"/>
                </a:endParaRPr>
              </a:p>
              <a:p>
                <a:pPr>
                  <a:lnSpc>
                    <a:spcPct val="100000"/>
                  </a:lnSpc>
                  <a:spcBef>
                    <a:spcPts val="0"/>
                  </a:spcBef>
                  <a:spcAft>
                    <a:spcPts val="600"/>
                  </a:spcAft>
                </a:pPr>
                <a:r>
                  <a:rPr lang="zh-CN" altLang="en-US" dirty="0"/>
                  <a:t>热容为</a:t>
                </a:r>
                <a:endParaRPr lang="en-US" altLang="zh-CN" dirty="0"/>
              </a:p>
              <a:p>
                <a:pPr marL="0" indent="0">
                  <a:lnSpc>
                    <a:spcPct val="100000"/>
                  </a:lnSpc>
                  <a:spcBef>
                    <a:spcPts val="0"/>
                  </a:spcBef>
                  <a:spcAft>
                    <a:spcPts val="600"/>
                  </a:spcAft>
                  <a:buNone/>
                </a:pPr>
                <a14:m>
                  <m:oMathPara xmlns:m="http://schemas.openxmlformats.org/officeDocument/2006/math">
                    <m:oMath>
                      <m:r>
                        <a:rPr lang="en-US" altLang="zh-CN" i="1">
                          <a:solidFill>
                            <a:srgbClr val="000000"/>
                          </a:solidFill>
                          <a:latin typeface="Cambria Math" panose="02040503050406030204" pitchFamily="18" charset="0"/>
                        </a:rPr>
                        <m:t>𝐶</m:t>
                      </m:r>
                      <m:r>
                        <a:rPr lang="en-US" altLang="zh-CN" i="1">
                          <a:solidFill>
                            <a:srgbClr val="000000"/>
                          </a:solidFill>
                          <a:latin typeface="Cambria Math" panose="02040503050406030204" pitchFamily="18" charset="0"/>
                        </a:rPr>
                        <m:t>=3</m:t>
                      </m:r>
                      <m:r>
                        <a:rPr lang="en-US" altLang="zh-CN" i="1">
                          <a:latin typeface="Cambria Math" panose="02040503050406030204" pitchFamily="18" charset="0"/>
                        </a:rPr>
                        <m:t>𝑁</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𝑘</m:t>
                          </m:r>
                        </m:e>
                        <m:sub>
                          <m:r>
                            <a:rPr lang="en-US" altLang="zh-CN" i="1">
                              <a:solidFill>
                                <a:srgbClr val="000000"/>
                              </a:solidFill>
                              <a:latin typeface="Cambria Math" panose="02040503050406030204" pitchFamily="18" charset="0"/>
                            </a:rPr>
                            <m:t>𝐵</m:t>
                          </m:r>
                        </m:sub>
                      </m:sSub>
                      <m:sSup>
                        <m:sSupPr>
                          <m:ctrlPr>
                            <a:rPr lang="en-US" altLang="zh-CN" i="1">
                              <a:solidFill>
                                <a:srgbClr val="000000"/>
                              </a:solidFill>
                              <a:latin typeface="Cambria Math" panose="02040503050406030204" pitchFamily="18" charset="0"/>
                            </a:rPr>
                          </m:ctrlPr>
                        </m:sSupPr>
                        <m:e>
                          <m:d>
                            <m:dPr>
                              <m:ctrlPr>
                                <a:rPr lang="en-US" altLang="zh-CN" i="1">
                                  <a:solidFill>
                                    <a:srgbClr val="000000"/>
                                  </a:solidFill>
                                  <a:latin typeface="Cambria Math" panose="02040503050406030204" pitchFamily="18" charset="0"/>
                                </a:rPr>
                              </m:ctrlPr>
                            </m:dPr>
                            <m:e>
                              <m:f>
                                <m:fPr>
                                  <m:ctrlPr>
                                    <a:rPr lang="en-US" altLang="zh-CN" i="1">
                                      <a:solidFill>
                                        <a:srgbClr val="000000"/>
                                      </a:solidFill>
                                      <a:latin typeface="Cambria Math" panose="02040503050406030204" pitchFamily="18" charset="0"/>
                                    </a:rPr>
                                  </m:ctrlPr>
                                </m:fPr>
                                <m:num>
                                  <m:r>
                                    <m:rPr>
                                      <m:sty m:val="p"/>
                                    </m:rPr>
                                    <a:rPr lang="en-US" altLang="zh-CN" i="1">
                                      <a:solidFill>
                                        <a:srgbClr val="000000"/>
                                      </a:solidFill>
                                      <a:latin typeface="Cambria Math" panose="02040503050406030204" pitchFamily="18" charset="0"/>
                                    </a:rPr>
                                    <m:t>ℏ</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𝜔</m:t>
                                      </m:r>
                                    </m:e>
                                    <m:sub>
                                      <m:r>
                                        <a:rPr lang="en-US" altLang="zh-CN" i="1">
                                          <a:solidFill>
                                            <a:srgbClr val="000000"/>
                                          </a:solidFill>
                                          <a:latin typeface="Cambria Math" panose="02040503050406030204" pitchFamily="18" charset="0"/>
                                        </a:rPr>
                                        <m:t>0</m:t>
                                      </m:r>
                                    </m:sub>
                                  </m:sSub>
                                </m:num>
                                <m:den>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𝑘</m:t>
                                      </m:r>
                                    </m:e>
                                    <m:sub>
                                      <m:r>
                                        <a:rPr lang="en-US" altLang="zh-CN" i="1">
                                          <a:solidFill>
                                            <a:srgbClr val="000000"/>
                                          </a:solidFill>
                                          <a:latin typeface="Cambria Math" panose="02040503050406030204" pitchFamily="18" charset="0"/>
                                        </a:rPr>
                                        <m:t>𝐵</m:t>
                                      </m:r>
                                    </m:sub>
                                  </m:sSub>
                                  <m:r>
                                    <a:rPr lang="en-US" altLang="zh-CN" i="1">
                                      <a:solidFill>
                                        <a:srgbClr val="000000"/>
                                      </a:solidFill>
                                      <a:latin typeface="Cambria Math" panose="02040503050406030204" pitchFamily="18" charset="0"/>
                                    </a:rPr>
                                    <m:t>𝑇</m:t>
                                  </m:r>
                                </m:den>
                              </m:f>
                            </m:e>
                          </m:d>
                        </m:e>
                        <m:sup>
                          <m:r>
                            <a:rPr lang="en-US" altLang="zh-CN" i="1">
                              <a:solidFill>
                                <a:srgbClr val="000000"/>
                              </a:solidFill>
                              <a:latin typeface="Cambria Math" panose="02040503050406030204" pitchFamily="18" charset="0"/>
                            </a:rPr>
                            <m:t>2</m:t>
                          </m:r>
                        </m:sup>
                      </m:sSup>
                      <m:f>
                        <m:fPr>
                          <m:ctrlPr>
                            <a:rPr lang="en-US" altLang="zh-CN" i="1">
                              <a:solidFill>
                                <a:srgbClr val="000000"/>
                              </a:solidFill>
                              <a:latin typeface="Cambria Math" panose="02040503050406030204" pitchFamily="18" charset="0"/>
                            </a:rPr>
                          </m:ctrlPr>
                        </m:fPr>
                        <m:num>
                          <m:sSup>
                            <m:sSupPr>
                              <m:ctrlPr>
                                <a:rPr lang="en-US" altLang="zh-CN" i="1">
                                  <a:solidFill>
                                    <a:srgbClr val="000000"/>
                                  </a:solidFill>
                                  <a:latin typeface="Cambria Math" panose="02040503050406030204" pitchFamily="18" charset="0"/>
                                </a:rPr>
                              </m:ctrlPr>
                            </m:sSupPr>
                            <m:e>
                              <m:r>
                                <a:rPr lang="en-US" altLang="zh-CN" i="1">
                                  <a:solidFill>
                                    <a:srgbClr val="000000"/>
                                  </a:solidFill>
                                  <a:latin typeface="Cambria Math" panose="02040503050406030204" pitchFamily="18" charset="0"/>
                                </a:rPr>
                                <m:t>𝑒</m:t>
                              </m:r>
                            </m:e>
                            <m:sup>
                              <m:f>
                                <m:fPr>
                                  <m:type m:val="lin"/>
                                  <m:ctrlPr>
                                    <a:rPr lang="en-US" altLang="zh-CN" i="1">
                                      <a:solidFill>
                                        <a:srgbClr val="000000"/>
                                      </a:solidFill>
                                      <a:latin typeface="Cambria Math" panose="02040503050406030204" pitchFamily="18" charset="0"/>
                                    </a:rPr>
                                  </m:ctrlPr>
                                </m:fPr>
                                <m:num>
                                  <m:r>
                                    <m:rPr>
                                      <m:sty m:val="p"/>
                                    </m:rPr>
                                    <a:rPr lang="en-US" altLang="zh-CN" i="1">
                                      <a:solidFill>
                                        <a:srgbClr val="000000"/>
                                      </a:solidFill>
                                      <a:latin typeface="Cambria Math" panose="02040503050406030204" pitchFamily="18" charset="0"/>
                                    </a:rPr>
                                    <m:t>ℏ</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𝜔</m:t>
                                      </m:r>
                                    </m:e>
                                    <m:sub>
                                      <m:r>
                                        <a:rPr lang="en-US" altLang="zh-CN" i="1">
                                          <a:solidFill>
                                            <a:srgbClr val="000000"/>
                                          </a:solidFill>
                                          <a:latin typeface="Cambria Math" panose="02040503050406030204" pitchFamily="18" charset="0"/>
                                        </a:rPr>
                                        <m:t>0</m:t>
                                      </m:r>
                                    </m:sub>
                                  </m:sSub>
                                </m:num>
                                <m:den>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𝑘</m:t>
                                      </m:r>
                                    </m:e>
                                    <m:sub>
                                      <m:r>
                                        <a:rPr lang="en-US" altLang="zh-CN" i="1">
                                          <a:solidFill>
                                            <a:srgbClr val="000000"/>
                                          </a:solidFill>
                                          <a:latin typeface="Cambria Math" panose="02040503050406030204" pitchFamily="18" charset="0"/>
                                        </a:rPr>
                                        <m:t>𝐵</m:t>
                                      </m:r>
                                    </m:sub>
                                  </m:sSub>
                                  <m:r>
                                    <a:rPr lang="en-US" altLang="zh-CN" i="1">
                                      <a:solidFill>
                                        <a:srgbClr val="000000"/>
                                      </a:solidFill>
                                      <a:latin typeface="Cambria Math" panose="02040503050406030204" pitchFamily="18" charset="0"/>
                                    </a:rPr>
                                    <m:t>𝑇</m:t>
                                  </m:r>
                                </m:den>
                              </m:f>
                            </m:sup>
                          </m:sSup>
                        </m:num>
                        <m:den>
                          <m:sSup>
                            <m:sSupPr>
                              <m:ctrlPr>
                                <a:rPr lang="en-US" altLang="zh-CN" i="1">
                                  <a:solidFill>
                                    <a:srgbClr val="000000"/>
                                  </a:solidFill>
                                  <a:latin typeface="Cambria Math" panose="02040503050406030204" pitchFamily="18" charset="0"/>
                                </a:rPr>
                              </m:ctrlPr>
                            </m:sSupPr>
                            <m:e>
                              <m:d>
                                <m:dPr>
                                  <m:ctrlPr>
                                    <a:rPr lang="en-US" altLang="zh-CN" i="1">
                                      <a:solidFill>
                                        <a:srgbClr val="000000"/>
                                      </a:solidFill>
                                      <a:latin typeface="Cambria Math" panose="02040503050406030204" pitchFamily="18" charset="0"/>
                                    </a:rPr>
                                  </m:ctrlPr>
                                </m:dPr>
                                <m:e>
                                  <m:sSup>
                                    <m:sSupPr>
                                      <m:ctrlPr>
                                        <a:rPr lang="en-US" altLang="zh-CN" i="1">
                                          <a:solidFill>
                                            <a:srgbClr val="000000"/>
                                          </a:solidFill>
                                          <a:latin typeface="Cambria Math" panose="02040503050406030204" pitchFamily="18" charset="0"/>
                                        </a:rPr>
                                      </m:ctrlPr>
                                    </m:sSupPr>
                                    <m:e>
                                      <m:r>
                                        <a:rPr lang="en-US" altLang="zh-CN" i="1">
                                          <a:solidFill>
                                            <a:srgbClr val="000000"/>
                                          </a:solidFill>
                                          <a:latin typeface="Cambria Math" panose="02040503050406030204" pitchFamily="18" charset="0"/>
                                        </a:rPr>
                                        <m:t>𝑒</m:t>
                                      </m:r>
                                    </m:e>
                                    <m:sup>
                                      <m:f>
                                        <m:fPr>
                                          <m:type m:val="lin"/>
                                          <m:ctrlPr>
                                            <a:rPr lang="en-US" altLang="zh-CN" i="1">
                                              <a:solidFill>
                                                <a:srgbClr val="000000"/>
                                              </a:solidFill>
                                              <a:latin typeface="Cambria Math" panose="02040503050406030204" pitchFamily="18" charset="0"/>
                                            </a:rPr>
                                          </m:ctrlPr>
                                        </m:fPr>
                                        <m:num>
                                          <m:r>
                                            <m:rPr>
                                              <m:sty m:val="p"/>
                                            </m:rPr>
                                            <a:rPr lang="en-US" altLang="zh-CN" i="1">
                                              <a:solidFill>
                                                <a:srgbClr val="000000"/>
                                              </a:solidFill>
                                              <a:latin typeface="Cambria Math" panose="02040503050406030204" pitchFamily="18" charset="0"/>
                                            </a:rPr>
                                            <m:t>ℏ</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𝜔</m:t>
                                              </m:r>
                                            </m:e>
                                            <m:sub>
                                              <m:r>
                                                <a:rPr lang="en-US" altLang="zh-CN" i="1">
                                                  <a:solidFill>
                                                    <a:srgbClr val="000000"/>
                                                  </a:solidFill>
                                                  <a:latin typeface="Cambria Math" panose="02040503050406030204" pitchFamily="18" charset="0"/>
                                                </a:rPr>
                                                <m:t>0</m:t>
                                              </m:r>
                                            </m:sub>
                                          </m:sSub>
                                        </m:num>
                                        <m:den>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𝑘</m:t>
                                              </m:r>
                                            </m:e>
                                            <m:sub>
                                              <m:r>
                                                <a:rPr lang="en-US" altLang="zh-CN" i="1">
                                                  <a:solidFill>
                                                    <a:srgbClr val="000000"/>
                                                  </a:solidFill>
                                                  <a:latin typeface="Cambria Math" panose="02040503050406030204" pitchFamily="18" charset="0"/>
                                                </a:rPr>
                                                <m:t>𝐵</m:t>
                                              </m:r>
                                            </m:sub>
                                          </m:sSub>
                                          <m:r>
                                            <a:rPr lang="en-US" altLang="zh-CN" i="1">
                                              <a:solidFill>
                                                <a:srgbClr val="000000"/>
                                              </a:solidFill>
                                              <a:latin typeface="Cambria Math" panose="02040503050406030204" pitchFamily="18" charset="0"/>
                                            </a:rPr>
                                            <m:t>𝑇</m:t>
                                          </m:r>
                                        </m:den>
                                      </m:f>
                                    </m:sup>
                                  </m:sSup>
                                  <m:r>
                                    <a:rPr lang="en-US" altLang="zh-CN" i="1">
                                      <a:solidFill>
                                        <a:srgbClr val="000000"/>
                                      </a:solidFill>
                                      <a:latin typeface="Cambria Math" panose="02040503050406030204" pitchFamily="18" charset="0"/>
                                    </a:rPr>
                                    <m:t>−1</m:t>
                                  </m:r>
                                </m:e>
                              </m:d>
                            </m:e>
                            <m:sup>
                              <m:r>
                                <a:rPr lang="en-US" altLang="zh-CN" i="1">
                                  <a:solidFill>
                                    <a:srgbClr val="000000"/>
                                  </a:solidFill>
                                  <a:latin typeface="Cambria Math" panose="02040503050406030204" pitchFamily="18" charset="0"/>
                                </a:rPr>
                                <m:t>2</m:t>
                              </m:r>
                            </m:sup>
                          </m:sSup>
                        </m:den>
                      </m:f>
                    </m:oMath>
                  </m:oMathPara>
                </a14:m>
                <a:endParaRPr lang="en-US" dirty="0">
                  <a:ea typeface="Cambria Math" panose="02040503050406030204" pitchFamily="18" charset="0"/>
                </a:endParaRPr>
              </a:p>
              <a:p>
                <a:pPr marL="0" indent="0">
                  <a:lnSpc>
                    <a:spcPct val="100000"/>
                  </a:lnSpc>
                  <a:spcBef>
                    <a:spcPts val="0"/>
                  </a:spcBef>
                  <a:spcAft>
                    <a:spcPts val="600"/>
                  </a:spcAft>
                  <a:buNone/>
                </a:pPr>
                <a:endParaRPr lang="en-US" dirty="0"/>
              </a:p>
            </p:txBody>
          </p:sp>
        </mc:Choice>
        <mc:Fallback xmlns="">
          <p:sp>
            <p:nvSpPr>
              <p:cNvPr id="3" name="内容占位符 2">
                <a:extLst>
                  <a:ext uri="{FF2B5EF4-FFF2-40B4-BE49-F238E27FC236}">
                    <a16:creationId xmlns:a16="http://schemas.microsoft.com/office/drawing/2014/main" id="{92B790CE-7335-EABE-1ABC-EC3115257573}"/>
                  </a:ext>
                </a:extLst>
              </p:cNvPr>
              <p:cNvSpPr>
                <a:spLocks noGrp="1" noRot="1" noChangeAspect="1" noMove="1" noResize="1" noEditPoints="1" noAdjustHandles="1" noChangeArrowheads="1" noChangeShapeType="1" noTextEdit="1"/>
              </p:cNvSpPr>
              <p:nvPr>
                <p:ph idx="1"/>
              </p:nvPr>
            </p:nvSpPr>
            <p:spPr>
              <a:xfrm>
                <a:off x="838200" y="1535723"/>
                <a:ext cx="10515600" cy="4957152"/>
              </a:xfrm>
              <a:blipFill>
                <a:blip r:embed="rId3"/>
                <a:stretch>
                  <a:fillRect l="-928" t="-1476"/>
                </a:stretch>
              </a:blipFill>
            </p:spPr>
            <p:txBody>
              <a:bodyPr/>
              <a:lstStyle/>
              <a:p>
                <a:r>
                  <a:rPr lang="zh-CN" altLang="en-US">
                    <a:noFill/>
                  </a:rPr>
                  <a:t> </a:t>
                </a:r>
              </a:p>
            </p:txBody>
          </p:sp>
        </mc:Fallback>
      </mc:AlternateContent>
      <p:graphicFrame>
        <p:nvGraphicFramePr>
          <p:cNvPr id="6" name="表格 5">
            <a:extLst>
              <a:ext uri="{FF2B5EF4-FFF2-40B4-BE49-F238E27FC236}">
                <a16:creationId xmlns:a16="http://schemas.microsoft.com/office/drawing/2014/main" id="{2F181145-037A-3357-FEAF-E5475DDF8A9A}"/>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20</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840491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BFA73C-8674-8A41-4FDC-5A045936A314}"/>
              </a:ext>
            </a:extLst>
          </p:cNvPr>
          <p:cNvSpPr>
            <a:spLocks noGrp="1"/>
          </p:cNvSpPr>
          <p:nvPr>
            <p:ph type="title"/>
          </p:nvPr>
        </p:nvSpPr>
        <p:spPr/>
        <p:txBody>
          <a:bodyPr/>
          <a:lstStyle/>
          <a:p>
            <a:r>
              <a:rPr lang="zh-CN" altLang="en-US" dirty="0"/>
              <a:t>经典模型 </a:t>
            </a:r>
            <a:r>
              <a:rPr lang="en-US" altLang="zh-CN" dirty="0"/>
              <a:t>vs </a:t>
            </a:r>
            <a:r>
              <a:rPr lang="zh-CN" altLang="en-US" dirty="0"/>
              <a:t>爱因斯坦模型</a:t>
            </a:r>
            <a:endParaRPr lang="en-US" dirty="0"/>
          </a:p>
        </p:txBody>
      </p:sp>
      <p:sp>
        <p:nvSpPr>
          <p:cNvPr id="3" name="内容占位符 2">
            <a:extLst>
              <a:ext uri="{FF2B5EF4-FFF2-40B4-BE49-F238E27FC236}">
                <a16:creationId xmlns:a16="http://schemas.microsoft.com/office/drawing/2014/main" id="{92B790CE-7335-EABE-1ABC-EC3115257573}"/>
              </a:ext>
            </a:extLst>
          </p:cNvPr>
          <p:cNvSpPr>
            <a:spLocks noGrp="1"/>
          </p:cNvSpPr>
          <p:nvPr>
            <p:ph idx="1"/>
          </p:nvPr>
        </p:nvSpPr>
        <p:spPr>
          <a:xfrm>
            <a:off x="838200" y="1477108"/>
            <a:ext cx="10515600" cy="5015767"/>
          </a:xfrm>
        </p:spPr>
        <p:txBody>
          <a:bodyPr>
            <a:normAutofit/>
          </a:bodyPr>
          <a:lstStyle/>
          <a:p>
            <a:pPr>
              <a:lnSpc>
                <a:spcPct val="120000"/>
              </a:lnSpc>
              <a:spcBef>
                <a:spcPts val="0"/>
              </a:spcBef>
            </a:pPr>
            <a:endParaRPr lang="en-US" dirty="0">
              <a:ea typeface="Cambria Math" panose="02040503050406030204" pitchFamily="18" charset="0"/>
            </a:endParaRPr>
          </a:p>
          <a:p>
            <a:pPr marL="0" indent="0">
              <a:lnSpc>
                <a:spcPct val="120000"/>
              </a:lnSpc>
              <a:spcBef>
                <a:spcPts val="0"/>
              </a:spcBef>
              <a:buNone/>
            </a:pPr>
            <a:endParaRPr lang="en-US" dirty="0"/>
          </a:p>
        </p:txBody>
      </p:sp>
      <p:pic>
        <p:nvPicPr>
          <p:cNvPr id="5" name="图片 4">
            <a:extLst>
              <a:ext uri="{FF2B5EF4-FFF2-40B4-BE49-F238E27FC236}">
                <a16:creationId xmlns:a16="http://schemas.microsoft.com/office/drawing/2014/main" id="{484C8642-1BD5-973A-54C9-90B1FFF8F583}"/>
              </a:ext>
            </a:extLst>
          </p:cNvPr>
          <p:cNvPicPr>
            <a:picLocks noChangeAspect="1"/>
          </p:cNvPicPr>
          <p:nvPr/>
        </p:nvPicPr>
        <p:blipFill>
          <a:blip r:embed="rId2"/>
          <a:stretch>
            <a:fillRect/>
          </a:stretch>
        </p:blipFill>
        <p:spPr>
          <a:xfrm>
            <a:off x="1913399" y="1477108"/>
            <a:ext cx="8365200" cy="1347608"/>
          </a:xfrm>
          <a:prstGeom prst="rect">
            <a:avLst/>
          </a:prstGeom>
        </p:spPr>
      </p:pic>
      <p:pic>
        <p:nvPicPr>
          <p:cNvPr id="7" name="图片 6">
            <a:extLst>
              <a:ext uri="{FF2B5EF4-FFF2-40B4-BE49-F238E27FC236}">
                <a16:creationId xmlns:a16="http://schemas.microsoft.com/office/drawing/2014/main" id="{1AFE2195-962C-6C23-CA77-4AA3644D9A85}"/>
              </a:ext>
            </a:extLst>
          </p:cNvPr>
          <p:cNvPicPr>
            <a:picLocks noChangeAspect="1"/>
          </p:cNvPicPr>
          <p:nvPr/>
        </p:nvPicPr>
        <p:blipFill>
          <a:blip r:embed="rId3"/>
          <a:stretch>
            <a:fillRect/>
          </a:stretch>
        </p:blipFill>
        <p:spPr>
          <a:xfrm>
            <a:off x="2028089" y="2963090"/>
            <a:ext cx="8135820" cy="3189816"/>
          </a:xfrm>
          <a:prstGeom prst="rect">
            <a:avLst/>
          </a:prstGeom>
        </p:spPr>
      </p:pic>
      <p:sp>
        <p:nvSpPr>
          <p:cNvPr id="8" name="文本框 7">
            <a:extLst>
              <a:ext uri="{FF2B5EF4-FFF2-40B4-BE49-F238E27FC236}">
                <a16:creationId xmlns:a16="http://schemas.microsoft.com/office/drawing/2014/main" id="{BF660AD5-2D80-DB55-4754-676F97156F52}"/>
              </a:ext>
            </a:extLst>
          </p:cNvPr>
          <p:cNvSpPr txBox="1"/>
          <p:nvPr/>
        </p:nvSpPr>
        <p:spPr>
          <a:xfrm>
            <a:off x="3915508" y="6308209"/>
            <a:ext cx="4801314" cy="369332"/>
          </a:xfrm>
          <a:prstGeom prst="rect">
            <a:avLst/>
          </a:prstGeom>
          <a:noFill/>
        </p:spPr>
        <p:txBody>
          <a:bodyPr wrap="none" rtlCol="0">
            <a:spAutoFit/>
          </a:bodyPr>
          <a:lstStyle/>
          <a:p>
            <a:r>
              <a:rPr lang="zh-CN" altLang="en-US" dirty="0">
                <a:solidFill>
                  <a:srgbClr val="FF0000"/>
                </a:solidFill>
              </a:rPr>
              <a:t>红线：一维经典谐振子</a:t>
            </a:r>
            <a:r>
              <a:rPr lang="zh-CN" altLang="en-US" dirty="0"/>
              <a:t>。</a:t>
            </a:r>
            <a:r>
              <a:rPr lang="zh-CN" altLang="en-US" dirty="0">
                <a:solidFill>
                  <a:srgbClr val="0070C0"/>
                </a:solidFill>
              </a:rPr>
              <a:t>蓝线：爱因斯坦模型</a:t>
            </a:r>
          </a:p>
        </p:txBody>
      </p:sp>
      <p:sp>
        <p:nvSpPr>
          <p:cNvPr id="9" name="文本框 8">
            <a:extLst>
              <a:ext uri="{FF2B5EF4-FFF2-40B4-BE49-F238E27FC236}">
                <a16:creationId xmlns:a16="http://schemas.microsoft.com/office/drawing/2014/main" id="{BDA47F8A-95C8-0F12-3B37-526544A376BC}"/>
              </a:ext>
            </a:extLst>
          </p:cNvPr>
          <p:cNvSpPr txBox="1"/>
          <p:nvPr/>
        </p:nvSpPr>
        <p:spPr>
          <a:xfrm>
            <a:off x="2743199" y="3244334"/>
            <a:ext cx="646331" cy="369332"/>
          </a:xfrm>
          <a:prstGeom prst="rect">
            <a:avLst/>
          </a:prstGeom>
          <a:noFill/>
        </p:spPr>
        <p:txBody>
          <a:bodyPr wrap="none" rtlCol="0">
            <a:spAutoFit/>
          </a:bodyPr>
          <a:lstStyle/>
          <a:p>
            <a:r>
              <a:rPr lang="zh-CN" altLang="en-US" dirty="0"/>
              <a:t>能量</a:t>
            </a:r>
          </a:p>
        </p:txBody>
      </p:sp>
      <p:sp>
        <p:nvSpPr>
          <p:cNvPr id="10" name="文本框 9">
            <a:extLst>
              <a:ext uri="{FF2B5EF4-FFF2-40B4-BE49-F238E27FC236}">
                <a16:creationId xmlns:a16="http://schemas.microsoft.com/office/drawing/2014/main" id="{05631F1D-C9FD-6AF3-AEC1-6A014D0453E1}"/>
              </a:ext>
            </a:extLst>
          </p:cNvPr>
          <p:cNvSpPr txBox="1"/>
          <p:nvPr/>
        </p:nvSpPr>
        <p:spPr>
          <a:xfrm>
            <a:off x="7104184" y="3244334"/>
            <a:ext cx="646331" cy="369332"/>
          </a:xfrm>
          <a:prstGeom prst="rect">
            <a:avLst/>
          </a:prstGeom>
          <a:noFill/>
        </p:spPr>
        <p:txBody>
          <a:bodyPr wrap="none" rtlCol="0">
            <a:spAutoFit/>
          </a:bodyPr>
          <a:lstStyle/>
          <a:p>
            <a:r>
              <a:rPr lang="zh-CN" altLang="en-US" dirty="0"/>
              <a:t>热容</a:t>
            </a:r>
          </a:p>
        </p:txBody>
      </p:sp>
      <p:graphicFrame>
        <p:nvGraphicFramePr>
          <p:cNvPr id="4" name="表格 3">
            <a:extLst>
              <a:ext uri="{FF2B5EF4-FFF2-40B4-BE49-F238E27FC236}">
                <a16:creationId xmlns:a16="http://schemas.microsoft.com/office/drawing/2014/main" id="{A4220093-A563-D9AC-837A-8C2DC2E7D2C6}"/>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21</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521458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774BD-6AD0-5F12-60B9-115ECDBCCA5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494933C-10AB-1786-955A-401A6827AABE}"/>
              </a:ext>
            </a:extLst>
          </p:cNvPr>
          <p:cNvSpPr>
            <a:spLocks noGrp="1"/>
          </p:cNvSpPr>
          <p:nvPr>
            <p:ph type="title"/>
          </p:nvPr>
        </p:nvSpPr>
        <p:spPr/>
        <p:txBody>
          <a:bodyPr/>
          <a:lstStyle/>
          <a:p>
            <a:r>
              <a:rPr lang="zh-CN" altLang="en-US" dirty="0">
                <a:solidFill>
                  <a:srgbClr val="FF0000"/>
                </a:solidFill>
              </a:rPr>
              <a:t>爱因斯坦模型</a:t>
            </a:r>
            <a:endParaRPr lang="en-US" dirty="0">
              <a:solidFill>
                <a:srgbClr val="FF0000"/>
              </a:solidFill>
            </a:endParaRP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B282A777-4537-8CBA-0167-F7F201728C3F}"/>
                  </a:ext>
                </a:extLst>
              </p:cNvPr>
              <p:cNvSpPr>
                <a:spLocks noGrp="1"/>
              </p:cNvSpPr>
              <p:nvPr>
                <p:ph idx="1"/>
              </p:nvPr>
            </p:nvSpPr>
            <p:spPr>
              <a:xfrm>
                <a:off x="838200" y="1825625"/>
                <a:ext cx="10515600" cy="4667250"/>
              </a:xfrm>
            </p:spPr>
            <p:txBody>
              <a:bodyPr>
                <a:normAutofit/>
              </a:bodyPr>
              <a:lstStyle/>
              <a:p>
                <a:pPr>
                  <a:lnSpc>
                    <a:spcPct val="100000"/>
                  </a:lnSpc>
                  <a:spcBef>
                    <a:spcPts val="0"/>
                  </a:spcBef>
                  <a:spcAft>
                    <a:spcPts val="600"/>
                  </a:spcAft>
                </a:pPr>
                <a:r>
                  <a:rPr lang="zh-CN" altLang="en-US" sz="2800" dirty="0">
                    <a:solidFill>
                      <a:schemeClr val="tx1"/>
                    </a:solidFill>
                  </a:rPr>
                  <a:t>定义爱因斯坦温度</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𝑇</m:t>
                        </m:r>
                      </m:e>
                      <m:sub>
                        <m:r>
                          <a:rPr lang="en-US" i="1">
                            <a:solidFill>
                              <a:schemeClr val="tx1"/>
                            </a:solidFill>
                            <a:latin typeface="Cambria Math" panose="02040503050406030204" pitchFamily="18" charset="0"/>
                          </a:rPr>
                          <m:t>𝐸</m:t>
                        </m:r>
                      </m:sub>
                    </m:sSub>
                    <m:r>
                      <a:rPr lang="en-US" altLang="zh-CN" i="1">
                        <a:solidFill>
                          <a:schemeClr val="tx1"/>
                        </a:solidFill>
                        <a:latin typeface="Cambria Math" panose="02040503050406030204" pitchFamily="18" charset="0"/>
                      </a:rPr>
                      <m:t>=</m:t>
                    </m:r>
                    <m:f>
                      <m:fPr>
                        <m:type m:val="lin"/>
                        <m:ctrlPr>
                          <a:rPr lang="en-US" i="1">
                            <a:solidFill>
                              <a:schemeClr val="tx1"/>
                            </a:solidFill>
                            <a:latin typeface="Cambria Math" panose="02040503050406030204" pitchFamily="18" charset="0"/>
                          </a:rPr>
                        </m:ctrlPr>
                      </m:fPr>
                      <m:num>
                        <m:r>
                          <m:rPr>
                            <m:sty m:val="p"/>
                          </m:rPr>
                          <a:rPr lang="en-US" i="1">
                            <a:solidFill>
                              <a:schemeClr val="tx1"/>
                            </a:solidFill>
                            <a:latin typeface="Cambria Math" panose="02040503050406030204" pitchFamily="18" charset="0"/>
                          </a:rPr>
                          <m:t>ℏ</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𝜔</m:t>
                            </m:r>
                          </m:e>
                          <m:sub>
                            <m:r>
                              <a:rPr lang="en-US" i="1">
                                <a:solidFill>
                                  <a:schemeClr val="tx1"/>
                                </a:solidFill>
                                <a:latin typeface="Cambria Math" panose="02040503050406030204" pitchFamily="18" charset="0"/>
                              </a:rPr>
                              <m:t>0</m:t>
                            </m:r>
                          </m:sub>
                        </m:sSub>
                      </m:num>
                      <m:den>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𝑘</m:t>
                            </m:r>
                          </m:e>
                          <m:sub>
                            <m:r>
                              <a:rPr lang="en-US" i="1">
                                <a:solidFill>
                                  <a:schemeClr val="tx1"/>
                                </a:solidFill>
                                <a:latin typeface="Cambria Math" panose="02040503050406030204" pitchFamily="18" charset="0"/>
                              </a:rPr>
                              <m:t>𝐵</m:t>
                            </m:r>
                          </m:sub>
                        </m:sSub>
                      </m:den>
                    </m:f>
                  </m:oMath>
                </a14:m>
                <a:endParaRPr lang="en-US" dirty="0">
                  <a:ea typeface="Cambria Math" panose="02040503050406030204" pitchFamily="18" charset="0"/>
                </a:endParaRPr>
              </a:p>
              <a:p>
                <a:pPr marL="0" indent="0">
                  <a:lnSpc>
                    <a:spcPct val="100000"/>
                  </a:lnSpc>
                  <a:spcBef>
                    <a:spcPts val="0"/>
                  </a:spcBef>
                  <a:spcAft>
                    <a:spcPts val="600"/>
                  </a:spcAft>
                  <a:buNone/>
                </a:pPr>
                <a14:m>
                  <m:oMathPara xmlns:m="http://schemas.openxmlformats.org/officeDocument/2006/math">
                    <m:oMath>
                      <m:r>
                        <a:rPr lang="en-US" b="0" i="1" smtClean="0">
                          <a:solidFill>
                            <a:srgbClr val="000000"/>
                          </a:solidFill>
                          <a:latin typeface="Cambria Math" panose="02040503050406030204" pitchFamily="18" charset="0"/>
                        </a:rPr>
                        <m:t>𝐶</m:t>
                      </m:r>
                      <m:r>
                        <a:rPr lang="en-US" i="1">
                          <a:solidFill>
                            <a:srgbClr val="000000"/>
                          </a:solidFill>
                          <a:latin typeface="Cambria Math" panose="02040503050406030204" pitchFamily="18" charset="0"/>
                        </a:rPr>
                        <m:t>=3</m:t>
                      </m:r>
                      <m:r>
                        <a:rPr lang="en-US" b="0" i="1" smtClean="0">
                          <a:latin typeface="Cambria Math" panose="02040503050406030204" pitchFamily="18" charset="0"/>
                        </a:rPr>
                        <m:t>𝑁</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𝑘</m:t>
                          </m:r>
                        </m:e>
                        <m:sub>
                          <m:r>
                            <a:rPr lang="en-US" i="1">
                              <a:solidFill>
                                <a:srgbClr val="000000"/>
                              </a:solidFill>
                              <a:latin typeface="Cambria Math" panose="02040503050406030204" pitchFamily="18" charset="0"/>
                            </a:rPr>
                            <m:t>𝐵</m:t>
                          </m:r>
                        </m:sub>
                      </m:sSub>
                      <m:sSup>
                        <m:sSupPr>
                          <m:ctrlPr>
                            <a:rPr lang="en-US" i="1">
                              <a:solidFill>
                                <a:srgbClr val="000000"/>
                              </a:solidFill>
                              <a:latin typeface="Cambria Math" panose="02040503050406030204" pitchFamily="18" charset="0"/>
                            </a:rPr>
                          </m:ctrlPr>
                        </m:sSupPr>
                        <m:e>
                          <m:d>
                            <m:dPr>
                              <m:ctrlPr>
                                <a:rPr lang="en-US" i="1">
                                  <a:solidFill>
                                    <a:srgbClr val="000000"/>
                                  </a:solidFill>
                                  <a:latin typeface="Cambria Math" panose="02040503050406030204" pitchFamily="18" charset="0"/>
                                </a:rPr>
                              </m:ctrlPr>
                            </m:dPr>
                            <m:e>
                              <m:f>
                                <m:fPr>
                                  <m:ctrlPr>
                                    <a:rPr lang="en-US" i="1">
                                      <a:solidFill>
                                        <a:srgbClr val="000000"/>
                                      </a:solidFill>
                                      <a:latin typeface="Cambria Math" panose="02040503050406030204" pitchFamily="18" charset="0"/>
                                    </a:rPr>
                                  </m:ctrlPr>
                                </m:fPr>
                                <m:num>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𝑇</m:t>
                                      </m:r>
                                    </m:e>
                                    <m:sub>
                                      <m:r>
                                        <a:rPr lang="en-US" i="1">
                                          <a:solidFill>
                                            <a:srgbClr val="000000"/>
                                          </a:solidFill>
                                          <a:latin typeface="Cambria Math" panose="02040503050406030204" pitchFamily="18" charset="0"/>
                                        </a:rPr>
                                        <m:t>𝐸</m:t>
                                      </m:r>
                                    </m:sub>
                                  </m:sSub>
                                </m:num>
                                <m:den>
                                  <m:r>
                                    <a:rPr lang="en-US" i="1">
                                      <a:solidFill>
                                        <a:srgbClr val="000000"/>
                                      </a:solidFill>
                                      <a:latin typeface="Cambria Math" panose="02040503050406030204" pitchFamily="18" charset="0"/>
                                    </a:rPr>
                                    <m:t>𝑇</m:t>
                                  </m:r>
                                </m:den>
                              </m:f>
                            </m:e>
                          </m:d>
                        </m:e>
                        <m:sup>
                          <m:r>
                            <a:rPr lang="en-US" i="1">
                              <a:solidFill>
                                <a:srgbClr val="000000"/>
                              </a:solidFill>
                              <a:latin typeface="Cambria Math" panose="02040503050406030204" pitchFamily="18" charset="0"/>
                            </a:rPr>
                            <m:t>2</m:t>
                          </m:r>
                        </m:sup>
                      </m:sSup>
                      <m:f>
                        <m:fPr>
                          <m:ctrlPr>
                            <a:rPr lang="en-US" i="1">
                              <a:solidFill>
                                <a:srgbClr val="000000"/>
                              </a:solidFill>
                              <a:latin typeface="Cambria Math" panose="02040503050406030204" pitchFamily="18" charset="0"/>
                            </a:rPr>
                          </m:ctrlPr>
                        </m:fPr>
                        <m:num>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𝑒</m:t>
                              </m:r>
                            </m:e>
                            <m:sup>
                              <m:f>
                                <m:fPr>
                                  <m:type m:val="lin"/>
                                  <m:ctrlPr>
                                    <a:rPr lang="en-US" i="1">
                                      <a:solidFill>
                                        <a:srgbClr val="000000"/>
                                      </a:solidFill>
                                      <a:latin typeface="Cambria Math" panose="02040503050406030204" pitchFamily="18" charset="0"/>
                                    </a:rPr>
                                  </m:ctrlPr>
                                </m:fPr>
                                <m:num>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𝑇</m:t>
                                      </m:r>
                                    </m:e>
                                    <m:sub>
                                      <m:r>
                                        <a:rPr lang="en-US" i="1">
                                          <a:solidFill>
                                            <a:srgbClr val="000000"/>
                                          </a:solidFill>
                                          <a:latin typeface="Cambria Math" panose="02040503050406030204" pitchFamily="18" charset="0"/>
                                        </a:rPr>
                                        <m:t>𝐸</m:t>
                                      </m:r>
                                    </m:sub>
                                  </m:sSub>
                                </m:num>
                                <m:den>
                                  <m:r>
                                    <a:rPr lang="en-US" i="1">
                                      <a:solidFill>
                                        <a:srgbClr val="000000"/>
                                      </a:solidFill>
                                      <a:latin typeface="Cambria Math" panose="02040503050406030204" pitchFamily="18" charset="0"/>
                                    </a:rPr>
                                    <m:t>𝑇</m:t>
                                  </m:r>
                                </m:den>
                              </m:f>
                            </m:sup>
                          </m:sSup>
                        </m:num>
                        <m:den>
                          <m:sSup>
                            <m:sSupPr>
                              <m:ctrlPr>
                                <a:rPr lang="en-US" i="1">
                                  <a:solidFill>
                                    <a:srgbClr val="000000"/>
                                  </a:solidFill>
                                  <a:latin typeface="Cambria Math" panose="02040503050406030204" pitchFamily="18" charset="0"/>
                                </a:rPr>
                              </m:ctrlPr>
                            </m:sSupPr>
                            <m:e>
                              <m:d>
                                <m:dPr>
                                  <m:ctrlPr>
                                    <a:rPr lang="en-US" i="1">
                                      <a:solidFill>
                                        <a:srgbClr val="000000"/>
                                      </a:solidFill>
                                      <a:latin typeface="Cambria Math" panose="02040503050406030204" pitchFamily="18" charset="0"/>
                                    </a:rPr>
                                  </m:ctrlPr>
                                </m:dPr>
                                <m:e>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𝑒</m:t>
                                      </m:r>
                                    </m:e>
                                    <m:sup>
                                      <m:f>
                                        <m:fPr>
                                          <m:type m:val="lin"/>
                                          <m:ctrlPr>
                                            <a:rPr lang="en-US" i="1">
                                              <a:solidFill>
                                                <a:srgbClr val="000000"/>
                                              </a:solidFill>
                                              <a:latin typeface="Cambria Math" panose="02040503050406030204" pitchFamily="18" charset="0"/>
                                            </a:rPr>
                                          </m:ctrlPr>
                                        </m:fPr>
                                        <m:num>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𝑇</m:t>
                                              </m:r>
                                            </m:e>
                                            <m:sub>
                                              <m:r>
                                                <a:rPr lang="en-US" i="1">
                                                  <a:solidFill>
                                                    <a:srgbClr val="000000"/>
                                                  </a:solidFill>
                                                  <a:latin typeface="Cambria Math" panose="02040503050406030204" pitchFamily="18" charset="0"/>
                                                </a:rPr>
                                                <m:t>𝐸</m:t>
                                              </m:r>
                                            </m:sub>
                                          </m:sSub>
                                        </m:num>
                                        <m:den>
                                          <m:r>
                                            <a:rPr lang="en-US" i="1">
                                              <a:solidFill>
                                                <a:srgbClr val="000000"/>
                                              </a:solidFill>
                                              <a:latin typeface="Cambria Math" panose="02040503050406030204" pitchFamily="18" charset="0"/>
                                            </a:rPr>
                                            <m:t>𝑇</m:t>
                                          </m:r>
                                        </m:den>
                                      </m:f>
                                    </m:sup>
                                  </m:sSup>
                                  <m:r>
                                    <a:rPr lang="en-US" i="1">
                                      <a:solidFill>
                                        <a:srgbClr val="000000"/>
                                      </a:solidFill>
                                      <a:latin typeface="Cambria Math" panose="02040503050406030204" pitchFamily="18" charset="0"/>
                                    </a:rPr>
                                    <m:t>−1</m:t>
                                  </m:r>
                                </m:e>
                              </m:d>
                            </m:e>
                            <m:sup>
                              <m:r>
                                <a:rPr lang="en-US" i="1">
                                  <a:solidFill>
                                    <a:srgbClr val="000000"/>
                                  </a:solidFill>
                                  <a:latin typeface="Cambria Math" panose="02040503050406030204" pitchFamily="18" charset="0"/>
                                </a:rPr>
                                <m:t>2</m:t>
                              </m:r>
                            </m:sup>
                          </m:sSup>
                        </m:den>
                      </m:f>
                    </m:oMath>
                  </m:oMathPara>
                </a14:m>
                <a:endParaRPr lang="en-US" dirty="0">
                  <a:ea typeface="Cambria Math" panose="02040503050406030204" pitchFamily="18" charset="0"/>
                </a:endParaRPr>
              </a:p>
              <a:p>
                <a:pPr marL="0" indent="0">
                  <a:lnSpc>
                    <a:spcPct val="100000"/>
                  </a:lnSpc>
                  <a:spcBef>
                    <a:spcPts val="0"/>
                  </a:spcBef>
                  <a:spcAft>
                    <a:spcPts val="600"/>
                  </a:spcAft>
                  <a:buNone/>
                </a:pPr>
                <a:endParaRPr lang="en-US" dirty="0"/>
              </a:p>
            </p:txBody>
          </p:sp>
        </mc:Choice>
        <mc:Fallback>
          <p:sp>
            <p:nvSpPr>
              <p:cNvPr id="3" name="内容占位符 2">
                <a:extLst>
                  <a:ext uri="{FF2B5EF4-FFF2-40B4-BE49-F238E27FC236}">
                    <a16:creationId xmlns:a16="http://schemas.microsoft.com/office/drawing/2014/main" id="{B282A777-4537-8CBA-0167-F7F201728C3F}"/>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1043" t="-18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内容占位符 5">
                <a:extLst>
                  <a:ext uri="{FF2B5EF4-FFF2-40B4-BE49-F238E27FC236}">
                    <a16:creationId xmlns:a16="http://schemas.microsoft.com/office/drawing/2014/main" id="{800AD6A9-2FDF-8C23-6980-E7A5E11F8CCB}"/>
                  </a:ext>
                </a:extLst>
              </p:cNvPr>
              <p:cNvSpPr txBox="1">
                <a:spLocks/>
              </p:cNvSpPr>
              <p:nvPr/>
            </p:nvSpPr>
            <p:spPr>
              <a:xfrm>
                <a:off x="838200" y="4459357"/>
                <a:ext cx="5181600" cy="2087216"/>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pPr>
                <a:r>
                  <a:rPr lang="zh-CN" altLang="en-US" dirty="0">
                    <a:solidFill>
                      <a:srgbClr val="FF0000"/>
                    </a:solidFill>
                  </a:rPr>
                  <a:t>高温下</a:t>
                </a:r>
                <a14:m>
                  <m:oMath xmlns:m="http://schemas.openxmlformats.org/officeDocument/2006/math">
                    <m:r>
                      <a:rPr lang="en-US" i="1" smtClean="0">
                        <a:solidFill>
                          <a:srgbClr val="000000"/>
                        </a:solidFill>
                        <a:latin typeface="Cambria Math" panose="02040503050406030204" pitchFamily="18" charset="0"/>
                      </a:rPr>
                      <m:t>𝑇</m:t>
                    </m:r>
                    <m:r>
                      <a:rPr lang="en-US" altLang="zh-CN" i="1">
                        <a:latin typeface="Cambria Math" panose="02040503050406030204" pitchFamily="18" charset="0"/>
                        <a:ea typeface="Cambria Math" panose="02040503050406030204" pitchFamily="18" charset="0"/>
                      </a:rPr>
                      <m:t>≫</m:t>
                    </m:r>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𝑇</m:t>
                        </m:r>
                      </m:e>
                      <m:sub>
                        <m:r>
                          <a:rPr lang="en-US" i="1">
                            <a:solidFill>
                              <a:srgbClr val="000000"/>
                            </a:solidFill>
                            <a:latin typeface="Cambria Math" panose="02040503050406030204" pitchFamily="18" charset="0"/>
                          </a:rPr>
                          <m:t>𝐸</m:t>
                        </m:r>
                      </m:sub>
                    </m:sSub>
                  </m:oMath>
                </a14:m>
                <a:endParaRPr lang="en-US" dirty="0"/>
              </a:p>
              <a:p>
                <a:pPr>
                  <a:lnSpc>
                    <a:spcPct val="120000"/>
                  </a:lnSpc>
                  <a:spcBef>
                    <a:spcPts val="0"/>
                  </a:spcBef>
                  <a:spcAft>
                    <a:spcPts val="600"/>
                  </a:spcAft>
                </a:pPr>
                <a14:m>
                  <m:oMath xmlns:m="http://schemas.openxmlformats.org/officeDocument/2006/math">
                    <m:r>
                      <a:rPr lang="en-US" b="0" i="1" smtClean="0">
                        <a:solidFill>
                          <a:srgbClr val="000000"/>
                        </a:solidFill>
                        <a:latin typeface="Cambria Math" panose="02040503050406030204" pitchFamily="18" charset="0"/>
                      </a:rPr>
                      <m:t>𝐶</m:t>
                    </m:r>
                    <m:r>
                      <a:rPr lang="en-US" i="1">
                        <a:solidFill>
                          <a:srgbClr val="000000"/>
                        </a:solidFill>
                        <a:latin typeface="Cambria Math" panose="02040503050406030204" pitchFamily="18" charset="0"/>
                      </a:rPr>
                      <m:t>≈3</m:t>
                    </m:r>
                    <m:r>
                      <a:rPr lang="en-US" i="1" smtClean="0">
                        <a:solidFill>
                          <a:srgbClr val="000000"/>
                        </a:solidFill>
                        <a:latin typeface="Cambria Math" panose="02040503050406030204" pitchFamily="18" charset="0"/>
                      </a:rPr>
                      <m:t>𝑁</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𝑘</m:t>
                        </m:r>
                      </m:e>
                      <m:sub>
                        <m:r>
                          <a:rPr lang="en-US" i="1">
                            <a:solidFill>
                              <a:srgbClr val="000000"/>
                            </a:solidFill>
                            <a:latin typeface="Cambria Math" panose="02040503050406030204" pitchFamily="18" charset="0"/>
                          </a:rPr>
                          <m:t>𝐵</m:t>
                        </m:r>
                      </m:sub>
                    </m:sSub>
                    <m:sSup>
                      <m:sSupPr>
                        <m:ctrlPr>
                          <a:rPr lang="en-US" i="1">
                            <a:solidFill>
                              <a:srgbClr val="000000"/>
                            </a:solidFill>
                            <a:latin typeface="Cambria Math" panose="02040503050406030204" pitchFamily="18" charset="0"/>
                          </a:rPr>
                        </m:ctrlPr>
                      </m:sSupPr>
                      <m:e>
                        <m:d>
                          <m:dPr>
                            <m:ctrlPr>
                              <a:rPr lang="en-US" i="1">
                                <a:solidFill>
                                  <a:srgbClr val="000000"/>
                                </a:solidFill>
                                <a:latin typeface="Cambria Math" panose="02040503050406030204" pitchFamily="18" charset="0"/>
                              </a:rPr>
                            </m:ctrlPr>
                          </m:dPr>
                          <m:e>
                            <m:f>
                              <m:fPr>
                                <m:ctrlPr>
                                  <a:rPr lang="en-US" i="1">
                                    <a:solidFill>
                                      <a:srgbClr val="000000"/>
                                    </a:solidFill>
                                    <a:latin typeface="Cambria Math" panose="02040503050406030204" pitchFamily="18" charset="0"/>
                                  </a:rPr>
                                </m:ctrlPr>
                              </m:fPr>
                              <m:num>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𝑇</m:t>
                                    </m:r>
                                  </m:e>
                                  <m:sub>
                                    <m:r>
                                      <a:rPr lang="en-US" i="1">
                                        <a:solidFill>
                                          <a:srgbClr val="000000"/>
                                        </a:solidFill>
                                        <a:latin typeface="Cambria Math" panose="02040503050406030204" pitchFamily="18" charset="0"/>
                                      </a:rPr>
                                      <m:t>𝐸</m:t>
                                    </m:r>
                                  </m:sub>
                                </m:sSub>
                              </m:num>
                              <m:den>
                                <m:r>
                                  <a:rPr lang="en-US" i="1">
                                    <a:solidFill>
                                      <a:srgbClr val="000000"/>
                                    </a:solidFill>
                                    <a:latin typeface="Cambria Math" panose="02040503050406030204" pitchFamily="18" charset="0"/>
                                  </a:rPr>
                                  <m:t>𝑇</m:t>
                                </m:r>
                              </m:den>
                            </m:f>
                          </m:e>
                        </m:d>
                      </m:e>
                      <m:sup>
                        <m:r>
                          <a:rPr lang="en-US" i="1">
                            <a:solidFill>
                              <a:srgbClr val="000000"/>
                            </a:solidFill>
                            <a:latin typeface="Cambria Math" panose="02040503050406030204" pitchFamily="18" charset="0"/>
                          </a:rPr>
                          <m:t>2</m:t>
                        </m:r>
                      </m:sup>
                    </m:sSup>
                    <m:sSup>
                      <m:sSupPr>
                        <m:ctrlPr>
                          <a:rPr lang="en-US" i="1">
                            <a:solidFill>
                              <a:srgbClr val="000000"/>
                            </a:solidFill>
                            <a:latin typeface="Cambria Math" panose="02040503050406030204" pitchFamily="18" charset="0"/>
                          </a:rPr>
                        </m:ctrlPr>
                      </m:sSupPr>
                      <m:e>
                        <m:d>
                          <m:dPr>
                            <m:ctrlPr>
                              <a:rPr lang="en-US" i="1">
                                <a:solidFill>
                                  <a:srgbClr val="000000"/>
                                </a:solidFill>
                                <a:latin typeface="Cambria Math" panose="02040503050406030204" pitchFamily="18" charset="0"/>
                              </a:rPr>
                            </m:ctrlPr>
                          </m:dPr>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𝑇</m:t>
                                </m:r>
                              </m:num>
                              <m:den>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𝑇</m:t>
                                    </m:r>
                                  </m:e>
                                  <m:sub>
                                    <m:r>
                                      <a:rPr lang="en-US" i="1">
                                        <a:solidFill>
                                          <a:srgbClr val="000000"/>
                                        </a:solidFill>
                                        <a:latin typeface="Cambria Math" panose="02040503050406030204" pitchFamily="18" charset="0"/>
                                      </a:rPr>
                                      <m:t>𝐸</m:t>
                                    </m:r>
                                  </m:sub>
                                </m:sSub>
                              </m:den>
                            </m:f>
                          </m:e>
                        </m:d>
                      </m:e>
                      <m:sup>
                        <m:r>
                          <a:rPr lang="en-US" i="1">
                            <a:solidFill>
                              <a:srgbClr val="000000"/>
                            </a:solidFill>
                            <a:latin typeface="Cambria Math" panose="02040503050406030204" pitchFamily="18" charset="0"/>
                          </a:rPr>
                          <m:t>2</m:t>
                        </m:r>
                      </m:sup>
                    </m:sSup>
                  </m:oMath>
                </a14:m>
                <a:endParaRPr lang="en-US" i="1" dirty="0">
                  <a:solidFill>
                    <a:srgbClr val="000000"/>
                  </a:solidFill>
                  <a:latin typeface="Cambria Math" panose="02040503050406030204" pitchFamily="18" charset="0"/>
                </a:endParaRPr>
              </a:p>
              <a:p>
                <a:pPr>
                  <a:lnSpc>
                    <a:spcPct val="120000"/>
                  </a:lnSpc>
                  <a:spcBef>
                    <a:spcPts val="0"/>
                  </a:spcBef>
                  <a:spcAft>
                    <a:spcPts val="600"/>
                  </a:spcAft>
                </a:pPr>
                <a14:m>
                  <m:oMath xmlns:m="http://schemas.openxmlformats.org/officeDocument/2006/math">
                    <m:r>
                      <a:rPr lang="en-US" b="0" i="1" smtClean="0">
                        <a:solidFill>
                          <a:srgbClr val="000000"/>
                        </a:solidFill>
                        <a:latin typeface="Cambria Math" panose="02040503050406030204" pitchFamily="18" charset="0"/>
                      </a:rPr>
                      <m:t>𝐶</m:t>
                    </m:r>
                    <m:r>
                      <a:rPr lang="en-US" i="1">
                        <a:solidFill>
                          <a:srgbClr val="000000"/>
                        </a:solidFill>
                        <a:latin typeface="Cambria Math" panose="02040503050406030204" pitchFamily="18" charset="0"/>
                      </a:rPr>
                      <m:t>≈3</m:t>
                    </m:r>
                    <m:r>
                      <a:rPr lang="en-US" b="0" i="1" smtClean="0">
                        <a:solidFill>
                          <a:srgbClr val="000000"/>
                        </a:solidFill>
                        <a:latin typeface="Cambria Math" panose="02040503050406030204" pitchFamily="18" charset="0"/>
                      </a:rPr>
                      <m:t>𝑁</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𝑘</m:t>
                        </m:r>
                      </m:e>
                      <m:sub>
                        <m:r>
                          <a:rPr lang="en-US" i="1">
                            <a:solidFill>
                              <a:srgbClr val="000000"/>
                            </a:solidFill>
                            <a:latin typeface="Cambria Math" panose="02040503050406030204" pitchFamily="18" charset="0"/>
                          </a:rPr>
                          <m:t>𝐵</m:t>
                        </m:r>
                      </m:sub>
                    </m:sSub>
                  </m:oMath>
                </a14:m>
                <a:endParaRPr lang="en-US" dirty="0"/>
              </a:p>
              <a:p>
                <a:pPr>
                  <a:lnSpc>
                    <a:spcPct val="120000"/>
                  </a:lnSpc>
                  <a:spcBef>
                    <a:spcPts val="0"/>
                  </a:spcBef>
                  <a:spcAft>
                    <a:spcPts val="600"/>
                  </a:spcAft>
                </a:pPr>
                <a:r>
                  <a:rPr lang="zh-CN" altLang="en-US" dirty="0">
                    <a:solidFill>
                      <a:srgbClr val="FF0000"/>
                    </a:solidFill>
                  </a:rPr>
                  <a:t>退化为</a:t>
                </a:r>
                <a:r>
                  <a:rPr lang="en-US" altLang="zh-CN" dirty="0">
                    <a:solidFill>
                      <a:srgbClr val="FF0000"/>
                    </a:solidFill>
                  </a:rPr>
                  <a:t>DP</a:t>
                </a:r>
                <a:r>
                  <a:rPr lang="zh-CN" altLang="en-US" dirty="0">
                    <a:solidFill>
                      <a:srgbClr val="FF0000"/>
                    </a:solidFill>
                  </a:rPr>
                  <a:t>定律</a:t>
                </a:r>
                <a:endParaRPr lang="en-US" dirty="0">
                  <a:solidFill>
                    <a:srgbClr val="FF0000"/>
                  </a:solidFill>
                </a:endParaRPr>
              </a:p>
            </p:txBody>
          </p:sp>
        </mc:Choice>
        <mc:Fallback>
          <p:sp>
            <p:nvSpPr>
              <p:cNvPr id="4" name="内容占位符 5">
                <a:extLst>
                  <a:ext uri="{FF2B5EF4-FFF2-40B4-BE49-F238E27FC236}">
                    <a16:creationId xmlns:a16="http://schemas.microsoft.com/office/drawing/2014/main" id="{800AD6A9-2FDF-8C23-6980-E7A5E11F8CCB}"/>
                  </a:ext>
                </a:extLst>
              </p:cNvPr>
              <p:cNvSpPr txBox="1">
                <a:spLocks noRot="1" noChangeAspect="1" noMove="1" noResize="1" noEditPoints="1" noAdjustHandles="1" noChangeArrowheads="1" noChangeShapeType="1" noTextEdit="1"/>
              </p:cNvSpPr>
              <p:nvPr/>
            </p:nvSpPr>
            <p:spPr>
              <a:xfrm>
                <a:off x="838200" y="4459357"/>
                <a:ext cx="5181600" cy="2087216"/>
              </a:xfrm>
              <a:prstGeom prst="rect">
                <a:avLst/>
              </a:prstGeom>
              <a:blipFill>
                <a:blip r:embed="rId3"/>
                <a:stretch>
                  <a:fillRect l="-1059" t="-263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内容占位符 6">
                <a:extLst>
                  <a:ext uri="{FF2B5EF4-FFF2-40B4-BE49-F238E27FC236}">
                    <a16:creationId xmlns:a16="http://schemas.microsoft.com/office/drawing/2014/main" id="{DEED836B-3E70-7F19-2F05-114D70B67AE8}"/>
                  </a:ext>
                </a:extLst>
              </p:cNvPr>
              <p:cNvSpPr txBox="1">
                <a:spLocks/>
              </p:cNvSpPr>
              <p:nvPr/>
            </p:nvSpPr>
            <p:spPr>
              <a:xfrm>
                <a:off x="6172200" y="4459357"/>
                <a:ext cx="5181600" cy="208721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0"/>
                  </a:spcBef>
                  <a:spcAft>
                    <a:spcPts val="600"/>
                  </a:spcAft>
                </a:pPr>
                <a:r>
                  <a:rPr lang="zh-CN" altLang="en-US" sz="2000" dirty="0">
                    <a:solidFill>
                      <a:srgbClr val="FF0000"/>
                    </a:solidFill>
                  </a:rPr>
                  <a:t>低温下</a:t>
                </a:r>
                <a14:m>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𝐸</m:t>
                        </m:r>
                      </m:sub>
                    </m:sSub>
                    <m:r>
                      <a:rPr lang="en-US" altLang="zh-CN" sz="2000" i="1">
                        <a:latin typeface="Cambria Math" panose="02040503050406030204" pitchFamily="18" charset="0"/>
                        <a:ea typeface="Cambria Math" panose="02040503050406030204" pitchFamily="18" charset="0"/>
                      </a:rPr>
                      <m:t>≫</m:t>
                    </m:r>
                    <m:r>
                      <a:rPr lang="en-US" sz="2000" i="1">
                        <a:solidFill>
                          <a:srgbClr val="000000"/>
                        </a:solidFill>
                        <a:latin typeface="Cambria Math" panose="02040503050406030204" pitchFamily="18" charset="0"/>
                      </a:rPr>
                      <m:t>𝑇</m:t>
                    </m:r>
                  </m:oMath>
                </a14:m>
                <a:endParaRPr lang="en-US" sz="2000" dirty="0"/>
              </a:p>
              <a:p>
                <a:pPr>
                  <a:lnSpc>
                    <a:spcPct val="110000"/>
                  </a:lnSpc>
                  <a:spcBef>
                    <a:spcPts val="0"/>
                  </a:spcBef>
                  <a:spcAft>
                    <a:spcPts val="600"/>
                  </a:spcAft>
                </a:pPr>
                <a14:m>
                  <m:oMath xmlns:m="http://schemas.openxmlformats.org/officeDocument/2006/math">
                    <m:r>
                      <a:rPr lang="en-US" altLang="zh-CN" sz="2000" i="1">
                        <a:solidFill>
                          <a:srgbClr val="000000"/>
                        </a:solidFill>
                        <a:latin typeface="Cambria Math" panose="02040503050406030204" pitchFamily="18" charset="0"/>
                      </a:rPr>
                      <m:t>𝐶</m:t>
                    </m:r>
                    <m:r>
                      <a:rPr lang="en-US" altLang="zh-CN" sz="2000" i="1">
                        <a:solidFill>
                          <a:srgbClr val="000000"/>
                        </a:solidFill>
                        <a:latin typeface="Cambria Math" panose="02040503050406030204" pitchFamily="18" charset="0"/>
                      </a:rPr>
                      <m:t>≈3</m:t>
                    </m:r>
                    <m:r>
                      <a:rPr lang="en-US" altLang="zh-CN" sz="2000" i="1">
                        <a:solidFill>
                          <a:srgbClr val="000000"/>
                        </a:solidFill>
                        <a:latin typeface="Cambria Math" panose="02040503050406030204" pitchFamily="18" charset="0"/>
                      </a:rPr>
                      <m:t>𝑁</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𝑘</m:t>
                        </m:r>
                      </m:e>
                      <m:sub>
                        <m:r>
                          <a:rPr lang="en-US" sz="2000" i="1">
                            <a:solidFill>
                              <a:srgbClr val="000000"/>
                            </a:solidFill>
                            <a:latin typeface="Cambria Math" panose="02040503050406030204" pitchFamily="18" charset="0"/>
                          </a:rPr>
                          <m:t>𝐵</m:t>
                        </m:r>
                      </m:sub>
                    </m:sSub>
                    <m:sSup>
                      <m:sSupPr>
                        <m:ctrlPr>
                          <a:rPr lang="en-US" sz="2000" i="1">
                            <a:solidFill>
                              <a:srgbClr val="000000"/>
                            </a:solidFill>
                            <a:latin typeface="Cambria Math" panose="02040503050406030204" pitchFamily="18" charset="0"/>
                          </a:rPr>
                        </m:ctrlPr>
                      </m:sSupPr>
                      <m:e>
                        <m:d>
                          <m:dPr>
                            <m:ctrlPr>
                              <a:rPr lang="en-US" sz="2000" i="1">
                                <a:solidFill>
                                  <a:srgbClr val="000000"/>
                                </a:solidFill>
                                <a:latin typeface="Cambria Math" panose="02040503050406030204" pitchFamily="18" charset="0"/>
                              </a:rPr>
                            </m:ctrlPr>
                          </m:dPr>
                          <m:e>
                            <m:f>
                              <m:fPr>
                                <m:ctrlPr>
                                  <a:rPr lang="en-US" sz="2000" i="1">
                                    <a:solidFill>
                                      <a:srgbClr val="000000"/>
                                    </a:solidFill>
                                    <a:latin typeface="Cambria Math" panose="02040503050406030204" pitchFamily="18" charset="0"/>
                                  </a:rPr>
                                </m:ctrlPr>
                              </m:fPr>
                              <m:num>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𝐸</m:t>
                                    </m:r>
                                  </m:sub>
                                </m:sSub>
                              </m:num>
                              <m:den>
                                <m:r>
                                  <a:rPr lang="en-US" sz="2000" i="1">
                                    <a:solidFill>
                                      <a:srgbClr val="000000"/>
                                    </a:solidFill>
                                    <a:latin typeface="Cambria Math" panose="02040503050406030204" pitchFamily="18" charset="0"/>
                                  </a:rPr>
                                  <m:t>𝑇</m:t>
                                </m:r>
                              </m:den>
                            </m:f>
                          </m:e>
                        </m:d>
                      </m:e>
                      <m:sup>
                        <m:r>
                          <a:rPr lang="en-US" sz="2000" i="1">
                            <a:solidFill>
                              <a:srgbClr val="000000"/>
                            </a:solidFill>
                            <a:latin typeface="Cambria Math" panose="02040503050406030204" pitchFamily="18" charset="0"/>
                          </a:rPr>
                          <m:t>2</m:t>
                        </m:r>
                      </m:sup>
                    </m:sSup>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𝑒</m:t>
                        </m:r>
                      </m:e>
                      <m:sup>
                        <m:f>
                          <m:fPr>
                            <m:type m:val="lin"/>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m:t>
                            </m:r>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𝐸</m:t>
                                </m:r>
                              </m:sub>
                            </m:sSub>
                          </m:num>
                          <m:den>
                            <m:r>
                              <a:rPr lang="en-US" sz="2000" i="1">
                                <a:solidFill>
                                  <a:srgbClr val="000000"/>
                                </a:solidFill>
                                <a:latin typeface="Cambria Math" panose="02040503050406030204" pitchFamily="18" charset="0"/>
                              </a:rPr>
                              <m:t>𝑇</m:t>
                            </m:r>
                          </m:den>
                        </m:f>
                      </m:sup>
                    </m:sSup>
                    <m:r>
                      <a:rPr lang="en-US" sz="2000" i="1">
                        <a:solidFill>
                          <a:srgbClr val="000000"/>
                        </a:solidFill>
                        <a:latin typeface="Cambria Math" panose="02040503050406030204" pitchFamily="18" charset="0"/>
                      </a:rPr>
                      <m:t>→0</m:t>
                    </m:r>
                  </m:oMath>
                </a14:m>
                <a:endParaRPr lang="en-US" sz="2000" dirty="0"/>
              </a:p>
              <a:p>
                <a:pPr>
                  <a:lnSpc>
                    <a:spcPct val="110000"/>
                  </a:lnSpc>
                  <a:spcBef>
                    <a:spcPts val="0"/>
                  </a:spcBef>
                  <a:spcAft>
                    <a:spcPts val="600"/>
                  </a:spcAft>
                </a:pPr>
                <a:r>
                  <a:rPr lang="zh-CN" altLang="en-US" sz="2000" dirty="0">
                    <a:solidFill>
                      <a:srgbClr val="FF0000"/>
                    </a:solidFill>
                  </a:rPr>
                  <a:t>热容随温度下降而</a:t>
                </a:r>
                <a:r>
                  <a:rPr lang="zh-CN" altLang="en-US" sz="2000" b="1" dirty="0">
                    <a:solidFill>
                      <a:srgbClr val="FF0000"/>
                    </a:solidFill>
                    <a:highlight>
                      <a:srgbClr val="FFFF00"/>
                    </a:highlight>
                  </a:rPr>
                  <a:t>指数下降</a:t>
                </a:r>
                <a:r>
                  <a:rPr lang="zh-CN" altLang="en-US" sz="2000" dirty="0">
                    <a:solidFill>
                      <a:srgbClr val="FF0000"/>
                    </a:solidFill>
                  </a:rPr>
                  <a:t>，最终趋于零</a:t>
                </a:r>
                <a:endParaRPr lang="en-US" sz="2000" dirty="0">
                  <a:solidFill>
                    <a:srgbClr val="FF0000"/>
                  </a:solidFill>
                </a:endParaRPr>
              </a:p>
            </p:txBody>
          </p:sp>
        </mc:Choice>
        <mc:Fallback>
          <p:sp>
            <p:nvSpPr>
              <p:cNvPr id="5" name="内容占位符 6">
                <a:extLst>
                  <a:ext uri="{FF2B5EF4-FFF2-40B4-BE49-F238E27FC236}">
                    <a16:creationId xmlns:a16="http://schemas.microsoft.com/office/drawing/2014/main" id="{DEED836B-3E70-7F19-2F05-114D70B67AE8}"/>
                  </a:ext>
                </a:extLst>
              </p:cNvPr>
              <p:cNvSpPr txBox="1">
                <a:spLocks noRot="1" noChangeAspect="1" noMove="1" noResize="1" noEditPoints="1" noAdjustHandles="1" noChangeArrowheads="1" noChangeShapeType="1" noTextEdit="1"/>
              </p:cNvSpPr>
              <p:nvPr/>
            </p:nvSpPr>
            <p:spPr>
              <a:xfrm>
                <a:off x="6172200" y="4459357"/>
                <a:ext cx="5181600" cy="2087216"/>
              </a:xfrm>
              <a:prstGeom prst="rect">
                <a:avLst/>
              </a:prstGeom>
              <a:blipFill>
                <a:blip r:embed="rId4"/>
                <a:stretch>
                  <a:fillRect l="-1059" t="-2339"/>
                </a:stretch>
              </a:blipFill>
            </p:spPr>
            <p:txBody>
              <a:bodyPr/>
              <a:lstStyle/>
              <a:p>
                <a:r>
                  <a:rPr lang="zh-CN" altLang="en-US">
                    <a:noFill/>
                  </a:rPr>
                  <a:t> </a:t>
                </a:r>
              </a:p>
            </p:txBody>
          </p:sp>
        </mc:Fallback>
      </mc:AlternateContent>
      <p:graphicFrame>
        <p:nvGraphicFramePr>
          <p:cNvPr id="6" name="表格 5">
            <a:extLst>
              <a:ext uri="{FF2B5EF4-FFF2-40B4-BE49-F238E27FC236}">
                <a16:creationId xmlns:a16="http://schemas.microsoft.com/office/drawing/2014/main" id="{1EB618B1-7AA4-5734-7F7B-075BDADA2DF8}"/>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22</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96460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fade">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animEffect transition="in" filter="fade">
                                      <p:cBhvr>
                                        <p:cTn id="22" dur="500"/>
                                        <p:tgtEl>
                                          <p:spTgt spid="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fade">
                                      <p:cBhvr>
                                        <p:cTn id="27" dur="500"/>
                                        <p:tgtEl>
                                          <p:spTgt spid="4">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animEffect transition="in" filter="fade">
                                      <p:cBhvr>
                                        <p:cTn id="32" dur="500"/>
                                        <p:tgtEl>
                                          <p:spTgt spid="4">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xEl>
                                              <p:pRg st="0" end="0"/>
                                            </p:txEl>
                                          </p:spTgt>
                                        </p:tgtEl>
                                        <p:attrNameLst>
                                          <p:attrName>style.visibility</p:attrName>
                                        </p:attrNameLst>
                                      </p:cBhvr>
                                      <p:to>
                                        <p:strVal val="visible"/>
                                      </p:to>
                                    </p:set>
                                    <p:animEffect transition="in" filter="fade">
                                      <p:cBhvr>
                                        <p:cTn id="37" dur="500"/>
                                        <p:tgtEl>
                                          <p:spTgt spid="5">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txEl>
                                              <p:pRg st="1" end="1"/>
                                            </p:txEl>
                                          </p:spTgt>
                                        </p:tgtEl>
                                        <p:attrNameLst>
                                          <p:attrName>style.visibility</p:attrName>
                                        </p:attrNameLst>
                                      </p:cBhvr>
                                      <p:to>
                                        <p:strVal val="visible"/>
                                      </p:to>
                                    </p:set>
                                    <p:animEffect transition="in" filter="fade">
                                      <p:cBhvr>
                                        <p:cTn id="42" dur="500"/>
                                        <p:tgtEl>
                                          <p:spTgt spid="5">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
                                            <p:txEl>
                                              <p:pRg st="2" end="2"/>
                                            </p:txEl>
                                          </p:spTgt>
                                        </p:tgtEl>
                                        <p:attrNameLst>
                                          <p:attrName>style.visibility</p:attrName>
                                        </p:attrNameLst>
                                      </p:cBhvr>
                                      <p:to>
                                        <p:strVal val="visible"/>
                                      </p:to>
                                    </p:set>
                                    <p:animEffect transition="in" filter="fade">
                                      <p:cBhvr>
                                        <p:cTn id="4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2ACC7471-865C-2C54-40E7-7F3E90A09A38}"/>
              </a:ext>
            </a:extLst>
          </p:cNvPr>
          <p:cNvPicPr>
            <a:picLocks noChangeAspect="1"/>
          </p:cNvPicPr>
          <p:nvPr/>
        </p:nvPicPr>
        <p:blipFill>
          <a:blip r:embed="rId2"/>
          <a:stretch>
            <a:fillRect/>
          </a:stretch>
        </p:blipFill>
        <p:spPr>
          <a:xfrm>
            <a:off x="1640334" y="605241"/>
            <a:ext cx="8251813" cy="5647517"/>
          </a:xfrm>
          <a:prstGeom prst="rect">
            <a:avLst/>
          </a:prstGeom>
        </p:spPr>
      </p:pic>
      <p:graphicFrame>
        <p:nvGraphicFramePr>
          <p:cNvPr id="2" name="表格 1">
            <a:extLst>
              <a:ext uri="{FF2B5EF4-FFF2-40B4-BE49-F238E27FC236}">
                <a16:creationId xmlns:a16="http://schemas.microsoft.com/office/drawing/2014/main" id="{F372F5F1-E5F7-D5AA-F3A9-778DE41FE685}"/>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23</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40650505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592FB5A8-76D4-0EE7-8FEE-1EFD71D16799}"/>
              </a:ext>
            </a:extLst>
          </p:cNvPr>
          <p:cNvSpPr>
            <a:spLocks noGrp="1"/>
          </p:cNvSpPr>
          <p:nvPr>
            <p:ph type="title"/>
          </p:nvPr>
        </p:nvSpPr>
        <p:spPr/>
        <p:txBody>
          <a:bodyPr/>
          <a:lstStyle/>
          <a:p>
            <a:r>
              <a:rPr lang="zh-CN" altLang="en-US" dirty="0">
                <a:solidFill>
                  <a:srgbClr val="FF0000"/>
                </a:solidFill>
              </a:rPr>
              <a:t>爱因斯坦模型</a:t>
            </a:r>
            <a:endParaRPr lang="en-US" dirty="0">
              <a:solidFill>
                <a:srgbClr val="FF0000"/>
              </a:solidFill>
            </a:endParaRPr>
          </a:p>
        </p:txBody>
      </p:sp>
      <p:sp>
        <p:nvSpPr>
          <p:cNvPr id="7" name="内容占位符 6">
            <a:extLst>
              <a:ext uri="{FF2B5EF4-FFF2-40B4-BE49-F238E27FC236}">
                <a16:creationId xmlns:a16="http://schemas.microsoft.com/office/drawing/2014/main" id="{F2ACCCEE-14B2-CBA3-5187-67B23B5952F6}"/>
              </a:ext>
            </a:extLst>
          </p:cNvPr>
          <p:cNvSpPr>
            <a:spLocks noGrp="1"/>
          </p:cNvSpPr>
          <p:nvPr>
            <p:ph idx="1"/>
          </p:nvPr>
        </p:nvSpPr>
        <p:spPr/>
        <p:txBody>
          <a:bodyPr>
            <a:normAutofit/>
          </a:bodyPr>
          <a:lstStyle/>
          <a:p>
            <a:r>
              <a:rPr lang="zh-CN" altLang="en-US" sz="3200" dirty="0"/>
              <a:t>爱因斯坦模型的成功，说明</a:t>
            </a:r>
            <a:r>
              <a:rPr lang="zh-CN" altLang="en-US" sz="3200" dirty="0">
                <a:solidFill>
                  <a:srgbClr val="FF0000"/>
                </a:solidFill>
              </a:rPr>
              <a:t>能量量子化才是理解晶格振动问题的关键</a:t>
            </a:r>
            <a:endParaRPr lang="en-US" sz="3200" dirty="0">
              <a:solidFill>
                <a:srgbClr val="FF0000"/>
              </a:solidFill>
            </a:endParaRPr>
          </a:p>
        </p:txBody>
      </p:sp>
      <p:graphicFrame>
        <p:nvGraphicFramePr>
          <p:cNvPr id="2" name="表格 1">
            <a:extLst>
              <a:ext uri="{FF2B5EF4-FFF2-40B4-BE49-F238E27FC236}">
                <a16:creationId xmlns:a16="http://schemas.microsoft.com/office/drawing/2014/main" id="{B4FFC17A-456A-DABA-2A09-71749F455AA7}"/>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24</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36839115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C10944-C911-F4D5-2449-272E8EC3D9B8}"/>
              </a:ext>
            </a:extLst>
          </p:cNvPr>
          <p:cNvSpPr>
            <a:spLocks noGrp="1"/>
          </p:cNvSpPr>
          <p:nvPr>
            <p:ph type="title"/>
          </p:nvPr>
        </p:nvSpPr>
        <p:spPr/>
        <p:txBody>
          <a:bodyPr/>
          <a:lstStyle/>
          <a:p>
            <a:r>
              <a:rPr lang="zh-CN" altLang="en-US" dirty="0"/>
              <a:t>爱因斯坦模型</a:t>
            </a:r>
            <a:r>
              <a:rPr lang="zh-CN" altLang="en-US" dirty="0">
                <a:solidFill>
                  <a:srgbClr val="FF0000"/>
                </a:solidFill>
              </a:rPr>
              <a:t>存在的问题</a:t>
            </a:r>
            <a:endParaRPr lang="en-US" dirty="0">
              <a:solidFill>
                <a:srgbClr val="FF0000"/>
              </a:solidFill>
            </a:endParaRP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387BC7A2-7B6D-F528-83F1-C536809A687F}"/>
                  </a:ext>
                </a:extLst>
              </p:cNvPr>
              <p:cNvSpPr>
                <a:spLocks noGrp="1"/>
              </p:cNvSpPr>
              <p:nvPr>
                <p:ph idx="1"/>
              </p:nvPr>
            </p:nvSpPr>
            <p:spPr>
              <a:xfrm>
                <a:off x="838200" y="1825625"/>
                <a:ext cx="7227455" cy="4351338"/>
              </a:xfrm>
            </p:spPr>
            <p:txBody>
              <a:bodyPr>
                <a:normAutofit/>
              </a:bodyPr>
              <a:lstStyle/>
              <a:p>
                <a:pPr marL="0" indent="0">
                  <a:lnSpc>
                    <a:spcPct val="100000"/>
                  </a:lnSpc>
                  <a:spcBef>
                    <a:spcPts val="0"/>
                  </a:spcBef>
                  <a:spcAft>
                    <a:spcPts val="1200"/>
                  </a:spcAft>
                  <a:buNone/>
                </a:pPr>
                <a:r>
                  <a:rPr lang="en-US" altLang="zh-CN" sz="2000" dirty="0"/>
                  <a:t>1. </a:t>
                </a:r>
                <a:r>
                  <a:rPr lang="zh-CN" altLang="en-US" sz="2000" dirty="0"/>
                  <a:t>低温下固体热容实验得出经验公式为</a:t>
                </a:r>
                <a:endParaRPr lang="en-US" altLang="zh-CN" sz="2000" dirty="0"/>
              </a:p>
              <a:p>
                <a:pPr marL="0" indent="0">
                  <a:lnSpc>
                    <a:spcPct val="100000"/>
                  </a:lnSpc>
                  <a:spcBef>
                    <a:spcPts val="0"/>
                  </a:spcBef>
                  <a:spcAft>
                    <a:spcPts val="1200"/>
                  </a:spcAft>
                  <a:buNone/>
                </a:pPr>
                <a14:m>
                  <m:oMathPara xmlns:m="http://schemas.openxmlformats.org/officeDocument/2006/math">
                    <m:oMath>
                      <m:r>
                        <a:rPr lang="en-US" sz="2000" b="0" i="1" smtClean="0">
                          <a:solidFill>
                            <a:srgbClr val="000000"/>
                          </a:solidFill>
                          <a:latin typeface="Cambria Math" panose="02040503050406030204" pitchFamily="18" charset="0"/>
                        </a:rPr>
                        <m:t>𝐶</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𝛾</m:t>
                      </m:r>
                      <m:r>
                        <a:rPr lang="en-US" sz="2000" i="1">
                          <a:solidFill>
                            <a:srgbClr val="000000"/>
                          </a:solidFill>
                          <a:latin typeface="Cambria Math" panose="02040503050406030204" pitchFamily="18" charset="0"/>
                        </a:rPr>
                        <m:t>𝑇</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𝐴</m:t>
                      </m:r>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𝑇</m:t>
                          </m:r>
                        </m:e>
                        <m:sup>
                          <m:r>
                            <a:rPr lang="en-US" sz="2000" i="1">
                              <a:solidFill>
                                <a:srgbClr val="000000"/>
                              </a:solidFill>
                              <a:latin typeface="Cambria Math" panose="02040503050406030204" pitchFamily="18" charset="0"/>
                            </a:rPr>
                            <m:t>3</m:t>
                          </m:r>
                        </m:sup>
                      </m:sSup>
                    </m:oMath>
                  </m:oMathPara>
                </a14:m>
                <a:endParaRPr lang="en-US" altLang="zh-CN" sz="2000" dirty="0"/>
              </a:p>
              <a:p>
                <a:pPr marL="0" indent="0">
                  <a:lnSpc>
                    <a:spcPct val="100000"/>
                  </a:lnSpc>
                  <a:spcBef>
                    <a:spcPts val="0"/>
                  </a:spcBef>
                  <a:spcAft>
                    <a:spcPts val="1200"/>
                  </a:spcAft>
                  <a:buNone/>
                </a:pPr>
                <a:r>
                  <a:rPr lang="zh-CN" altLang="en-US" sz="2000" dirty="0"/>
                  <a:t>即实验上低温下热容应随</a:t>
                </a:r>
                <a:r>
                  <a:rPr lang="zh-CN" altLang="en-US" sz="2000" dirty="0">
                    <a:solidFill>
                      <a:srgbClr val="FF0000"/>
                    </a:solidFill>
                  </a:rPr>
                  <a:t>温度的三次方</a:t>
                </a:r>
                <a:r>
                  <a:rPr lang="zh-CN" altLang="en-US" sz="2000" dirty="0"/>
                  <a:t>下降</a:t>
                </a:r>
                <a:endParaRPr lang="en-US" altLang="zh-CN" sz="2000" dirty="0"/>
              </a:p>
              <a:p>
                <a:pPr marL="0" indent="0">
                  <a:lnSpc>
                    <a:spcPct val="100000"/>
                  </a:lnSpc>
                  <a:spcBef>
                    <a:spcPts val="0"/>
                  </a:spcBef>
                  <a:spcAft>
                    <a:spcPts val="1200"/>
                  </a:spcAft>
                  <a:buNone/>
                </a:pPr>
                <a:r>
                  <a:rPr lang="zh-CN" altLang="en-US" sz="2000" dirty="0"/>
                  <a:t>而低温下爱因斯坦热容随温度</a:t>
                </a:r>
                <a:r>
                  <a:rPr lang="zh-CN" altLang="en-US" sz="2000" dirty="0">
                    <a:solidFill>
                      <a:srgbClr val="FF0000"/>
                    </a:solidFill>
                  </a:rPr>
                  <a:t>指数下降</a:t>
                </a:r>
                <a:endParaRPr lang="en-US" altLang="zh-CN" sz="2000" dirty="0">
                  <a:solidFill>
                    <a:srgbClr val="FF0000"/>
                  </a:solidFill>
                </a:endParaRPr>
              </a:p>
              <a:p>
                <a:pPr marL="0" indent="0">
                  <a:lnSpc>
                    <a:spcPct val="100000"/>
                  </a:lnSpc>
                  <a:spcBef>
                    <a:spcPts val="0"/>
                  </a:spcBef>
                  <a:spcAft>
                    <a:spcPts val="1200"/>
                  </a:spcAft>
                  <a:buNone/>
                </a:pPr>
                <a:endParaRPr lang="en-US" sz="2000" dirty="0">
                  <a:solidFill>
                    <a:srgbClr val="FF0000"/>
                  </a:solidFill>
                </a:endParaRPr>
              </a:p>
              <a:p>
                <a:pPr marL="0" indent="0">
                  <a:lnSpc>
                    <a:spcPct val="100000"/>
                  </a:lnSpc>
                  <a:spcBef>
                    <a:spcPts val="0"/>
                  </a:spcBef>
                  <a:spcAft>
                    <a:spcPts val="1200"/>
                  </a:spcAft>
                  <a:buNone/>
                </a:pPr>
                <a:r>
                  <a:rPr lang="en-US" sz="2000" dirty="0">
                    <a:solidFill>
                      <a:schemeClr val="tx1"/>
                    </a:solidFill>
                  </a:rPr>
                  <a:t>2</a:t>
                </a:r>
                <a:r>
                  <a:rPr lang="en-US" altLang="zh-CN" sz="2000" dirty="0">
                    <a:solidFill>
                      <a:schemeClr val="tx1"/>
                    </a:solidFill>
                  </a:rPr>
                  <a:t>. </a:t>
                </a:r>
                <a:r>
                  <a:rPr lang="zh-CN" altLang="en-US" sz="2000" dirty="0">
                    <a:solidFill>
                      <a:schemeClr val="tx1"/>
                    </a:solidFill>
                  </a:rPr>
                  <a:t>根据实验拟合的</a:t>
                </a:r>
                <a14:m>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𝐸</m:t>
                        </m:r>
                      </m:sub>
                    </m:sSub>
                    <m:r>
                      <a:rPr lang="en-US" sz="2000" i="1">
                        <a:solidFill>
                          <a:srgbClr val="000000"/>
                        </a:solidFill>
                        <a:latin typeface="Cambria Math" panose="02040503050406030204" pitchFamily="18" charset="0"/>
                      </a:rPr>
                      <m:t> </m:t>
                    </m:r>
                  </m:oMath>
                </a14:m>
                <a:r>
                  <a:rPr lang="zh-CN" altLang="en-US" sz="2000" dirty="0">
                    <a:solidFill>
                      <a:schemeClr val="tx1"/>
                    </a:solidFill>
                  </a:rPr>
                  <a:t>，可反推爱因斯坦频率</a:t>
                </a:r>
                <a14:m>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𝜔</m:t>
                        </m:r>
                      </m:e>
                      <m:sub>
                        <m:r>
                          <a:rPr lang="en-US" sz="2000" i="1">
                            <a:solidFill>
                              <a:schemeClr val="tx1"/>
                            </a:solidFill>
                            <a:latin typeface="Cambria Math" panose="02040503050406030204" pitchFamily="18" charset="0"/>
                          </a:rPr>
                          <m:t>0</m:t>
                        </m:r>
                      </m:sub>
                    </m:sSub>
                    <m:r>
                      <a:rPr lang="en-US" altLang="zh-CN" sz="2000" i="1">
                        <a:latin typeface="Cambria Math" panose="02040503050406030204" pitchFamily="18" charset="0"/>
                        <a:ea typeface="Cambria Math" panose="02040503050406030204" pitchFamily="18" charset="0"/>
                      </a:rPr>
                      <m:t>≈</m:t>
                    </m:r>
                    <m:r>
                      <a:rPr lang="en-US" sz="2000" i="1">
                        <a:solidFill>
                          <a:schemeClr val="tx1"/>
                        </a:solidFill>
                        <a:latin typeface="Cambria Math" panose="02040503050406030204" pitchFamily="18" charset="0"/>
                      </a:rPr>
                      <m:t>1</m:t>
                    </m:r>
                    <m:sSup>
                      <m:sSupPr>
                        <m:ctrlPr>
                          <a:rPr lang="en-US" sz="2000" i="1">
                            <a:solidFill>
                              <a:schemeClr val="tx1"/>
                            </a:solidFill>
                            <a:latin typeface="Cambria Math" panose="02040503050406030204" pitchFamily="18" charset="0"/>
                          </a:rPr>
                        </m:ctrlPr>
                      </m:sSupPr>
                      <m:e>
                        <m:r>
                          <a:rPr lang="en-US" sz="2000" i="1">
                            <a:solidFill>
                              <a:schemeClr val="tx1"/>
                            </a:solidFill>
                            <a:latin typeface="Cambria Math" panose="02040503050406030204" pitchFamily="18" charset="0"/>
                          </a:rPr>
                          <m:t>0</m:t>
                        </m:r>
                      </m:e>
                      <m:sup>
                        <m:r>
                          <a:rPr lang="en-US" sz="2000" i="1">
                            <a:solidFill>
                              <a:schemeClr val="tx1"/>
                            </a:solidFill>
                            <a:latin typeface="Cambria Math" panose="02040503050406030204" pitchFamily="18" charset="0"/>
                          </a:rPr>
                          <m:t>13</m:t>
                        </m:r>
                      </m:sup>
                    </m:sSup>
                    <m:r>
                      <a:rPr lang="en-US" sz="2000" i="1">
                        <a:solidFill>
                          <a:schemeClr val="tx1"/>
                        </a:solidFill>
                        <a:latin typeface="Cambria Math" panose="02040503050406030204" pitchFamily="18" charset="0"/>
                      </a:rPr>
                      <m:t>𝐻𝑧</m:t>
                    </m:r>
                  </m:oMath>
                </a14:m>
                <a:r>
                  <a:rPr lang="zh-CN" altLang="en-US" sz="2000" dirty="0">
                    <a:solidFill>
                      <a:schemeClr val="tx1"/>
                    </a:solidFill>
                  </a:rPr>
                  <a:t>，在光学支范围内</a:t>
                </a:r>
                <a:endParaRPr lang="en-US" altLang="zh-CN" sz="2000" dirty="0">
                  <a:solidFill>
                    <a:schemeClr val="tx1"/>
                  </a:solidFill>
                </a:endParaRPr>
              </a:p>
              <a:p>
                <a:pPr marL="0" indent="0">
                  <a:lnSpc>
                    <a:spcPct val="100000"/>
                  </a:lnSpc>
                  <a:spcBef>
                    <a:spcPts val="0"/>
                  </a:spcBef>
                  <a:spcAft>
                    <a:spcPts val="1200"/>
                  </a:spcAft>
                  <a:buNone/>
                </a:pPr>
                <a:r>
                  <a:rPr lang="zh-CN" altLang="en-US" sz="2000" dirty="0">
                    <a:solidFill>
                      <a:schemeClr val="tx1"/>
                    </a:solidFill>
                  </a:rPr>
                  <a:t>即，爱因斯坦模型</a:t>
                </a:r>
                <a:r>
                  <a:rPr lang="zh-CN" altLang="en-US" sz="2000" dirty="0">
                    <a:solidFill>
                      <a:srgbClr val="FF0000"/>
                    </a:solidFill>
                  </a:rPr>
                  <a:t>假设所有格波均为频率较高的光学波</a:t>
                </a:r>
                <a:endParaRPr lang="en-US" sz="2000" dirty="0">
                  <a:solidFill>
                    <a:srgbClr val="FF0000"/>
                  </a:solidFill>
                </a:endParaRPr>
              </a:p>
            </p:txBody>
          </p:sp>
        </mc:Choice>
        <mc:Fallback>
          <p:sp>
            <p:nvSpPr>
              <p:cNvPr id="3" name="内容占位符 2">
                <a:extLst>
                  <a:ext uri="{FF2B5EF4-FFF2-40B4-BE49-F238E27FC236}">
                    <a16:creationId xmlns:a16="http://schemas.microsoft.com/office/drawing/2014/main" id="{387BC7A2-7B6D-F528-83F1-C536809A687F}"/>
                  </a:ext>
                </a:extLst>
              </p:cNvPr>
              <p:cNvSpPr>
                <a:spLocks noGrp="1" noRot="1" noChangeAspect="1" noMove="1" noResize="1" noEditPoints="1" noAdjustHandles="1" noChangeArrowheads="1" noChangeShapeType="1" noTextEdit="1"/>
              </p:cNvSpPr>
              <p:nvPr>
                <p:ph idx="1"/>
              </p:nvPr>
            </p:nvSpPr>
            <p:spPr>
              <a:xfrm>
                <a:off x="838200" y="1825625"/>
                <a:ext cx="7227455" cy="4351338"/>
              </a:xfrm>
              <a:blipFill>
                <a:blip r:embed="rId2"/>
                <a:stretch>
                  <a:fillRect l="-928" t="-1120"/>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A9FB4F67-D63E-3C67-B5FF-29014E0ACF18}"/>
              </a:ext>
            </a:extLst>
          </p:cNvPr>
          <p:cNvPicPr>
            <a:picLocks noChangeAspect="1"/>
          </p:cNvPicPr>
          <p:nvPr/>
        </p:nvPicPr>
        <p:blipFill>
          <a:blip r:embed="rId3"/>
          <a:stretch>
            <a:fillRect/>
          </a:stretch>
        </p:blipFill>
        <p:spPr>
          <a:xfrm>
            <a:off x="7945583" y="2630074"/>
            <a:ext cx="3833090" cy="2742439"/>
          </a:xfrm>
          <a:prstGeom prst="rect">
            <a:avLst/>
          </a:prstGeom>
        </p:spPr>
      </p:pic>
      <p:graphicFrame>
        <p:nvGraphicFramePr>
          <p:cNvPr id="4" name="表格 3">
            <a:extLst>
              <a:ext uri="{FF2B5EF4-FFF2-40B4-BE49-F238E27FC236}">
                <a16:creationId xmlns:a16="http://schemas.microsoft.com/office/drawing/2014/main" id="{CCC4859A-9EE8-348F-FD81-5FE98DB26843}"/>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25</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201174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C10944-C911-F4D5-2449-272E8EC3D9B8}"/>
              </a:ext>
            </a:extLst>
          </p:cNvPr>
          <p:cNvSpPr>
            <a:spLocks noGrp="1"/>
          </p:cNvSpPr>
          <p:nvPr>
            <p:ph type="title"/>
          </p:nvPr>
        </p:nvSpPr>
        <p:spPr/>
        <p:txBody>
          <a:bodyPr/>
          <a:lstStyle/>
          <a:p>
            <a:r>
              <a:rPr lang="zh-CN" altLang="en-US" dirty="0"/>
              <a:t>爱因斯坦模型存在的问题</a:t>
            </a:r>
            <a:endParaRPr lang="en-US" dirty="0"/>
          </a:p>
        </p:txBody>
      </p:sp>
      <p:sp>
        <p:nvSpPr>
          <p:cNvPr id="3" name="内容占位符 2">
            <a:extLst>
              <a:ext uri="{FF2B5EF4-FFF2-40B4-BE49-F238E27FC236}">
                <a16:creationId xmlns:a16="http://schemas.microsoft.com/office/drawing/2014/main" id="{387BC7A2-7B6D-F528-83F1-C536809A687F}"/>
              </a:ext>
            </a:extLst>
          </p:cNvPr>
          <p:cNvSpPr>
            <a:spLocks noGrp="1"/>
          </p:cNvSpPr>
          <p:nvPr>
            <p:ph idx="1"/>
          </p:nvPr>
        </p:nvSpPr>
        <p:spPr>
          <a:xfrm>
            <a:off x="838200" y="1825625"/>
            <a:ext cx="7227455" cy="4351338"/>
          </a:xfrm>
        </p:spPr>
        <p:txBody>
          <a:bodyPr>
            <a:normAutofit/>
          </a:bodyPr>
          <a:lstStyle/>
          <a:p>
            <a:pPr>
              <a:lnSpc>
                <a:spcPct val="100000"/>
              </a:lnSpc>
              <a:spcBef>
                <a:spcPts val="0"/>
              </a:spcBef>
              <a:spcAft>
                <a:spcPts val="1200"/>
              </a:spcAft>
            </a:pPr>
            <a:r>
              <a:rPr lang="zh-CN" altLang="en-US" sz="2000" dirty="0"/>
              <a:t>根据玻色爱因斯坦分布，</a:t>
            </a:r>
            <a:r>
              <a:rPr lang="zh-CN" altLang="en-US" sz="2000" dirty="0">
                <a:solidFill>
                  <a:srgbClr val="FF0000"/>
                </a:solidFill>
              </a:rPr>
              <a:t>在低温时，声学波出现的概率更高，对热容的贡献更为显著</a:t>
            </a:r>
            <a:endParaRPr lang="en-US" altLang="zh-CN" sz="2000" dirty="0"/>
          </a:p>
          <a:p>
            <a:pPr>
              <a:lnSpc>
                <a:spcPct val="100000"/>
              </a:lnSpc>
              <a:spcBef>
                <a:spcPts val="0"/>
              </a:spcBef>
              <a:spcAft>
                <a:spcPts val="1200"/>
              </a:spcAft>
            </a:pPr>
            <a:r>
              <a:rPr lang="zh-CN" altLang="en-US" sz="2000" dirty="0"/>
              <a:t>而爱因斯坦模型仅考虑光学支</a:t>
            </a:r>
            <a:endParaRPr lang="en-US" altLang="zh-CN" sz="2000" dirty="0"/>
          </a:p>
          <a:p>
            <a:pPr>
              <a:lnSpc>
                <a:spcPct val="100000"/>
              </a:lnSpc>
              <a:spcBef>
                <a:spcPts val="0"/>
              </a:spcBef>
              <a:spcAft>
                <a:spcPts val="1200"/>
              </a:spcAft>
            </a:pPr>
            <a:r>
              <a:rPr lang="zh-CN" altLang="en-US" sz="2000" dirty="0"/>
              <a:t>这是低温时爱因斯坦模型理论与实验存在偏差的物理根源</a:t>
            </a:r>
          </a:p>
        </p:txBody>
      </p:sp>
      <p:pic>
        <p:nvPicPr>
          <p:cNvPr id="5" name="图片 4">
            <a:extLst>
              <a:ext uri="{FF2B5EF4-FFF2-40B4-BE49-F238E27FC236}">
                <a16:creationId xmlns:a16="http://schemas.microsoft.com/office/drawing/2014/main" id="{A9FB4F67-D63E-3C67-B5FF-29014E0ACF18}"/>
              </a:ext>
            </a:extLst>
          </p:cNvPr>
          <p:cNvPicPr>
            <a:picLocks noChangeAspect="1"/>
          </p:cNvPicPr>
          <p:nvPr/>
        </p:nvPicPr>
        <p:blipFill>
          <a:blip r:embed="rId2"/>
          <a:stretch>
            <a:fillRect/>
          </a:stretch>
        </p:blipFill>
        <p:spPr>
          <a:xfrm>
            <a:off x="7945583" y="2630074"/>
            <a:ext cx="3833090" cy="2742439"/>
          </a:xfrm>
          <a:prstGeom prst="rect">
            <a:avLst/>
          </a:prstGeom>
        </p:spPr>
      </p:pic>
      <p:graphicFrame>
        <p:nvGraphicFramePr>
          <p:cNvPr id="4" name="表格 3">
            <a:extLst>
              <a:ext uri="{FF2B5EF4-FFF2-40B4-BE49-F238E27FC236}">
                <a16:creationId xmlns:a16="http://schemas.microsoft.com/office/drawing/2014/main" id="{E7730741-EE43-D20B-7E3C-7820860FC502}"/>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26</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869461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800365-EEA2-E686-9291-21AA1E96734B}"/>
              </a:ext>
            </a:extLst>
          </p:cNvPr>
          <p:cNvSpPr>
            <a:spLocks noGrp="1"/>
          </p:cNvSpPr>
          <p:nvPr>
            <p:ph type="title"/>
          </p:nvPr>
        </p:nvSpPr>
        <p:spPr/>
        <p:txBody>
          <a:bodyPr/>
          <a:lstStyle/>
          <a:p>
            <a:r>
              <a:rPr lang="zh-CN" altLang="en-US" dirty="0">
                <a:solidFill>
                  <a:srgbClr val="FF0000"/>
                </a:solidFill>
              </a:rPr>
              <a:t>德拜模型</a:t>
            </a:r>
            <a:r>
              <a:rPr lang="zh-CN" altLang="en-US" dirty="0"/>
              <a:t>（</a:t>
            </a:r>
            <a:r>
              <a:rPr lang="en-US" altLang="zh-CN" dirty="0"/>
              <a:t>Debye model</a:t>
            </a:r>
            <a:r>
              <a:rPr lang="zh-CN" altLang="en-US" dirty="0"/>
              <a:t>）</a:t>
            </a:r>
            <a:endParaRPr 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8C2890BA-36ED-D123-5818-A7DE86724885}"/>
                  </a:ext>
                </a:extLst>
              </p:cNvPr>
              <p:cNvSpPr>
                <a:spLocks noGrp="1"/>
              </p:cNvSpPr>
              <p:nvPr>
                <p:ph idx="1"/>
              </p:nvPr>
            </p:nvSpPr>
            <p:spPr>
              <a:xfrm>
                <a:off x="838200" y="1551710"/>
                <a:ext cx="10515600" cy="5052290"/>
              </a:xfrm>
            </p:spPr>
            <p:txBody>
              <a:bodyPr>
                <a:normAutofit/>
              </a:bodyPr>
              <a:lstStyle/>
              <a:p>
                <a:pPr>
                  <a:lnSpc>
                    <a:spcPct val="100000"/>
                  </a:lnSpc>
                  <a:spcBef>
                    <a:spcPts val="0"/>
                  </a:spcBef>
                  <a:spcAft>
                    <a:spcPts val="1200"/>
                  </a:spcAft>
                </a:pPr>
                <a:r>
                  <a:rPr lang="zh-CN" altLang="en-US" sz="2000" dirty="0">
                    <a:solidFill>
                      <a:srgbClr val="FF0000"/>
                    </a:solidFill>
                  </a:rPr>
                  <a:t>考虑不同的简正模具有不同的频率</a:t>
                </a:r>
                <a:r>
                  <a:rPr lang="zh-CN" altLang="en-US" sz="2000" dirty="0"/>
                  <a:t>，晶格振动总能量为</a:t>
                </a:r>
                <a:endParaRPr lang="en-US" altLang="zh-CN" sz="2000" dirty="0"/>
              </a:p>
              <a:p>
                <a:pPr marL="0" indent="0">
                  <a:lnSpc>
                    <a:spcPct val="100000"/>
                  </a:lnSpc>
                  <a:spcBef>
                    <a:spcPts val="0"/>
                  </a:spcBef>
                  <a:spcAft>
                    <a:spcPts val="1200"/>
                  </a:spcAft>
                  <a:buNone/>
                </a:pPr>
                <a14:m>
                  <m:oMathPara xmlns:m="http://schemas.openxmlformats.org/officeDocument/2006/math">
                    <m:oMath>
                      <m:r>
                        <a:rPr lang="en-US" altLang="zh-CN" sz="2000" i="1" smtClean="0">
                          <a:latin typeface="Cambria Math" panose="02040503050406030204" pitchFamily="18" charset="0"/>
                          <a:ea typeface="Cambria Math" panose="02040503050406030204" pitchFamily="18" charset="0"/>
                        </a:rPr>
                        <m:t>𝐸</m:t>
                      </m:r>
                      <m:r>
                        <a:rPr lang="en-US" sz="2000" i="1">
                          <a:solidFill>
                            <a:srgbClr val="000000"/>
                          </a:solidFill>
                          <a:latin typeface="Cambria Math" panose="02040503050406030204" pitchFamily="18" charset="0"/>
                        </a:rPr>
                        <m:t>=</m:t>
                      </m:r>
                      <m:nary>
                        <m:naryPr>
                          <m:chr m:val="∑"/>
                          <m:ctrlPr>
                            <a:rPr lang="en-US" sz="2000" b="0" i="1" smtClean="0">
                              <a:solidFill>
                                <a:srgbClr val="000000"/>
                              </a:solidFill>
                              <a:latin typeface="Cambria Math" panose="02040503050406030204" pitchFamily="18" charset="0"/>
                            </a:rPr>
                          </m:ctrlPr>
                        </m:naryPr>
                        <m:sub>
                          <m:r>
                            <m:rPr>
                              <m:brk m:alnAt="23"/>
                            </m:rPr>
                            <a:rPr lang="en-US" sz="2000" b="0" i="1" smtClean="0">
                              <a:solidFill>
                                <a:srgbClr val="000000"/>
                              </a:solidFill>
                              <a:latin typeface="Cambria Math" panose="02040503050406030204" pitchFamily="18" charset="0"/>
                            </a:rPr>
                            <m:t>𝑗</m:t>
                          </m:r>
                          <m:r>
                            <a:rPr lang="en-US" sz="2000" b="0" i="1" smtClean="0">
                              <a:solidFill>
                                <a:srgbClr val="000000"/>
                              </a:solidFill>
                              <a:latin typeface="Cambria Math" panose="02040503050406030204" pitchFamily="18" charset="0"/>
                            </a:rPr>
                            <m:t>=1</m:t>
                          </m:r>
                        </m:sub>
                        <m:sup>
                          <m:r>
                            <a:rPr lang="en-US" sz="2000" b="0" i="1" smtClean="0">
                              <a:solidFill>
                                <a:srgbClr val="000000"/>
                              </a:solidFill>
                              <a:latin typeface="Cambria Math" panose="02040503050406030204" pitchFamily="18" charset="0"/>
                            </a:rPr>
                            <m:t>3</m:t>
                          </m:r>
                          <m:r>
                            <a:rPr lang="en-US" sz="2000" b="0" i="1" smtClean="0">
                              <a:solidFill>
                                <a:srgbClr val="000000"/>
                              </a:solidFill>
                              <a:latin typeface="Cambria Math" panose="02040503050406030204" pitchFamily="18" charset="0"/>
                            </a:rPr>
                            <m:t>𝑁</m:t>
                          </m:r>
                        </m:sup>
                        <m:e>
                          <m:d>
                            <m:dPr>
                              <m:begChr m:val="⟨"/>
                              <m:endChr m:val="⟩"/>
                              <m:ctrlPr>
                                <a:rPr lang="en-US" altLang="zh-CN" sz="2000" i="1">
                                  <a:latin typeface="Cambria Math" panose="02040503050406030204" pitchFamily="18" charset="0"/>
                                  <a:ea typeface="Cambria Math" panose="02040503050406030204" pitchFamily="18" charset="0"/>
                                </a:rPr>
                              </m:ctrlPr>
                            </m:dPr>
                            <m:e>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𝑛</m:t>
                                  </m:r>
                                </m:e>
                                <m:sub>
                                  <m:r>
                                    <a:rPr lang="en-US" altLang="zh-CN" sz="2000" i="1">
                                      <a:latin typeface="Cambria Math" panose="02040503050406030204" pitchFamily="18" charset="0"/>
                                      <a:ea typeface="Cambria Math" panose="02040503050406030204" pitchFamily="18" charset="0"/>
                                    </a:rPr>
                                    <m:t>𝑝ℎ</m:t>
                                  </m:r>
                                </m:sub>
                              </m:sSub>
                              <m:d>
                                <m:dPr>
                                  <m:ctrlPr>
                                    <a:rPr lang="en-US" altLang="zh-CN" sz="2000" i="1">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𝜔</m:t>
                                      </m:r>
                                    </m:e>
                                    <m:sub>
                                      <m:r>
                                        <a:rPr lang="en-US" altLang="zh-CN" sz="2000" i="1">
                                          <a:latin typeface="Cambria Math" panose="02040503050406030204" pitchFamily="18" charset="0"/>
                                        </a:rPr>
                                        <m:t>𝑗</m:t>
                                      </m:r>
                                    </m:sub>
                                  </m:sSub>
                                </m:e>
                              </m:d>
                            </m:e>
                          </m:d>
                          <m:r>
                            <m:rPr>
                              <m:sty m:val="p"/>
                            </m:rPr>
                            <a:rPr lang="en-US" altLang="zh-CN" sz="2000" i="1">
                              <a:latin typeface="Cambria Math" panose="02040503050406030204" pitchFamily="18" charset="0"/>
                            </a:rPr>
                            <m:t>ℏ</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𝜔</m:t>
                              </m:r>
                            </m:e>
                            <m:sub>
                              <m:r>
                                <a:rPr lang="en-US" altLang="zh-CN" sz="2000" b="0" i="1" smtClean="0">
                                  <a:latin typeface="Cambria Math" panose="02040503050406030204" pitchFamily="18" charset="0"/>
                                </a:rPr>
                                <m:t>𝑗</m:t>
                              </m:r>
                            </m:sub>
                          </m:sSub>
                        </m:e>
                      </m:nary>
                      <m:r>
                        <a:rPr lang="en-US" sz="2000" b="0" i="1" smtClean="0">
                          <a:solidFill>
                            <a:srgbClr val="000000"/>
                          </a:solidFill>
                          <a:latin typeface="Cambria Math" panose="02040503050406030204" pitchFamily="18" charset="0"/>
                        </a:rPr>
                        <m:t>=</m:t>
                      </m:r>
                      <m:nary>
                        <m:naryPr>
                          <m:chr m:val="∑"/>
                          <m:ctrlPr>
                            <a:rPr lang="en-US" altLang="zh-CN" sz="2000" i="1">
                              <a:solidFill>
                                <a:srgbClr val="000000"/>
                              </a:solidFill>
                              <a:latin typeface="Cambria Math" panose="02040503050406030204" pitchFamily="18" charset="0"/>
                            </a:rPr>
                          </m:ctrlPr>
                        </m:naryPr>
                        <m:sub>
                          <m:r>
                            <m:rPr>
                              <m:brk m:alnAt="23"/>
                            </m:rPr>
                            <a:rPr lang="en-US" altLang="zh-CN" sz="2000" i="1">
                              <a:solidFill>
                                <a:srgbClr val="000000"/>
                              </a:solidFill>
                              <a:latin typeface="Cambria Math" panose="02040503050406030204" pitchFamily="18" charset="0"/>
                            </a:rPr>
                            <m:t>𝑗</m:t>
                          </m:r>
                          <m:r>
                            <a:rPr lang="en-US" altLang="zh-CN" sz="2000" i="1">
                              <a:solidFill>
                                <a:srgbClr val="000000"/>
                              </a:solidFill>
                              <a:latin typeface="Cambria Math" panose="02040503050406030204" pitchFamily="18" charset="0"/>
                            </a:rPr>
                            <m:t>=1</m:t>
                          </m:r>
                        </m:sub>
                        <m:sup>
                          <m:r>
                            <a:rPr lang="en-US" altLang="zh-CN" sz="2000" i="1">
                              <a:solidFill>
                                <a:srgbClr val="000000"/>
                              </a:solidFill>
                              <a:latin typeface="Cambria Math" panose="02040503050406030204" pitchFamily="18" charset="0"/>
                            </a:rPr>
                            <m:t>3</m:t>
                          </m:r>
                          <m:r>
                            <a:rPr lang="en-US" altLang="zh-CN" sz="2000" b="0" i="1" smtClean="0">
                              <a:solidFill>
                                <a:srgbClr val="000000"/>
                              </a:solidFill>
                              <a:latin typeface="Cambria Math" panose="02040503050406030204" pitchFamily="18" charset="0"/>
                            </a:rPr>
                            <m:t>𝑁</m:t>
                          </m:r>
                        </m:sup>
                        <m:e>
                          <m:d>
                            <m:dPr>
                              <m:ctrlPr>
                                <a:rPr lang="en-US" altLang="zh-CN" sz="2000" i="1">
                                  <a:solidFill>
                                    <a:schemeClr val="tx1"/>
                                  </a:solidFill>
                                  <a:latin typeface="Cambria Math" panose="02040503050406030204" pitchFamily="18" charset="0"/>
                                  <a:ea typeface="Cambria Math" panose="02040503050406030204" pitchFamily="18" charset="0"/>
                                </a:rPr>
                              </m:ctrlPr>
                            </m:dPr>
                            <m:e>
                              <m:f>
                                <m:fPr>
                                  <m:ctrlPr>
                                    <a:rPr lang="en-US" altLang="zh-CN" sz="2000" i="1">
                                      <a:solidFill>
                                        <a:schemeClr val="tx1"/>
                                      </a:solidFill>
                                      <a:latin typeface="Cambria Math" panose="02040503050406030204" pitchFamily="18" charset="0"/>
                                      <a:ea typeface="Cambria Math" panose="02040503050406030204" pitchFamily="18" charset="0"/>
                                    </a:rPr>
                                  </m:ctrlPr>
                                </m:fPr>
                                <m:num>
                                  <m:r>
                                    <a:rPr lang="en-US" altLang="zh-CN" sz="2000" i="1">
                                      <a:solidFill>
                                        <a:schemeClr val="tx1"/>
                                      </a:solidFill>
                                      <a:latin typeface="Cambria Math" panose="02040503050406030204" pitchFamily="18" charset="0"/>
                                      <a:ea typeface="Cambria Math" panose="02040503050406030204" pitchFamily="18" charset="0"/>
                                    </a:rPr>
                                    <m:t>1</m:t>
                                  </m:r>
                                </m:num>
                                <m:den>
                                  <m:r>
                                    <a:rPr lang="en-US" altLang="zh-CN" sz="2000" i="1">
                                      <a:solidFill>
                                        <a:schemeClr val="tx1"/>
                                      </a:solidFill>
                                      <a:latin typeface="Cambria Math" panose="02040503050406030204" pitchFamily="18" charset="0"/>
                                      <a:ea typeface="Cambria Math" panose="02040503050406030204" pitchFamily="18" charset="0"/>
                                    </a:rPr>
                                    <m:t>2</m:t>
                                  </m:r>
                                </m:den>
                              </m:f>
                              <m:r>
                                <a:rPr lang="en-US" altLang="zh-CN" sz="2000" i="1">
                                  <a:solidFill>
                                    <a:schemeClr val="tx1"/>
                                  </a:solidFill>
                                  <a:latin typeface="Cambria Math" panose="02040503050406030204" pitchFamily="18" charset="0"/>
                                  <a:ea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sSup>
                                    <m:sSupPr>
                                      <m:ctrlPr>
                                        <a:rPr lang="en-US" altLang="zh-CN" sz="2000" i="1">
                                          <a:latin typeface="Cambria Math" panose="02040503050406030204" pitchFamily="18" charset="0"/>
                                          <a:ea typeface="Cambria Math" panose="02040503050406030204" pitchFamily="18" charset="0"/>
                                        </a:rPr>
                                      </m:ctrlPr>
                                    </m:sSupPr>
                                    <m:e>
                                      <m:r>
                                        <a:rPr lang="en-US" altLang="zh-CN" sz="2000" i="1">
                                          <a:latin typeface="Cambria Math" panose="02040503050406030204" pitchFamily="18" charset="0"/>
                                          <a:ea typeface="Cambria Math" panose="02040503050406030204" pitchFamily="18" charset="0"/>
                                        </a:rPr>
                                        <m:t>𝑒</m:t>
                                      </m:r>
                                    </m:e>
                                    <m:sup>
                                      <m:f>
                                        <m:fPr>
                                          <m:type m:val="lin"/>
                                          <m:ctrlPr>
                                            <a:rPr lang="en-US" altLang="zh-CN" sz="2000" i="1">
                                              <a:latin typeface="Cambria Math" panose="02040503050406030204" pitchFamily="18" charset="0"/>
                                            </a:rPr>
                                          </m:ctrlPr>
                                        </m:fPr>
                                        <m:num>
                                          <m:r>
                                            <m:rPr>
                                              <m:sty m:val="p"/>
                                            </m:rPr>
                                            <a:rPr lang="en-US" altLang="zh-CN" sz="2000" i="1">
                                              <a:latin typeface="Cambria Math" panose="02040503050406030204" pitchFamily="18" charset="0"/>
                                            </a:rPr>
                                            <m:t>ℏ</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𝜔</m:t>
                                              </m:r>
                                            </m:e>
                                            <m:sub>
                                              <m:r>
                                                <a:rPr lang="en-US" altLang="zh-CN" sz="2000" b="0" i="1" smtClean="0">
                                                  <a:latin typeface="Cambria Math" panose="02040503050406030204" pitchFamily="18" charset="0"/>
                                                </a:rPr>
                                                <m:t>𝑗</m:t>
                                              </m:r>
                                            </m:sub>
                                          </m:sSub>
                                        </m:num>
                                        <m:den>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𝐵</m:t>
                                              </m:r>
                                            </m:sub>
                                          </m:sSub>
                                          <m:r>
                                            <a:rPr lang="en-US" altLang="zh-CN" sz="2000" i="1">
                                              <a:latin typeface="Cambria Math" panose="02040503050406030204" pitchFamily="18" charset="0"/>
                                              <a:ea typeface="Cambria Math" panose="02040503050406030204" pitchFamily="18" charset="0"/>
                                            </a:rPr>
                                            <m:t>𝑇</m:t>
                                          </m:r>
                                        </m:den>
                                      </m:f>
                                    </m:sup>
                                  </m:sSup>
                                  <m:r>
                                    <a:rPr lang="en-US" altLang="zh-CN" sz="2000" i="1">
                                      <a:latin typeface="Cambria Math" panose="02040503050406030204" pitchFamily="18" charset="0"/>
                                      <a:ea typeface="Cambria Math" panose="02040503050406030204" pitchFamily="18" charset="0"/>
                                    </a:rPr>
                                    <m:t>−1</m:t>
                                  </m:r>
                                </m:den>
                              </m:f>
                            </m:e>
                          </m:d>
                          <m:r>
                            <m:rPr>
                              <m:sty m:val="p"/>
                            </m:rPr>
                            <a:rPr lang="en-US" altLang="zh-CN" sz="2000" i="1">
                              <a:latin typeface="Cambria Math" panose="02040503050406030204" pitchFamily="18" charset="0"/>
                            </a:rPr>
                            <m:t>ℏ</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𝜔</m:t>
                              </m:r>
                            </m:e>
                            <m:sub>
                              <m:r>
                                <a:rPr lang="en-US" altLang="zh-CN" sz="2000" i="1">
                                  <a:latin typeface="Cambria Math" panose="02040503050406030204" pitchFamily="18" charset="0"/>
                                </a:rPr>
                                <m:t>𝑗</m:t>
                              </m:r>
                            </m:sub>
                          </m:sSub>
                        </m:e>
                      </m:nary>
                    </m:oMath>
                  </m:oMathPara>
                </a14:m>
                <a:endParaRPr lang="en-US" sz="2000" dirty="0"/>
              </a:p>
              <a:p>
                <a:pPr marL="514350" indent="-514350">
                  <a:lnSpc>
                    <a:spcPct val="100000"/>
                  </a:lnSpc>
                  <a:spcBef>
                    <a:spcPts val="0"/>
                  </a:spcBef>
                  <a:spcAft>
                    <a:spcPts val="1200"/>
                  </a:spcAft>
                  <a:buAutoNum type="arabicPeriod"/>
                </a:pPr>
                <a:r>
                  <a:rPr lang="zh-CN" altLang="en-US" sz="2000" dirty="0">
                    <a:solidFill>
                      <a:schemeClr val="tx1"/>
                    </a:solidFill>
                  </a:rPr>
                  <a:t>将对序号</a:t>
                </a:r>
                <a:r>
                  <a:rPr lang="en-US" altLang="zh-CN" sz="2000" dirty="0">
                    <a:solidFill>
                      <a:schemeClr val="tx1"/>
                    </a:solidFill>
                  </a:rPr>
                  <a:t>j</a:t>
                </a:r>
                <a:r>
                  <a:rPr lang="zh-CN" altLang="en-US" sz="2000" dirty="0">
                    <a:solidFill>
                      <a:schemeClr val="tx1"/>
                    </a:solidFill>
                  </a:rPr>
                  <a:t>的求和写为对频率</a:t>
                </a:r>
                <a14:m>
                  <m:oMath xmlns:m="http://schemas.openxmlformats.org/officeDocument/2006/math">
                    <m:r>
                      <a:rPr lang="en-US" sz="2000" i="1" smtClean="0">
                        <a:solidFill>
                          <a:schemeClr val="tx1"/>
                        </a:solidFill>
                        <a:latin typeface="Cambria Math" panose="02040503050406030204" pitchFamily="18" charset="0"/>
                      </a:rPr>
                      <m:t>𝜔</m:t>
                    </m:r>
                  </m:oMath>
                </a14:m>
                <a:r>
                  <a:rPr lang="zh-CN" altLang="en-US" sz="2000" dirty="0">
                    <a:solidFill>
                      <a:schemeClr val="tx1"/>
                    </a:solidFill>
                  </a:rPr>
                  <a:t>的求和</a:t>
                </a:r>
                <a:endParaRPr lang="en-US" altLang="zh-CN" sz="2000" dirty="0">
                  <a:solidFill>
                    <a:schemeClr val="tx1"/>
                  </a:solidFill>
                </a:endParaRPr>
              </a:p>
              <a:p>
                <a:pPr marL="514350" indent="-514350">
                  <a:lnSpc>
                    <a:spcPct val="100000"/>
                  </a:lnSpc>
                  <a:spcBef>
                    <a:spcPts val="0"/>
                  </a:spcBef>
                  <a:spcAft>
                    <a:spcPts val="1200"/>
                  </a:spcAft>
                  <a:buAutoNum type="arabicPeriod"/>
                </a:pPr>
                <a:r>
                  <a:rPr lang="zh-CN" altLang="en-US" sz="2000" dirty="0">
                    <a:solidFill>
                      <a:schemeClr val="tx1"/>
                    </a:solidFill>
                  </a:rPr>
                  <a:t>考虑到</a:t>
                </a:r>
                <a14:m>
                  <m:oMath xmlns:m="http://schemas.openxmlformats.org/officeDocument/2006/math">
                    <m:r>
                      <a:rPr lang="en-US" sz="2000" b="0" i="1" smtClean="0">
                        <a:solidFill>
                          <a:schemeClr val="tx1"/>
                        </a:solidFill>
                        <a:latin typeface="Cambria Math" panose="02040503050406030204" pitchFamily="18" charset="0"/>
                      </a:rPr>
                      <m:t>𝑁</m:t>
                    </m:r>
                  </m:oMath>
                </a14:m>
                <a:r>
                  <a:rPr lang="zh-CN" altLang="en-US" sz="2000" dirty="0">
                    <a:solidFill>
                      <a:schemeClr val="tx1"/>
                    </a:solidFill>
                  </a:rPr>
                  <a:t>很大，</a:t>
                </a:r>
                <a:r>
                  <a:rPr lang="en-US" sz="2000" dirty="0">
                    <a:solidFill>
                      <a:schemeClr val="tx1"/>
                    </a:solidFill>
                  </a:rPr>
                  <a:t> </a:t>
                </a:r>
                <a14:m>
                  <m:oMath xmlns:m="http://schemas.openxmlformats.org/officeDocument/2006/math">
                    <m:r>
                      <a:rPr lang="en-US" sz="2000" i="1">
                        <a:solidFill>
                          <a:schemeClr val="tx1"/>
                        </a:solidFill>
                        <a:latin typeface="Cambria Math" panose="02040503050406030204" pitchFamily="18" charset="0"/>
                      </a:rPr>
                      <m:t>𝜔</m:t>
                    </m:r>
                  </m:oMath>
                </a14:m>
                <a:r>
                  <a:rPr lang="zh-CN" altLang="en-US" sz="2000" dirty="0">
                    <a:solidFill>
                      <a:schemeClr val="tx1"/>
                    </a:solidFill>
                  </a:rPr>
                  <a:t>可以认为是连续取值，求和改积分</a:t>
                </a:r>
                <a:endParaRPr lang="en-US" sz="2000" dirty="0">
                  <a:solidFill>
                    <a:schemeClr val="tx1"/>
                  </a:solidFill>
                </a:endParaRPr>
              </a:p>
              <a:p>
                <a:pPr marL="0" indent="0">
                  <a:lnSpc>
                    <a:spcPct val="100000"/>
                  </a:lnSpc>
                  <a:spcBef>
                    <a:spcPts val="0"/>
                  </a:spcBef>
                  <a:spcAft>
                    <a:spcPts val="1200"/>
                  </a:spcAft>
                  <a:buNone/>
                </a:pPr>
                <a14:m>
                  <m:oMathPara xmlns:m="http://schemas.openxmlformats.org/officeDocument/2006/math">
                    <m:oMath>
                      <m:r>
                        <a:rPr lang="en-US" sz="2000" b="0" i="1" smtClean="0">
                          <a:solidFill>
                            <a:srgbClr val="000000"/>
                          </a:solidFill>
                          <a:latin typeface="Cambria Math" panose="02040503050406030204" pitchFamily="18" charset="0"/>
                        </a:rPr>
                        <m:t>𝐸</m:t>
                      </m:r>
                      <m:r>
                        <a:rPr lang="en-US" sz="2000" i="1">
                          <a:solidFill>
                            <a:srgbClr val="000000"/>
                          </a:solidFill>
                          <a:latin typeface="Cambria Math" panose="02040503050406030204" pitchFamily="18" charset="0"/>
                          <a:ea typeface="Cambria Math" panose="02040503050406030204" pitchFamily="18" charset="0"/>
                        </a:rPr>
                        <m:t>⇒</m:t>
                      </m:r>
                      <m:nary>
                        <m:naryPr>
                          <m:ctrlPr>
                            <a:rPr lang="en-US" sz="2000" b="0" i="1" smtClean="0">
                              <a:solidFill>
                                <a:srgbClr val="000000"/>
                              </a:solidFill>
                              <a:latin typeface="Cambria Math" panose="02040503050406030204" pitchFamily="18" charset="0"/>
                            </a:rPr>
                          </m:ctrlPr>
                        </m:naryPr>
                        <m:sub>
                          <m:r>
                            <m:rPr>
                              <m:brk m:alnAt="23"/>
                            </m:rPr>
                            <a:rPr lang="en-US" sz="2000" b="0" i="1" smtClean="0">
                              <a:solidFill>
                                <a:srgbClr val="000000"/>
                              </a:solidFill>
                              <a:latin typeface="Cambria Math" panose="02040503050406030204" pitchFamily="18" charset="0"/>
                            </a:rPr>
                            <m:t>0</m:t>
                          </m:r>
                        </m:sub>
                        <m:sup>
                          <m:r>
                            <a:rPr lang="en-US" sz="2000" i="1" smtClean="0">
                              <a:solidFill>
                                <a:srgbClr val="000000"/>
                              </a:solidFill>
                              <a:latin typeface="Cambria Math" panose="02040503050406030204" pitchFamily="18" charset="0"/>
                              <a:ea typeface="Cambria Math" panose="02040503050406030204" pitchFamily="18" charset="0"/>
                            </a:rPr>
                            <m:t>∞</m:t>
                          </m:r>
                        </m:sup>
                        <m:e>
                          <m:r>
                            <a:rPr lang="en-US" sz="2000" b="0" i="1" smtClean="0">
                              <a:solidFill>
                                <a:srgbClr val="000000"/>
                              </a:solidFill>
                              <a:latin typeface="Cambria Math" panose="02040503050406030204" pitchFamily="18" charset="0"/>
                            </a:rPr>
                            <m:t>𝑑</m:t>
                          </m:r>
                          <m:r>
                            <a:rPr lang="en-US" sz="2000" b="0" i="1" smtClean="0">
                              <a:solidFill>
                                <a:srgbClr val="000000"/>
                              </a:solidFill>
                              <a:latin typeface="Cambria Math" panose="02040503050406030204" pitchFamily="18" charset="0"/>
                              <a:ea typeface="Cambria Math" panose="02040503050406030204" pitchFamily="18" charset="0"/>
                            </a:rPr>
                            <m:t>𝜔</m:t>
                          </m:r>
                          <m:r>
                            <a:rPr lang="en-US" sz="2000" i="1" smtClean="0">
                              <a:solidFill>
                                <a:srgbClr val="FF0000"/>
                              </a:solidFill>
                              <a:latin typeface="Cambria Math" panose="02040503050406030204" pitchFamily="18" charset="0"/>
                            </a:rPr>
                            <m:t>𝑔</m:t>
                          </m:r>
                          <m:d>
                            <m:dPr>
                              <m:ctrlPr>
                                <a:rPr lang="en-US" sz="2000" i="1">
                                  <a:solidFill>
                                    <a:srgbClr val="FF0000"/>
                                  </a:solidFill>
                                  <a:latin typeface="Cambria Math" panose="02040503050406030204" pitchFamily="18" charset="0"/>
                                </a:rPr>
                              </m:ctrlPr>
                            </m:dPr>
                            <m:e>
                              <m:r>
                                <a:rPr lang="en-US" sz="2000" i="1">
                                  <a:solidFill>
                                    <a:srgbClr val="FF0000"/>
                                  </a:solidFill>
                                  <a:latin typeface="Cambria Math" panose="02040503050406030204" pitchFamily="18" charset="0"/>
                                </a:rPr>
                                <m:t>𝜔</m:t>
                              </m:r>
                            </m:e>
                          </m:d>
                          <m:d>
                            <m:dPr>
                              <m:ctrlPr>
                                <a:rPr lang="en-US" altLang="zh-CN" sz="2000" i="1">
                                  <a:latin typeface="Cambria Math" panose="02040503050406030204" pitchFamily="18" charset="0"/>
                                  <a:ea typeface="Cambria Math" panose="02040503050406030204" pitchFamily="18" charset="0"/>
                                </a:rPr>
                              </m:ctrlPr>
                            </m:dPr>
                            <m:e>
                              <m:f>
                                <m:fPr>
                                  <m:ctrlPr>
                                    <a:rPr lang="en-US" altLang="zh-CN" sz="2000" i="1">
                                      <a:latin typeface="Cambria Math" panose="02040503050406030204" pitchFamily="18" charset="0"/>
                                      <a:ea typeface="Cambria Math" panose="02040503050406030204" pitchFamily="18" charset="0"/>
                                    </a:rPr>
                                  </m:ctrlPr>
                                </m:fPr>
                                <m:num>
                                  <m:r>
                                    <a:rPr lang="en-US" altLang="zh-CN" sz="2000" i="1">
                                      <a:latin typeface="Cambria Math" panose="02040503050406030204" pitchFamily="18" charset="0"/>
                                      <a:ea typeface="Cambria Math" panose="02040503050406030204" pitchFamily="18" charset="0"/>
                                    </a:rPr>
                                    <m:t>1</m:t>
                                  </m:r>
                                </m:num>
                                <m:den>
                                  <m:r>
                                    <a:rPr lang="en-US" altLang="zh-CN" sz="2000" i="1">
                                      <a:latin typeface="Cambria Math" panose="02040503050406030204" pitchFamily="18" charset="0"/>
                                      <a:ea typeface="Cambria Math" panose="02040503050406030204" pitchFamily="18" charset="0"/>
                                    </a:rPr>
                                    <m:t>2</m:t>
                                  </m:r>
                                </m:den>
                              </m:f>
                              <m:r>
                                <a:rPr lang="en-US" altLang="zh-CN" sz="2000" i="1">
                                  <a:latin typeface="Cambria Math" panose="02040503050406030204" pitchFamily="18" charset="0"/>
                                  <a:ea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sSup>
                                    <m:sSupPr>
                                      <m:ctrlPr>
                                        <a:rPr lang="en-US" altLang="zh-CN" sz="2000" i="1">
                                          <a:latin typeface="Cambria Math" panose="02040503050406030204" pitchFamily="18" charset="0"/>
                                          <a:ea typeface="Cambria Math" panose="02040503050406030204" pitchFamily="18" charset="0"/>
                                        </a:rPr>
                                      </m:ctrlPr>
                                    </m:sSupPr>
                                    <m:e>
                                      <m:r>
                                        <a:rPr lang="en-US" altLang="zh-CN" sz="2000" i="1">
                                          <a:latin typeface="Cambria Math" panose="02040503050406030204" pitchFamily="18" charset="0"/>
                                          <a:ea typeface="Cambria Math" panose="02040503050406030204" pitchFamily="18" charset="0"/>
                                        </a:rPr>
                                        <m:t>𝑒</m:t>
                                      </m:r>
                                    </m:e>
                                    <m:sup>
                                      <m:f>
                                        <m:fPr>
                                          <m:type m:val="lin"/>
                                          <m:ctrlPr>
                                            <a:rPr lang="en-US" altLang="zh-CN" sz="2000" i="1">
                                              <a:latin typeface="Cambria Math" panose="02040503050406030204" pitchFamily="18" charset="0"/>
                                            </a:rPr>
                                          </m:ctrlPr>
                                        </m:fPr>
                                        <m:num>
                                          <m:r>
                                            <m:rPr>
                                              <m:sty m:val="p"/>
                                            </m:rPr>
                                            <a:rPr lang="en-US" altLang="zh-CN" sz="2000" i="1">
                                              <a:latin typeface="Cambria Math" panose="02040503050406030204" pitchFamily="18" charset="0"/>
                                            </a:rPr>
                                            <m:t>ℏ</m:t>
                                          </m:r>
                                          <m:r>
                                            <a:rPr lang="en-US" altLang="zh-CN" sz="2000" i="1">
                                              <a:solidFill>
                                                <a:srgbClr val="000000"/>
                                              </a:solidFill>
                                              <a:latin typeface="Cambria Math" panose="02040503050406030204" pitchFamily="18" charset="0"/>
                                              <a:ea typeface="Cambria Math" panose="02040503050406030204" pitchFamily="18" charset="0"/>
                                            </a:rPr>
                                            <m:t>𝜔</m:t>
                                          </m:r>
                                        </m:num>
                                        <m:den>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𝐵</m:t>
                                              </m:r>
                                            </m:sub>
                                          </m:sSub>
                                          <m:r>
                                            <a:rPr lang="en-US" altLang="zh-CN" sz="2000" i="1">
                                              <a:latin typeface="Cambria Math" panose="02040503050406030204" pitchFamily="18" charset="0"/>
                                              <a:ea typeface="Cambria Math" panose="02040503050406030204" pitchFamily="18" charset="0"/>
                                            </a:rPr>
                                            <m:t>𝑇</m:t>
                                          </m:r>
                                        </m:den>
                                      </m:f>
                                    </m:sup>
                                  </m:sSup>
                                  <m:r>
                                    <a:rPr lang="en-US" altLang="zh-CN" sz="2000" i="1">
                                      <a:latin typeface="Cambria Math" panose="02040503050406030204" pitchFamily="18" charset="0"/>
                                      <a:ea typeface="Cambria Math" panose="02040503050406030204" pitchFamily="18" charset="0"/>
                                    </a:rPr>
                                    <m:t>−1</m:t>
                                  </m:r>
                                </m:den>
                              </m:f>
                            </m:e>
                          </m:d>
                          <m:r>
                            <m:rPr>
                              <m:sty m:val="p"/>
                            </m:rPr>
                            <a:rPr lang="en-US" altLang="zh-CN" sz="2000" i="1">
                              <a:latin typeface="Cambria Math" panose="02040503050406030204" pitchFamily="18" charset="0"/>
                            </a:rPr>
                            <m:t>ℏ</m:t>
                          </m:r>
                          <m:r>
                            <a:rPr lang="en-US" altLang="zh-CN" sz="2000" i="1">
                              <a:solidFill>
                                <a:srgbClr val="000000"/>
                              </a:solidFill>
                              <a:latin typeface="Cambria Math" panose="02040503050406030204" pitchFamily="18" charset="0"/>
                              <a:ea typeface="Cambria Math" panose="02040503050406030204" pitchFamily="18" charset="0"/>
                            </a:rPr>
                            <m:t>𝜔</m:t>
                          </m:r>
                        </m:e>
                      </m:nary>
                    </m:oMath>
                  </m:oMathPara>
                </a14:m>
                <a:endParaRPr lang="en-US" sz="2000" dirty="0"/>
              </a:p>
              <a:p>
                <a:pPr marL="0" indent="0">
                  <a:lnSpc>
                    <a:spcPct val="100000"/>
                  </a:lnSpc>
                  <a:spcBef>
                    <a:spcPts val="0"/>
                  </a:spcBef>
                  <a:spcAft>
                    <a:spcPts val="1200"/>
                  </a:spcAft>
                  <a:buNone/>
                </a:pPr>
                <a14:m>
                  <m:oMath xmlns:m="http://schemas.openxmlformats.org/officeDocument/2006/math">
                    <m:r>
                      <a:rPr lang="en-US" sz="2000" i="1" smtClean="0">
                        <a:solidFill>
                          <a:srgbClr val="FF0000"/>
                        </a:solidFill>
                        <a:latin typeface="Cambria Math" panose="02040503050406030204" pitchFamily="18" charset="0"/>
                      </a:rPr>
                      <m:t>𝑔</m:t>
                    </m:r>
                    <m:d>
                      <m:dPr>
                        <m:ctrlPr>
                          <a:rPr lang="en-US" sz="2000" i="1">
                            <a:solidFill>
                              <a:srgbClr val="FF0000"/>
                            </a:solidFill>
                            <a:latin typeface="Cambria Math" panose="02040503050406030204" pitchFamily="18" charset="0"/>
                          </a:rPr>
                        </m:ctrlPr>
                      </m:dPr>
                      <m:e>
                        <m:r>
                          <a:rPr lang="en-US" sz="2000" i="1">
                            <a:solidFill>
                              <a:srgbClr val="FF0000"/>
                            </a:solidFill>
                            <a:latin typeface="Cambria Math" panose="02040503050406030204" pitchFamily="18" charset="0"/>
                          </a:rPr>
                          <m:t>𝜔</m:t>
                        </m:r>
                      </m:e>
                    </m:d>
                  </m:oMath>
                </a14:m>
                <a:r>
                  <a:rPr lang="zh-CN" altLang="en-US" sz="2000" dirty="0">
                    <a:solidFill>
                      <a:srgbClr val="FF0000"/>
                    </a:solidFill>
                  </a:rPr>
                  <a:t>为简正模密度函数</a:t>
                </a:r>
                <a:r>
                  <a:rPr lang="zh-CN" altLang="en-US" sz="2000" dirty="0"/>
                  <a:t>，即，在</a:t>
                </a:r>
                <a14:m>
                  <m:oMath xmlns:m="http://schemas.openxmlformats.org/officeDocument/2006/math">
                    <m:r>
                      <a:rPr lang="en-US" sz="2000" i="1">
                        <a:solidFill>
                          <a:srgbClr val="000000"/>
                        </a:solidFill>
                        <a:latin typeface="Cambria Math" panose="02040503050406030204" pitchFamily="18" charset="0"/>
                      </a:rPr>
                      <m:t>𝜔</m:t>
                    </m:r>
                  </m:oMath>
                </a14:m>
                <a:r>
                  <a:rPr lang="zh-CN" altLang="en-US" sz="2000" dirty="0"/>
                  <a:t>到</a:t>
                </a:r>
                <a14:m>
                  <m:oMath xmlns:m="http://schemas.openxmlformats.org/officeDocument/2006/math">
                    <m:r>
                      <a:rPr lang="en-US" sz="2000" i="1">
                        <a:solidFill>
                          <a:srgbClr val="000000"/>
                        </a:solidFill>
                        <a:latin typeface="Cambria Math" panose="02040503050406030204" pitchFamily="18" charset="0"/>
                      </a:rPr>
                      <m:t>𝜔</m:t>
                    </m:r>
                    <m:r>
                      <a:rPr lang="en-US" altLang="zh-CN" sz="2000" i="1" smtClean="0">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𝑑</m:t>
                    </m:r>
                    <m:r>
                      <a:rPr lang="en-US" sz="2000" i="1">
                        <a:solidFill>
                          <a:srgbClr val="000000"/>
                        </a:solidFill>
                        <a:latin typeface="Cambria Math" panose="02040503050406030204" pitchFamily="18" charset="0"/>
                        <a:ea typeface="Cambria Math" panose="02040503050406030204" pitchFamily="18" charset="0"/>
                      </a:rPr>
                      <m:t>𝜔</m:t>
                    </m:r>
                  </m:oMath>
                </a14:m>
                <a:r>
                  <a:rPr lang="zh-CN" altLang="en-US" sz="2000" dirty="0"/>
                  <a:t>的频率范围内，存在多少个简正模</a:t>
                </a:r>
                <a:endParaRPr lang="en-US" sz="2000" dirty="0"/>
              </a:p>
            </p:txBody>
          </p:sp>
        </mc:Choice>
        <mc:Fallback>
          <p:sp>
            <p:nvSpPr>
              <p:cNvPr id="3" name="内容占位符 2">
                <a:extLst>
                  <a:ext uri="{FF2B5EF4-FFF2-40B4-BE49-F238E27FC236}">
                    <a16:creationId xmlns:a16="http://schemas.microsoft.com/office/drawing/2014/main" id="{8C2890BA-36ED-D123-5818-A7DE86724885}"/>
                  </a:ext>
                </a:extLst>
              </p:cNvPr>
              <p:cNvSpPr>
                <a:spLocks noGrp="1" noRot="1" noChangeAspect="1" noMove="1" noResize="1" noEditPoints="1" noAdjustHandles="1" noChangeArrowheads="1" noChangeShapeType="1" noTextEdit="1"/>
              </p:cNvSpPr>
              <p:nvPr>
                <p:ph idx="1"/>
              </p:nvPr>
            </p:nvSpPr>
            <p:spPr>
              <a:xfrm>
                <a:off x="838200" y="1551710"/>
                <a:ext cx="10515600" cy="5052290"/>
              </a:xfrm>
              <a:blipFill>
                <a:blip r:embed="rId2"/>
                <a:stretch>
                  <a:fillRect l="-638" t="-1087"/>
                </a:stretch>
              </a:blipFill>
            </p:spPr>
            <p:txBody>
              <a:bodyPr/>
              <a:lstStyle/>
              <a:p>
                <a:r>
                  <a:rPr lang="zh-CN" altLang="en-US">
                    <a:noFill/>
                  </a:rPr>
                  <a:t> </a:t>
                </a:r>
              </a:p>
            </p:txBody>
          </p:sp>
        </mc:Fallback>
      </mc:AlternateContent>
      <p:graphicFrame>
        <p:nvGraphicFramePr>
          <p:cNvPr id="4" name="表格 3">
            <a:extLst>
              <a:ext uri="{FF2B5EF4-FFF2-40B4-BE49-F238E27FC236}">
                <a16:creationId xmlns:a16="http://schemas.microsoft.com/office/drawing/2014/main" id="{C2E64597-9EAA-9330-A138-8ACF3CF8530E}"/>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27</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3191927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a:extLst>
                  <a:ext uri="{FF2B5EF4-FFF2-40B4-BE49-F238E27FC236}">
                    <a16:creationId xmlns:a16="http://schemas.microsoft.com/office/drawing/2014/main" id="{1312E54C-DFF1-7E5A-FA00-D720A32233D7}"/>
                  </a:ext>
                </a:extLst>
              </p:cNvPr>
              <p:cNvSpPr>
                <a:spLocks noGrp="1"/>
              </p:cNvSpPr>
              <p:nvPr>
                <p:ph type="title"/>
              </p:nvPr>
            </p:nvSpPr>
            <p:spPr/>
            <p:txBody>
              <a:bodyPr/>
              <a:lstStyle/>
              <a:p>
                <a:r>
                  <a:rPr lang="zh-CN" altLang="en-US" dirty="0"/>
                  <a:t>密度函数</a:t>
                </a:r>
                <a14:m>
                  <m:oMath xmlns:m="http://schemas.openxmlformats.org/officeDocument/2006/math">
                    <m:r>
                      <a:rPr lang="en-US" altLang="zh-CN" i="1" smtClean="0">
                        <a:solidFill>
                          <a:schemeClr val="tx1"/>
                        </a:solidFill>
                        <a:latin typeface="Cambria Math" panose="02040503050406030204" pitchFamily="18" charset="0"/>
                      </a:rPr>
                      <m:t>𝑔</m:t>
                    </m:r>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𝜔</m:t>
                        </m:r>
                      </m:e>
                    </m:d>
                  </m:oMath>
                </a14:m>
                <a:r>
                  <a:rPr lang="zh-CN" altLang="en-US" dirty="0"/>
                  <a:t>的求解</a:t>
                </a:r>
                <a:endParaRPr lang="en-US" dirty="0"/>
              </a:p>
            </p:txBody>
          </p:sp>
        </mc:Choice>
        <mc:Fallback xmlns="">
          <p:sp>
            <p:nvSpPr>
              <p:cNvPr id="2" name="标题 1">
                <a:extLst>
                  <a:ext uri="{FF2B5EF4-FFF2-40B4-BE49-F238E27FC236}">
                    <a16:creationId xmlns:a16="http://schemas.microsoft.com/office/drawing/2014/main" id="{1312E54C-DFF1-7E5A-FA00-D720A32233D7}"/>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63572FA6-7729-9A7A-79D5-ECD7A2EB9F8C}"/>
                  </a:ext>
                </a:extLst>
              </p:cNvPr>
              <p:cNvSpPr>
                <a:spLocks noGrp="1"/>
              </p:cNvSpPr>
              <p:nvPr>
                <p:ph idx="1"/>
              </p:nvPr>
            </p:nvSpPr>
            <p:spPr/>
            <p:txBody>
              <a:bodyPr>
                <a:normAutofit/>
              </a:bodyPr>
              <a:lstStyle/>
              <a:p>
                <a:pPr>
                  <a:lnSpc>
                    <a:spcPct val="100000"/>
                  </a:lnSpc>
                  <a:spcBef>
                    <a:spcPts val="0"/>
                  </a:spcBef>
                  <a:spcAft>
                    <a:spcPts val="1200"/>
                  </a:spcAft>
                </a:pPr>
                <a:r>
                  <a:rPr lang="zh-CN" altLang="en-US" sz="2000" dirty="0"/>
                  <a:t>当</a:t>
                </a:r>
                <a:r>
                  <a:rPr lang="en-US" altLang="zh-CN" sz="2000" dirty="0"/>
                  <a:t>N</a:t>
                </a:r>
                <a:r>
                  <a:rPr lang="zh-CN" altLang="en-US" sz="2000" dirty="0"/>
                  <a:t>足够大时，</a:t>
                </a:r>
                <a14:m>
                  <m:oMath xmlns:m="http://schemas.openxmlformats.org/officeDocument/2006/math">
                    <m:r>
                      <a:rPr lang="en-US" sz="2000" b="0" i="1" smtClean="0">
                        <a:latin typeface="Cambria Math" panose="02040503050406030204" pitchFamily="18" charset="0"/>
                      </a:rPr>
                      <m:t>𝑁</m:t>
                    </m:r>
                  </m:oMath>
                </a14:m>
                <a:r>
                  <a:rPr lang="zh-CN" altLang="en-US" sz="2000" dirty="0"/>
                  <a:t>个波矢</a:t>
                </a:r>
                <a:r>
                  <a:rPr lang="zh-CN" altLang="en-US" sz="2000" dirty="0">
                    <a:solidFill>
                      <a:srgbClr val="FF0000"/>
                    </a:solidFill>
                  </a:rPr>
                  <a:t>均匀分布在第一布里渊区内</a:t>
                </a:r>
                <a:endParaRPr lang="en-US" altLang="zh-CN" sz="2000" dirty="0">
                  <a:solidFill>
                    <a:srgbClr val="FF0000"/>
                  </a:solidFill>
                </a:endParaRPr>
              </a:p>
              <a:p>
                <a:pPr>
                  <a:lnSpc>
                    <a:spcPct val="100000"/>
                  </a:lnSpc>
                  <a:spcBef>
                    <a:spcPts val="0"/>
                  </a:spcBef>
                  <a:spcAft>
                    <a:spcPts val="1200"/>
                  </a:spcAft>
                </a:pPr>
                <a:r>
                  <a:rPr lang="zh-CN" altLang="en-US" sz="2000" dirty="0"/>
                  <a:t>记正空间原胞体积为</a:t>
                </a:r>
                <a14:m>
                  <m:oMath xmlns:m="http://schemas.openxmlformats.org/officeDocument/2006/math">
                    <m:r>
                      <m:rPr>
                        <m:sty m:val="p"/>
                      </m:rPr>
                      <a:rPr lang="el-GR" altLang="zh-CN" sz="2000" i="1">
                        <a:latin typeface="Cambria Math" panose="02040503050406030204" pitchFamily="18" charset="0"/>
                        <a:ea typeface="Cambria Math" panose="02040503050406030204" pitchFamily="18" charset="0"/>
                      </a:rPr>
                      <m:t>Ω</m:t>
                    </m:r>
                  </m:oMath>
                </a14:m>
                <a:r>
                  <a:rPr lang="zh-CN" altLang="en-US" sz="2000" dirty="0"/>
                  <a:t>，倒空间原胞（第一布里渊区）体积</a:t>
                </a:r>
                <a14:m>
                  <m:oMath xmlns:m="http://schemas.openxmlformats.org/officeDocument/2006/math">
                    <m:sSup>
                      <m:sSupPr>
                        <m:ctrlPr>
                          <a:rPr lang="el-GR" altLang="zh-CN" sz="2000" i="1">
                            <a:solidFill>
                              <a:srgbClr val="000000"/>
                            </a:solidFill>
                            <a:latin typeface="Cambria Math" panose="02040503050406030204" pitchFamily="18" charset="0"/>
                            <a:ea typeface="Cambria Math" panose="02040503050406030204" pitchFamily="18" charset="0"/>
                          </a:rPr>
                        </m:ctrlPr>
                      </m:sSupPr>
                      <m:e>
                        <m:r>
                          <m:rPr>
                            <m:sty m:val="p"/>
                          </m:rPr>
                          <a:rPr lang="el-GR" altLang="zh-CN" sz="2000" i="1">
                            <a:solidFill>
                              <a:srgbClr val="000000"/>
                            </a:solidFill>
                            <a:latin typeface="Cambria Math" panose="02040503050406030204" pitchFamily="18" charset="0"/>
                            <a:ea typeface="Cambria Math" panose="02040503050406030204" pitchFamily="18" charset="0"/>
                          </a:rPr>
                          <m:t>Ω</m:t>
                        </m:r>
                      </m:e>
                      <m:sup>
                        <m:r>
                          <a:rPr lang="en-US" altLang="zh-CN" sz="2000" i="1">
                            <a:solidFill>
                              <a:srgbClr val="000000"/>
                            </a:solidFill>
                            <a:latin typeface="Cambria Math" panose="02040503050406030204" pitchFamily="18" charset="0"/>
                          </a:rPr>
                          <m:t>∗</m:t>
                        </m:r>
                      </m:sup>
                    </m:sSup>
                  </m:oMath>
                </a14:m>
                <a:endParaRPr lang="en-US" altLang="zh-CN" sz="2000" dirty="0">
                  <a:solidFill>
                    <a:srgbClr val="000000"/>
                  </a:solidFill>
                </a:endParaRPr>
              </a:p>
              <a:p>
                <a:pPr>
                  <a:lnSpc>
                    <a:spcPct val="100000"/>
                  </a:lnSpc>
                  <a:spcBef>
                    <a:spcPts val="0"/>
                  </a:spcBef>
                  <a:spcAft>
                    <a:spcPts val="1200"/>
                  </a:spcAft>
                </a:pPr>
                <a:r>
                  <a:rPr lang="zh-CN" altLang="en-US" sz="2000" dirty="0"/>
                  <a:t>一维晶体</a:t>
                </a:r>
                <a14:m>
                  <m:oMath xmlns:m="http://schemas.openxmlformats.org/officeDocument/2006/math">
                    <m:r>
                      <m:rPr>
                        <m:sty m:val="p"/>
                      </m:rPr>
                      <a:rPr lang="el-GR" altLang="zh-CN" sz="2000" i="1">
                        <a:latin typeface="Cambria Math" panose="02040503050406030204" pitchFamily="18" charset="0"/>
                        <a:ea typeface="Cambria Math" panose="02040503050406030204" pitchFamily="18" charset="0"/>
                      </a:rPr>
                      <m:t>Ω</m:t>
                    </m:r>
                    <m:sSup>
                      <m:sSupPr>
                        <m:ctrlPr>
                          <a:rPr lang="el-GR" altLang="zh-CN" sz="2000" i="1">
                            <a:latin typeface="Cambria Math" panose="02040503050406030204" pitchFamily="18" charset="0"/>
                            <a:ea typeface="Cambria Math" panose="02040503050406030204" pitchFamily="18" charset="0"/>
                          </a:rPr>
                        </m:ctrlPr>
                      </m:sSupPr>
                      <m:e>
                        <m:r>
                          <m:rPr>
                            <m:sty m:val="p"/>
                          </m:rPr>
                          <a:rPr lang="el-GR" altLang="zh-CN" sz="2000" i="1">
                            <a:latin typeface="Cambria Math" panose="02040503050406030204" pitchFamily="18" charset="0"/>
                            <a:ea typeface="Cambria Math" panose="02040503050406030204" pitchFamily="18" charset="0"/>
                          </a:rPr>
                          <m:t>Ω</m:t>
                        </m:r>
                      </m:e>
                      <m:sup>
                        <m:r>
                          <a:rPr lang="en-US" altLang="zh-CN" sz="2000" i="1">
                            <a:solidFill>
                              <a:srgbClr val="000000"/>
                            </a:solidFill>
                            <a:latin typeface="Cambria Math" panose="02040503050406030204" pitchFamily="18" charset="0"/>
                          </a:rPr>
                          <m:t>∗</m:t>
                        </m:r>
                      </m:sup>
                    </m:sSup>
                    <m:r>
                      <a:rPr lang="en-US" altLang="zh-CN" sz="2000" i="1">
                        <a:solidFill>
                          <a:srgbClr val="000000"/>
                        </a:solidFill>
                        <a:latin typeface="Cambria Math" panose="02040503050406030204" pitchFamily="18" charset="0"/>
                      </a:rPr>
                      <m:t>=2</m:t>
                    </m:r>
                    <m:r>
                      <a:rPr lang="en-US" altLang="zh-CN" sz="2000" i="1">
                        <a:solidFill>
                          <a:srgbClr val="000000"/>
                        </a:solidFill>
                        <a:latin typeface="Cambria Math" panose="02040503050406030204" pitchFamily="18" charset="0"/>
                      </a:rPr>
                      <m:t>𝜋</m:t>
                    </m:r>
                  </m:oMath>
                </a14:m>
                <a:r>
                  <a:rPr lang="zh-CN" altLang="en-US" sz="2000" dirty="0"/>
                  <a:t>，二维晶体</a:t>
                </a:r>
                <a14:m>
                  <m:oMath xmlns:m="http://schemas.openxmlformats.org/officeDocument/2006/math">
                    <m:r>
                      <m:rPr>
                        <m:sty m:val="p"/>
                      </m:rPr>
                      <a:rPr lang="el-GR" altLang="zh-CN" sz="2000" i="1">
                        <a:latin typeface="Cambria Math" panose="02040503050406030204" pitchFamily="18" charset="0"/>
                        <a:ea typeface="Cambria Math" panose="02040503050406030204" pitchFamily="18" charset="0"/>
                      </a:rPr>
                      <m:t>Ω</m:t>
                    </m:r>
                    <m:sSup>
                      <m:sSupPr>
                        <m:ctrlPr>
                          <a:rPr lang="el-GR" altLang="zh-CN" sz="2000" i="1">
                            <a:latin typeface="Cambria Math" panose="02040503050406030204" pitchFamily="18" charset="0"/>
                            <a:ea typeface="Cambria Math" panose="02040503050406030204" pitchFamily="18" charset="0"/>
                          </a:rPr>
                        </m:ctrlPr>
                      </m:sSupPr>
                      <m:e>
                        <m:r>
                          <m:rPr>
                            <m:sty m:val="p"/>
                          </m:rPr>
                          <a:rPr lang="el-GR" altLang="zh-CN" sz="2000" i="1">
                            <a:latin typeface="Cambria Math" panose="02040503050406030204" pitchFamily="18" charset="0"/>
                            <a:ea typeface="Cambria Math" panose="02040503050406030204" pitchFamily="18" charset="0"/>
                          </a:rPr>
                          <m:t>Ω</m:t>
                        </m:r>
                      </m:e>
                      <m:sup>
                        <m:r>
                          <a:rPr lang="en-US" altLang="zh-CN" sz="2000" i="1">
                            <a:solidFill>
                              <a:srgbClr val="000000"/>
                            </a:solidFill>
                            <a:latin typeface="Cambria Math" panose="02040503050406030204" pitchFamily="18" charset="0"/>
                          </a:rPr>
                          <m:t>∗</m:t>
                        </m:r>
                      </m:sup>
                    </m:sSup>
                    <m:r>
                      <a:rPr lang="en-US" altLang="zh-CN" sz="2000" i="1">
                        <a:solidFill>
                          <a:srgbClr val="000000"/>
                        </a:solidFill>
                        <a:latin typeface="Cambria Math" panose="02040503050406030204" pitchFamily="18" charset="0"/>
                      </a:rPr>
                      <m:t>=</m:t>
                    </m:r>
                    <m:sSup>
                      <m:sSupPr>
                        <m:ctrlPr>
                          <a:rPr lang="en-US" altLang="zh-CN" sz="2000" i="1">
                            <a:solidFill>
                              <a:srgbClr val="000000"/>
                            </a:solidFill>
                            <a:latin typeface="Cambria Math" panose="02040503050406030204" pitchFamily="18" charset="0"/>
                          </a:rPr>
                        </m:ctrlPr>
                      </m:sSupPr>
                      <m:e>
                        <m:d>
                          <m:dPr>
                            <m:ctrlPr>
                              <a:rPr lang="en-US" altLang="zh-CN" sz="2000" i="1">
                                <a:solidFill>
                                  <a:srgbClr val="000000"/>
                                </a:solidFill>
                                <a:latin typeface="Cambria Math" panose="02040503050406030204" pitchFamily="18" charset="0"/>
                              </a:rPr>
                            </m:ctrlPr>
                          </m:dPr>
                          <m:e>
                            <m:r>
                              <a:rPr lang="en-US" altLang="zh-CN" sz="2000" i="1">
                                <a:solidFill>
                                  <a:srgbClr val="000000"/>
                                </a:solidFill>
                                <a:latin typeface="Cambria Math" panose="02040503050406030204" pitchFamily="18" charset="0"/>
                              </a:rPr>
                              <m:t>2</m:t>
                            </m:r>
                            <m:r>
                              <a:rPr lang="en-US" altLang="zh-CN" sz="2000" i="1">
                                <a:solidFill>
                                  <a:srgbClr val="000000"/>
                                </a:solidFill>
                                <a:latin typeface="Cambria Math" panose="02040503050406030204" pitchFamily="18" charset="0"/>
                              </a:rPr>
                              <m:t>𝜋</m:t>
                            </m:r>
                          </m:e>
                        </m:d>
                      </m:e>
                      <m:sup>
                        <m:r>
                          <a:rPr lang="en-US" altLang="zh-CN" sz="2000" b="0" i="1" smtClean="0">
                            <a:solidFill>
                              <a:srgbClr val="000000"/>
                            </a:solidFill>
                            <a:latin typeface="Cambria Math" panose="02040503050406030204" pitchFamily="18" charset="0"/>
                          </a:rPr>
                          <m:t>2</m:t>
                        </m:r>
                      </m:sup>
                    </m:sSup>
                  </m:oMath>
                </a14:m>
                <a:r>
                  <a:rPr lang="zh-CN" altLang="en-US" sz="2000" dirty="0"/>
                  <a:t>，三维晶体</a:t>
                </a:r>
                <a14:m>
                  <m:oMath xmlns:m="http://schemas.openxmlformats.org/officeDocument/2006/math">
                    <m:r>
                      <m:rPr>
                        <m:sty m:val="p"/>
                      </m:rPr>
                      <a:rPr lang="el-GR" altLang="zh-CN" sz="2000" i="1">
                        <a:latin typeface="Cambria Math" panose="02040503050406030204" pitchFamily="18" charset="0"/>
                        <a:ea typeface="Cambria Math" panose="02040503050406030204" pitchFamily="18" charset="0"/>
                      </a:rPr>
                      <m:t>Ω</m:t>
                    </m:r>
                    <m:sSup>
                      <m:sSupPr>
                        <m:ctrlPr>
                          <a:rPr lang="el-GR" altLang="zh-CN" sz="2000" i="1">
                            <a:latin typeface="Cambria Math" panose="02040503050406030204" pitchFamily="18" charset="0"/>
                            <a:ea typeface="Cambria Math" panose="02040503050406030204" pitchFamily="18" charset="0"/>
                          </a:rPr>
                        </m:ctrlPr>
                      </m:sSupPr>
                      <m:e>
                        <m:r>
                          <m:rPr>
                            <m:sty m:val="p"/>
                          </m:rPr>
                          <a:rPr lang="el-GR" altLang="zh-CN" sz="2000" i="1">
                            <a:latin typeface="Cambria Math" panose="02040503050406030204" pitchFamily="18" charset="0"/>
                            <a:ea typeface="Cambria Math" panose="02040503050406030204" pitchFamily="18" charset="0"/>
                          </a:rPr>
                          <m:t>Ω</m:t>
                        </m:r>
                      </m:e>
                      <m:sup>
                        <m:r>
                          <a:rPr lang="en-US" altLang="zh-CN" sz="2000" i="1">
                            <a:solidFill>
                              <a:srgbClr val="000000"/>
                            </a:solidFill>
                            <a:latin typeface="Cambria Math" panose="02040503050406030204" pitchFamily="18" charset="0"/>
                          </a:rPr>
                          <m:t>∗</m:t>
                        </m:r>
                      </m:sup>
                    </m:sSup>
                    <m:r>
                      <a:rPr lang="en-US" altLang="zh-CN" sz="2000" i="1">
                        <a:solidFill>
                          <a:srgbClr val="000000"/>
                        </a:solidFill>
                        <a:latin typeface="Cambria Math" panose="02040503050406030204" pitchFamily="18" charset="0"/>
                      </a:rPr>
                      <m:t>=</m:t>
                    </m:r>
                    <m:sSup>
                      <m:sSupPr>
                        <m:ctrlPr>
                          <a:rPr lang="en-US" altLang="zh-CN" sz="2000" i="1">
                            <a:solidFill>
                              <a:srgbClr val="000000"/>
                            </a:solidFill>
                            <a:latin typeface="Cambria Math" panose="02040503050406030204" pitchFamily="18" charset="0"/>
                          </a:rPr>
                        </m:ctrlPr>
                      </m:sSupPr>
                      <m:e>
                        <m:d>
                          <m:dPr>
                            <m:ctrlPr>
                              <a:rPr lang="en-US" altLang="zh-CN" sz="2000" i="1">
                                <a:solidFill>
                                  <a:srgbClr val="000000"/>
                                </a:solidFill>
                                <a:latin typeface="Cambria Math" panose="02040503050406030204" pitchFamily="18" charset="0"/>
                              </a:rPr>
                            </m:ctrlPr>
                          </m:dPr>
                          <m:e>
                            <m:r>
                              <a:rPr lang="en-US" altLang="zh-CN" sz="2000" i="1">
                                <a:solidFill>
                                  <a:srgbClr val="000000"/>
                                </a:solidFill>
                                <a:latin typeface="Cambria Math" panose="02040503050406030204" pitchFamily="18" charset="0"/>
                              </a:rPr>
                              <m:t>2</m:t>
                            </m:r>
                            <m:r>
                              <a:rPr lang="en-US" altLang="zh-CN" sz="2000" i="1">
                                <a:solidFill>
                                  <a:srgbClr val="000000"/>
                                </a:solidFill>
                                <a:latin typeface="Cambria Math" panose="02040503050406030204" pitchFamily="18" charset="0"/>
                              </a:rPr>
                              <m:t>𝜋</m:t>
                            </m:r>
                          </m:e>
                        </m:d>
                      </m:e>
                      <m:sup>
                        <m:r>
                          <a:rPr lang="en-US" altLang="zh-CN" sz="2000" i="1">
                            <a:solidFill>
                              <a:srgbClr val="000000"/>
                            </a:solidFill>
                            <a:latin typeface="Cambria Math" panose="02040503050406030204" pitchFamily="18" charset="0"/>
                          </a:rPr>
                          <m:t>3</m:t>
                        </m:r>
                      </m:sup>
                    </m:sSup>
                  </m:oMath>
                </a14:m>
                <a:endParaRPr lang="en-US" altLang="zh-CN" sz="2000" dirty="0"/>
              </a:p>
              <a:p>
                <a:pPr>
                  <a:lnSpc>
                    <a:spcPct val="100000"/>
                  </a:lnSpc>
                  <a:spcBef>
                    <a:spcPts val="0"/>
                  </a:spcBef>
                  <a:spcAft>
                    <a:spcPts val="1200"/>
                  </a:spcAft>
                </a:pPr>
                <a:r>
                  <a:rPr lang="zh-CN" altLang="en-US" sz="2000" dirty="0"/>
                  <a:t>则波矢密度</a:t>
                </a:r>
                <a:endParaRPr lang="en-US" altLang="zh-CN" sz="2000" dirty="0"/>
              </a:p>
              <a:p>
                <a:pPr marL="0" indent="0">
                  <a:lnSpc>
                    <a:spcPct val="100000"/>
                  </a:lnSpc>
                  <a:spcBef>
                    <a:spcPts val="0"/>
                  </a:spcBef>
                  <a:spcAft>
                    <a:spcPts val="1200"/>
                  </a:spcAft>
                  <a:buNone/>
                </a:pPr>
                <a14:m>
                  <m:oMathPara xmlns:m="http://schemas.openxmlformats.org/officeDocument/2006/math">
                    <m:oMath>
                      <m:r>
                        <a:rPr lang="zh-CN" altLang="en-US" sz="2000" i="1">
                          <a:latin typeface="Cambria Math" panose="02040503050406030204" pitchFamily="18" charset="0"/>
                        </a:rPr>
                        <m:t>𝜌</m:t>
                      </m:r>
                      <m:d>
                        <m:dPr>
                          <m:ctrlPr>
                            <a:rPr lang="en-US" altLang="zh-CN" sz="2000" i="1">
                              <a:latin typeface="Cambria Math" panose="02040503050406030204" pitchFamily="18" charset="0"/>
                            </a:rPr>
                          </m:ctrlPr>
                        </m:dPr>
                        <m:e>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𝑞</m:t>
                              </m:r>
                            </m:e>
                          </m:acc>
                        </m:e>
                      </m:d>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𝑁</m:t>
                          </m:r>
                        </m:num>
                        <m:den>
                          <m:sSup>
                            <m:sSupPr>
                              <m:ctrlPr>
                                <a:rPr lang="el-GR" altLang="zh-CN" sz="2000" i="1">
                                  <a:latin typeface="Cambria Math" panose="02040503050406030204" pitchFamily="18" charset="0"/>
                                  <a:ea typeface="Cambria Math" panose="02040503050406030204" pitchFamily="18" charset="0"/>
                                </a:rPr>
                              </m:ctrlPr>
                            </m:sSupPr>
                            <m:e>
                              <m:r>
                                <m:rPr>
                                  <m:sty m:val="p"/>
                                </m:rPr>
                                <a:rPr lang="el-GR" altLang="zh-CN" sz="2000" i="1">
                                  <a:latin typeface="Cambria Math" panose="02040503050406030204" pitchFamily="18" charset="0"/>
                                  <a:ea typeface="Cambria Math" panose="02040503050406030204" pitchFamily="18" charset="0"/>
                                </a:rPr>
                                <m:t>Ω</m:t>
                              </m:r>
                            </m:e>
                            <m:sup>
                              <m:r>
                                <a:rPr lang="en-US" altLang="zh-CN" sz="2000" i="1">
                                  <a:solidFill>
                                    <a:srgbClr val="000000"/>
                                  </a:solidFill>
                                  <a:latin typeface="Cambria Math" panose="02040503050406030204" pitchFamily="18" charset="0"/>
                                </a:rPr>
                                <m:t>∗</m:t>
                              </m:r>
                            </m:sup>
                          </m:sSup>
                        </m:den>
                      </m:f>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𝑁</m:t>
                          </m:r>
                          <m:r>
                            <m:rPr>
                              <m:sty m:val="p"/>
                            </m:rPr>
                            <a:rPr lang="en-US" altLang="zh-CN" sz="2000" i="1">
                              <a:solidFill>
                                <a:srgbClr val="000000"/>
                              </a:solidFill>
                              <a:latin typeface="Cambria Math" panose="02040503050406030204" pitchFamily="18" charset="0"/>
                            </a:rPr>
                            <m:t>Ω</m:t>
                          </m:r>
                        </m:num>
                        <m:den>
                          <m:sSup>
                            <m:sSupPr>
                              <m:ctrlPr>
                                <a:rPr lang="en-US" altLang="zh-CN" sz="2000" i="1">
                                  <a:solidFill>
                                    <a:srgbClr val="000000"/>
                                  </a:solidFill>
                                  <a:latin typeface="Cambria Math" panose="02040503050406030204" pitchFamily="18" charset="0"/>
                                </a:rPr>
                              </m:ctrlPr>
                            </m:sSupPr>
                            <m:e>
                              <m:d>
                                <m:dPr>
                                  <m:ctrlPr>
                                    <a:rPr lang="en-US" altLang="zh-CN" sz="2000" i="1">
                                      <a:solidFill>
                                        <a:srgbClr val="000000"/>
                                      </a:solidFill>
                                      <a:latin typeface="Cambria Math" panose="02040503050406030204" pitchFamily="18" charset="0"/>
                                    </a:rPr>
                                  </m:ctrlPr>
                                </m:dPr>
                                <m:e>
                                  <m:r>
                                    <a:rPr lang="en-US" altLang="zh-CN" sz="2000" i="1">
                                      <a:solidFill>
                                        <a:srgbClr val="000000"/>
                                      </a:solidFill>
                                      <a:latin typeface="Cambria Math" panose="02040503050406030204" pitchFamily="18" charset="0"/>
                                    </a:rPr>
                                    <m:t>2</m:t>
                                  </m:r>
                                  <m:r>
                                    <a:rPr lang="en-US" altLang="zh-CN" sz="2000" i="1">
                                      <a:solidFill>
                                        <a:srgbClr val="000000"/>
                                      </a:solidFill>
                                      <a:latin typeface="Cambria Math" panose="02040503050406030204" pitchFamily="18" charset="0"/>
                                    </a:rPr>
                                    <m:t>𝜋</m:t>
                                  </m:r>
                                </m:e>
                              </m:d>
                            </m:e>
                            <m:sup>
                              <m:r>
                                <a:rPr lang="en-US" altLang="zh-CN" sz="2000" b="0" i="1" smtClean="0">
                                  <a:solidFill>
                                    <a:srgbClr val="000000"/>
                                  </a:solidFill>
                                  <a:latin typeface="Cambria Math" panose="02040503050406030204" pitchFamily="18" charset="0"/>
                                </a:rPr>
                                <m:t>𝑚</m:t>
                              </m:r>
                            </m:sup>
                          </m:sSup>
                        </m:den>
                      </m:f>
                      <m:r>
                        <a:rPr lang="en-US" altLang="zh-CN" sz="2000" i="1">
                          <a:solidFill>
                            <a:srgbClr val="000000"/>
                          </a:solidFill>
                          <a:latin typeface="Cambria Math" panose="02040503050406030204" pitchFamily="18" charset="0"/>
                        </a:rPr>
                        <m:t>=</m:t>
                      </m:r>
                      <m:f>
                        <m:fPr>
                          <m:ctrlPr>
                            <a:rPr lang="en-US" altLang="zh-CN" sz="2000" b="0" i="1" smtClean="0">
                              <a:solidFill>
                                <a:srgbClr val="000000"/>
                              </a:solidFill>
                              <a:latin typeface="Cambria Math" panose="02040503050406030204" pitchFamily="18" charset="0"/>
                            </a:rPr>
                          </m:ctrlPr>
                        </m:fPr>
                        <m:num>
                          <m:r>
                            <a:rPr lang="en-US" altLang="zh-CN" sz="2000" b="0" i="1" smtClean="0">
                              <a:solidFill>
                                <a:srgbClr val="000000"/>
                              </a:solidFill>
                              <a:latin typeface="Cambria Math" panose="02040503050406030204" pitchFamily="18" charset="0"/>
                            </a:rPr>
                            <m:t>𝑉</m:t>
                          </m:r>
                        </m:num>
                        <m:den>
                          <m:sSup>
                            <m:sSupPr>
                              <m:ctrlPr>
                                <a:rPr lang="en-US" altLang="zh-CN" sz="2000" i="1">
                                  <a:solidFill>
                                    <a:srgbClr val="000000"/>
                                  </a:solidFill>
                                  <a:latin typeface="Cambria Math" panose="02040503050406030204" pitchFamily="18" charset="0"/>
                                </a:rPr>
                              </m:ctrlPr>
                            </m:sSupPr>
                            <m:e>
                              <m:d>
                                <m:dPr>
                                  <m:ctrlPr>
                                    <a:rPr lang="en-US" altLang="zh-CN" sz="2000" i="1">
                                      <a:solidFill>
                                        <a:srgbClr val="000000"/>
                                      </a:solidFill>
                                      <a:latin typeface="Cambria Math" panose="02040503050406030204" pitchFamily="18" charset="0"/>
                                    </a:rPr>
                                  </m:ctrlPr>
                                </m:dPr>
                                <m:e>
                                  <m:r>
                                    <a:rPr lang="en-US" altLang="zh-CN" sz="2000" i="1">
                                      <a:solidFill>
                                        <a:srgbClr val="000000"/>
                                      </a:solidFill>
                                      <a:latin typeface="Cambria Math" panose="02040503050406030204" pitchFamily="18" charset="0"/>
                                    </a:rPr>
                                    <m:t>2</m:t>
                                  </m:r>
                                  <m:r>
                                    <a:rPr lang="en-US" altLang="zh-CN" sz="2000" i="1">
                                      <a:solidFill>
                                        <a:srgbClr val="000000"/>
                                      </a:solidFill>
                                      <a:latin typeface="Cambria Math" panose="02040503050406030204" pitchFamily="18" charset="0"/>
                                    </a:rPr>
                                    <m:t>𝜋</m:t>
                                  </m:r>
                                </m:e>
                              </m:d>
                            </m:e>
                            <m:sup>
                              <m:r>
                                <a:rPr lang="en-US" altLang="zh-CN" sz="2000" i="1">
                                  <a:solidFill>
                                    <a:srgbClr val="000000"/>
                                  </a:solidFill>
                                  <a:latin typeface="Cambria Math" panose="02040503050406030204" pitchFamily="18" charset="0"/>
                                </a:rPr>
                                <m:t>𝑚</m:t>
                              </m:r>
                            </m:sup>
                          </m:sSup>
                        </m:den>
                      </m:f>
                    </m:oMath>
                  </m:oMathPara>
                </a14:m>
                <a:endParaRPr lang="en-US" sz="2000" dirty="0"/>
              </a:p>
              <a:p>
                <a:pPr marL="0" indent="0">
                  <a:lnSpc>
                    <a:spcPct val="100000"/>
                  </a:lnSpc>
                  <a:spcBef>
                    <a:spcPts val="0"/>
                  </a:spcBef>
                  <a:spcAft>
                    <a:spcPts val="1200"/>
                  </a:spcAft>
                  <a:buNone/>
                </a:pPr>
                <a14:m>
                  <m:oMath xmlns:m="http://schemas.openxmlformats.org/officeDocument/2006/math">
                    <m:r>
                      <a:rPr lang="en-US" altLang="zh-CN" sz="2000" i="1">
                        <a:solidFill>
                          <a:srgbClr val="000000"/>
                        </a:solidFill>
                        <a:latin typeface="Cambria Math" panose="02040503050406030204" pitchFamily="18" charset="0"/>
                      </a:rPr>
                      <m:t>𝑉</m:t>
                    </m:r>
                    <m:r>
                      <a:rPr lang="zh-CN" altLang="en-US" sz="2000" i="1" dirty="0">
                        <a:solidFill>
                          <a:srgbClr val="000000"/>
                        </a:solidFill>
                        <a:latin typeface="Cambria Math" panose="02040503050406030204" pitchFamily="18" charset="0"/>
                      </a:rPr>
                      <m:t>为晶体总体积，</m:t>
                    </m:r>
                    <m:r>
                      <a:rPr lang="en-US" altLang="zh-CN" sz="2000" i="1">
                        <a:solidFill>
                          <a:srgbClr val="000000"/>
                        </a:solidFill>
                        <a:latin typeface="Cambria Math" panose="02040503050406030204" pitchFamily="18" charset="0"/>
                      </a:rPr>
                      <m:t>𝑚</m:t>
                    </m:r>
                  </m:oMath>
                </a14:m>
                <a:r>
                  <a:rPr lang="zh-CN" altLang="en-US" sz="2000" dirty="0"/>
                  <a:t>为空间维度</a:t>
                </a:r>
                <a:endParaRPr lang="en-US" sz="2000" dirty="0"/>
              </a:p>
            </p:txBody>
          </p:sp>
        </mc:Choice>
        <mc:Fallback>
          <p:sp>
            <p:nvSpPr>
              <p:cNvPr id="3" name="内容占位符 2">
                <a:extLst>
                  <a:ext uri="{FF2B5EF4-FFF2-40B4-BE49-F238E27FC236}">
                    <a16:creationId xmlns:a16="http://schemas.microsoft.com/office/drawing/2014/main" id="{63572FA6-7729-9A7A-79D5-ECD7A2EB9F8C}"/>
                  </a:ext>
                </a:extLst>
              </p:cNvPr>
              <p:cNvSpPr>
                <a:spLocks noGrp="1" noRot="1" noChangeAspect="1" noMove="1" noResize="1" noEditPoints="1" noAdjustHandles="1" noChangeArrowheads="1" noChangeShapeType="1" noTextEdit="1"/>
              </p:cNvSpPr>
              <p:nvPr>
                <p:ph idx="1"/>
              </p:nvPr>
            </p:nvSpPr>
            <p:spPr>
              <a:blipFill>
                <a:blip r:embed="rId3"/>
                <a:stretch>
                  <a:fillRect l="-522" t="-1120"/>
                </a:stretch>
              </a:blipFill>
            </p:spPr>
            <p:txBody>
              <a:bodyPr/>
              <a:lstStyle/>
              <a:p>
                <a:r>
                  <a:rPr lang="zh-CN" altLang="en-US">
                    <a:noFill/>
                  </a:rPr>
                  <a:t> </a:t>
                </a:r>
              </a:p>
            </p:txBody>
          </p:sp>
        </mc:Fallback>
      </mc:AlternateContent>
      <p:graphicFrame>
        <p:nvGraphicFramePr>
          <p:cNvPr id="4" name="表格 3">
            <a:extLst>
              <a:ext uri="{FF2B5EF4-FFF2-40B4-BE49-F238E27FC236}">
                <a16:creationId xmlns:a16="http://schemas.microsoft.com/office/drawing/2014/main" id="{6913A226-2441-D75B-9F6C-28F050EC8AB9}"/>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28</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540571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E15FB-1646-6BDF-07BC-81127F8B9CA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a:extLst>
                  <a:ext uri="{FF2B5EF4-FFF2-40B4-BE49-F238E27FC236}">
                    <a16:creationId xmlns:a16="http://schemas.microsoft.com/office/drawing/2014/main" id="{7F0790EC-A3AA-F72C-5D05-6A80F2DFABF2}"/>
                  </a:ext>
                </a:extLst>
              </p:cNvPr>
              <p:cNvSpPr>
                <a:spLocks noGrp="1"/>
              </p:cNvSpPr>
              <p:nvPr>
                <p:ph type="title"/>
              </p:nvPr>
            </p:nvSpPr>
            <p:spPr/>
            <p:txBody>
              <a:bodyPr/>
              <a:lstStyle/>
              <a:p>
                <a:r>
                  <a:rPr lang="zh-CN" altLang="en-US" dirty="0"/>
                  <a:t>密度函数</a:t>
                </a:r>
                <a14:m>
                  <m:oMath xmlns:m="http://schemas.openxmlformats.org/officeDocument/2006/math">
                    <m:r>
                      <a:rPr lang="en-US" altLang="zh-CN" i="1">
                        <a:latin typeface="Cambria Math" panose="02040503050406030204" pitchFamily="18" charset="0"/>
                      </a:rPr>
                      <m:t>𝑔</m:t>
                    </m:r>
                    <m:d>
                      <m:dPr>
                        <m:ctrlPr>
                          <a:rPr lang="en-US" altLang="zh-CN" i="1">
                            <a:latin typeface="Cambria Math" panose="02040503050406030204" pitchFamily="18" charset="0"/>
                          </a:rPr>
                        </m:ctrlPr>
                      </m:dPr>
                      <m:e>
                        <m:r>
                          <a:rPr lang="en-US" altLang="zh-CN" i="1">
                            <a:latin typeface="Cambria Math" panose="02040503050406030204" pitchFamily="18" charset="0"/>
                          </a:rPr>
                          <m:t>𝜔</m:t>
                        </m:r>
                      </m:e>
                    </m:d>
                  </m:oMath>
                </a14:m>
                <a:r>
                  <a:rPr lang="zh-CN" altLang="en-US" dirty="0"/>
                  <a:t>的求解</a:t>
                </a:r>
                <a:endParaRPr lang="en-US" dirty="0"/>
              </a:p>
            </p:txBody>
          </p:sp>
        </mc:Choice>
        <mc:Fallback xmlns="">
          <p:sp>
            <p:nvSpPr>
              <p:cNvPr id="2" name="标题 1">
                <a:extLst>
                  <a:ext uri="{FF2B5EF4-FFF2-40B4-BE49-F238E27FC236}">
                    <a16:creationId xmlns:a16="http://schemas.microsoft.com/office/drawing/2014/main" id="{7F0790EC-A3AA-F72C-5D05-6A80F2DFABF2}"/>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7E25092-8CEC-E65C-D59D-4C60917A0D13}"/>
                  </a:ext>
                </a:extLst>
              </p:cNvPr>
              <p:cNvSpPr>
                <a:spLocks noGrp="1"/>
              </p:cNvSpPr>
              <p:nvPr>
                <p:ph idx="1"/>
              </p:nvPr>
            </p:nvSpPr>
            <p:spPr>
              <a:xfrm>
                <a:off x="838200" y="1825625"/>
                <a:ext cx="5953539" cy="4351338"/>
              </a:xfrm>
            </p:spPr>
            <p:txBody>
              <a:bodyPr>
                <a:normAutofit fontScale="70000" lnSpcReduction="20000"/>
              </a:bodyPr>
              <a:lstStyle/>
              <a:p>
                <a:pPr>
                  <a:lnSpc>
                    <a:spcPct val="120000"/>
                  </a:lnSpc>
                  <a:spcBef>
                    <a:spcPts val="0"/>
                  </a:spcBef>
                  <a:spcAft>
                    <a:spcPts val="600"/>
                  </a:spcAft>
                </a:pPr>
                <a:r>
                  <a:rPr lang="zh-CN" altLang="en-US" dirty="0"/>
                  <a:t>考虑三维晶体，将密度函数在全布里渊区内积分，得到总声子数</a:t>
                </a:r>
                <a:r>
                  <a:rPr lang="en-US" altLang="zh-CN" dirty="0"/>
                  <a:t>3N</a:t>
                </a:r>
              </a:p>
              <a:p>
                <a:pPr marL="0" indent="0">
                  <a:lnSpc>
                    <a:spcPct val="120000"/>
                  </a:lnSpc>
                  <a:spcBef>
                    <a:spcPts val="0"/>
                  </a:spcBef>
                  <a:spcAft>
                    <a:spcPts val="600"/>
                  </a:spcAft>
                  <a:buNone/>
                </a:pPr>
                <a14:m>
                  <m:oMathPara xmlns:m="http://schemas.openxmlformats.org/officeDocument/2006/math">
                    <m:oMath>
                      <m:r>
                        <a:rPr lang="en-US" altLang="zh-CN" i="1">
                          <a:latin typeface="Cambria Math" panose="02040503050406030204" pitchFamily="18" charset="0"/>
                        </a:rPr>
                        <m:t>3</m:t>
                      </m:r>
                      <m:r>
                        <a:rPr lang="en-US" altLang="zh-CN" i="1">
                          <a:latin typeface="Cambria Math" panose="02040503050406030204" pitchFamily="18" charset="0"/>
                        </a:rPr>
                        <m:t>𝑁</m:t>
                      </m:r>
                      <m:r>
                        <a:rPr lang="en-US" altLang="zh-CN" i="1">
                          <a:latin typeface="Cambria Math" panose="02040503050406030204" pitchFamily="18" charset="0"/>
                        </a:rPr>
                        <m:t>=</m:t>
                      </m:r>
                      <m:nary>
                        <m:naryPr>
                          <m:supHide m:val="on"/>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𝐵</m:t>
                          </m:r>
                          <m:r>
                            <a:rPr lang="en-US" altLang="zh-CN" i="1">
                              <a:latin typeface="Cambria Math" panose="02040503050406030204" pitchFamily="18" charset="0"/>
                            </a:rPr>
                            <m:t>𝑍</m:t>
                          </m:r>
                        </m:sub>
                        <m:sup/>
                        <m:e>
                          <m:r>
                            <a:rPr lang="en-US" altLang="zh-CN" i="1">
                              <a:latin typeface="Cambria Math" panose="02040503050406030204" pitchFamily="18" charset="0"/>
                            </a:rPr>
                            <m:t>𝑑</m:t>
                          </m:r>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r>
                            <a:rPr lang="zh-CN" altLang="en-US" i="1">
                              <a:latin typeface="Cambria Math" panose="02040503050406030204" pitchFamily="18" charset="0"/>
                            </a:rPr>
                            <m:t>𝜌</m:t>
                          </m:r>
                          <m:d>
                            <m:dPr>
                              <m:ctrlPr>
                                <a:rPr lang="en-US" altLang="zh-CN" i="1">
                                  <a:latin typeface="Cambria Math" panose="02040503050406030204" pitchFamily="18" charset="0"/>
                                </a:rPr>
                              </m:ctrlPr>
                            </m:d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𝑞</m:t>
                                  </m:r>
                                </m:e>
                              </m:acc>
                            </m:e>
                          </m:d>
                        </m:e>
                      </m:nary>
                      <m:r>
                        <a:rPr lang="en-US" altLang="zh-CN" b="0" i="1" smtClean="0">
                          <a:latin typeface="Cambria Math" panose="02040503050406030204" pitchFamily="18" charset="0"/>
                        </a:rPr>
                        <m:t>=</m:t>
                      </m:r>
                      <m:nary>
                        <m:naryPr>
                          <m:chr m:val="∭"/>
                          <m:limLoc m:val="undOvr"/>
                          <m:subHide m:val="on"/>
                          <m:supHide m:val="on"/>
                          <m:ctrlPr>
                            <a:rPr lang="en-US" altLang="zh-CN" i="1">
                              <a:latin typeface="Cambria Math" panose="02040503050406030204" pitchFamily="18" charset="0"/>
                            </a:rPr>
                          </m:ctrlPr>
                        </m:naryPr>
                        <m:sub/>
                        <m:sup/>
                        <m:e>
                          <m:r>
                            <a:rPr lang="en-US" altLang="zh-CN" i="1">
                              <a:solidFill>
                                <a:srgbClr val="000000"/>
                              </a:solidFill>
                              <a:latin typeface="Cambria Math" panose="02040503050406030204" pitchFamily="18" charset="0"/>
                            </a:rPr>
                            <m:t>𝑑</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𝑞</m:t>
                              </m:r>
                            </m:e>
                            <m:sub>
                              <m:r>
                                <a:rPr lang="en-US" altLang="zh-CN" i="1">
                                  <a:solidFill>
                                    <a:srgbClr val="000000"/>
                                  </a:solidFill>
                                  <a:latin typeface="Cambria Math" panose="02040503050406030204" pitchFamily="18" charset="0"/>
                                </a:rPr>
                                <m:t>𝑥</m:t>
                              </m:r>
                            </m:sub>
                          </m:sSub>
                          <m:r>
                            <a:rPr lang="en-US" altLang="zh-CN" i="1">
                              <a:solidFill>
                                <a:srgbClr val="000000"/>
                              </a:solidFill>
                              <a:latin typeface="Cambria Math" panose="02040503050406030204" pitchFamily="18" charset="0"/>
                            </a:rPr>
                            <m:t>𝑑</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𝑞</m:t>
                              </m:r>
                            </m:e>
                            <m:sub>
                              <m:r>
                                <a:rPr lang="en-US" altLang="zh-CN" i="1">
                                  <a:solidFill>
                                    <a:srgbClr val="000000"/>
                                  </a:solidFill>
                                  <a:latin typeface="Cambria Math" panose="02040503050406030204" pitchFamily="18" charset="0"/>
                                </a:rPr>
                                <m:t>𝑦</m:t>
                              </m:r>
                            </m:sub>
                          </m:sSub>
                          <m:r>
                            <a:rPr lang="en-US" altLang="zh-CN" i="1">
                              <a:solidFill>
                                <a:srgbClr val="000000"/>
                              </a:solidFill>
                              <a:latin typeface="Cambria Math" panose="02040503050406030204" pitchFamily="18" charset="0"/>
                            </a:rPr>
                            <m:t>𝑑</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𝑞</m:t>
                              </m:r>
                            </m:e>
                            <m:sub>
                              <m:r>
                                <a:rPr lang="en-US" altLang="zh-CN" i="1">
                                  <a:solidFill>
                                    <a:srgbClr val="000000"/>
                                  </a:solidFill>
                                  <a:latin typeface="Cambria Math" panose="02040503050406030204" pitchFamily="18" charset="0"/>
                                </a:rPr>
                                <m:t>𝑧</m:t>
                              </m:r>
                            </m:sub>
                          </m:sSub>
                          <m:f>
                            <m:fPr>
                              <m:ctrlPr>
                                <a:rPr lang="en-US" altLang="zh-CN" i="1">
                                  <a:solidFill>
                                    <a:srgbClr val="000000"/>
                                  </a:solidFill>
                                  <a:latin typeface="Cambria Math" panose="02040503050406030204" pitchFamily="18" charset="0"/>
                                </a:rPr>
                              </m:ctrlPr>
                            </m:fPr>
                            <m:num>
                              <m:r>
                                <a:rPr lang="en-US" altLang="zh-CN" i="1">
                                  <a:solidFill>
                                    <a:srgbClr val="000000"/>
                                  </a:solidFill>
                                  <a:latin typeface="Cambria Math" panose="02040503050406030204" pitchFamily="18" charset="0"/>
                                </a:rPr>
                                <m:t>𝑉</m:t>
                              </m:r>
                            </m:num>
                            <m:den>
                              <m:sSup>
                                <m:sSupPr>
                                  <m:ctrlPr>
                                    <a:rPr lang="en-US" altLang="zh-CN" i="1">
                                      <a:solidFill>
                                        <a:srgbClr val="000000"/>
                                      </a:solidFill>
                                      <a:latin typeface="Cambria Math" panose="02040503050406030204" pitchFamily="18" charset="0"/>
                                    </a:rPr>
                                  </m:ctrlPr>
                                </m:sSupPr>
                                <m:e>
                                  <m:d>
                                    <m:dPr>
                                      <m:ctrlPr>
                                        <a:rPr lang="en-US" altLang="zh-CN" i="1">
                                          <a:solidFill>
                                            <a:srgbClr val="000000"/>
                                          </a:solidFill>
                                          <a:latin typeface="Cambria Math" panose="02040503050406030204" pitchFamily="18" charset="0"/>
                                        </a:rPr>
                                      </m:ctrlPr>
                                    </m:dPr>
                                    <m:e>
                                      <m:r>
                                        <a:rPr lang="en-US" altLang="zh-CN" i="1">
                                          <a:solidFill>
                                            <a:srgbClr val="000000"/>
                                          </a:solidFill>
                                          <a:latin typeface="Cambria Math" panose="02040503050406030204" pitchFamily="18" charset="0"/>
                                        </a:rPr>
                                        <m:t>2</m:t>
                                      </m:r>
                                      <m:r>
                                        <a:rPr lang="en-US" altLang="zh-CN" i="1">
                                          <a:solidFill>
                                            <a:srgbClr val="000000"/>
                                          </a:solidFill>
                                          <a:latin typeface="Cambria Math" panose="02040503050406030204" pitchFamily="18" charset="0"/>
                                        </a:rPr>
                                        <m:t>𝜋</m:t>
                                      </m:r>
                                    </m:e>
                                  </m:d>
                                </m:e>
                                <m:sup>
                                  <m:r>
                                    <a:rPr lang="en-US" altLang="zh-CN" i="1">
                                      <a:solidFill>
                                        <a:srgbClr val="000000"/>
                                      </a:solidFill>
                                      <a:latin typeface="Cambria Math" panose="02040503050406030204" pitchFamily="18" charset="0"/>
                                    </a:rPr>
                                    <m:t>3</m:t>
                                  </m:r>
                                </m:sup>
                              </m:sSup>
                            </m:den>
                          </m:f>
                        </m:e>
                      </m:nary>
                      <m:r>
                        <a:rPr lang="en-US" altLang="zh-CN" b="0" i="1" smtClean="0">
                          <a:solidFill>
                            <a:srgbClr val="000000"/>
                          </a:solidFill>
                          <a:latin typeface="Cambria Math" panose="02040503050406030204" pitchFamily="18" charset="0"/>
                        </a:rPr>
                        <m:t>=</m:t>
                      </m:r>
                      <m:nary>
                        <m:naryPr>
                          <m:chr m:val="∭"/>
                          <m:limLoc m:val="undOvr"/>
                          <m:subHide m:val="on"/>
                          <m:supHide m:val="on"/>
                          <m:ctrlPr>
                            <a:rPr lang="en-US" altLang="zh-CN" i="1">
                              <a:latin typeface="Cambria Math" panose="02040503050406030204" pitchFamily="18" charset="0"/>
                            </a:rPr>
                          </m:ctrlPr>
                        </m:naryPr>
                        <m:sub/>
                        <m:sup/>
                        <m:e>
                          <m:r>
                            <a:rPr lang="en-US" altLang="zh-CN" i="1">
                              <a:solidFill>
                                <a:srgbClr val="000000"/>
                              </a:solidFill>
                              <a:latin typeface="Cambria Math" panose="02040503050406030204" pitchFamily="18" charset="0"/>
                            </a:rPr>
                            <m:t>𝑑𝑞𝑑</m:t>
                          </m:r>
                          <m:r>
                            <a:rPr lang="zh-CN" altLang="en-US" i="1">
                              <a:solidFill>
                                <a:srgbClr val="000000"/>
                              </a:solidFill>
                              <a:latin typeface="Cambria Math" panose="02040503050406030204" pitchFamily="18" charset="0"/>
                            </a:rPr>
                            <m:t>𝜃</m:t>
                          </m:r>
                          <m:r>
                            <a:rPr lang="en-US" altLang="zh-CN"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𝜑</m:t>
                          </m:r>
                          <m:sSup>
                            <m:sSupPr>
                              <m:ctrlPr>
                                <a:rPr lang="en-US" altLang="zh-CN" i="1">
                                  <a:solidFill>
                                    <a:srgbClr val="FF0000"/>
                                  </a:solidFill>
                                  <a:latin typeface="Cambria Math" panose="02040503050406030204" pitchFamily="18" charset="0"/>
                                </a:rPr>
                              </m:ctrlPr>
                            </m:sSupPr>
                            <m:e>
                              <m:r>
                                <a:rPr lang="en-US" altLang="zh-CN" i="1">
                                  <a:solidFill>
                                    <a:srgbClr val="FF0000"/>
                                  </a:solidFill>
                                  <a:latin typeface="Cambria Math" panose="02040503050406030204" pitchFamily="18" charset="0"/>
                                </a:rPr>
                                <m:t>𝑞</m:t>
                              </m:r>
                            </m:e>
                            <m:sup>
                              <m:r>
                                <a:rPr lang="en-US" altLang="zh-CN" i="1">
                                  <a:solidFill>
                                    <a:srgbClr val="FF0000"/>
                                  </a:solidFill>
                                  <a:latin typeface="Cambria Math" panose="02040503050406030204" pitchFamily="18" charset="0"/>
                                </a:rPr>
                                <m:t>2</m:t>
                              </m:r>
                            </m:sup>
                          </m:sSup>
                          <m:func>
                            <m:funcPr>
                              <m:ctrlPr>
                                <a:rPr lang="en-US" altLang="zh-CN">
                                  <a:solidFill>
                                    <a:srgbClr val="FF0000"/>
                                  </a:solidFill>
                                  <a:latin typeface="Cambria Math" panose="02040503050406030204" pitchFamily="18" charset="0"/>
                                </a:rPr>
                              </m:ctrlPr>
                            </m:funcPr>
                            <m:fName>
                              <m:r>
                                <m:rPr>
                                  <m:sty m:val="p"/>
                                </m:rPr>
                                <a:rPr lang="en-US" altLang="zh-CN">
                                  <a:solidFill>
                                    <a:srgbClr val="FF0000"/>
                                  </a:solidFill>
                                  <a:latin typeface="Cambria Math" panose="02040503050406030204" pitchFamily="18" charset="0"/>
                                </a:rPr>
                                <m:t>sin</m:t>
                              </m:r>
                            </m:fName>
                            <m:e>
                              <m:r>
                                <a:rPr lang="zh-CN" altLang="en-US" i="1">
                                  <a:solidFill>
                                    <a:srgbClr val="FF0000"/>
                                  </a:solidFill>
                                  <a:latin typeface="Cambria Math" panose="02040503050406030204" pitchFamily="18" charset="0"/>
                                </a:rPr>
                                <m:t>𝜃</m:t>
                              </m:r>
                            </m:e>
                          </m:func>
                          <m:f>
                            <m:fPr>
                              <m:ctrlPr>
                                <a:rPr lang="en-US" altLang="zh-CN" i="1">
                                  <a:solidFill>
                                    <a:srgbClr val="FF0000"/>
                                  </a:solidFill>
                                  <a:latin typeface="Cambria Math" panose="02040503050406030204" pitchFamily="18" charset="0"/>
                                </a:rPr>
                              </m:ctrlPr>
                            </m:fPr>
                            <m:num>
                              <m:r>
                                <a:rPr lang="en-US" altLang="zh-CN" i="1">
                                  <a:solidFill>
                                    <a:srgbClr val="FF0000"/>
                                  </a:solidFill>
                                  <a:latin typeface="Cambria Math" panose="02040503050406030204" pitchFamily="18" charset="0"/>
                                </a:rPr>
                                <m:t>𝑉</m:t>
                              </m:r>
                            </m:num>
                            <m:den>
                              <m:sSup>
                                <m:sSupPr>
                                  <m:ctrlPr>
                                    <a:rPr lang="en-US" altLang="zh-CN" i="1">
                                      <a:solidFill>
                                        <a:srgbClr val="FF0000"/>
                                      </a:solidFill>
                                      <a:latin typeface="Cambria Math" panose="02040503050406030204" pitchFamily="18" charset="0"/>
                                    </a:rPr>
                                  </m:ctrlPr>
                                </m:sSupPr>
                                <m:e>
                                  <m:d>
                                    <m:dPr>
                                      <m:ctrlPr>
                                        <a:rPr lang="en-US" altLang="zh-CN" i="1">
                                          <a:solidFill>
                                            <a:srgbClr val="FF0000"/>
                                          </a:solidFill>
                                          <a:latin typeface="Cambria Math" panose="02040503050406030204" pitchFamily="18" charset="0"/>
                                        </a:rPr>
                                      </m:ctrlPr>
                                    </m:dPr>
                                    <m:e>
                                      <m:r>
                                        <a:rPr lang="en-US" altLang="zh-CN" i="1">
                                          <a:solidFill>
                                            <a:srgbClr val="FF0000"/>
                                          </a:solidFill>
                                          <a:latin typeface="Cambria Math" panose="02040503050406030204" pitchFamily="18" charset="0"/>
                                        </a:rPr>
                                        <m:t>2</m:t>
                                      </m:r>
                                      <m:r>
                                        <a:rPr lang="en-US" altLang="zh-CN" i="1">
                                          <a:solidFill>
                                            <a:srgbClr val="FF0000"/>
                                          </a:solidFill>
                                          <a:latin typeface="Cambria Math" panose="02040503050406030204" pitchFamily="18" charset="0"/>
                                        </a:rPr>
                                        <m:t>𝜋</m:t>
                                      </m:r>
                                    </m:e>
                                  </m:d>
                                </m:e>
                                <m:sup>
                                  <m:r>
                                    <a:rPr lang="en-US" altLang="zh-CN" i="1">
                                      <a:solidFill>
                                        <a:srgbClr val="FF0000"/>
                                      </a:solidFill>
                                      <a:latin typeface="Cambria Math" panose="02040503050406030204" pitchFamily="18" charset="0"/>
                                    </a:rPr>
                                    <m:t>3</m:t>
                                  </m:r>
                                </m:sup>
                              </m:sSup>
                            </m:den>
                          </m:f>
                        </m:e>
                      </m:nary>
                      <m:r>
                        <a:rPr lang="en-US" altLang="zh-CN" i="1">
                          <a:solidFill>
                            <a:srgbClr val="000000"/>
                          </a:solidFill>
                          <a:latin typeface="Cambria Math" panose="02040503050406030204" pitchFamily="18" charset="0"/>
                        </a:rPr>
                        <m:t>=</m:t>
                      </m:r>
                      <m:nary>
                        <m:naryPr>
                          <m:supHide m:val="on"/>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𝐵</m:t>
                          </m:r>
                          <m:r>
                            <a:rPr lang="en-US" altLang="zh-CN" i="1">
                              <a:latin typeface="Cambria Math" panose="02040503050406030204" pitchFamily="18" charset="0"/>
                            </a:rPr>
                            <m:t>𝑍</m:t>
                          </m:r>
                        </m:sub>
                        <m:sup/>
                        <m:e>
                          <m:r>
                            <a:rPr lang="en-US" altLang="zh-CN" i="1">
                              <a:latin typeface="Cambria Math" panose="02040503050406030204" pitchFamily="18" charset="0"/>
                            </a:rPr>
                            <m:t>𝑑𝑞</m:t>
                          </m:r>
                          <m:r>
                            <a:rPr lang="en-US" altLang="zh-CN" i="1">
                              <a:solidFill>
                                <a:srgbClr val="FF0000"/>
                              </a:solidFill>
                              <a:latin typeface="Cambria Math" panose="02040503050406030204" pitchFamily="18" charset="0"/>
                            </a:rPr>
                            <m:t>4</m:t>
                          </m:r>
                          <m:r>
                            <a:rPr lang="en-US" altLang="zh-CN" i="1">
                              <a:solidFill>
                                <a:srgbClr val="FF0000"/>
                              </a:solidFill>
                              <a:latin typeface="Cambria Math" panose="02040503050406030204" pitchFamily="18" charset="0"/>
                            </a:rPr>
                            <m:t>𝜋</m:t>
                          </m:r>
                          <m:sSup>
                            <m:sSupPr>
                              <m:ctrlPr>
                                <a:rPr lang="en-US" altLang="zh-CN" i="1">
                                  <a:solidFill>
                                    <a:srgbClr val="FF0000"/>
                                  </a:solidFill>
                                  <a:latin typeface="Cambria Math" panose="02040503050406030204" pitchFamily="18" charset="0"/>
                                </a:rPr>
                              </m:ctrlPr>
                            </m:sSupPr>
                            <m:e>
                              <m:r>
                                <a:rPr lang="en-US" altLang="zh-CN" i="1">
                                  <a:solidFill>
                                    <a:srgbClr val="FF0000"/>
                                  </a:solidFill>
                                  <a:latin typeface="Cambria Math" panose="02040503050406030204" pitchFamily="18" charset="0"/>
                                </a:rPr>
                                <m:t>𝑞</m:t>
                              </m:r>
                            </m:e>
                            <m:sup>
                              <m:r>
                                <a:rPr lang="en-US" altLang="zh-CN" i="1">
                                  <a:solidFill>
                                    <a:srgbClr val="FF0000"/>
                                  </a:solidFill>
                                  <a:latin typeface="Cambria Math" panose="02040503050406030204" pitchFamily="18" charset="0"/>
                                </a:rPr>
                                <m:t>2</m:t>
                              </m:r>
                            </m:sup>
                          </m:sSup>
                          <m:f>
                            <m:fPr>
                              <m:ctrlPr>
                                <a:rPr lang="en-US" altLang="zh-CN" i="1">
                                  <a:solidFill>
                                    <a:srgbClr val="FF0000"/>
                                  </a:solidFill>
                                  <a:latin typeface="Cambria Math" panose="02040503050406030204" pitchFamily="18" charset="0"/>
                                </a:rPr>
                              </m:ctrlPr>
                            </m:fPr>
                            <m:num>
                              <m:r>
                                <a:rPr lang="en-US" altLang="zh-CN" i="1">
                                  <a:solidFill>
                                    <a:srgbClr val="FF0000"/>
                                  </a:solidFill>
                                  <a:latin typeface="Cambria Math" panose="02040503050406030204" pitchFamily="18" charset="0"/>
                                </a:rPr>
                                <m:t>𝑉</m:t>
                              </m:r>
                            </m:num>
                            <m:den>
                              <m:sSup>
                                <m:sSupPr>
                                  <m:ctrlPr>
                                    <a:rPr lang="en-US" altLang="zh-CN" i="1">
                                      <a:solidFill>
                                        <a:srgbClr val="FF0000"/>
                                      </a:solidFill>
                                      <a:latin typeface="Cambria Math" panose="02040503050406030204" pitchFamily="18" charset="0"/>
                                    </a:rPr>
                                  </m:ctrlPr>
                                </m:sSupPr>
                                <m:e>
                                  <m:d>
                                    <m:dPr>
                                      <m:ctrlPr>
                                        <a:rPr lang="en-US" altLang="zh-CN" i="1">
                                          <a:solidFill>
                                            <a:srgbClr val="FF0000"/>
                                          </a:solidFill>
                                          <a:latin typeface="Cambria Math" panose="02040503050406030204" pitchFamily="18" charset="0"/>
                                        </a:rPr>
                                      </m:ctrlPr>
                                    </m:dPr>
                                    <m:e>
                                      <m:r>
                                        <a:rPr lang="en-US" altLang="zh-CN" i="1">
                                          <a:solidFill>
                                            <a:srgbClr val="FF0000"/>
                                          </a:solidFill>
                                          <a:latin typeface="Cambria Math" panose="02040503050406030204" pitchFamily="18" charset="0"/>
                                        </a:rPr>
                                        <m:t>2</m:t>
                                      </m:r>
                                      <m:r>
                                        <a:rPr lang="en-US" altLang="zh-CN" i="1">
                                          <a:solidFill>
                                            <a:srgbClr val="FF0000"/>
                                          </a:solidFill>
                                          <a:latin typeface="Cambria Math" panose="02040503050406030204" pitchFamily="18" charset="0"/>
                                        </a:rPr>
                                        <m:t>𝜋</m:t>
                                      </m:r>
                                    </m:e>
                                  </m:d>
                                </m:e>
                                <m:sup>
                                  <m:r>
                                    <a:rPr lang="en-US" altLang="zh-CN" i="1">
                                      <a:solidFill>
                                        <a:srgbClr val="FF0000"/>
                                      </a:solidFill>
                                      <a:latin typeface="Cambria Math" panose="02040503050406030204" pitchFamily="18" charset="0"/>
                                    </a:rPr>
                                    <m:t>3</m:t>
                                  </m:r>
                                </m:sup>
                              </m:sSup>
                            </m:den>
                          </m:f>
                        </m:e>
                      </m:nary>
                    </m:oMath>
                  </m:oMathPara>
                </a14:m>
                <a:endParaRPr lang="en-US" altLang="zh-CN" dirty="0">
                  <a:solidFill>
                    <a:srgbClr val="FF0000"/>
                  </a:solidFill>
                </a:endParaRPr>
              </a:p>
              <a:p>
                <a:pPr>
                  <a:lnSpc>
                    <a:spcPct val="120000"/>
                  </a:lnSpc>
                  <a:spcBef>
                    <a:spcPts val="0"/>
                  </a:spcBef>
                  <a:spcAft>
                    <a:spcPts val="600"/>
                  </a:spcAft>
                </a:pPr>
                <a:r>
                  <a:rPr lang="zh-CN" altLang="en-US" dirty="0"/>
                  <a:t>即，当</a:t>
                </a:r>
                <a:r>
                  <a:rPr lang="en-US" altLang="zh-CN" dirty="0"/>
                  <a:t>N</a:t>
                </a:r>
                <a:r>
                  <a:rPr lang="zh-CN" altLang="en-US" dirty="0"/>
                  <a:t>足够大时，对于球型</a:t>
                </a:r>
                <a:r>
                  <a:rPr lang="en-US" altLang="zh-CN" dirty="0"/>
                  <a:t>BZ</a:t>
                </a:r>
                <a:r>
                  <a:rPr lang="zh-CN" altLang="en-US" dirty="0"/>
                  <a:t>，在</a:t>
                </a:r>
                <a14:m>
                  <m:oMath xmlns:m="http://schemas.openxmlformats.org/officeDocument/2006/math">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𝑞</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𝑞</m:t>
                        </m:r>
                      </m:e>
                    </m:d>
                    <m:r>
                      <a:rPr lang="en-US" altLang="zh-CN" i="1">
                        <a:latin typeface="Cambria Math" panose="02040503050406030204" pitchFamily="18" charset="0"/>
                      </a:rPr>
                      <m:t>+</m:t>
                    </m:r>
                    <m:r>
                      <a:rPr lang="en-US" altLang="zh-CN" i="1">
                        <a:latin typeface="Cambria Math" panose="02040503050406030204" pitchFamily="18" charset="0"/>
                      </a:rPr>
                      <m:t>𝑑𝑞</m:t>
                    </m:r>
                  </m:oMath>
                </a14:m>
                <a:r>
                  <a:rPr lang="zh-CN" altLang="en-US" dirty="0"/>
                  <a:t>范围内，简正模的数目为</a:t>
                </a:r>
                <a14:m>
                  <m:oMath xmlns:m="http://schemas.openxmlformats.org/officeDocument/2006/math">
                    <m:r>
                      <a:rPr lang="en-US" altLang="zh-CN" i="1">
                        <a:solidFill>
                          <a:srgbClr val="FF0000"/>
                        </a:solidFill>
                        <a:latin typeface="Cambria Math" panose="02040503050406030204" pitchFamily="18" charset="0"/>
                      </a:rPr>
                      <m:t>4</m:t>
                    </m:r>
                    <m:r>
                      <a:rPr lang="en-US" altLang="zh-CN" i="1">
                        <a:solidFill>
                          <a:srgbClr val="FF0000"/>
                        </a:solidFill>
                        <a:latin typeface="Cambria Math" panose="02040503050406030204" pitchFamily="18" charset="0"/>
                      </a:rPr>
                      <m:t>𝜋</m:t>
                    </m:r>
                    <m:sSup>
                      <m:sSupPr>
                        <m:ctrlPr>
                          <a:rPr lang="en-US" altLang="zh-CN" i="1">
                            <a:solidFill>
                              <a:srgbClr val="FF0000"/>
                            </a:solidFill>
                            <a:latin typeface="Cambria Math" panose="02040503050406030204" pitchFamily="18" charset="0"/>
                          </a:rPr>
                        </m:ctrlPr>
                      </m:sSupPr>
                      <m:e>
                        <m:r>
                          <a:rPr lang="en-US" altLang="zh-CN" i="1">
                            <a:solidFill>
                              <a:srgbClr val="FF0000"/>
                            </a:solidFill>
                            <a:latin typeface="Cambria Math" panose="02040503050406030204" pitchFamily="18" charset="0"/>
                          </a:rPr>
                          <m:t>𝑞</m:t>
                        </m:r>
                      </m:e>
                      <m:sup>
                        <m:r>
                          <a:rPr lang="en-US" altLang="zh-CN" i="1">
                            <a:solidFill>
                              <a:srgbClr val="FF0000"/>
                            </a:solidFill>
                            <a:latin typeface="Cambria Math" panose="02040503050406030204" pitchFamily="18" charset="0"/>
                          </a:rPr>
                          <m:t>2</m:t>
                        </m:r>
                      </m:sup>
                    </m:sSup>
                    <m:f>
                      <m:fPr>
                        <m:ctrlPr>
                          <a:rPr lang="en-US" altLang="zh-CN" i="1">
                            <a:solidFill>
                              <a:srgbClr val="FF0000"/>
                            </a:solidFill>
                            <a:latin typeface="Cambria Math" panose="02040503050406030204" pitchFamily="18" charset="0"/>
                          </a:rPr>
                        </m:ctrlPr>
                      </m:fPr>
                      <m:num>
                        <m:r>
                          <a:rPr lang="en-US" altLang="zh-CN" i="1">
                            <a:solidFill>
                              <a:srgbClr val="FF0000"/>
                            </a:solidFill>
                            <a:latin typeface="Cambria Math" panose="02040503050406030204" pitchFamily="18" charset="0"/>
                          </a:rPr>
                          <m:t>𝑉</m:t>
                        </m:r>
                      </m:num>
                      <m:den>
                        <m:sSup>
                          <m:sSupPr>
                            <m:ctrlPr>
                              <a:rPr lang="en-US" altLang="zh-CN" i="1">
                                <a:solidFill>
                                  <a:srgbClr val="FF0000"/>
                                </a:solidFill>
                                <a:latin typeface="Cambria Math" panose="02040503050406030204" pitchFamily="18" charset="0"/>
                              </a:rPr>
                            </m:ctrlPr>
                          </m:sSupPr>
                          <m:e>
                            <m:d>
                              <m:dPr>
                                <m:ctrlPr>
                                  <a:rPr lang="en-US" altLang="zh-CN" i="1">
                                    <a:solidFill>
                                      <a:srgbClr val="FF0000"/>
                                    </a:solidFill>
                                    <a:latin typeface="Cambria Math" panose="02040503050406030204" pitchFamily="18" charset="0"/>
                                  </a:rPr>
                                </m:ctrlPr>
                              </m:dPr>
                              <m:e>
                                <m:r>
                                  <a:rPr lang="en-US" altLang="zh-CN" i="1">
                                    <a:solidFill>
                                      <a:srgbClr val="FF0000"/>
                                    </a:solidFill>
                                    <a:latin typeface="Cambria Math" panose="02040503050406030204" pitchFamily="18" charset="0"/>
                                  </a:rPr>
                                  <m:t>2</m:t>
                                </m:r>
                                <m:r>
                                  <a:rPr lang="en-US" altLang="zh-CN" i="1">
                                    <a:solidFill>
                                      <a:srgbClr val="FF0000"/>
                                    </a:solidFill>
                                    <a:latin typeface="Cambria Math" panose="02040503050406030204" pitchFamily="18" charset="0"/>
                                  </a:rPr>
                                  <m:t>𝜋</m:t>
                                </m:r>
                              </m:e>
                            </m:d>
                          </m:e>
                          <m:sup>
                            <m:r>
                              <a:rPr lang="en-US" altLang="zh-CN" i="1">
                                <a:solidFill>
                                  <a:srgbClr val="FF0000"/>
                                </a:solidFill>
                                <a:latin typeface="Cambria Math" panose="02040503050406030204" pitchFamily="18" charset="0"/>
                              </a:rPr>
                              <m:t>3</m:t>
                            </m:r>
                          </m:sup>
                        </m:sSup>
                      </m:den>
                    </m:f>
                    <m:r>
                      <a:rPr lang="en-US" altLang="zh-CN" i="1">
                        <a:solidFill>
                          <a:srgbClr val="FF0000"/>
                        </a:solidFill>
                        <a:latin typeface="Cambria Math" panose="02040503050406030204" pitchFamily="18" charset="0"/>
                      </a:rPr>
                      <m:t>𝑑𝑞</m:t>
                    </m:r>
                  </m:oMath>
                </a14:m>
                <a:endParaRPr lang="en-US" altLang="zh-CN" dirty="0">
                  <a:solidFill>
                    <a:srgbClr val="FF0000"/>
                  </a:solidFill>
                </a:endParaRPr>
              </a:p>
            </p:txBody>
          </p:sp>
        </mc:Choice>
        <mc:Fallback xmlns="">
          <p:sp>
            <p:nvSpPr>
              <p:cNvPr id="3" name="内容占位符 2">
                <a:extLst>
                  <a:ext uri="{FF2B5EF4-FFF2-40B4-BE49-F238E27FC236}">
                    <a16:creationId xmlns:a16="http://schemas.microsoft.com/office/drawing/2014/main" id="{A7E25092-8CEC-E65C-D59D-4C60917A0D13}"/>
                  </a:ext>
                </a:extLst>
              </p:cNvPr>
              <p:cNvSpPr>
                <a:spLocks noGrp="1" noRot="1" noChangeAspect="1" noMove="1" noResize="1" noEditPoints="1" noAdjustHandles="1" noChangeArrowheads="1" noChangeShapeType="1" noTextEdit="1"/>
              </p:cNvSpPr>
              <p:nvPr>
                <p:ph idx="1"/>
              </p:nvPr>
            </p:nvSpPr>
            <p:spPr>
              <a:xfrm>
                <a:off x="838200" y="1825625"/>
                <a:ext cx="5953539" cy="4351338"/>
              </a:xfrm>
              <a:blipFill>
                <a:blip r:embed="rId3"/>
                <a:stretch>
                  <a:fillRect l="-922" t="-700" r="-1947"/>
                </a:stretch>
              </a:blipFill>
            </p:spPr>
            <p:txBody>
              <a:bodyPr/>
              <a:lstStyle/>
              <a:p>
                <a:r>
                  <a:rPr lang="zh-CN" altLang="en-US">
                    <a:noFill/>
                  </a:rPr>
                  <a:t> </a:t>
                </a:r>
              </a:p>
            </p:txBody>
          </p:sp>
        </mc:Fallback>
      </mc:AlternateContent>
      <p:pic>
        <p:nvPicPr>
          <p:cNvPr id="4" name="Picture 2">
            <a:extLst>
              <a:ext uri="{FF2B5EF4-FFF2-40B4-BE49-F238E27FC236}">
                <a16:creationId xmlns:a16="http://schemas.microsoft.com/office/drawing/2014/main" id="{6EB539DB-E808-4254-183F-C4F8FF10FE7D}"/>
              </a:ext>
            </a:extLst>
          </p:cNvPr>
          <p:cNvPicPr>
            <a:picLocks noChangeAspect="1" noChangeArrowheads="1"/>
          </p:cNvPicPr>
          <p:nvPr/>
        </p:nvPicPr>
        <p:blipFill>
          <a:blip r:embed="rId4"/>
          <a:srcRect/>
          <a:stretch>
            <a:fillRect/>
          </a:stretch>
        </p:blipFill>
        <p:spPr bwMode="auto">
          <a:xfrm>
            <a:off x="6980583" y="2016892"/>
            <a:ext cx="5028999" cy="3859757"/>
          </a:xfrm>
          <a:prstGeom prst="rect">
            <a:avLst/>
          </a:prstGeom>
          <a:noFill/>
          <a:ln w="9525">
            <a:noFill/>
            <a:miter lim="800000"/>
            <a:headEnd/>
            <a:tailEnd/>
          </a:ln>
          <a:effectLst/>
        </p:spPr>
      </p:pic>
      <p:graphicFrame>
        <p:nvGraphicFramePr>
          <p:cNvPr id="5" name="表格 4">
            <a:extLst>
              <a:ext uri="{FF2B5EF4-FFF2-40B4-BE49-F238E27FC236}">
                <a16:creationId xmlns:a16="http://schemas.microsoft.com/office/drawing/2014/main" id="{3748B919-E104-5552-F4E2-E82687FAA33B}"/>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29</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259151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31CBA565-1608-9478-4E0A-D63059E03E25}"/>
              </a:ext>
            </a:extLst>
          </p:cNvPr>
          <p:cNvSpPr/>
          <p:nvPr/>
        </p:nvSpPr>
        <p:spPr>
          <a:xfrm>
            <a:off x="1085315" y="1825624"/>
            <a:ext cx="5335363" cy="891071"/>
          </a:xfrm>
          <a:prstGeom prst="roundRect">
            <a:avLst/>
          </a:prstGeom>
          <a:solidFill>
            <a:srgbClr val="FFFF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F283276E-BAD6-2114-E53A-3F0294C7FA36}"/>
              </a:ext>
            </a:extLst>
          </p:cNvPr>
          <p:cNvSpPr>
            <a:spLocks noGrp="1"/>
          </p:cNvSpPr>
          <p:nvPr>
            <p:ph type="title"/>
          </p:nvPr>
        </p:nvSpPr>
        <p:spPr/>
        <p:txBody>
          <a:bodyPr/>
          <a:lstStyle/>
          <a:p>
            <a:r>
              <a:rPr lang="zh-CN" altLang="en-US" dirty="0">
                <a:solidFill>
                  <a:srgbClr val="FF0000"/>
                </a:solidFill>
              </a:rPr>
              <a:t>德拜模型</a:t>
            </a:r>
            <a:endParaRPr lang="en-US" dirty="0">
              <a:solidFill>
                <a:srgbClr val="FF0000"/>
              </a:solidFill>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3A7A5EB-ACA3-AC87-00EE-97BC405DC1DF}"/>
                  </a:ext>
                </a:extLst>
              </p:cNvPr>
              <p:cNvSpPr>
                <a:spLocks noGrp="1"/>
              </p:cNvSpPr>
              <p:nvPr>
                <p:ph idx="1"/>
              </p:nvPr>
            </p:nvSpPr>
            <p:spPr>
              <a:xfrm>
                <a:off x="838200" y="1825625"/>
                <a:ext cx="10515600" cy="4895850"/>
              </a:xfrm>
            </p:spPr>
            <p:txBody>
              <a:bodyPr>
                <a:normAutofit fontScale="92500" lnSpcReduction="20000"/>
              </a:bodyPr>
              <a:lstStyle/>
              <a:p>
                <a:pPr>
                  <a:lnSpc>
                    <a:spcPct val="120000"/>
                  </a:lnSpc>
                  <a:spcBef>
                    <a:spcPts val="0"/>
                  </a:spcBef>
                </a:pPr>
                <a:r>
                  <a:rPr lang="zh-CN" altLang="en-US" dirty="0"/>
                  <a:t>假设</a:t>
                </a:r>
                <a:r>
                  <a:rPr lang="en-US" altLang="zh-CN" dirty="0"/>
                  <a:t>1</a:t>
                </a:r>
                <a:r>
                  <a:rPr lang="zh-CN" altLang="en-US" dirty="0"/>
                  <a:t>：</a:t>
                </a:r>
                <a:r>
                  <a:rPr lang="zh-CN" altLang="en-US" dirty="0">
                    <a:solidFill>
                      <a:srgbClr val="FF0000"/>
                    </a:solidFill>
                  </a:rPr>
                  <a:t>仅考虑长波近似下的弹性波</a:t>
                </a:r>
                <a:endParaRPr lang="en-US" altLang="zh-CN" dirty="0">
                  <a:solidFill>
                    <a:srgbClr val="FF0000"/>
                  </a:solidFill>
                </a:endParaRPr>
              </a:p>
              <a:p>
                <a:pPr>
                  <a:lnSpc>
                    <a:spcPct val="120000"/>
                  </a:lnSpc>
                  <a:spcBef>
                    <a:spcPts val="0"/>
                  </a:spcBef>
                </a:pPr>
                <a:r>
                  <a:rPr lang="zh-CN" altLang="en-US" dirty="0"/>
                  <a:t>假设</a:t>
                </a:r>
                <a:r>
                  <a:rPr lang="en-US" altLang="zh-CN" dirty="0"/>
                  <a:t>2</a:t>
                </a:r>
                <a:r>
                  <a:rPr lang="zh-CN" altLang="en-US" dirty="0"/>
                  <a:t>：</a:t>
                </a:r>
                <a:r>
                  <a:rPr lang="zh-CN" altLang="en-US" dirty="0">
                    <a:solidFill>
                      <a:srgbClr val="FF0000"/>
                    </a:solidFill>
                  </a:rPr>
                  <a:t>简正模均为各向同性</a:t>
                </a:r>
                <a:endParaRPr lang="en-US" altLang="zh-CN" dirty="0">
                  <a:solidFill>
                    <a:srgbClr val="FF0000"/>
                  </a:solidFill>
                </a:endParaRPr>
              </a:p>
              <a:p>
                <a:pPr>
                  <a:lnSpc>
                    <a:spcPct val="120000"/>
                  </a:lnSpc>
                  <a:spcBef>
                    <a:spcPts val="0"/>
                  </a:spcBef>
                </a:pPr>
                <a:endParaRPr lang="en-US" dirty="0">
                  <a:solidFill>
                    <a:srgbClr val="FF0000"/>
                  </a:solidFill>
                </a:endParaRPr>
              </a:p>
              <a:p>
                <a:pPr>
                  <a:lnSpc>
                    <a:spcPct val="120000"/>
                  </a:lnSpc>
                  <a:spcBef>
                    <a:spcPts val="0"/>
                  </a:spcBef>
                </a:pPr>
                <a:r>
                  <a:rPr lang="zh-CN" altLang="en-US" dirty="0"/>
                  <a:t>设弹性波的两个横波波速均为</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𝐶</m:t>
                        </m:r>
                      </m:e>
                      <m:sub>
                        <m:r>
                          <a:rPr lang="en-US" i="1">
                            <a:solidFill>
                              <a:srgbClr val="000000"/>
                            </a:solidFill>
                            <a:latin typeface="Cambria Math" panose="02040503050406030204" pitchFamily="18" charset="0"/>
                          </a:rPr>
                          <m:t>𝑡</m:t>
                        </m:r>
                      </m:sub>
                    </m:sSub>
                  </m:oMath>
                </a14:m>
                <a:endParaRPr lang="en-US" dirty="0"/>
              </a:p>
              <a:p>
                <a:pPr marL="0" indent="0">
                  <a:lnSpc>
                    <a:spcPct val="120000"/>
                  </a:lnSpc>
                  <a:spcBef>
                    <a:spcPts val="0"/>
                  </a:spcBef>
                  <a:buNone/>
                </a:pPr>
                <a:r>
                  <a:rPr lang="zh-CN" altLang="en-US" dirty="0"/>
                  <a:t>纵波波速为</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𝐶</m:t>
                        </m:r>
                      </m:e>
                      <m:sub>
                        <m:r>
                          <a:rPr lang="en-US" i="1">
                            <a:solidFill>
                              <a:srgbClr val="000000"/>
                            </a:solidFill>
                            <a:latin typeface="Cambria Math" panose="02040503050406030204" pitchFamily="18" charset="0"/>
                          </a:rPr>
                          <m:t>𝑙</m:t>
                        </m:r>
                      </m:sub>
                    </m:sSub>
                  </m:oMath>
                </a14:m>
                <a:r>
                  <a:rPr lang="zh-CN" altLang="en-US" dirty="0"/>
                  <a:t>，即</a:t>
                </a:r>
                <a:endParaRPr lang="en-US" altLang="zh-CN" dirty="0"/>
              </a:p>
              <a:p>
                <a:pPr marL="0" indent="0">
                  <a:lnSpc>
                    <a:spcPct val="120000"/>
                  </a:lnSpc>
                  <a:spcBef>
                    <a:spcPts val="0"/>
                  </a:spcBef>
                  <a:buNone/>
                </a:pPr>
                <a14:m>
                  <m:oMathPara xmlns:m="http://schemas.openxmlformats.org/officeDocument/2006/math">
                    <m:o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𝜔</m:t>
                          </m:r>
                        </m:e>
                        <m:sub>
                          <m:r>
                            <a:rPr lang="en-US" b="0" i="1" smtClean="0">
                              <a:solidFill>
                                <a:srgbClr val="000000"/>
                              </a:solidFill>
                              <a:latin typeface="Cambria Math" panose="02040503050406030204" pitchFamily="18" charset="0"/>
                            </a:rPr>
                            <m:t>𝑙</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𝐶</m:t>
                          </m:r>
                        </m:e>
                        <m:sub>
                          <m:r>
                            <a:rPr lang="en-US" i="1">
                              <a:solidFill>
                                <a:srgbClr val="000000"/>
                              </a:solidFill>
                              <a:latin typeface="Cambria Math" panose="02040503050406030204" pitchFamily="18" charset="0"/>
                            </a:rPr>
                            <m:t>𝑙</m:t>
                          </m:r>
                        </m:sub>
                      </m:sSub>
                      <m:r>
                        <a:rPr lang="en-US" i="1">
                          <a:solidFill>
                            <a:srgbClr val="000000"/>
                          </a:solidFill>
                          <a:latin typeface="Cambria Math" panose="02040503050406030204" pitchFamily="18" charset="0"/>
                        </a:rPr>
                        <m:t>𝑞</m:t>
                      </m:r>
                      <m:r>
                        <a:rPr lang="en-US" b="0" i="1" smtClean="0">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𝜔</m:t>
                          </m:r>
                        </m:e>
                        <m:sub>
                          <m:r>
                            <a:rPr lang="en-US" b="0" i="1" smtClean="0">
                              <a:solidFill>
                                <a:srgbClr val="000000"/>
                              </a:solidFill>
                              <a:latin typeface="Cambria Math" panose="02040503050406030204" pitchFamily="18" charset="0"/>
                            </a:rPr>
                            <m:t>𝑡</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𝐶</m:t>
                          </m:r>
                        </m:e>
                        <m:sub>
                          <m:r>
                            <a:rPr lang="en-US" b="0" i="1" smtClean="0">
                              <a:solidFill>
                                <a:srgbClr val="000000"/>
                              </a:solidFill>
                              <a:latin typeface="Cambria Math" panose="02040503050406030204" pitchFamily="18" charset="0"/>
                            </a:rPr>
                            <m:t>𝑡</m:t>
                          </m:r>
                        </m:sub>
                      </m:sSub>
                      <m:r>
                        <a:rPr lang="en-US" i="1">
                          <a:solidFill>
                            <a:srgbClr val="000000"/>
                          </a:solidFill>
                          <a:latin typeface="Cambria Math" panose="02040503050406030204" pitchFamily="18" charset="0"/>
                        </a:rPr>
                        <m:t>𝑞</m:t>
                      </m:r>
                    </m:oMath>
                  </m:oMathPara>
                </a14:m>
                <a:endParaRPr lang="en-US" dirty="0"/>
              </a:p>
              <a:p>
                <a:pPr>
                  <a:lnSpc>
                    <a:spcPct val="120000"/>
                  </a:lnSpc>
                  <a:spcBef>
                    <a:spcPts val="0"/>
                  </a:spcBef>
                </a:pPr>
                <a:r>
                  <a:rPr lang="zh-CN" altLang="en-US" dirty="0">
                    <a:solidFill>
                      <a:schemeClr val="tx1"/>
                    </a:solidFill>
                  </a:rPr>
                  <a:t>简正模</a:t>
                </a:r>
                <a14:m>
                  <m:oMath xmlns:m="http://schemas.openxmlformats.org/officeDocument/2006/math">
                    <m:r>
                      <a:rPr lang="zh-CN" altLang="en-US" i="1" dirty="0">
                        <a:latin typeface="Cambria Math" panose="02040503050406030204" pitchFamily="18" charset="0"/>
                      </a:rPr>
                      <m:t>的</m:t>
                    </m:r>
                    <m:r>
                      <a:rPr lang="zh-CN" altLang="en-US" i="1" dirty="0" smtClean="0">
                        <a:latin typeface="Cambria Math" panose="02040503050406030204" pitchFamily="18" charset="0"/>
                      </a:rPr>
                      <m:t>数目</m:t>
                    </m:r>
                    <m:r>
                      <a:rPr lang="zh-CN" altLang="en-US" i="1" dirty="0">
                        <a:latin typeface="Cambria Math" panose="02040503050406030204" pitchFamily="18" charset="0"/>
                      </a:rPr>
                      <m:t>可以写成</m:t>
                    </m:r>
                    <m:r>
                      <a:rPr lang="en-US" altLang="zh-CN" i="1" smtClean="0">
                        <a:solidFill>
                          <a:schemeClr val="tx1"/>
                        </a:solidFill>
                        <a:latin typeface="Cambria Math" panose="02040503050406030204" pitchFamily="18" charset="0"/>
                      </a:rPr>
                      <m:t>4</m:t>
                    </m:r>
                    <m:r>
                      <a:rPr lang="en-US" altLang="zh-CN" i="1" smtClean="0">
                        <a:solidFill>
                          <a:schemeClr val="tx1"/>
                        </a:solidFill>
                        <a:latin typeface="Cambria Math" panose="02040503050406030204" pitchFamily="18" charset="0"/>
                      </a:rPr>
                      <m:t>𝜋</m:t>
                    </m:r>
                    <m:sSup>
                      <m:sSupPr>
                        <m:ctrlPr>
                          <a:rPr lang="en-US" altLang="zh-CN" i="1">
                            <a:solidFill>
                              <a:schemeClr val="tx1"/>
                            </a:solidFill>
                            <a:latin typeface="Cambria Math" panose="02040503050406030204" pitchFamily="18" charset="0"/>
                          </a:rPr>
                        </m:ctrlPr>
                      </m:sSupPr>
                      <m:e>
                        <m:r>
                          <a:rPr lang="en-US" altLang="zh-CN" i="1">
                            <a:solidFill>
                              <a:schemeClr val="tx1"/>
                            </a:solidFill>
                            <a:latin typeface="Cambria Math" panose="02040503050406030204" pitchFamily="18" charset="0"/>
                          </a:rPr>
                          <m:t>𝑞</m:t>
                        </m:r>
                      </m:e>
                      <m:sup>
                        <m:r>
                          <a:rPr lang="en-US" altLang="zh-CN" i="1">
                            <a:solidFill>
                              <a:schemeClr val="tx1"/>
                            </a:solidFill>
                            <a:latin typeface="Cambria Math" panose="02040503050406030204" pitchFamily="18" charset="0"/>
                          </a:rPr>
                          <m:t>2</m:t>
                        </m:r>
                      </m:sup>
                    </m:sSup>
                    <m:f>
                      <m:fPr>
                        <m:ctrlPr>
                          <a:rPr lang="en-US"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𝑉</m:t>
                        </m:r>
                      </m:num>
                      <m:den>
                        <m:sSup>
                          <m:sSupPr>
                            <m:ctrlPr>
                              <a:rPr lang="en-US" altLang="zh-CN" i="1">
                                <a:solidFill>
                                  <a:schemeClr val="tx1"/>
                                </a:solidFill>
                                <a:latin typeface="Cambria Math" panose="02040503050406030204" pitchFamily="18" charset="0"/>
                              </a:rPr>
                            </m:ctrlPr>
                          </m:sSupPr>
                          <m:e>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panose="02040503050406030204" pitchFamily="18" charset="0"/>
                                  </a:rPr>
                                  <m:t>2</m:t>
                                </m:r>
                                <m:r>
                                  <a:rPr lang="en-US" altLang="zh-CN" i="1">
                                    <a:solidFill>
                                      <a:schemeClr val="tx1"/>
                                    </a:solidFill>
                                    <a:latin typeface="Cambria Math" panose="02040503050406030204" pitchFamily="18" charset="0"/>
                                  </a:rPr>
                                  <m:t>𝜋</m:t>
                                </m:r>
                              </m:e>
                            </m:d>
                          </m:e>
                          <m:sup>
                            <m:r>
                              <a:rPr lang="en-US" altLang="zh-CN" i="1">
                                <a:solidFill>
                                  <a:schemeClr val="tx1"/>
                                </a:solidFill>
                                <a:latin typeface="Cambria Math" panose="02040503050406030204" pitchFamily="18" charset="0"/>
                              </a:rPr>
                              <m:t>3</m:t>
                            </m:r>
                          </m:sup>
                        </m:sSup>
                      </m:den>
                    </m:f>
                    <m:r>
                      <a:rPr lang="en-US" altLang="zh-CN" i="1">
                        <a:solidFill>
                          <a:schemeClr val="tx1"/>
                        </a:solidFill>
                        <a:latin typeface="Cambria Math" panose="02040503050406030204" pitchFamily="18" charset="0"/>
                      </a:rPr>
                      <m:t>𝑑𝑞</m:t>
                    </m:r>
                    <m:r>
                      <a:rPr lang="en-US" altLang="zh-CN" i="1">
                        <a:solidFill>
                          <a:schemeClr val="tx1"/>
                        </a:solidFill>
                        <a:latin typeface="Cambria Math" panose="02040503050406030204" pitchFamily="18" charset="0"/>
                      </a:rPr>
                      <m:t> </m:t>
                    </m:r>
                  </m:oMath>
                </a14:m>
                <a:r>
                  <a:rPr lang="zh-CN" altLang="en-US" dirty="0">
                    <a:solidFill>
                      <a:schemeClr val="tx1"/>
                    </a:solidFill>
                  </a:rPr>
                  <a:t>，也可以写成</a:t>
                </a:r>
                <a14:m>
                  <m:oMath xmlns:m="http://schemas.openxmlformats.org/officeDocument/2006/math">
                    <m:r>
                      <a:rPr lang="en-US" altLang="zh-CN" i="1">
                        <a:solidFill>
                          <a:srgbClr val="000000"/>
                        </a:solidFill>
                        <a:latin typeface="Cambria Math" panose="02040503050406030204" pitchFamily="18" charset="0"/>
                      </a:rPr>
                      <m:t>𝑔</m:t>
                    </m:r>
                    <m:d>
                      <m:dPr>
                        <m:ctrlPr>
                          <a:rPr lang="en-US" altLang="zh-CN" i="1">
                            <a:solidFill>
                              <a:srgbClr val="000000"/>
                            </a:solidFill>
                            <a:latin typeface="Cambria Math" panose="02040503050406030204" pitchFamily="18" charset="0"/>
                          </a:rPr>
                        </m:ctrlPr>
                      </m:dPr>
                      <m:e>
                        <m:r>
                          <a:rPr lang="en-US" altLang="zh-CN" i="1">
                            <a:solidFill>
                              <a:srgbClr val="000000"/>
                            </a:solidFill>
                            <a:latin typeface="Cambria Math" panose="02040503050406030204" pitchFamily="18" charset="0"/>
                          </a:rPr>
                          <m:t>𝜔</m:t>
                        </m:r>
                      </m:e>
                    </m:d>
                    <m:r>
                      <a:rPr lang="en-US" altLang="zh-CN" i="1">
                        <a:latin typeface="Cambria Math" panose="02040503050406030204" pitchFamily="18" charset="0"/>
                      </a:rPr>
                      <m:t>𝑑</m:t>
                    </m:r>
                    <m:r>
                      <a:rPr lang="en-US" altLang="zh-CN" i="1">
                        <a:solidFill>
                          <a:srgbClr val="000000"/>
                        </a:solidFill>
                        <a:latin typeface="Cambria Math" panose="02040503050406030204" pitchFamily="18" charset="0"/>
                      </a:rPr>
                      <m:t>𝜔</m:t>
                    </m:r>
                  </m:oMath>
                </a14:m>
                <a:endParaRPr lang="en-US" altLang="zh-CN" dirty="0"/>
              </a:p>
              <a:p>
                <a:pPr>
                  <a:lnSpc>
                    <a:spcPct val="120000"/>
                  </a:lnSpc>
                  <a:spcBef>
                    <a:spcPts val="0"/>
                  </a:spcBef>
                </a:pPr>
                <a:r>
                  <a:rPr lang="zh-CN" altLang="en-US" dirty="0"/>
                  <a:t>将</a:t>
                </a:r>
                <a14:m>
                  <m:oMath xmlns:m="http://schemas.openxmlformats.org/officeDocument/2006/math">
                    <m:r>
                      <a:rPr lang="en-US" altLang="zh-CN" i="1" smtClean="0">
                        <a:solidFill>
                          <a:srgbClr val="000000"/>
                        </a:solidFill>
                        <a:latin typeface="Cambria Math" panose="02040503050406030204" pitchFamily="18" charset="0"/>
                      </a:rPr>
                      <m:t>𝜔</m:t>
                    </m:r>
                    <m:r>
                      <a:rPr lang="en-US" altLang="zh-CN" b="0" i="1" smtClean="0">
                        <a:solidFill>
                          <a:srgbClr val="000000"/>
                        </a:solidFill>
                        <a:latin typeface="Cambria Math" panose="02040503050406030204" pitchFamily="18" charset="0"/>
                      </a:rPr>
                      <m:t>−</m:t>
                    </m:r>
                  </m:oMath>
                </a14:m>
                <a:r>
                  <a:rPr lang="en-US" altLang="zh-CN" dirty="0">
                    <a:solidFill>
                      <a:srgbClr val="000000"/>
                    </a:solidFill>
                  </a:rPr>
                  <a:t> </a:t>
                </a:r>
                <a14:m>
                  <m:oMath xmlns:m="http://schemas.openxmlformats.org/officeDocument/2006/math">
                    <m:r>
                      <a:rPr lang="en-US" altLang="zh-CN" i="1">
                        <a:solidFill>
                          <a:srgbClr val="000000"/>
                        </a:solidFill>
                        <a:latin typeface="Cambria Math" panose="02040503050406030204" pitchFamily="18" charset="0"/>
                      </a:rPr>
                      <m:t>𝑞</m:t>
                    </m:r>
                  </m:oMath>
                </a14:m>
                <a:r>
                  <a:rPr lang="zh-CN" altLang="en-US" dirty="0"/>
                  <a:t>关系代入可得总简正模态密度为</a:t>
                </a:r>
                <a:endParaRPr lang="en-US" altLang="zh-CN" dirty="0"/>
              </a:p>
              <a:p>
                <a:pPr marL="0" indent="0">
                  <a:lnSpc>
                    <a:spcPct val="120000"/>
                  </a:lnSpc>
                  <a:spcBef>
                    <a:spcPts val="0"/>
                  </a:spcBef>
                  <a:buNone/>
                </a:pPr>
                <a14:m>
                  <m:oMathPara xmlns:m="http://schemas.openxmlformats.org/officeDocument/2006/math">
                    <m:oMath>
                      <m:r>
                        <a:rPr lang="en-US" i="1" smtClean="0">
                          <a:solidFill>
                            <a:srgbClr val="000000"/>
                          </a:solidFill>
                          <a:latin typeface="Cambria Math" panose="02040503050406030204" pitchFamily="18" charset="0"/>
                        </a:rPr>
                        <m:t>𝑔</m:t>
                      </m:r>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𝜔</m:t>
                          </m:r>
                        </m:e>
                      </m:d>
                      <m:r>
                        <a:rPr lang="en-US" i="1">
                          <a:solidFill>
                            <a:srgbClr val="000000"/>
                          </a:solidFill>
                          <a:latin typeface="Cambria Math" panose="02040503050406030204" pitchFamily="18" charset="0"/>
                        </a:rPr>
                        <m:t>=4</m:t>
                      </m:r>
                      <m:r>
                        <a:rPr lang="en-US" i="1">
                          <a:solidFill>
                            <a:srgbClr val="000000"/>
                          </a:solidFill>
                          <a:latin typeface="Cambria Math" panose="02040503050406030204" pitchFamily="18" charset="0"/>
                        </a:rPr>
                        <m:t>𝜋</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𝜔</m:t>
                          </m:r>
                        </m:e>
                        <m:sup>
                          <m:r>
                            <a:rPr lang="en-US" i="1">
                              <a:solidFill>
                                <a:srgbClr val="000000"/>
                              </a:solidFill>
                              <a:latin typeface="Cambria Math" panose="02040503050406030204" pitchFamily="18" charset="0"/>
                            </a:rPr>
                            <m:t>2</m:t>
                          </m:r>
                        </m:sup>
                      </m:sSup>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𝑉</m:t>
                          </m:r>
                        </m:num>
                        <m:den>
                          <m:sSup>
                            <m:sSupPr>
                              <m:ctrlPr>
                                <a:rPr lang="en-US" i="1">
                                  <a:solidFill>
                                    <a:srgbClr val="000000"/>
                                  </a:solidFill>
                                  <a:latin typeface="Cambria Math" panose="02040503050406030204" pitchFamily="18" charset="0"/>
                                </a:rPr>
                              </m:ctrlPr>
                            </m:sSupPr>
                            <m:e>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𝜋</m:t>
                                  </m:r>
                                </m:e>
                              </m:d>
                            </m:e>
                            <m:sup>
                              <m:r>
                                <a:rPr lang="en-US" i="1">
                                  <a:solidFill>
                                    <a:srgbClr val="000000"/>
                                  </a:solidFill>
                                  <a:latin typeface="Cambria Math" panose="02040503050406030204" pitchFamily="18" charset="0"/>
                                </a:rPr>
                                <m:t>3</m:t>
                              </m:r>
                            </m:sup>
                          </m:sSup>
                        </m:den>
                      </m:f>
                      <m:d>
                        <m:dPr>
                          <m:ctrlPr>
                            <a:rPr lang="en-US" i="1">
                              <a:solidFill>
                                <a:srgbClr val="000000"/>
                              </a:solidFill>
                              <a:latin typeface="Cambria Math" panose="02040503050406030204" pitchFamily="18" charset="0"/>
                            </a:rPr>
                          </m:ctrlPr>
                        </m:dPr>
                        <m:e>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sSubSup>
                                <m:sSubSupPr>
                                  <m:ctrlPr>
                                    <a:rPr lang="en-US" i="1">
                                      <a:solidFill>
                                        <a:srgbClr val="000000"/>
                                      </a:solidFill>
                                      <a:latin typeface="Cambria Math" panose="02040503050406030204" pitchFamily="18" charset="0"/>
                                    </a:rPr>
                                  </m:ctrlPr>
                                </m:sSubSupPr>
                                <m:e>
                                  <m:r>
                                    <a:rPr lang="en-US" i="1">
                                      <a:solidFill>
                                        <a:srgbClr val="000000"/>
                                      </a:solidFill>
                                      <a:latin typeface="Cambria Math" panose="02040503050406030204" pitchFamily="18" charset="0"/>
                                    </a:rPr>
                                    <m:t>𝐶</m:t>
                                  </m:r>
                                </m:e>
                                <m:sub>
                                  <m:r>
                                    <a:rPr lang="en-US" i="1">
                                      <a:solidFill>
                                        <a:srgbClr val="000000"/>
                                      </a:solidFill>
                                      <a:latin typeface="Cambria Math" panose="02040503050406030204" pitchFamily="18" charset="0"/>
                                    </a:rPr>
                                    <m:t>𝑙</m:t>
                                  </m:r>
                                </m:sub>
                                <m:sup>
                                  <m:r>
                                    <a:rPr lang="en-US" i="1">
                                      <a:solidFill>
                                        <a:srgbClr val="000000"/>
                                      </a:solidFill>
                                      <a:latin typeface="Cambria Math" panose="02040503050406030204" pitchFamily="18" charset="0"/>
                                    </a:rPr>
                                    <m:t>3</m:t>
                                  </m:r>
                                </m:sup>
                              </m:sSubSup>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2</m:t>
                              </m:r>
                            </m:num>
                            <m:den>
                              <m:sSubSup>
                                <m:sSubSupPr>
                                  <m:ctrlPr>
                                    <a:rPr lang="en-US" i="1">
                                      <a:solidFill>
                                        <a:srgbClr val="000000"/>
                                      </a:solidFill>
                                      <a:latin typeface="Cambria Math" panose="02040503050406030204" pitchFamily="18" charset="0"/>
                                    </a:rPr>
                                  </m:ctrlPr>
                                </m:sSubSupPr>
                                <m:e>
                                  <m:r>
                                    <a:rPr lang="en-US" i="1">
                                      <a:solidFill>
                                        <a:srgbClr val="000000"/>
                                      </a:solidFill>
                                      <a:latin typeface="Cambria Math" panose="02040503050406030204" pitchFamily="18" charset="0"/>
                                    </a:rPr>
                                    <m:t>𝐶</m:t>
                                  </m:r>
                                </m:e>
                                <m:sub>
                                  <m:r>
                                    <a:rPr lang="en-US" i="1">
                                      <a:solidFill>
                                        <a:srgbClr val="000000"/>
                                      </a:solidFill>
                                      <a:latin typeface="Cambria Math" panose="02040503050406030204" pitchFamily="18" charset="0"/>
                                    </a:rPr>
                                    <m:t>𝑡</m:t>
                                  </m:r>
                                </m:sub>
                                <m:sup>
                                  <m:r>
                                    <a:rPr lang="en-US" i="1">
                                      <a:solidFill>
                                        <a:srgbClr val="000000"/>
                                      </a:solidFill>
                                      <a:latin typeface="Cambria Math" panose="02040503050406030204" pitchFamily="18" charset="0"/>
                                    </a:rPr>
                                    <m:t>3</m:t>
                                  </m:r>
                                </m:sup>
                              </m:sSubSup>
                            </m:den>
                          </m:f>
                        </m:e>
                      </m:d>
                    </m:oMath>
                  </m:oMathPara>
                </a14:m>
                <a:endParaRPr lang="en-US" dirty="0"/>
              </a:p>
              <a:p>
                <a:pPr marL="0" indent="0">
                  <a:lnSpc>
                    <a:spcPct val="120000"/>
                  </a:lnSpc>
                  <a:spcBef>
                    <a:spcPts val="0"/>
                  </a:spcBef>
                  <a:buNone/>
                </a:pPr>
                <a:endParaRPr lang="en-US" dirty="0"/>
              </a:p>
              <a:p>
                <a:pPr marL="0" indent="0">
                  <a:lnSpc>
                    <a:spcPct val="120000"/>
                  </a:lnSpc>
                  <a:spcBef>
                    <a:spcPts val="0"/>
                  </a:spcBef>
                  <a:buNone/>
                </a:pPr>
                <a:endParaRPr lang="en-US" dirty="0"/>
              </a:p>
              <a:p>
                <a:pPr>
                  <a:lnSpc>
                    <a:spcPct val="120000"/>
                  </a:lnSpc>
                  <a:spcBef>
                    <a:spcPts val="0"/>
                  </a:spcBef>
                </a:pPr>
                <a:endParaRPr lang="en-US" dirty="0">
                  <a:solidFill>
                    <a:srgbClr val="FF0000"/>
                  </a:solidFill>
                </a:endParaRPr>
              </a:p>
            </p:txBody>
          </p:sp>
        </mc:Choice>
        <mc:Fallback xmlns="">
          <p:sp>
            <p:nvSpPr>
              <p:cNvPr id="3" name="内容占位符 2">
                <a:extLst>
                  <a:ext uri="{FF2B5EF4-FFF2-40B4-BE49-F238E27FC236}">
                    <a16:creationId xmlns:a16="http://schemas.microsoft.com/office/drawing/2014/main" id="{63A7A5EB-ACA3-AC87-00EE-97BC405DC1DF}"/>
                  </a:ext>
                </a:extLst>
              </p:cNvPr>
              <p:cNvSpPr>
                <a:spLocks noGrp="1" noRot="1" noChangeAspect="1" noMove="1" noResize="1" noEditPoints="1" noAdjustHandles="1" noChangeArrowheads="1" noChangeShapeType="1" noTextEdit="1"/>
              </p:cNvSpPr>
              <p:nvPr>
                <p:ph idx="1"/>
              </p:nvPr>
            </p:nvSpPr>
            <p:spPr>
              <a:xfrm>
                <a:off x="838200" y="1825625"/>
                <a:ext cx="10515600" cy="4895850"/>
              </a:xfrm>
              <a:blipFill>
                <a:blip r:embed="rId3"/>
                <a:stretch>
                  <a:fillRect l="-1043" t="-1493"/>
                </a:stretch>
              </a:blipFill>
            </p:spPr>
            <p:txBody>
              <a:bodyPr/>
              <a:lstStyle/>
              <a:p>
                <a:r>
                  <a:rPr lang="zh-CN" altLang="en-US">
                    <a:noFill/>
                  </a:rPr>
                  <a:t> </a:t>
                </a:r>
              </a:p>
            </p:txBody>
          </p:sp>
        </mc:Fallback>
      </mc:AlternateContent>
      <p:pic>
        <p:nvPicPr>
          <p:cNvPr id="6" name="Picture 2">
            <a:extLst>
              <a:ext uri="{FF2B5EF4-FFF2-40B4-BE49-F238E27FC236}">
                <a16:creationId xmlns:a16="http://schemas.microsoft.com/office/drawing/2014/main" id="{58480A53-2452-5A88-FEC2-EF22ED18317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1650"/>
          <a:stretch/>
        </p:blipFill>
        <p:spPr bwMode="auto">
          <a:xfrm>
            <a:off x="7601526" y="579605"/>
            <a:ext cx="4060390" cy="3312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 name="表格 4">
            <a:extLst>
              <a:ext uri="{FF2B5EF4-FFF2-40B4-BE49-F238E27FC236}">
                <a16:creationId xmlns:a16="http://schemas.microsoft.com/office/drawing/2014/main" id="{B972C052-B29E-DA13-29CC-F972B3DC8892}"/>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30</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4076765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83276E-BAD6-2114-E53A-3F0294C7FA36}"/>
              </a:ext>
            </a:extLst>
          </p:cNvPr>
          <p:cNvSpPr>
            <a:spLocks noGrp="1"/>
          </p:cNvSpPr>
          <p:nvPr>
            <p:ph type="title"/>
          </p:nvPr>
        </p:nvSpPr>
        <p:spPr>
          <a:xfrm>
            <a:off x="838200" y="358499"/>
            <a:ext cx="10515600" cy="1325563"/>
          </a:xfrm>
        </p:spPr>
        <p:txBody>
          <a:bodyPr/>
          <a:lstStyle/>
          <a:p>
            <a:r>
              <a:rPr lang="zh-CN" altLang="en-US" dirty="0"/>
              <a:t>德拜模型</a:t>
            </a:r>
            <a:endParaRPr 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63A7A5EB-ACA3-AC87-00EE-97BC405DC1DF}"/>
                  </a:ext>
                </a:extLst>
              </p:cNvPr>
              <p:cNvSpPr>
                <a:spLocks noGrp="1"/>
              </p:cNvSpPr>
              <p:nvPr>
                <p:ph idx="1"/>
              </p:nvPr>
            </p:nvSpPr>
            <p:spPr>
              <a:xfrm>
                <a:off x="838200" y="1607127"/>
                <a:ext cx="10515600" cy="5114348"/>
              </a:xfrm>
            </p:spPr>
            <p:txBody>
              <a:bodyPr>
                <a:normAutofit/>
              </a:bodyPr>
              <a:lstStyle/>
              <a:p>
                <a:pPr>
                  <a:lnSpc>
                    <a:spcPct val="100000"/>
                  </a:lnSpc>
                  <a:spcBef>
                    <a:spcPts val="0"/>
                  </a:spcBef>
                  <a:spcAft>
                    <a:spcPts val="1200"/>
                  </a:spcAft>
                </a:pPr>
                <a:r>
                  <a:rPr lang="zh-CN" altLang="en-US" sz="2000" dirty="0">
                    <a:solidFill>
                      <a:schemeClr val="tx1"/>
                    </a:solidFill>
                  </a:rPr>
                  <a:t>取</a:t>
                </a:r>
                <a14:m>
                  <m:oMath xmlns:m="http://schemas.openxmlformats.org/officeDocument/2006/math">
                    <m:r>
                      <a:rPr lang="zh-CN" altLang="en-US" sz="2000" i="1" dirty="0" smtClean="0">
                        <a:solidFill>
                          <a:schemeClr val="tx1"/>
                        </a:solidFill>
                        <a:latin typeface="Cambria Math" panose="02040503050406030204" pitchFamily="18" charset="0"/>
                      </a:rPr>
                      <m:t>有效</m:t>
                    </m:r>
                    <m:r>
                      <a:rPr lang="zh-CN" altLang="en-US" sz="2000" i="1" dirty="0">
                        <a:solidFill>
                          <a:schemeClr val="tx1"/>
                        </a:solidFill>
                        <a:latin typeface="Cambria Math" panose="02040503050406030204" pitchFamily="18" charset="0"/>
                      </a:rPr>
                      <m:t>波速</m:t>
                    </m:r>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1</m:t>
                        </m:r>
                      </m:num>
                      <m:den>
                        <m:sSup>
                          <m:sSupPr>
                            <m:ctrlPr>
                              <a:rPr lang="en-US" sz="2000" i="1">
                                <a:solidFill>
                                  <a:schemeClr val="tx1"/>
                                </a:solidFill>
                                <a:latin typeface="Cambria Math" panose="02040503050406030204" pitchFamily="18" charset="0"/>
                              </a:rPr>
                            </m:ctrlPr>
                          </m:sSupPr>
                          <m:e>
                            <m:acc>
                              <m:accPr>
                                <m:chr m:val="̄"/>
                                <m:ctrlPr>
                                  <a:rPr lang="en-US" sz="2000" i="1">
                                    <a:solidFill>
                                      <a:schemeClr val="tx1"/>
                                    </a:solidFill>
                                    <a:latin typeface="Cambria Math" panose="02040503050406030204" pitchFamily="18" charset="0"/>
                                  </a:rPr>
                                </m:ctrlPr>
                              </m:accPr>
                              <m:e>
                                <m:r>
                                  <a:rPr lang="en-US" sz="2000" i="1">
                                    <a:solidFill>
                                      <a:schemeClr val="tx1"/>
                                    </a:solidFill>
                                    <a:latin typeface="Cambria Math" panose="02040503050406030204" pitchFamily="18" charset="0"/>
                                  </a:rPr>
                                  <m:t>𝐶</m:t>
                                </m:r>
                              </m:e>
                            </m:acc>
                          </m:e>
                          <m:sup>
                            <m:r>
                              <a:rPr lang="en-US" sz="2000" i="1">
                                <a:solidFill>
                                  <a:schemeClr val="tx1"/>
                                </a:solidFill>
                                <a:latin typeface="Cambria Math" panose="02040503050406030204" pitchFamily="18" charset="0"/>
                              </a:rPr>
                              <m:t>3</m:t>
                            </m:r>
                          </m:sup>
                        </m:sSup>
                      </m:den>
                    </m:f>
                    <m:r>
                      <a:rPr lang="en-US" sz="2000" i="1">
                        <a:solidFill>
                          <a:schemeClr val="tx1"/>
                        </a:solidFill>
                        <a:latin typeface="Cambria Math" panose="02040503050406030204" pitchFamily="18" charset="0"/>
                      </a:rPr>
                      <m:t>=</m:t>
                    </m:r>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1</m:t>
                        </m:r>
                      </m:num>
                      <m:den>
                        <m:r>
                          <a:rPr lang="en-US" sz="2000" i="1">
                            <a:solidFill>
                              <a:schemeClr val="tx1"/>
                            </a:solidFill>
                            <a:latin typeface="Cambria Math" panose="02040503050406030204" pitchFamily="18" charset="0"/>
                          </a:rPr>
                          <m:t>3</m:t>
                        </m:r>
                      </m:den>
                    </m:f>
                    <m:d>
                      <m:dPr>
                        <m:ctrlPr>
                          <a:rPr lang="en-US" sz="2000" i="1">
                            <a:solidFill>
                              <a:schemeClr val="tx1"/>
                            </a:solidFill>
                            <a:latin typeface="Cambria Math" panose="02040503050406030204" pitchFamily="18" charset="0"/>
                          </a:rPr>
                        </m:ctrlPr>
                      </m:dPr>
                      <m:e>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1</m:t>
                            </m:r>
                          </m:num>
                          <m:den>
                            <m:sSubSup>
                              <m:sSubSupPr>
                                <m:ctrlPr>
                                  <a:rPr lang="en-US" sz="2000" i="1">
                                    <a:solidFill>
                                      <a:schemeClr val="tx1"/>
                                    </a:solidFill>
                                    <a:latin typeface="Cambria Math" panose="02040503050406030204" pitchFamily="18" charset="0"/>
                                  </a:rPr>
                                </m:ctrlPr>
                              </m:sSubSupPr>
                              <m:e>
                                <m:r>
                                  <a:rPr lang="en-US" sz="2000" i="1">
                                    <a:solidFill>
                                      <a:schemeClr val="tx1"/>
                                    </a:solidFill>
                                    <a:latin typeface="Cambria Math" panose="02040503050406030204" pitchFamily="18" charset="0"/>
                                  </a:rPr>
                                  <m:t>𝐶</m:t>
                                </m:r>
                              </m:e>
                              <m:sub>
                                <m:r>
                                  <a:rPr lang="en-US" sz="2000" i="1">
                                    <a:solidFill>
                                      <a:schemeClr val="tx1"/>
                                    </a:solidFill>
                                    <a:latin typeface="Cambria Math" panose="02040503050406030204" pitchFamily="18" charset="0"/>
                                  </a:rPr>
                                  <m:t>𝑙</m:t>
                                </m:r>
                              </m:sub>
                              <m:sup>
                                <m:r>
                                  <a:rPr lang="en-US" sz="2000" i="1">
                                    <a:solidFill>
                                      <a:schemeClr val="tx1"/>
                                    </a:solidFill>
                                    <a:latin typeface="Cambria Math" panose="02040503050406030204" pitchFamily="18" charset="0"/>
                                  </a:rPr>
                                  <m:t>3</m:t>
                                </m:r>
                              </m:sup>
                            </m:sSubSup>
                          </m:den>
                        </m:f>
                        <m:r>
                          <a:rPr lang="en-US" sz="2000" i="1">
                            <a:solidFill>
                              <a:schemeClr val="tx1"/>
                            </a:solidFill>
                            <a:latin typeface="Cambria Math" panose="02040503050406030204" pitchFamily="18" charset="0"/>
                          </a:rPr>
                          <m:t>+</m:t>
                        </m:r>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2</m:t>
                            </m:r>
                          </m:num>
                          <m:den>
                            <m:sSubSup>
                              <m:sSubSupPr>
                                <m:ctrlPr>
                                  <a:rPr lang="en-US" sz="2000" i="1">
                                    <a:solidFill>
                                      <a:schemeClr val="tx1"/>
                                    </a:solidFill>
                                    <a:latin typeface="Cambria Math" panose="02040503050406030204" pitchFamily="18" charset="0"/>
                                  </a:rPr>
                                </m:ctrlPr>
                              </m:sSubSupPr>
                              <m:e>
                                <m:r>
                                  <a:rPr lang="en-US" sz="2000" i="1">
                                    <a:solidFill>
                                      <a:schemeClr val="tx1"/>
                                    </a:solidFill>
                                    <a:latin typeface="Cambria Math" panose="02040503050406030204" pitchFamily="18" charset="0"/>
                                  </a:rPr>
                                  <m:t>𝐶</m:t>
                                </m:r>
                              </m:e>
                              <m:sub>
                                <m:r>
                                  <a:rPr lang="en-US" sz="2000" i="1">
                                    <a:solidFill>
                                      <a:schemeClr val="tx1"/>
                                    </a:solidFill>
                                    <a:latin typeface="Cambria Math" panose="02040503050406030204" pitchFamily="18" charset="0"/>
                                  </a:rPr>
                                  <m:t>𝑡</m:t>
                                </m:r>
                              </m:sub>
                              <m:sup>
                                <m:r>
                                  <a:rPr lang="en-US" sz="2000" i="1">
                                    <a:solidFill>
                                      <a:schemeClr val="tx1"/>
                                    </a:solidFill>
                                    <a:latin typeface="Cambria Math" panose="02040503050406030204" pitchFamily="18" charset="0"/>
                                  </a:rPr>
                                  <m:t>3</m:t>
                                </m:r>
                              </m:sup>
                            </m:sSubSup>
                          </m:den>
                        </m:f>
                      </m:e>
                    </m:d>
                  </m:oMath>
                </a14:m>
                <a:r>
                  <a:rPr lang="zh-CN" altLang="en-US" sz="2000" dirty="0">
                    <a:solidFill>
                      <a:schemeClr val="tx1"/>
                    </a:solidFill>
                  </a:rPr>
                  <a:t>，则有</a:t>
                </a:r>
                <a:endParaRPr lang="en-US" altLang="zh-CN" sz="2000" dirty="0">
                  <a:solidFill>
                    <a:schemeClr val="tx1"/>
                  </a:solidFill>
                </a:endParaRPr>
              </a:p>
              <a:p>
                <a:pPr marL="0" indent="0">
                  <a:lnSpc>
                    <a:spcPct val="100000"/>
                  </a:lnSpc>
                  <a:spcBef>
                    <a:spcPts val="0"/>
                  </a:spcBef>
                  <a:spcAft>
                    <a:spcPts val="1200"/>
                  </a:spcAft>
                  <a:buNone/>
                </a:pPr>
                <a14:m>
                  <m:oMathPara xmlns:m="http://schemas.openxmlformats.org/officeDocument/2006/math">
                    <m:oMath>
                      <m:r>
                        <a:rPr lang="en-US" sz="2000" i="1" smtClean="0">
                          <a:solidFill>
                            <a:schemeClr val="tx1"/>
                          </a:solidFill>
                          <a:latin typeface="Cambria Math" panose="02040503050406030204" pitchFamily="18" charset="0"/>
                        </a:rPr>
                        <m:t>𝑔</m:t>
                      </m:r>
                      <m:d>
                        <m:dPr>
                          <m:ctrlPr>
                            <a:rPr lang="en-US" sz="2000" i="1">
                              <a:solidFill>
                                <a:schemeClr val="tx1"/>
                              </a:solidFill>
                              <a:latin typeface="Cambria Math" panose="02040503050406030204" pitchFamily="18" charset="0"/>
                            </a:rPr>
                          </m:ctrlPr>
                        </m:dPr>
                        <m:e>
                          <m:r>
                            <a:rPr lang="en-US" sz="2000" i="1">
                              <a:solidFill>
                                <a:schemeClr val="tx1"/>
                              </a:solidFill>
                              <a:latin typeface="Cambria Math" panose="02040503050406030204" pitchFamily="18" charset="0"/>
                            </a:rPr>
                            <m:t>𝜔</m:t>
                          </m:r>
                        </m:e>
                      </m:d>
                      <m:r>
                        <a:rPr lang="en-US" sz="2000" i="1">
                          <a:solidFill>
                            <a:schemeClr val="tx1"/>
                          </a:solidFill>
                          <a:latin typeface="Cambria Math" panose="02040503050406030204" pitchFamily="18" charset="0"/>
                        </a:rPr>
                        <m:t>=</m:t>
                      </m:r>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3</m:t>
                          </m:r>
                          <m:r>
                            <a:rPr lang="en-US" sz="2000" i="1">
                              <a:solidFill>
                                <a:schemeClr val="tx1"/>
                              </a:solidFill>
                              <a:latin typeface="Cambria Math" panose="02040503050406030204" pitchFamily="18" charset="0"/>
                            </a:rPr>
                            <m:t>𝑉</m:t>
                          </m:r>
                        </m:num>
                        <m:den>
                          <m:r>
                            <a:rPr lang="en-US" sz="2000" i="1">
                              <a:solidFill>
                                <a:schemeClr val="tx1"/>
                              </a:solidFill>
                              <a:latin typeface="Cambria Math" panose="02040503050406030204" pitchFamily="18" charset="0"/>
                            </a:rPr>
                            <m:t>2</m:t>
                          </m:r>
                          <m:sSup>
                            <m:sSupPr>
                              <m:ctrlPr>
                                <a:rPr lang="en-US" sz="2000" i="1">
                                  <a:solidFill>
                                    <a:schemeClr val="tx1"/>
                                  </a:solidFill>
                                  <a:latin typeface="Cambria Math" panose="02040503050406030204" pitchFamily="18" charset="0"/>
                                </a:rPr>
                              </m:ctrlPr>
                            </m:sSupPr>
                            <m:e>
                              <m:r>
                                <a:rPr lang="en-US" sz="2000" i="1">
                                  <a:solidFill>
                                    <a:schemeClr val="tx1"/>
                                  </a:solidFill>
                                  <a:latin typeface="Cambria Math" panose="02040503050406030204" pitchFamily="18" charset="0"/>
                                </a:rPr>
                                <m:t>𝜋</m:t>
                              </m:r>
                            </m:e>
                            <m:sup>
                              <m:r>
                                <a:rPr lang="en-US" sz="2000" i="1">
                                  <a:solidFill>
                                    <a:schemeClr val="tx1"/>
                                  </a:solidFill>
                                  <a:latin typeface="Cambria Math" panose="02040503050406030204" pitchFamily="18" charset="0"/>
                                </a:rPr>
                                <m:t>2</m:t>
                              </m:r>
                            </m:sup>
                          </m:sSup>
                        </m:den>
                      </m:f>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1</m:t>
                          </m:r>
                        </m:num>
                        <m:den>
                          <m:sSup>
                            <m:sSupPr>
                              <m:ctrlPr>
                                <a:rPr lang="en-US" sz="2000" i="1">
                                  <a:solidFill>
                                    <a:schemeClr val="tx1"/>
                                  </a:solidFill>
                                  <a:latin typeface="Cambria Math" panose="02040503050406030204" pitchFamily="18" charset="0"/>
                                </a:rPr>
                              </m:ctrlPr>
                            </m:sSupPr>
                            <m:e>
                              <m:acc>
                                <m:accPr>
                                  <m:chr m:val="̄"/>
                                  <m:ctrlPr>
                                    <a:rPr lang="en-US" sz="2000" i="1">
                                      <a:solidFill>
                                        <a:schemeClr val="tx1"/>
                                      </a:solidFill>
                                      <a:latin typeface="Cambria Math" panose="02040503050406030204" pitchFamily="18" charset="0"/>
                                    </a:rPr>
                                  </m:ctrlPr>
                                </m:accPr>
                                <m:e>
                                  <m:r>
                                    <a:rPr lang="en-US" sz="2000" i="1">
                                      <a:solidFill>
                                        <a:schemeClr val="tx1"/>
                                      </a:solidFill>
                                      <a:latin typeface="Cambria Math" panose="02040503050406030204" pitchFamily="18" charset="0"/>
                                    </a:rPr>
                                    <m:t>𝐶</m:t>
                                  </m:r>
                                </m:e>
                              </m:acc>
                            </m:e>
                            <m:sup>
                              <m:r>
                                <a:rPr lang="en-US" sz="2000" i="1">
                                  <a:solidFill>
                                    <a:schemeClr val="tx1"/>
                                  </a:solidFill>
                                  <a:latin typeface="Cambria Math" panose="02040503050406030204" pitchFamily="18" charset="0"/>
                                </a:rPr>
                                <m:t>3</m:t>
                              </m:r>
                            </m:sup>
                          </m:sSup>
                        </m:den>
                      </m:f>
                      <m:sSup>
                        <m:sSupPr>
                          <m:ctrlPr>
                            <a:rPr lang="en-US" sz="2000" i="1">
                              <a:solidFill>
                                <a:schemeClr val="tx1"/>
                              </a:solidFill>
                              <a:latin typeface="Cambria Math" panose="02040503050406030204" pitchFamily="18" charset="0"/>
                            </a:rPr>
                          </m:ctrlPr>
                        </m:sSupPr>
                        <m:e>
                          <m:r>
                            <a:rPr lang="en-US" sz="2000" i="1">
                              <a:solidFill>
                                <a:schemeClr val="tx1"/>
                              </a:solidFill>
                              <a:latin typeface="Cambria Math" panose="02040503050406030204" pitchFamily="18" charset="0"/>
                            </a:rPr>
                            <m:t>𝜔</m:t>
                          </m:r>
                        </m:e>
                        <m:sup>
                          <m:r>
                            <a:rPr lang="en-US" sz="2000" i="1">
                              <a:solidFill>
                                <a:schemeClr val="tx1"/>
                              </a:solidFill>
                              <a:latin typeface="Cambria Math" panose="02040503050406030204" pitchFamily="18" charset="0"/>
                            </a:rPr>
                            <m:t>2</m:t>
                          </m:r>
                        </m:sup>
                      </m:sSup>
                    </m:oMath>
                  </m:oMathPara>
                </a14:m>
                <a:endParaRPr lang="en-US" sz="2000" dirty="0"/>
              </a:p>
              <a:p>
                <a:pPr>
                  <a:lnSpc>
                    <a:spcPct val="100000"/>
                  </a:lnSpc>
                  <a:spcBef>
                    <a:spcPts val="0"/>
                  </a:spcBef>
                  <a:spcAft>
                    <a:spcPts val="1200"/>
                  </a:spcAft>
                </a:pPr>
                <a:r>
                  <a:rPr lang="zh-CN" altLang="en-US" sz="2000" dirty="0"/>
                  <a:t>此外，</a:t>
                </a:r>
                <a14:m>
                  <m:oMath xmlns:m="http://schemas.openxmlformats.org/officeDocument/2006/math">
                    <m:r>
                      <a:rPr lang="en-US" sz="2000" i="1" smtClean="0">
                        <a:solidFill>
                          <a:srgbClr val="000000"/>
                        </a:solidFill>
                        <a:latin typeface="Cambria Math" panose="02040503050406030204" pitchFamily="18" charset="0"/>
                      </a:rPr>
                      <m:t>𝑔</m:t>
                    </m:r>
                    <m:d>
                      <m:dPr>
                        <m:ctrlPr>
                          <a:rPr lang="en-US" sz="2000" i="1">
                            <a:solidFill>
                              <a:srgbClr val="000000"/>
                            </a:solidFill>
                            <a:latin typeface="Cambria Math" panose="02040503050406030204" pitchFamily="18" charset="0"/>
                          </a:rPr>
                        </m:ctrlPr>
                      </m:dPr>
                      <m:e>
                        <m:r>
                          <a:rPr lang="en-US" sz="2000" i="1">
                            <a:solidFill>
                              <a:srgbClr val="000000"/>
                            </a:solidFill>
                            <a:latin typeface="Cambria Math" panose="02040503050406030204" pitchFamily="18" charset="0"/>
                          </a:rPr>
                          <m:t>𝜔</m:t>
                        </m:r>
                      </m:e>
                    </m:d>
                  </m:oMath>
                </a14:m>
                <a:r>
                  <a:rPr lang="zh-CN" altLang="en-US" sz="2000" dirty="0"/>
                  <a:t>的积分需要等于总模式数</a:t>
                </a:r>
                <a14:m>
                  <m:oMath xmlns:m="http://schemas.openxmlformats.org/officeDocument/2006/math">
                    <m:r>
                      <a:rPr lang="en-US" sz="2000" b="0" i="0" smtClean="0">
                        <a:latin typeface="Cambria Math" panose="02040503050406030204" pitchFamily="18" charset="0"/>
                      </a:rPr>
                      <m:t>3</m:t>
                    </m:r>
                    <m:r>
                      <a:rPr lang="en-US" sz="2000" i="1">
                        <a:latin typeface="Cambria Math" panose="02040503050406030204" pitchFamily="18" charset="0"/>
                      </a:rPr>
                      <m:t>𝑁</m:t>
                    </m:r>
                  </m:oMath>
                </a14:m>
                <a:r>
                  <a:rPr lang="zh-CN" altLang="en-US" sz="2000" dirty="0"/>
                  <a:t>，这为频率积分设置了一个上限</a:t>
                </a:r>
                <a:endParaRPr lang="en-US" altLang="zh-CN" sz="2000" dirty="0"/>
              </a:p>
              <a:p>
                <a:pPr marL="0" indent="0">
                  <a:lnSpc>
                    <a:spcPct val="100000"/>
                  </a:lnSpc>
                  <a:spcBef>
                    <a:spcPts val="0"/>
                  </a:spcBef>
                  <a:spcAft>
                    <a:spcPts val="1200"/>
                  </a:spcAft>
                  <a:buNone/>
                </a:pPr>
                <a14:m>
                  <m:oMathPara xmlns:m="http://schemas.openxmlformats.org/officeDocument/2006/math">
                    <m:oMath>
                      <m:nary>
                        <m:naryPr>
                          <m:ctrlPr>
                            <a:rPr lang="en-US" sz="2000" i="1">
                              <a:solidFill>
                                <a:srgbClr val="000000"/>
                              </a:solidFill>
                              <a:latin typeface="Cambria Math" panose="02040503050406030204" pitchFamily="18" charset="0"/>
                            </a:rPr>
                          </m:ctrlPr>
                        </m:naryPr>
                        <m:sub>
                          <m:r>
                            <a:rPr lang="en-US" sz="2000" i="1">
                              <a:solidFill>
                                <a:srgbClr val="000000"/>
                              </a:solidFill>
                              <a:latin typeface="Cambria Math" panose="02040503050406030204" pitchFamily="18" charset="0"/>
                            </a:rPr>
                            <m:t>0</m:t>
                          </m:r>
                        </m:sub>
                        <m:sup>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𝜔</m:t>
                              </m:r>
                            </m:e>
                            <m:sub>
                              <m:r>
                                <a:rPr lang="en-US" sz="2000" b="0" i="1" smtClean="0">
                                  <a:solidFill>
                                    <a:srgbClr val="FF0000"/>
                                  </a:solidFill>
                                  <a:latin typeface="Cambria Math" panose="02040503050406030204" pitchFamily="18" charset="0"/>
                                </a:rPr>
                                <m:t>𝐷</m:t>
                              </m:r>
                            </m:sub>
                          </m:sSub>
                        </m:sup>
                        <m:e>
                          <m:r>
                            <a:rPr lang="en-US" sz="2000" i="1">
                              <a:solidFill>
                                <a:srgbClr val="000000"/>
                              </a:solidFill>
                              <a:latin typeface="Cambria Math" panose="02040503050406030204" pitchFamily="18" charset="0"/>
                            </a:rPr>
                            <m:t>𝑔</m:t>
                          </m:r>
                          <m:d>
                            <m:dPr>
                              <m:ctrlPr>
                                <a:rPr lang="en-US" sz="2000" i="1">
                                  <a:solidFill>
                                    <a:srgbClr val="000000"/>
                                  </a:solidFill>
                                  <a:latin typeface="Cambria Math" panose="02040503050406030204" pitchFamily="18" charset="0"/>
                                </a:rPr>
                              </m:ctrlPr>
                            </m:dPr>
                            <m:e>
                              <m:r>
                                <a:rPr lang="en-US" sz="2000" i="1">
                                  <a:solidFill>
                                    <a:srgbClr val="000000"/>
                                  </a:solidFill>
                                  <a:latin typeface="Cambria Math" panose="02040503050406030204" pitchFamily="18" charset="0"/>
                                </a:rPr>
                                <m:t>𝜔</m:t>
                              </m:r>
                            </m:e>
                          </m:d>
                          <m:r>
                            <a:rPr lang="en-US" sz="2000" i="1">
                              <a:solidFill>
                                <a:srgbClr val="000000"/>
                              </a:solidFill>
                              <a:latin typeface="Cambria Math" panose="02040503050406030204" pitchFamily="18" charset="0"/>
                            </a:rPr>
                            <m:t>𝑑</m:t>
                          </m:r>
                          <m:r>
                            <a:rPr lang="en-US" sz="2000" i="1">
                              <a:solidFill>
                                <a:srgbClr val="000000"/>
                              </a:solidFill>
                              <a:latin typeface="Cambria Math" panose="02040503050406030204" pitchFamily="18" charset="0"/>
                            </a:rPr>
                            <m:t>𝜔</m:t>
                          </m:r>
                        </m:e>
                      </m:nary>
                      <m:r>
                        <a:rPr lang="en-US" sz="2000" i="1">
                          <a:solidFill>
                            <a:srgbClr val="000000"/>
                          </a:solidFill>
                          <a:latin typeface="Cambria Math" panose="02040503050406030204" pitchFamily="18" charset="0"/>
                        </a:rPr>
                        <m:t>=3</m:t>
                      </m:r>
                      <m:r>
                        <a:rPr lang="en-US" sz="2000" i="1">
                          <a:latin typeface="Cambria Math" panose="02040503050406030204" pitchFamily="18" charset="0"/>
                        </a:rPr>
                        <m:t>𝑁</m:t>
                      </m:r>
                    </m:oMath>
                  </m:oMathPara>
                </a14:m>
                <a:endParaRPr lang="en-US" sz="2000" i="1" dirty="0">
                  <a:latin typeface="Cambria Math" panose="02040503050406030204" pitchFamily="18" charset="0"/>
                </a:endParaRPr>
              </a:p>
              <a:p>
                <a:pPr marL="0" indent="0">
                  <a:lnSpc>
                    <a:spcPct val="100000"/>
                  </a:lnSpc>
                  <a:spcBef>
                    <a:spcPts val="0"/>
                  </a:spcBef>
                  <a:spcAft>
                    <a:spcPts val="1200"/>
                  </a:spcAft>
                  <a:buNone/>
                </a:pPr>
                <a14:m>
                  <m:oMathPara xmlns:m="http://schemas.openxmlformats.org/officeDocument/2006/math">
                    <m:oMath>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𝜔</m:t>
                          </m:r>
                        </m:e>
                        <m:sub>
                          <m:r>
                            <a:rPr lang="en-US" sz="2000" b="0" i="1" smtClean="0">
                              <a:solidFill>
                                <a:srgbClr val="FF0000"/>
                              </a:solidFill>
                              <a:latin typeface="Cambria Math" panose="02040503050406030204" pitchFamily="18" charset="0"/>
                            </a:rPr>
                            <m:t>𝐷</m:t>
                          </m:r>
                        </m:sub>
                      </m:sSub>
                      <m:r>
                        <a:rPr lang="en-US" sz="2000" i="1" smtClean="0">
                          <a:solidFill>
                            <a:schemeClr val="tx1"/>
                          </a:solidFill>
                          <a:latin typeface="Cambria Math" panose="02040503050406030204" pitchFamily="18" charset="0"/>
                        </a:rPr>
                        <m:t>=</m:t>
                      </m:r>
                      <m:acc>
                        <m:accPr>
                          <m:chr m:val="̄"/>
                          <m:ctrlPr>
                            <a:rPr lang="en-US" sz="2000" i="1">
                              <a:solidFill>
                                <a:schemeClr val="tx1"/>
                              </a:solidFill>
                              <a:latin typeface="Cambria Math" panose="02040503050406030204" pitchFamily="18" charset="0"/>
                            </a:rPr>
                          </m:ctrlPr>
                        </m:accPr>
                        <m:e>
                          <m:r>
                            <a:rPr lang="en-US" sz="2000" i="1">
                              <a:solidFill>
                                <a:schemeClr val="tx1"/>
                              </a:solidFill>
                              <a:latin typeface="Cambria Math" panose="02040503050406030204" pitchFamily="18" charset="0"/>
                            </a:rPr>
                            <m:t>𝐶</m:t>
                          </m:r>
                        </m:e>
                      </m:acc>
                      <m:sSup>
                        <m:sSupPr>
                          <m:ctrlPr>
                            <a:rPr lang="en-US" sz="2000" i="1">
                              <a:solidFill>
                                <a:schemeClr val="tx1"/>
                              </a:solidFill>
                              <a:latin typeface="Cambria Math" panose="02040503050406030204" pitchFamily="18" charset="0"/>
                            </a:rPr>
                          </m:ctrlPr>
                        </m:sSupPr>
                        <m:e>
                          <m:d>
                            <m:dPr>
                              <m:begChr m:val="["/>
                              <m:endChr m:val="]"/>
                              <m:ctrlPr>
                                <a:rPr lang="en-US" sz="2000" i="1">
                                  <a:solidFill>
                                    <a:schemeClr val="tx1"/>
                                  </a:solidFill>
                                  <a:latin typeface="Cambria Math" panose="02040503050406030204" pitchFamily="18" charset="0"/>
                                </a:rPr>
                              </m:ctrlPr>
                            </m:dPr>
                            <m:e>
                              <m:r>
                                <a:rPr lang="en-US" sz="2000" i="1">
                                  <a:solidFill>
                                    <a:schemeClr val="tx1"/>
                                  </a:solidFill>
                                  <a:latin typeface="Cambria Math" panose="02040503050406030204" pitchFamily="18" charset="0"/>
                                </a:rPr>
                                <m:t>6</m:t>
                              </m:r>
                              <m:sSup>
                                <m:sSupPr>
                                  <m:ctrlPr>
                                    <a:rPr lang="en-US" sz="2000" i="1">
                                      <a:solidFill>
                                        <a:schemeClr val="tx1"/>
                                      </a:solidFill>
                                      <a:latin typeface="Cambria Math" panose="02040503050406030204" pitchFamily="18" charset="0"/>
                                    </a:rPr>
                                  </m:ctrlPr>
                                </m:sSupPr>
                                <m:e>
                                  <m:r>
                                    <a:rPr lang="en-US" sz="2000" i="1">
                                      <a:solidFill>
                                        <a:schemeClr val="tx1"/>
                                      </a:solidFill>
                                      <a:latin typeface="Cambria Math" panose="02040503050406030204" pitchFamily="18" charset="0"/>
                                    </a:rPr>
                                    <m:t>𝜋</m:t>
                                  </m:r>
                                </m:e>
                                <m:sup>
                                  <m:r>
                                    <a:rPr lang="en-US" sz="2000" i="1">
                                      <a:solidFill>
                                        <a:schemeClr val="tx1"/>
                                      </a:solidFill>
                                      <a:latin typeface="Cambria Math" panose="02040503050406030204" pitchFamily="18" charset="0"/>
                                    </a:rPr>
                                    <m:t>2</m:t>
                                  </m:r>
                                </m:sup>
                              </m:sSup>
                              <m:d>
                                <m:dPr>
                                  <m:ctrlPr>
                                    <a:rPr lang="en-US" sz="2000" i="1">
                                      <a:solidFill>
                                        <a:schemeClr val="tx1"/>
                                      </a:solidFill>
                                      <a:latin typeface="Cambria Math" panose="02040503050406030204" pitchFamily="18" charset="0"/>
                                    </a:rPr>
                                  </m:ctrlPr>
                                </m:dPr>
                                <m:e>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𝑁</m:t>
                                      </m:r>
                                    </m:num>
                                    <m:den>
                                      <m:r>
                                        <a:rPr lang="en-US" sz="2000" i="1">
                                          <a:solidFill>
                                            <a:schemeClr val="tx1"/>
                                          </a:solidFill>
                                          <a:latin typeface="Cambria Math" panose="02040503050406030204" pitchFamily="18" charset="0"/>
                                        </a:rPr>
                                        <m:t>𝑉</m:t>
                                      </m:r>
                                    </m:den>
                                  </m:f>
                                </m:e>
                              </m:d>
                            </m:e>
                          </m:d>
                        </m:e>
                        <m:sup>
                          <m:f>
                            <m:fPr>
                              <m:ctrlPr>
                                <a:rPr lang="en-US" sz="2000" i="1">
                                  <a:solidFill>
                                    <a:schemeClr val="tx1"/>
                                  </a:solidFill>
                                  <a:latin typeface="Cambria Math" panose="02040503050406030204" pitchFamily="18" charset="0"/>
                                </a:rPr>
                              </m:ctrlPr>
                            </m:fPr>
                            <m:num>
                              <m:r>
                                <a:rPr lang="en-US" sz="2000" i="1">
                                  <a:solidFill>
                                    <a:schemeClr val="tx1"/>
                                  </a:solidFill>
                                  <a:latin typeface="Cambria Math" panose="02040503050406030204" pitchFamily="18" charset="0"/>
                                </a:rPr>
                                <m:t>1</m:t>
                              </m:r>
                            </m:num>
                            <m:den>
                              <m:r>
                                <a:rPr lang="en-US" sz="2000" i="1">
                                  <a:solidFill>
                                    <a:schemeClr val="tx1"/>
                                  </a:solidFill>
                                  <a:latin typeface="Cambria Math" panose="02040503050406030204" pitchFamily="18" charset="0"/>
                                </a:rPr>
                                <m:t>3</m:t>
                              </m:r>
                            </m:den>
                          </m:f>
                        </m:sup>
                      </m:sSup>
                    </m:oMath>
                  </m:oMathPara>
                </a14:m>
                <a:endParaRPr lang="en-US" sz="2000" dirty="0"/>
              </a:p>
              <a:p>
                <a:pPr>
                  <a:lnSpc>
                    <a:spcPct val="100000"/>
                  </a:lnSpc>
                  <a:spcBef>
                    <a:spcPts val="0"/>
                  </a:spcBef>
                  <a:spcAft>
                    <a:spcPts val="1200"/>
                  </a:spcAft>
                </a:pPr>
                <a14:m>
                  <m:oMath xmlns:m="http://schemas.openxmlformats.org/officeDocument/2006/math">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𝜔</m:t>
                        </m:r>
                      </m:e>
                      <m:sub>
                        <m:r>
                          <a:rPr lang="en-US" sz="2000" b="0" i="1" smtClean="0">
                            <a:solidFill>
                              <a:srgbClr val="FF0000"/>
                            </a:solidFill>
                            <a:latin typeface="Cambria Math" panose="02040503050406030204" pitchFamily="18" charset="0"/>
                          </a:rPr>
                          <m:t>𝐷</m:t>
                        </m:r>
                      </m:sub>
                    </m:sSub>
                  </m:oMath>
                </a14:m>
                <a:r>
                  <a:rPr lang="zh-CN" altLang="en-US" sz="2000" dirty="0">
                    <a:solidFill>
                      <a:srgbClr val="FF0000"/>
                    </a:solidFill>
                  </a:rPr>
                  <a:t>称为德拜频率</a:t>
                </a:r>
                <a:endParaRPr lang="en-US" sz="2000" dirty="0">
                  <a:solidFill>
                    <a:srgbClr val="FF0000"/>
                  </a:solidFill>
                </a:endParaRPr>
              </a:p>
            </p:txBody>
          </p:sp>
        </mc:Choice>
        <mc:Fallback>
          <p:sp>
            <p:nvSpPr>
              <p:cNvPr id="3" name="内容占位符 2">
                <a:extLst>
                  <a:ext uri="{FF2B5EF4-FFF2-40B4-BE49-F238E27FC236}">
                    <a16:creationId xmlns:a16="http://schemas.microsoft.com/office/drawing/2014/main" id="{63A7A5EB-ACA3-AC87-00EE-97BC405DC1DF}"/>
                  </a:ext>
                </a:extLst>
              </p:cNvPr>
              <p:cNvSpPr>
                <a:spLocks noGrp="1" noRot="1" noChangeAspect="1" noMove="1" noResize="1" noEditPoints="1" noAdjustHandles="1" noChangeArrowheads="1" noChangeShapeType="1" noTextEdit="1"/>
              </p:cNvSpPr>
              <p:nvPr>
                <p:ph idx="1"/>
              </p:nvPr>
            </p:nvSpPr>
            <p:spPr>
              <a:xfrm>
                <a:off x="838200" y="1607127"/>
                <a:ext cx="10515600" cy="5114348"/>
              </a:xfrm>
              <a:blipFill>
                <a:blip r:embed="rId2"/>
                <a:stretch>
                  <a:fillRect l="-522"/>
                </a:stretch>
              </a:blipFill>
            </p:spPr>
            <p:txBody>
              <a:bodyPr/>
              <a:lstStyle/>
              <a:p>
                <a:r>
                  <a:rPr lang="zh-CN" altLang="en-US">
                    <a:noFill/>
                  </a:rPr>
                  <a:t> </a:t>
                </a:r>
              </a:p>
            </p:txBody>
          </p:sp>
        </mc:Fallback>
      </mc:AlternateContent>
      <p:graphicFrame>
        <p:nvGraphicFramePr>
          <p:cNvPr id="4" name="表格 3">
            <a:extLst>
              <a:ext uri="{FF2B5EF4-FFF2-40B4-BE49-F238E27FC236}">
                <a16:creationId xmlns:a16="http://schemas.microsoft.com/office/drawing/2014/main" id="{FB883ECC-73E8-2FA2-C555-62E500C1D960}"/>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31</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3785640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83276E-BAD6-2114-E53A-3F0294C7FA36}"/>
              </a:ext>
            </a:extLst>
          </p:cNvPr>
          <p:cNvSpPr>
            <a:spLocks noGrp="1"/>
          </p:cNvSpPr>
          <p:nvPr>
            <p:ph type="title"/>
          </p:nvPr>
        </p:nvSpPr>
        <p:spPr/>
        <p:txBody>
          <a:bodyPr/>
          <a:lstStyle/>
          <a:p>
            <a:r>
              <a:rPr lang="zh-CN" altLang="en-US" dirty="0"/>
              <a:t>德拜模型</a:t>
            </a:r>
            <a:endParaRPr 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63A7A5EB-ACA3-AC87-00EE-97BC405DC1DF}"/>
                  </a:ext>
                </a:extLst>
              </p:cNvPr>
              <p:cNvSpPr>
                <a:spLocks noGrp="1"/>
              </p:cNvSpPr>
              <p:nvPr>
                <p:ph idx="1"/>
              </p:nvPr>
            </p:nvSpPr>
            <p:spPr>
              <a:xfrm>
                <a:off x="838200" y="1607127"/>
                <a:ext cx="10515600" cy="5114348"/>
              </a:xfrm>
            </p:spPr>
            <p:txBody>
              <a:bodyPr>
                <a:normAutofit/>
              </a:bodyPr>
              <a:lstStyle/>
              <a:p>
                <a:pPr>
                  <a:lnSpc>
                    <a:spcPct val="100000"/>
                  </a:lnSpc>
                  <a:spcBef>
                    <a:spcPts val="0"/>
                  </a:spcBef>
                  <a:spcAft>
                    <a:spcPts val="1200"/>
                  </a:spcAft>
                </a:pPr>
                <a:r>
                  <a:rPr lang="zh-CN" altLang="en-US" sz="2000" dirty="0">
                    <a:solidFill>
                      <a:schemeClr val="tx1"/>
                    </a:solidFill>
                  </a:rPr>
                  <a:t>晶格比热</a:t>
                </a:r>
                <a:endParaRPr lang="en-US" altLang="zh-CN" sz="2000" dirty="0">
                  <a:solidFill>
                    <a:schemeClr val="tx1"/>
                  </a:solidFill>
                </a:endParaRPr>
              </a:p>
              <a:p>
                <a:pPr marL="0" indent="0">
                  <a:lnSpc>
                    <a:spcPct val="100000"/>
                  </a:lnSpc>
                  <a:spcBef>
                    <a:spcPts val="0"/>
                  </a:spcBef>
                  <a:spcAft>
                    <a:spcPts val="1200"/>
                  </a:spcAft>
                  <a:buNone/>
                </a:pPr>
                <a14:m>
                  <m:oMathPara xmlns:m="http://schemas.openxmlformats.org/officeDocument/2006/math">
                    <m:oMath>
                      <m:r>
                        <a:rPr lang="en-US" sz="2000" b="0" i="1" smtClean="0">
                          <a:solidFill>
                            <a:schemeClr val="tx1"/>
                          </a:solidFill>
                          <a:latin typeface="Cambria Math" panose="02040503050406030204" pitchFamily="18" charset="0"/>
                        </a:rPr>
                        <m:t>𝐶</m:t>
                      </m:r>
                      <m:r>
                        <a:rPr lang="en-US" sz="2000" i="1">
                          <a:solidFill>
                            <a:schemeClr val="tx1"/>
                          </a:solidFill>
                          <a:latin typeface="Cambria Math" panose="02040503050406030204" pitchFamily="18" charset="0"/>
                        </a:rPr>
                        <m:t>=</m:t>
                      </m:r>
                      <m:nary>
                        <m:naryPr>
                          <m:ctrlPr>
                            <a:rPr lang="en-US" sz="2000" i="1">
                              <a:solidFill>
                                <a:schemeClr val="tx1"/>
                              </a:solidFill>
                              <a:latin typeface="Cambria Math" panose="02040503050406030204" pitchFamily="18" charset="0"/>
                            </a:rPr>
                          </m:ctrlPr>
                        </m:naryPr>
                        <m:sub>
                          <m:r>
                            <a:rPr lang="en-US" sz="2000" i="1">
                              <a:solidFill>
                                <a:schemeClr val="tx1"/>
                              </a:solidFill>
                              <a:latin typeface="Cambria Math" panose="02040503050406030204" pitchFamily="18" charset="0"/>
                            </a:rPr>
                            <m:t>0</m:t>
                          </m:r>
                        </m:sub>
                        <m:sup>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𝜔</m:t>
                              </m:r>
                            </m:e>
                            <m:sub>
                              <m:r>
                                <a:rPr lang="en-US" sz="2000" b="0" i="1" smtClean="0">
                                  <a:solidFill>
                                    <a:schemeClr val="tx1"/>
                                  </a:solidFill>
                                  <a:latin typeface="Cambria Math" panose="02040503050406030204" pitchFamily="18" charset="0"/>
                                </a:rPr>
                                <m:t>𝐷</m:t>
                              </m:r>
                            </m:sub>
                          </m:sSub>
                        </m:sup>
                        <m:e>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𝑘</m:t>
                              </m:r>
                            </m:e>
                            <m:sub>
                              <m:r>
                                <a:rPr lang="en-US" sz="2000" i="1">
                                  <a:solidFill>
                                    <a:schemeClr val="tx1"/>
                                  </a:solidFill>
                                  <a:latin typeface="Cambria Math" panose="02040503050406030204" pitchFamily="18" charset="0"/>
                                </a:rPr>
                                <m:t>𝐵</m:t>
                              </m:r>
                            </m:sub>
                          </m:sSub>
                          <m:sSup>
                            <m:sSupPr>
                              <m:ctrlPr>
                                <a:rPr lang="en-US" sz="2000" i="1">
                                  <a:solidFill>
                                    <a:schemeClr val="tx1"/>
                                  </a:solidFill>
                                  <a:latin typeface="Cambria Math" panose="02040503050406030204" pitchFamily="18" charset="0"/>
                                </a:rPr>
                              </m:ctrlPr>
                            </m:sSupPr>
                            <m:e>
                              <m:d>
                                <m:dPr>
                                  <m:ctrlPr>
                                    <a:rPr lang="en-US" sz="2000" i="1">
                                      <a:solidFill>
                                        <a:schemeClr val="tx1"/>
                                      </a:solidFill>
                                      <a:latin typeface="Cambria Math" panose="02040503050406030204" pitchFamily="18" charset="0"/>
                                    </a:rPr>
                                  </m:ctrlPr>
                                </m:dPr>
                                <m:e>
                                  <m:f>
                                    <m:fPr>
                                      <m:ctrlPr>
                                        <a:rPr lang="en-US" sz="2000" i="1">
                                          <a:solidFill>
                                            <a:schemeClr val="tx1"/>
                                          </a:solidFill>
                                          <a:latin typeface="Cambria Math" panose="02040503050406030204" pitchFamily="18" charset="0"/>
                                        </a:rPr>
                                      </m:ctrlPr>
                                    </m:fPr>
                                    <m:num>
                                      <m:r>
                                        <m:rPr>
                                          <m:sty m:val="p"/>
                                        </m:rPr>
                                        <a:rPr lang="en-US" sz="2000" i="1">
                                          <a:solidFill>
                                            <a:schemeClr val="tx1"/>
                                          </a:solidFill>
                                          <a:latin typeface="Cambria Math" panose="02040503050406030204" pitchFamily="18" charset="0"/>
                                        </a:rPr>
                                        <m:t>ℏ</m:t>
                                      </m:r>
                                      <m:r>
                                        <a:rPr lang="en-US" sz="2000" i="1">
                                          <a:solidFill>
                                            <a:schemeClr val="tx1"/>
                                          </a:solidFill>
                                          <a:latin typeface="Cambria Math" panose="02040503050406030204" pitchFamily="18" charset="0"/>
                                        </a:rPr>
                                        <m:t>𝜔</m:t>
                                      </m:r>
                                    </m:num>
                                    <m:den>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𝑘</m:t>
                                          </m:r>
                                        </m:e>
                                        <m:sub>
                                          <m:r>
                                            <a:rPr lang="en-US" sz="2000" i="1">
                                              <a:solidFill>
                                                <a:schemeClr val="tx1"/>
                                              </a:solidFill>
                                              <a:latin typeface="Cambria Math" panose="02040503050406030204" pitchFamily="18" charset="0"/>
                                            </a:rPr>
                                            <m:t>𝐵</m:t>
                                          </m:r>
                                        </m:sub>
                                      </m:sSub>
                                      <m:r>
                                        <a:rPr lang="en-US" sz="2000" i="1">
                                          <a:solidFill>
                                            <a:schemeClr val="tx1"/>
                                          </a:solidFill>
                                          <a:latin typeface="Cambria Math" panose="02040503050406030204" pitchFamily="18" charset="0"/>
                                        </a:rPr>
                                        <m:t>𝑇</m:t>
                                      </m:r>
                                    </m:den>
                                  </m:f>
                                </m:e>
                              </m:d>
                            </m:e>
                            <m:sup>
                              <m:r>
                                <a:rPr lang="en-US" sz="2000" i="1">
                                  <a:solidFill>
                                    <a:schemeClr val="tx1"/>
                                  </a:solidFill>
                                  <a:latin typeface="Cambria Math" panose="02040503050406030204" pitchFamily="18" charset="0"/>
                                </a:rPr>
                                <m:t>2</m:t>
                              </m:r>
                            </m:sup>
                          </m:sSup>
                          <m:f>
                            <m:fPr>
                              <m:ctrlPr>
                                <a:rPr lang="en-US" sz="2000" i="1">
                                  <a:solidFill>
                                    <a:schemeClr val="tx1"/>
                                  </a:solidFill>
                                  <a:latin typeface="Cambria Math" panose="02040503050406030204" pitchFamily="18" charset="0"/>
                                </a:rPr>
                              </m:ctrlPr>
                            </m:fPr>
                            <m:num>
                              <m:sSup>
                                <m:sSupPr>
                                  <m:ctrlPr>
                                    <a:rPr lang="en-US" sz="2000" i="1">
                                      <a:solidFill>
                                        <a:schemeClr val="tx1"/>
                                      </a:solidFill>
                                      <a:latin typeface="Cambria Math" panose="02040503050406030204" pitchFamily="18" charset="0"/>
                                    </a:rPr>
                                  </m:ctrlPr>
                                </m:sSupPr>
                                <m:e>
                                  <m:r>
                                    <a:rPr lang="en-US" sz="2000" i="1">
                                      <a:solidFill>
                                        <a:schemeClr val="tx1"/>
                                      </a:solidFill>
                                      <a:latin typeface="Cambria Math" panose="02040503050406030204" pitchFamily="18" charset="0"/>
                                    </a:rPr>
                                    <m:t>𝑒</m:t>
                                  </m:r>
                                </m:e>
                                <m:sup>
                                  <m:f>
                                    <m:fPr>
                                      <m:type m:val="lin"/>
                                      <m:ctrlPr>
                                        <a:rPr lang="en-US" sz="2000" i="1">
                                          <a:solidFill>
                                            <a:schemeClr val="tx1"/>
                                          </a:solidFill>
                                          <a:latin typeface="Cambria Math" panose="02040503050406030204" pitchFamily="18" charset="0"/>
                                        </a:rPr>
                                      </m:ctrlPr>
                                    </m:fPr>
                                    <m:num>
                                      <m:r>
                                        <m:rPr>
                                          <m:sty m:val="p"/>
                                        </m:rPr>
                                        <a:rPr lang="en-US" sz="2000" i="1">
                                          <a:solidFill>
                                            <a:schemeClr val="tx1"/>
                                          </a:solidFill>
                                          <a:latin typeface="Cambria Math" panose="02040503050406030204" pitchFamily="18" charset="0"/>
                                        </a:rPr>
                                        <m:t>ℏ</m:t>
                                      </m:r>
                                      <m:r>
                                        <a:rPr lang="en-US" sz="2000" i="1">
                                          <a:solidFill>
                                            <a:schemeClr val="tx1"/>
                                          </a:solidFill>
                                          <a:latin typeface="Cambria Math" panose="02040503050406030204" pitchFamily="18" charset="0"/>
                                        </a:rPr>
                                        <m:t>𝜔</m:t>
                                      </m:r>
                                    </m:num>
                                    <m:den>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𝑘</m:t>
                                          </m:r>
                                        </m:e>
                                        <m:sub>
                                          <m:r>
                                            <a:rPr lang="en-US" sz="2000" i="1">
                                              <a:solidFill>
                                                <a:schemeClr val="tx1"/>
                                              </a:solidFill>
                                              <a:latin typeface="Cambria Math" panose="02040503050406030204" pitchFamily="18" charset="0"/>
                                            </a:rPr>
                                            <m:t>𝐵</m:t>
                                          </m:r>
                                        </m:sub>
                                      </m:sSub>
                                      <m:r>
                                        <a:rPr lang="en-US" sz="2000" i="1">
                                          <a:solidFill>
                                            <a:schemeClr val="tx1"/>
                                          </a:solidFill>
                                          <a:latin typeface="Cambria Math" panose="02040503050406030204" pitchFamily="18" charset="0"/>
                                        </a:rPr>
                                        <m:t>𝑇</m:t>
                                      </m:r>
                                    </m:den>
                                  </m:f>
                                </m:sup>
                              </m:sSup>
                            </m:num>
                            <m:den>
                              <m:sSup>
                                <m:sSupPr>
                                  <m:ctrlPr>
                                    <a:rPr lang="en-US" sz="2000" i="1">
                                      <a:solidFill>
                                        <a:schemeClr val="tx1"/>
                                      </a:solidFill>
                                      <a:latin typeface="Cambria Math" panose="02040503050406030204" pitchFamily="18" charset="0"/>
                                    </a:rPr>
                                  </m:ctrlPr>
                                </m:sSupPr>
                                <m:e>
                                  <m:d>
                                    <m:dPr>
                                      <m:ctrlPr>
                                        <a:rPr lang="en-US" sz="2000" i="1">
                                          <a:solidFill>
                                            <a:schemeClr val="tx1"/>
                                          </a:solidFill>
                                          <a:latin typeface="Cambria Math" panose="02040503050406030204" pitchFamily="18" charset="0"/>
                                        </a:rPr>
                                      </m:ctrlPr>
                                    </m:dPr>
                                    <m:e>
                                      <m:sSup>
                                        <m:sSupPr>
                                          <m:ctrlPr>
                                            <a:rPr lang="en-US" sz="2000" i="1">
                                              <a:solidFill>
                                                <a:schemeClr val="tx1"/>
                                              </a:solidFill>
                                              <a:latin typeface="Cambria Math" panose="02040503050406030204" pitchFamily="18" charset="0"/>
                                            </a:rPr>
                                          </m:ctrlPr>
                                        </m:sSupPr>
                                        <m:e>
                                          <m:r>
                                            <a:rPr lang="en-US" sz="2000" i="1">
                                              <a:solidFill>
                                                <a:schemeClr val="tx1"/>
                                              </a:solidFill>
                                              <a:latin typeface="Cambria Math" panose="02040503050406030204" pitchFamily="18" charset="0"/>
                                            </a:rPr>
                                            <m:t>𝑒</m:t>
                                          </m:r>
                                        </m:e>
                                        <m:sup>
                                          <m:f>
                                            <m:fPr>
                                              <m:type m:val="lin"/>
                                              <m:ctrlPr>
                                                <a:rPr lang="en-US" sz="2000" i="1">
                                                  <a:solidFill>
                                                    <a:schemeClr val="tx1"/>
                                                  </a:solidFill>
                                                  <a:latin typeface="Cambria Math" panose="02040503050406030204" pitchFamily="18" charset="0"/>
                                                </a:rPr>
                                              </m:ctrlPr>
                                            </m:fPr>
                                            <m:num>
                                              <m:r>
                                                <m:rPr>
                                                  <m:sty m:val="p"/>
                                                </m:rPr>
                                                <a:rPr lang="en-US" sz="2000" i="1">
                                                  <a:solidFill>
                                                    <a:schemeClr val="tx1"/>
                                                  </a:solidFill>
                                                  <a:latin typeface="Cambria Math" panose="02040503050406030204" pitchFamily="18" charset="0"/>
                                                </a:rPr>
                                                <m:t>ℏ</m:t>
                                              </m:r>
                                              <m:r>
                                                <a:rPr lang="en-US" sz="2000" i="1">
                                                  <a:solidFill>
                                                    <a:schemeClr val="tx1"/>
                                                  </a:solidFill>
                                                  <a:latin typeface="Cambria Math" panose="02040503050406030204" pitchFamily="18" charset="0"/>
                                                </a:rPr>
                                                <m:t>𝜔</m:t>
                                              </m:r>
                                            </m:num>
                                            <m:den>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𝑘</m:t>
                                                  </m:r>
                                                </m:e>
                                                <m:sub>
                                                  <m:r>
                                                    <a:rPr lang="en-US" sz="2000" i="1">
                                                      <a:solidFill>
                                                        <a:schemeClr val="tx1"/>
                                                      </a:solidFill>
                                                      <a:latin typeface="Cambria Math" panose="02040503050406030204" pitchFamily="18" charset="0"/>
                                                    </a:rPr>
                                                    <m:t>𝐵</m:t>
                                                  </m:r>
                                                </m:sub>
                                              </m:sSub>
                                              <m:r>
                                                <a:rPr lang="en-US" sz="2000" i="1">
                                                  <a:solidFill>
                                                    <a:schemeClr val="tx1"/>
                                                  </a:solidFill>
                                                  <a:latin typeface="Cambria Math" panose="02040503050406030204" pitchFamily="18" charset="0"/>
                                                </a:rPr>
                                                <m:t>𝑇</m:t>
                                              </m:r>
                                            </m:den>
                                          </m:f>
                                        </m:sup>
                                      </m:sSup>
                                      <m:r>
                                        <a:rPr lang="en-US" sz="2000" i="1">
                                          <a:solidFill>
                                            <a:schemeClr val="tx1"/>
                                          </a:solidFill>
                                          <a:latin typeface="Cambria Math" panose="02040503050406030204" pitchFamily="18" charset="0"/>
                                        </a:rPr>
                                        <m:t>−1</m:t>
                                      </m:r>
                                    </m:e>
                                  </m:d>
                                </m:e>
                                <m:sup>
                                  <m:r>
                                    <a:rPr lang="en-US" sz="2000" i="1">
                                      <a:solidFill>
                                        <a:schemeClr val="tx1"/>
                                      </a:solidFill>
                                      <a:latin typeface="Cambria Math" panose="02040503050406030204" pitchFamily="18" charset="0"/>
                                    </a:rPr>
                                    <m:t>2</m:t>
                                  </m:r>
                                </m:sup>
                              </m:sSup>
                            </m:den>
                          </m:f>
                          <m:r>
                            <a:rPr lang="en-US" sz="2000" i="1">
                              <a:solidFill>
                                <a:schemeClr val="tx1"/>
                              </a:solidFill>
                              <a:latin typeface="Cambria Math" panose="02040503050406030204" pitchFamily="18" charset="0"/>
                            </a:rPr>
                            <m:t>𝑔</m:t>
                          </m:r>
                          <m:d>
                            <m:dPr>
                              <m:ctrlPr>
                                <a:rPr lang="en-US" sz="2000" i="1">
                                  <a:solidFill>
                                    <a:schemeClr val="tx1"/>
                                  </a:solidFill>
                                  <a:latin typeface="Cambria Math" panose="02040503050406030204" pitchFamily="18" charset="0"/>
                                </a:rPr>
                              </m:ctrlPr>
                            </m:dPr>
                            <m:e>
                              <m:r>
                                <a:rPr lang="en-US" sz="2000" i="1">
                                  <a:solidFill>
                                    <a:schemeClr val="tx1"/>
                                  </a:solidFill>
                                  <a:latin typeface="Cambria Math" panose="02040503050406030204" pitchFamily="18" charset="0"/>
                                </a:rPr>
                                <m:t>𝜔</m:t>
                              </m:r>
                            </m:e>
                          </m:d>
                          <m:r>
                            <a:rPr lang="en-US" sz="2000" i="1">
                              <a:solidFill>
                                <a:schemeClr val="tx1"/>
                              </a:solidFill>
                              <a:latin typeface="Cambria Math" panose="02040503050406030204" pitchFamily="18" charset="0"/>
                            </a:rPr>
                            <m:t>𝑑</m:t>
                          </m:r>
                          <m:r>
                            <a:rPr lang="en-US" sz="2000" i="1">
                              <a:solidFill>
                                <a:schemeClr val="tx1"/>
                              </a:solidFill>
                              <a:latin typeface="Cambria Math" panose="02040503050406030204" pitchFamily="18" charset="0"/>
                            </a:rPr>
                            <m:t>𝜔</m:t>
                          </m:r>
                        </m:e>
                      </m:nary>
                    </m:oMath>
                  </m:oMathPara>
                </a14:m>
                <a:endParaRPr lang="en-US" sz="2000" dirty="0">
                  <a:solidFill>
                    <a:schemeClr val="tx1"/>
                  </a:solidFill>
                </a:endParaRPr>
              </a:p>
              <a:p>
                <a:pPr marL="0" indent="0">
                  <a:lnSpc>
                    <a:spcPct val="100000"/>
                  </a:lnSpc>
                  <a:spcBef>
                    <a:spcPts val="0"/>
                  </a:spcBef>
                  <a:spcAft>
                    <a:spcPts val="1200"/>
                  </a:spcAft>
                  <a:buNone/>
                </a:pPr>
                <a:r>
                  <a:rPr lang="zh-CN" altLang="en-US" sz="2000" dirty="0">
                    <a:solidFill>
                      <a:schemeClr val="tx1"/>
                    </a:solidFill>
                  </a:rPr>
                  <a:t>令</a:t>
                </a:r>
                <a14:m>
                  <m:oMath xmlns:m="http://schemas.openxmlformats.org/officeDocument/2006/math">
                    <m:r>
                      <a:rPr lang="en-US" sz="2000" i="1" smtClean="0">
                        <a:solidFill>
                          <a:schemeClr val="tx1"/>
                        </a:solidFill>
                        <a:latin typeface="Cambria Math" panose="02040503050406030204" pitchFamily="18" charset="0"/>
                      </a:rPr>
                      <m:t>𝜉</m:t>
                    </m:r>
                    <m:r>
                      <a:rPr lang="en-US" sz="2000" i="1" smtClean="0">
                        <a:solidFill>
                          <a:schemeClr val="tx1"/>
                        </a:solidFill>
                        <a:latin typeface="Cambria Math" panose="02040503050406030204" pitchFamily="18" charset="0"/>
                      </a:rPr>
                      <m:t>=</m:t>
                    </m:r>
                    <m:f>
                      <m:fPr>
                        <m:ctrlPr>
                          <a:rPr lang="en-US" sz="2000" i="1">
                            <a:solidFill>
                              <a:schemeClr val="tx1"/>
                            </a:solidFill>
                            <a:latin typeface="Cambria Math" panose="02040503050406030204" pitchFamily="18" charset="0"/>
                          </a:rPr>
                        </m:ctrlPr>
                      </m:fPr>
                      <m:num>
                        <m:r>
                          <m:rPr>
                            <m:sty m:val="p"/>
                          </m:rPr>
                          <a:rPr lang="en-US" sz="2000" i="1">
                            <a:solidFill>
                              <a:schemeClr val="tx1"/>
                            </a:solidFill>
                            <a:latin typeface="Cambria Math" panose="02040503050406030204" pitchFamily="18" charset="0"/>
                          </a:rPr>
                          <m:t>ℏ</m:t>
                        </m:r>
                        <m:r>
                          <a:rPr lang="en-US" sz="2000" i="1">
                            <a:solidFill>
                              <a:schemeClr val="tx1"/>
                            </a:solidFill>
                            <a:latin typeface="Cambria Math" panose="02040503050406030204" pitchFamily="18" charset="0"/>
                          </a:rPr>
                          <m:t>𝜔</m:t>
                        </m:r>
                      </m:num>
                      <m:den>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𝑘</m:t>
                            </m:r>
                          </m:e>
                          <m:sub>
                            <m:r>
                              <a:rPr lang="en-US" sz="2000" i="1">
                                <a:solidFill>
                                  <a:schemeClr val="tx1"/>
                                </a:solidFill>
                                <a:latin typeface="Cambria Math" panose="02040503050406030204" pitchFamily="18" charset="0"/>
                              </a:rPr>
                              <m:t>𝐵</m:t>
                            </m:r>
                          </m:sub>
                        </m:sSub>
                        <m:r>
                          <a:rPr lang="en-US" sz="2000" i="1">
                            <a:solidFill>
                              <a:schemeClr val="tx1"/>
                            </a:solidFill>
                            <a:latin typeface="Cambria Math" panose="02040503050406030204" pitchFamily="18" charset="0"/>
                          </a:rPr>
                          <m:t>𝑇</m:t>
                        </m:r>
                      </m:den>
                    </m:f>
                  </m:oMath>
                </a14:m>
                <a:endParaRPr lang="en-US" sz="2000" dirty="0">
                  <a:solidFill>
                    <a:schemeClr val="tx1"/>
                  </a:solidFill>
                </a:endParaRPr>
              </a:p>
              <a:p>
                <a:pPr marL="0" indent="0">
                  <a:lnSpc>
                    <a:spcPct val="100000"/>
                  </a:lnSpc>
                  <a:spcBef>
                    <a:spcPts val="0"/>
                  </a:spcBef>
                  <a:spcAft>
                    <a:spcPts val="1200"/>
                  </a:spcAft>
                  <a:buNone/>
                </a:pPr>
                <a14:m>
                  <m:oMathPara xmlns:m="http://schemas.openxmlformats.org/officeDocument/2006/math">
                    <m:oMath>
                      <m:r>
                        <a:rPr lang="en-US" sz="2000" b="0" i="1" smtClean="0">
                          <a:solidFill>
                            <a:schemeClr val="tx1"/>
                          </a:solidFill>
                          <a:latin typeface="Cambria Math" panose="02040503050406030204" pitchFamily="18" charset="0"/>
                        </a:rPr>
                        <m:t>𝐶</m:t>
                      </m:r>
                      <m:r>
                        <a:rPr lang="en-US" sz="2000" i="1">
                          <a:solidFill>
                            <a:schemeClr val="tx1"/>
                          </a:solidFill>
                          <a:latin typeface="Cambria Math" panose="02040503050406030204" pitchFamily="18" charset="0"/>
                        </a:rPr>
                        <m:t>=9</m:t>
                      </m:r>
                      <m:r>
                        <a:rPr lang="en-US" sz="2000" i="1">
                          <a:solidFill>
                            <a:schemeClr val="tx1"/>
                          </a:solidFill>
                          <a:latin typeface="Cambria Math" panose="02040503050406030204" pitchFamily="18" charset="0"/>
                        </a:rPr>
                        <m:t>𝑅</m:t>
                      </m:r>
                      <m:r>
                        <a:rPr lang="en-US" sz="2000" i="1">
                          <a:solidFill>
                            <a:schemeClr val="tx1"/>
                          </a:solidFill>
                          <a:latin typeface="Cambria Math" panose="02040503050406030204" pitchFamily="18" charset="0"/>
                        </a:rPr>
                        <m:t>⋅</m:t>
                      </m:r>
                      <m:sSup>
                        <m:sSupPr>
                          <m:ctrlPr>
                            <a:rPr lang="en-US" sz="2000" i="1">
                              <a:solidFill>
                                <a:schemeClr val="tx1"/>
                              </a:solidFill>
                              <a:latin typeface="Cambria Math" panose="02040503050406030204" pitchFamily="18" charset="0"/>
                            </a:rPr>
                          </m:ctrlPr>
                        </m:sSupPr>
                        <m:e>
                          <m:d>
                            <m:dPr>
                              <m:ctrlPr>
                                <a:rPr lang="en-US" sz="2000" i="1">
                                  <a:solidFill>
                                    <a:schemeClr val="tx1"/>
                                  </a:solidFill>
                                  <a:latin typeface="Cambria Math" panose="02040503050406030204" pitchFamily="18" charset="0"/>
                                </a:rPr>
                              </m:ctrlPr>
                            </m:dPr>
                            <m:e>
                              <m:f>
                                <m:fPr>
                                  <m:ctrlPr>
                                    <a:rPr lang="en-US" sz="2000" i="1">
                                      <a:solidFill>
                                        <a:schemeClr val="tx1"/>
                                      </a:solidFill>
                                      <a:latin typeface="Cambria Math" panose="02040503050406030204" pitchFamily="18" charset="0"/>
                                    </a:rPr>
                                  </m:ctrlPr>
                                </m:fPr>
                                <m:num>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𝑘</m:t>
                                      </m:r>
                                    </m:e>
                                    <m:sub>
                                      <m:r>
                                        <a:rPr lang="en-US" sz="2000" i="1">
                                          <a:solidFill>
                                            <a:schemeClr val="tx1"/>
                                          </a:solidFill>
                                          <a:latin typeface="Cambria Math" panose="02040503050406030204" pitchFamily="18" charset="0"/>
                                        </a:rPr>
                                        <m:t>𝐵</m:t>
                                      </m:r>
                                    </m:sub>
                                  </m:sSub>
                                  <m:r>
                                    <a:rPr lang="en-US" sz="2000" i="1">
                                      <a:solidFill>
                                        <a:schemeClr val="tx1"/>
                                      </a:solidFill>
                                      <a:latin typeface="Cambria Math" panose="02040503050406030204" pitchFamily="18" charset="0"/>
                                    </a:rPr>
                                    <m:t>𝑇</m:t>
                                  </m:r>
                                </m:num>
                                <m:den>
                                  <m:r>
                                    <m:rPr>
                                      <m:sty m:val="p"/>
                                    </m:rPr>
                                    <a:rPr lang="en-US" sz="2000" i="1">
                                      <a:solidFill>
                                        <a:schemeClr val="tx1"/>
                                      </a:solidFill>
                                      <a:latin typeface="Cambria Math" panose="02040503050406030204" pitchFamily="18" charset="0"/>
                                    </a:rPr>
                                    <m:t>ℏ</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𝜔</m:t>
                                      </m:r>
                                    </m:e>
                                    <m:sub>
                                      <m:r>
                                        <a:rPr lang="en-US" sz="2000" b="0" i="1" smtClean="0">
                                          <a:solidFill>
                                            <a:schemeClr val="tx1"/>
                                          </a:solidFill>
                                          <a:latin typeface="Cambria Math" panose="02040503050406030204" pitchFamily="18" charset="0"/>
                                        </a:rPr>
                                        <m:t>𝐷</m:t>
                                      </m:r>
                                    </m:sub>
                                  </m:sSub>
                                </m:den>
                              </m:f>
                            </m:e>
                          </m:d>
                        </m:e>
                        <m:sup>
                          <m:r>
                            <a:rPr lang="en-US" sz="2000" i="1">
                              <a:solidFill>
                                <a:schemeClr val="tx1"/>
                              </a:solidFill>
                              <a:latin typeface="Cambria Math" panose="02040503050406030204" pitchFamily="18" charset="0"/>
                            </a:rPr>
                            <m:t>3</m:t>
                          </m:r>
                        </m:sup>
                      </m:sSup>
                      <m:nary>
                        <m:naryPr>
                          <m:ctrlPr>
                            <a:rPr lang="en-US" sz="2000" i="1">
                              <a:solidFill>
                                <a:schemeClr val="tx1"/>
                              </a:solidFill>
                              <a:latin typeface="Cambria Math" panose="02040503050406030204" pitchFamily="18" charset="0"/>
                            </a:rPr>
                          </m:ctrlPr>
                        </m:naryPr>
                        <m:sub>
                          <m:r>
                            <a:rPr lang="en-US" sz="2000" i="1">
                              <a:solidFill>
                                <a:schemeClr val="tx1"/>
                              </a:solidFill>
                              <a:latin typeface="Cambria Math" panose="02040503050406030204" pitchFamily="18" charset="0"/>
                            </a:rPr>
                            <m:t>0</m:t>
                          </m:r>
                        </m:sub>
                        <m:sup>
                          <m:d>
                            <m:dPr>
                              <m:ctrlPr>
                                <a:rPr lang="en-US" sz="2000" i="1">
                                  <a:solidFill>
                                    <a:schemeClr val="tx1"/>
                                  </a:solidFill>
                                  <a:latin typeface="Cambria Math" panose="02040503050406030204" pitchFamily="18" charset="0"/>
                                </a:rPr>
                              </m:ctrlPr>
                            </m:dPr>
                            <m:e>
                              <m:f>
                                <m:fPr>
                                  <m:ctrlPr>
                                    <a:rPr lang="en-US" sz="2000" i="1">
                                      <a:solidFill>
                                        <a:schemeClr val="tx1"/>
                                      </a:solidFill>
                                      <a:latin typeface="Cambria Math" panose="02040503050406030204" pitchFamily="18" charset="0"/>
                                    </a:rPr>
                                  </m:ctrlPr>
                                </m:fPr>
                                <m:num>
                                  <m:r>
                                    <m:rPr>
                                      <m:sty m:val="p"/>
                                    </m:rPr>
                                    <a:rPr lang="en-US" sz="2000" i="1">
                                      <a:solidFill>
                                        <a:schemeClr val="tx1"/>
                                      </a:solidFill>
                                      <a:latin typeface="Cambria Math" panose="02040503050406030204" pitchFamily="18" charset="0"/>
                                    </a:rPr>
                                    <m:t>ℏ</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𝜔</m:t>
                                      </m:r>
                                    </m:e>
                                    <m:sub>
                                      <m:r>
                                        <a:rPr lang="en-US" sz="2000" b="0" i="1" smtClean="0">
                                          <a:solidFill>
                                            <a:schemeClr val="tx1"/>
                                          </a:solidFill>
                                          <a:latin typeface="Cambria Math" panose="02040503050406030204" pitchFamily="18" charset="0"/>
                                        </a:rPr>
                                        <m:t>𝐷</m:t>
                                      </m:r>
                                    </m:sub>
                                  </m:sSub>
                                </m:num>
                                <m:den>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𝑘</m:t>
                                      </m:r>
                                    </m:e>
                                    <m:sub>
                                      <m:r>
                                        <a:rPr lang="en-US" sz="2000" i="1">
                                          <a:solidFill>
                                            <a:schemeClr val="tx1"/>
                                          </a:solidFill>
                                          <a:latin typeface="Cambria Math" panose="02040503050406030204" pitchFamily="18" charset="0"/>
                                        </a:rPr>
                                        <m:t>𝐵</m:t>
                                      </m:r>
                                    </m:sub>
                                  </m:sSub>
                                  <m:r>
                                    <a:rPr lang="en-US" sz="2000" i="1">
                                      <a:solidFill>
                                        <a:schemeClr val="tx1"/>
                                      </a:solidFill>
                                      <a:latin typeface="Cambria Math" panose="02040503050406030204" pitchFamily="18" charset="0"/>
                                    </a:rPr>
                                    <m:t>𝑇</m:t>
                                  </m:r>
                                </m:den>
                              </m:f>
                            </m:e>
                          </m:d>
                        </m:sup>
                        <m:e>
                          <m:f>
                            <m:fPr>
                              <m:ctrlPr>
                                <a:rPr lang="en-US" sz="2000" i="1">
                                  <a:solidFill>
                                    <a:schemeClr val="tx1"/>
                                  </a:solidFill>
                                  <a:latin typeface="Cambria Math" panose="02040503050406030204" pitchFamily="18" charset="0"/>
                                </a:rPr>
                              </m:ctrlPr>
                            </m:fPr>
                            <m:num>
                              <m:sSup>
                                <m:sSupPr>
                                  <m:ctrlPr>
                                    <a:rPr lang="en-US" sz="2000" i="1">
                                      <a:solidFill>
                                        <a:schemeClr val="tx1"/>
                                      </a:solidFill>
                                      <a:latin typeface="Cambria Math" panose="02040503050406030204" pitchFamily="18" charset="0"/>
                                    </a:rPr>
                                  </m:ctrlPr>
                                </m:sSupPr>
                                <m:e>
                                  <m:r>
                                    <a:rPr lang="en-US" sz="2000" i="1">
                                      <a:solidFill>
                                        <a:schemeClr val="tx1"/>
                                      </a:solidFill>
                                      <a:latin typeface="Cambria Math" panose="02040503050406030204" pitchFamily="18" charset="0"/>
                                    </a:rPr>
                                    <m:t>𝜉</m:t>
                                  </m:r>
                                </m:e>
                                <m:sup>
                                  <m:r>
                                    <a:rPr lang="en-US" sz="2000" i="1">
                                      <a:solidFill>
                                        <a:schemeClr val="tx1"/>
                                      </a:solidFill>
                                      <a:latin typeface="Cambria Math" panose="02040503050406030204" pitchFamily="18" charset="0"/>
                                    </a:rPr>
                                    <m:t>4</m:t>
                                  </m:r>
                                </m:sup>
                              </m:sSup>
                              <m:sSup>
                                <m:sSupPr>
                                  <m:ctrlPr>
                                    <a:rPr lang="en-US" sz="2000" i="1">
                                      <a:solidFill>
                                        <a:schemeClr val="tx1"/>
                                      </a:solidFill>
                                      <a:latin typeface="Cambria Math" panose="02040503050406030204" pitchFamily="18" charset="0"/>
                                    </a:rPr>
                                  </m:ctrlPr>
                                </m:sSupPr>
                                <m:e>
                                  <m:r>
                                    <a:rPr lang="en-US" sz="2000" i="1">
                                      <a:solidFill>
                                        <a:schemeClr val="tx1"/>
                                      </a:solidFill>
                                      <a:latin typeface="Cambria Math" panose="02040503050406030204" pitchFamily="18" charset="0"/>
                                    </a:rPr>
                                    <m:t>𝑒</m:t>
                                  </m:r>
                                </m:e>
                                <m:sup>
                                  <m:r>
                                    <a:rPr lang="en-US" sz="2000" i="1">
                                      <a:solidFill>
                                        <a:schemeClr val="tx1"/>
                                      </a:solidFill>
                                      <a:latin typeface="Cambria Math" panose="02040503050406030204" pitchFamily="18" charset="0"/>
                                    </a:rPr>
                                    <m:t>𝜉</m:t>
                                  </m:r>
                                </m:sup>
                              </m:sSup>
                            </m:num>
                            <m:den>
                              <m:sSup>
                                <m:sSupPr>
                                  <m:ctrlPr>
                                    <a:rPr lang="en-US" sz="2000" i="1">
                                      <a:solidFill>
                                        <a:schemeClr val="tx1"/>
                                      </a:solidFill>
                                      <a:latin typeface="Cambria Math" panose="02040503050406030204" pitchFamily="18" charset="0"/>
                                    </a:rPr>
                                  </m:ctrlPr>
                                </m:sSupPr>
                                <m:e>
                                  <m:d>
                                    <m:dPr>
                                      <m:ctrlPr>
                                        <a:rPr lang="en-US" sz="2000" i="1">
                                          <a:solidFill>
                                            <a:schemeClr val="tx1"/>
                                          </a:solidFill>
                                          <a:latin typeface="Cambria Math" panose="02040503050406030204" pitchFamily="18" charset="0"/>
                                        </a:rPr>
                                      </m:ctrlPr>
                                    </m:dPr>
                                    <m:e>
                                      <m:sSup>
                                        <m:sSupPr>
                                          <m:ctrlPr>
                                            <a:rPr lang="en-US" sz="2000" i="1">
                                              <a:solidFill>
                                                <a:schemeClr val="tx1"/>
                                              </a:solidFill>
                                              <a:latin typeface="Cambria Math" panose="02040503050406030204" pitchFamily="18" charset="0"/>
                                            </a:rPr>
                                          </m:ctrlPr>
                                        </m:sSupPr>
                                        <m:e>
                                          <m:r>
                                            <a:rPr lang="en-US" sz="2000" i="1">
                                              <a:solidFill>
                                                <a:schemeClr val="tx1"/>
                                              </a:solidFill>
                                              <a:latin typeface="Cambria Math" panose="02040503050406030204" pitchFamily="18" charset="0"/>
                                            </a:rPr>
                                            <m:t>𝑒</m:t>
                                          </m:r>
                                        </m:e>
                                        <m:sup>
                                          <m:r>
                                            <a:rPr lang="en-US" sz="2000" i="1">
                                              <a:solidFill>
                                                <a:schemeClr val="tx1"/>
                                              </a:solidFill>
                                              <a:latin typeface="Cambria Math" panose="02040503050406030204" pitchFamily="18" charset="0"/>
                                            </a:rPr>
                                            <m:t>𝜉</m:t>
                                          </m:r>
                                        </m:sup>
                                      </m:sSup>
                                      <m:r>
                                        <a:rPr lang="en-US" sz="2000" i="1">
                                          <a:solidFill>
                                            <a:schemeClr val="tx1"/>
                                          </a:solidFill>
                                          <a:latin typeface="Cambria Math" panose="02040503050406030204" pitchFamily="18" charset="0"/>
                                        </a:rPr>
                                        <m:t>−1</m:t>
                                      </m:r>
                                    </m:e>
                                  </m:d>
                                </m:e>
                                <m:sup>
                                  <m:r>
                                    <a:rPr lang="en-US" sz="2000" i="1">
                                      <a:solidFill>
                                        <a:schemeClr val="tx1"/>
                                      </a:solidFill>
                                      <a:latin typeface="Cambria Math" panose="02040503050406030204" pitchFamily="18" charset="0"/>
                                    </a:rPr>
                                    <m:t>2</m:t>
                                  </m:r>
                                </m:sup>
                              </m:sSup>
                            </m:den>
                          </m:f>
                          <m:r>
                            <a:rPr lang="en-US" sz="2000" i="1">
                              <a:solidFill>
                                <a:schemeClr val="tx1"/>
                              </a:solidFill>
                              <a:latin typeface="Cambria Math" panose="02040503050406030204" pitchFamily="18" charset="0"/>
                            </a:rPr>
                            <m:t>𝑑</m:t>
                          </m:r>
                          <m:r>
                            <a:rPr lang="en-US" sz="2000" i="1">
                              <a:solidFill>
                                <a:schemeClr val="tx1"/>
                              </a:solidFill>
                              <a:latin typeface="Cambria Math" panose="02040503050406030204" pitchFamily="18" charset="0"/>
                            </a:rPr>
                            <m:t>𝜉</m:t>
                          </m:r>
                        </m:e>
                      </m:nary>
                    </m:oMath>
                  </m:oMathPara>
                </a14:m>
                <a:endParaRPr lang="en-US" sz="2000" dirty="0">
                  <a:solidFill>
                    <a:schemeClr val="tx1"/>
                  </a:solidFill>
                </a:endParaRPr>
              </a:p>
              <a:p>
                <a:pPr marL="0" indent="0">
                  <a:lnSpc>
                    <a:spcPct val="100000"/>
                  </a:lnSpc>
                  <a:spcBef>
                    <a:spcPts val="0"/>
                  </a:spcBef>
                  <a:spcAft>
                    <a:spcPts val="1200"/>
                  </a:spcAft>
                  <a:buNone/>
                </a:pPr>
                <a:r>
                  <a:rPr lang="zh-CN" altLang="en-US" sz="2000" dirty="0">
                    <a:solidFill>
                      <a:schemeClr val="tx1"/>
                    </a:solidFill>
                  </a:rPr>
                  <a:t>其中</a:t>
                </a:r>
                <a:r>
                  <a:rPr lang="en-US" altLang="zh-CN" sz="2000" dirty="0">
                    <a:solidFill>
                      <a:schemeClr val="tx1"/>
                    </a:solidFill>
                  </a:rPr>
                  <a:t>R=</a:t>
                </a:r>
                <a:r>
                  <a:rPr lang="en-US" altLang="zh-CN" sz="2000" dirty="0" err="1">
                    <a:solidFill>
                      <a:schemeClr val="tx1"/>
                    </a:solidFill>
                  </a:rPr>
                  <a:t>Nk</a:t>
                </a:r>
                <a:r>
                  <a:rPr lang="en-US" altLang="zh-CN" sz="2000" baseline="-25000" dirty="0" err="1">
                    <a:solidFill>
                      <a:schemeClr val="tx1"/>
                    </a:solidFill>
                  </a:rPr>
                  <a:t>B</a:t>
                </a:r>
                <a:r>
                  <a:rPr lang="zh-CN" altLang="en-US" sz="2000" dirty="0">
                    <a:solidFill>
                      <a:schemeClr val="tx1"/>
                    </a:solidFill>
                  </a:rPr>
                  <a:t>，为气体常数</a:t>
                </a:r>
                <a:endParaRPr lang="en-US" sz="2000" dirty="0">
                  <a:solidFill>
                    <a:schemeClr val="tx1"/>
                  </a:solidFill>
                </a:endParaRPr>
              </a:p>
            </p:txBody>
          </p:sp>
        </mc:Choice>
        <mc:Fallback>
          <p:sp>
            <p:nvSpPr>
              <p:cNvPr id="3" name="内容占位符 2">
                <a:extLst>
                  <a:ext uri="{FF2B5EF4-FFF2-40B4-BE49-F238E27FC236}">
                    <a16:creationId xmlns:a16="http://schemas.microsoft.com/office/drawing/2014/main" id="{63A7A5EB-ACA3-AC87-00EE-97BC405DC1DF}"/>
                  </a:ext>
                </a:extLst>
              </p:cNvPr>
              <p:cNvSpPr>
                <a:spLocks noGrp="1" noRot="1" noChangeAspect="1" noMove="1" noResize="1" noEditPoints="1" noAdjustHandles="1" noChangeArrowheads="1" noChangeShapeType="1" noTextEdit="1"/>
              </p:cNvSpPr>
              <p:nvPr>
                <p:ph idx="1"/>
              </p:nvPr>
            </p:nvSpPr>
            <p:spPr>
              <a:xfrm>
                <a:off x="838200" y="1607127"/>
                <a:ext cx="10515600" cy="5114348"/>
              </a:xfrm>
              <a:blipFill>
                <a:blip r:embed="rId2"/>
                <a:stretch>
                  <a:fillRect l="-638" t="-1073"/>
                </a:stretch>
              </a:blipFill>
            </p:spPr>
            <p:txBody>
              <a:bodyPr/>
              <a:lstStyle/>
              <a:p>
                <a:r>
                  <a:rPr lang="zh-CN" altLang="en-US">
                    <a:noFill/>
                  </a:rPr>
                  <a:t> </a:t>
                </a:r>
              </a:p>
            </p:txBody>
          </p:sp>
        </mc:Fallback>
      </mc:AlternateContent>
      <p:graphicFrame>
        <p:nvGraphicFramePr>
          <p:cNvPr id="4" name="表格 3">
            <a:extLst>
              <a:ext uri="{FF2B5EF4-FFF2-40B4-BE49-F238E27FC236}">
                <a16:creationId xmlns:a16="http://schemas.microsoft.com/office/drawing/2014/main" id="{2D87ED4C-EDE7-ACA1-ED8A-0E953FE20A5F}"/>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32</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423582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83276E-BAD6-2114-E53A-3F0294C7FA36}"/>
              </a:ext>
            </a:extLst>
          </p:cNvPr>
          <p:cNvSpPr>
            <a:spLocks noGrp="1"/>
          </p:cNvSpPr>
          <p:nvPr>
            <p:ph type="title"/>
          </p:nvPr>
        </p:nvSpPr>
        <p:spPr/>
        <p:txBody>
          <a:bodyPr/>
          <a:lstStyle/>
          <a:p>
            <a:r>
              <a:rPr lang="zh-CN" altLang="en-US" dirty="0"/>
              <a:t>德拜模型</a:t>
            </a:r>
            <a:endParaRPr 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63A7A5EB-ACA3-AC87-00EE-97BC405DC1DF}"/>
                  </a:ext>
                </a:extLst>
              </p:cNvPr>
              <p:cNvSpPr>
                <a:spLocks noGrp="1"/>
              </p:cNvSpPr>
              <p:nvPr>
                <p:ph idx="1"/>
              </p:nvPr>
            </p:nvSpPr>
            <p:spPr>
              <a:xfrm>
                <a:off x="838200" y="1607127"/>
                <a:ext cx="10515600" cy="5114348"/>
              </a:xfrm>
            </p:spPr>
            <p:txBody>
              <a:bodyPr>
                <a:normAutofit/>
              </a:bodyPr>
              <a:lstStyle/>
              <a:p>
                <a:pPr>
                  <a:lnSpc>
                    <a:spcPct val="100000"/>
                  </a:lnSpc>
                  <a:spcBef>
                    <a:spcPts val="0"/>
                  </a:spcBef>
                  <a:spcAft>
                    <a:spcPts val="1200"/>
                  </a:spcAft>
                </a:pPr>
                <a:r>
                  <a:rPr lang="zh-CN" altLang="en-US" sz="2000" dirty="0">
                    <a:solidFill>
                      <a:schemeClr val="tx1"/>
                    </a:solidFill>
                  </a:rPr>
                  <a:t>定义德拜温度</a:t>
                </a:r>
                <a14:m>
                  <m:oMath xmlns:m="http://schemas.openxmlformats.org/officeDocument/2006/math">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𝑇</m:t>
                        </m:r>
                      </m:e>
                      <m:sub>
                        <m:r>
                          <a:rPr lang="en-US" sz="2000" i="1">
                            <a:solidFill>
                              <a:schemeClr val="tx1"/>
                            </a:solidFill>
                            <a:latin typeface="Cambria Math" panose="02040503050406030204" pitchFamily="18" charset="0"/>
                          </a:rPr>
                          <m:t>𝐷</m:t>
                        </m:r>
                      </m:sub>
                    </m:sSub>
                    <m:r>
                      <a:rPr lang="en-US" sz="2000" i="1">
                        <a:solidFill>
                          <a:schemeClr val="tx1"/>
                        </a:solidFill>
                        <a:latin typeface="Cambria Math" panose="02040503050406030204" pitchFamily="18" charset="0"/>
                      </a:rPr>
                      <m:t>=</m:t>
                    </m:r>
                    <m:f>
                      <m:fPr>
                        <m:ctrlPr>
                          <a:rPr lang="en-US" sz="2000" i="1">
                            <a:solidFill>
                              <a:schemeClr val="tx1"/>
                            </a:solidFill>
                            <a:latin typeface="Cambria Math" panose="02040503050406030204" pitchFamily="18" charset="0"/>
                          </a:rPr>
                        </m:ctrlPr>
                      </m:fPr>
                      <m:num>
                        <m:r>
                          <m:rPr>
                            <m:sty m:val="p"/>
                          </m:rPr>
                          <a:rPr lang="en-US" sz="2000" i="1">
                            <a:solidFill>
                              <a:schemeClr val="tx1"/>
                            </a:solidFill>
                            <a:latin typeface="Cambria Math" panose="02040503050406030204" pitchFamily="18" charset="0"/>
                          </a:rPr>
                          <m:t>ℏ</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𝜔</m:t>
                            </m:r>
                          </m:e>
                          <m:sub>
                            <m:r>
                              <a:rPr lang="en-US" sz="2000" b="0" i="1" smtClean="0">
                                <a:solidFill>
                                  <a:schemeClr val="tx1"/>
                                </a:solidFill>
                                <a:latin typeface="Cambria Math" panose="02040503050406030204" pitchFamily="18" charset="0"/>
                              </a:rPr>
                              <m:t>𝐷</m:t>
                            </m:r>
                          </m:sub>
                        </m:sSub>
                      </m:num>
                      <m:den>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𝑘</m:t>
                            </m:r>
                          </m:e>
                          <m:sub>
                            <m:r>
                              <a:rPr lang="en-US" sz="2000" i="1">
                                <a:solidFill>
                                  <a:schemeClr val="tx1"/>
                                </a:solidFill>
                                <a:latin typeface="Cambria Math" panose="02040503050406030204" pitchFamily="18" charset="0"/>
                              </a:rPr>
                              <m:t>𝐵</m:t>
                            </m:r>
                          </m:sub>
                        </m:sSub>
                      </m:den>
                    </m:f>
                  </m:oMath>
                </a14:m>
                <a:endParaRPr lang="en-US" sz="2000" dirty="0">
                  <a:solidFill>
                    <a:schemeClr val="tx1"/>
                  </a:solidFill>
                </a:endParaRPr>
              </a:p>
              <a:p>
                <a:pPr marL="0" indent="0">
                  <a:lnSpc>
                    <a:spcPct val="100000"/>
                  </a:lnSpc>
                  <a:spcBef>
                    <a:spcPts val="0"/>
                  </a:spcBef>
                  <a:spcAft>
                    <a:spcPts val="1200"/>
                  </a:spcAft>
                  <a:buNone/>
                </a:pPr>
                <a14:m>
                  <m:oMathPara xmlns:m="http://schemas.openxmlformats.org/officeDocument/2006/math">
                    <m:oMath>
                      <m:r>
                        <a:rPr lang="en-US" sz="2000" b="0" i="1" smtClean="0">
                          <a:solidFill>
                            <a:schemeClr val="tx1"/>
                          </a:solidFill>
                          <a:latin typeface="Cambria Math" panose="02040503050406030204" pitchFamily="18" charset="0"/>
                        </a:rPr>
                        <m:t>𝐶</m:t>
                      </m:r>
                      <m:r>
                        <a:rPr lang="en-US" sz="2000" b="0" i="1" smtClean="0">
                          <a:solidFill>
                            <a:schemeClr val="tx1"/>
                          </a:solidFill>
                          <a:latin typeface="Cambria Math" panose="02040503050406030204" pitchFamily="18" charset="0"/>
                        </a:rPr>
                        <m:t>=3</m:t>
                      </m:r>
                      <m:r>
                        <a:rPr lang="en-US" altLang="zh-CN" sz="2000" i="1">
                          <a:solidFill>
                            <a:schemeClr val="tx1"/>
                          </a:solidFill>
                          <a:latin typeface="Cambria Math" panose="02040503050406030204" pitchFamily="18" charset="0"/>
                        </a:rPr>
                        <m:t>𝑁</m:t>
                      </m:r>
                      <m:sSub>
                        <m:sSubPr>
                          <m:ctrlPr>
                            <a:rPr lang="en-US" altLang="zh-CN" sz="2000" i="1">
                              <a:solidFill>
                                <a:schemeClr val="tx1"/>
                              </a:solidFill>
                              <a:latin typeface="Cambria Math" panose="02040503050406030204" pitchFamily="18" charset="0"/>
                            </a:rPr>
                          </m:ctrlPr>
                        </m:sSubPr>
                        <m:e>
                          <m:r>
                            <a:rPr lang="en-US" altLang="zh-CN" sz="2000" i="1">
                              <a:solidFill>
                                <a:schemeClr val="tx1"/>
                              </a:solidFill>
                              <a:latin typeface="Cambria Math" panose="02040503050406030204" pitchFamily="18" charset="0"/>
                            </a:rPr>
                            <m:t>𝑘</m:t>
                          </m:r>
                        </m:e>
                        <m:sub>
                          <m:r>
                            <a:rPr lang="en-US" altLang="zh-CN" sz="2000" i="1">
                              <a:solidFill>
                                <a:schemeClr val="tx1"/>
                              </a:solidFill>
                              <a:latin typeface="Cambria Math" panose="02040503050406030204" pitchFamily="18" charset="0"/>
                            </a:rPr>
                            <m:t>𝐵</m:t>
                          </m:r>
                        </m:sub>
                      </m:sSub>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𝑓</m:t>
                          </m:r>
                        </m:e>
                        <m:sub>
                          <m:r>
                            <a:rPr lang="en-US" sz="2000" i="1">
                              <a:solidFill>
                                <a:schemeClr val="tx1"/>
                              </a:solidFill>
                              <a:latin typeface="Cambria Math" panose="02040503050406030204" pitchFamily="18" charset="0"/>
                            </a:rPr>
                            <m:t>𝐷</m:t>
                          </m:r>
                        </m:sub>
                      </m:sSub>
                      <m:d>
                        <m:dPr>
                          <m:ctrlPr>
                            <a:rPr lang="en-US" sz="2000" i="1">
                              <a:solidFill>
                                <a:schemeClr val="tx1"/>
                              </a:solidFill>
                              <a:latin typeface="Cambria Math" panose="02040503050406030204" pitchFamily="18" charset="0"/>
                            </a:rPr>
                          </m:ctrlPr>
                        </m:dPr>
                        <m:e>
                          <m:f>
                            <m:fPr>
                              <m:ctrlPr>
                                <a:rPr lang="en-US" sz="2000" i="1">
                                  <a:solidFill>
                                    <a:schemeClr val="tx1"/>
                                  </a:solidFill>
                                  <a:latin typeface="Cambria Math" panose="02040503050406030204" pitchFamily="18" charset="0"/>
                                </a:rPr>
                              </m:ctrlPr>
                            </m:fPr>
                            <m:num>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𝑇</m:t>
                                  </m:r>
                                </m:e>
                                <m:sub>
                                  <m:r>
                                    <a:rPr lang="en-US" sz="2000" i="1">
                                      <a:solidFill>
                                        <a:schemeClr val="tx1"/>
                                      </a:solidFill>
                                      <a:latin typeface="Cambria Math" panose="02040503050406030204" pitchFamily="18" charset="0"/>
                                    </a:rPr>
                                    <m:t>𝐷</m:t>
                                  </m:r>
                                </m:sub>
                              </m:sSub>
                            </m:num>
                            <m:den>
                              <m:r>
                                <a:rPr lang="en-US" sz="2000" i="1">
                                  <a:solidFill>
                                    <a:schemeClr val="tx1"/>
                                  </a:solidFill>
                                  <a:latin typeface="Cambria Math" panose="02040503050406030204" pitchFamily="18" charset="0"/>
                                </a:rPr>
                                <m:t>𝑇</m:t>
                              </m:r>
                            </m:den>
                          </m:f>
                        </m:e>
                      </m:d>
                    </m:oMath>
                  </m:oMathPara>
                </a14:m>
                <a:endParaRPr lang="en-US" sz="2000" dirty="0">
                  <a:solidFill>
                    <a:srgbClr val="FF0000"/>
                  </a:solidFill>
                </a:endParaRPr>
              </a:p>
              <a:p>
                <a:pPr marL="0" indent="0">
                  <a:lnSpc>
                    <a:spcPct val="100000"/>
                  </a:lnSpc>
                  <a:spcBef>
                    <a:spcPts val="0"/>
                  </a:spcBef>
                  <a:spcAft>
                    <a:spcPts val="1200"/>
                  </a:spcAft>
                  <a:buNone/>
                </a:pPr>
                <a:r>
                  <a:rPr lang="zh-CN" altLang="en-US" sz="2000" dirty="0">
                    <a:solidFill>
                      <a:schemeClr val="tx1"/>
                    </a:solidFill>
                  </a:rPr>
                  <a:t>其中</a:t>
                </a:r>
                <a:r>
                  <a:rPr lang="zh-CN" altLang="en-US" sz="2000" dirty="0"/>
                  <a:t>德拜热容函数</a:t>
                </a:r>
                <a:endParaRPr lang="en-US" altLang="zh-CN" sz="2000" dirty="0"/>
              </a:p>
              <a:p>
                <a:pPr marL="0" indent="0">
                  <a:lnSpc>
                    <a:spcPct val="100000"/>
                  </a:lnSpc>
                  <a:spcBef>
                    <a:spcPts val="0"/>
                  </a:spcBef>
                  <a:spcAft>
                    <a:spcPts val="1200"/>
                  </a:spcAft>
                  <a:buNone/>
                </a:pPr>
                <a14:m>
                  <m:oMathPara xmlns:m="http://schemas.openxmlformats.org/officeDocument/2006/math">
                    <m:o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𝑓</m:t>
                          </m:r>
                        </m:e>
                        <m:sub>
                          <m:r>
                            <a:rPr lang="en-US" sz="2000" i="1">
                              <a:solidFill>
                                <a:srgbClr val="000000"/>
                              </a:solidFill>
                              <a:latin typeface="Cambria Math" panose="02040503050406030204" pitchFamily="18" charset="0"/>
                            </a:rPr>
                            <m:t>𝐷</m:t>
                          </m:r>
                        </m:sub>
                      </m:sSub>
                      <m:d>
                        <m:dPr>
                          <m:ctrlPr>
                            <a:rPr lang="en-US" sz="2000" i="1">
                              <a:solidFill>
                                <a:srgbClr val="000000"/>
                              </a:solidFill>
                              <a:latin typeface="Cambria Math" panose="02040503050406030204" pitchFamily="18" charset="0"/>
                            </a:rPr>
                          </m:ctrlPr>
                        </m:dPr>
                        <m:e>
                          <m:f>
                            <m:fPr>
                              <m:ctrlPr>
                                <a:rPr lang="en-US" sz="2000" i="1">
                                  <a:solidFill>
                                    <a:srgbClr val="000000"/>
                                  </a:solidFill>
                                  <a:latin typeface="Cambria Math" panose="02040503050406030204" pitchFamily="18" charset="0"/>
                                </a:rPr>
                              </m:ctrlPr>
                            </m:fPr>
                            <m:num>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𝐷</m:t>
                                  </m:r>
                                </m:sub>
                              </m:sSub>
                            </m:num>
                            <m:den>
                              <m:r>
                                <a:rPr lang="en-US" sz="2000" i="1">
                                  <a:solidFill>
                                    <a:srgbClr val="000000"/>
                                  </a:solidFill>
                                  <a:latin typeface="Cambria Math" panose="02040503050406030204" pitchFamily="18" charset="0"/>
                                </a:rPr>
                                <m:t>𝑇</m:t>
                              </m:r>
                            </m:den>
                          </m:f>
                        </m:e>
                      </m:d>
                      <m:r>
                        <a:rPr lang="en-US" sz="2000" i="1">
                          <a:solidFill>
                            <a:srgbClr val="000000"/>
                          </a:solidFill>
                          <a:latin typeface="Cambria Math" panose="02040503050406030204" pitchFamily="18" charset="0"/>
                        </a:rPr>
                        <m:t>=3</m:t>
                      </m:r>
                      <m:sSup>
                        <m:sSupPr>
                          <m:ctrlPr>
                            <a:rPr lang="en-US" sz="2000" i="1">
                              <a:solidFill>
                                <a:srgbClr val="000000"/>
                              </a:solidFill>
                              <a:latin typeface="Cambria Math" panose="02040503050406030204" pitchFamily="18" charset="0"/>
                            </a:rPr>
                          </m:ctrlPr>
                        </m:sSupPr>
                        <m:e>
                          <m:d>
                            <m:dPr>
                              <m:ctrlPr>
                                <a:rPr lang="en-US" sz="2000" i="1">
                                  <a:solidFill>
                                    <a:srgbClr val="000000"/>
                                  </a:solidFill>
                                  <a:latin typeface="Cambria Math" panose="02040503050406030204" pitchFamily="18" charset="0"/>
                                </a:rPr>
                              </m:ctrlPr>
                            </m:dPr>
                            <m:e>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𝑇</m:t>
                                  </m:r>
                                </m:num>
                                <m:den>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𝐷</m:t>
                                      </m:r>
                                    </m:sub>
                                  </m:sSub>
                                </m:den>
                              </m:f>
                            </m:e>
                          </m:d>
                        </m:e>
                        <m:sup>
                          <m:r>
                            <a:rPr lang="en-US" sz="2000" i="1">
                              <a:solidFill>
                                <a:srgbClr val="000000"/>
                              </a:solidFill>
                              <a:latin typeface="Cambria Math" panose="02040503050406030204" pitchFamily="18" charset="0"/>
                            </a:rPr>
                            <m:t>3</m:t>
                          </m:r>
                        </m:sup>
                      </m:sSup>
                      <m:nary>
                        <m:naryPr>
                          <m:ctrlPr>
                            <a:rPr lang="en-US" sz="2000" i="1">
                              <a:solidFill>
                                <a:srgbClr val="000000"/>
                              </a:solidFill>
                              <a:latin typeface="Cambria Math" panose="02040503050406030204" pitchFamily="18" charset="0"/>
                            </a:rPr>
                          </m:ctrlPr>
                        </m:naryPr>
                        <m:sub>
                          <m:r>
                            <a:rPr lang="en-US" sz="2000" i="1">
                              <a:solidFill>
                                <a:srgbClr val="000000"/>
                              </a:solidFill>
                              <a:latin typeface="Cambria Math" panose="02040503050406030204" pitchFamily="18" charset="0"/>
                            </a:rPr>
                            <m:t>0</m:t>
                          </m:r>
                        </m:sub>
                        <m:sup>
                          <m:f>
                            <m:fPr>
                              <m:type m:val="lin"/>
                              <m:ctrlPr>
                                <a:rPr lang="en-US" sz="2000" i="1">
                                  <a:solidFill>
                                    <a:srgbClr val="000000"/>
                                  </a:solidFill>
                                  <a:latin typeface="Cambria Math" panose="02040503050406030204" pitchFamily="18" charset="0"/>
                                </a:rPr>
                              </m:ctrlPr>
                            </m:fPr>
                            <m:num>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𝐷</m:t>
                                  </m:r>
                                </m:sub>
                              </m:sSub>
                            </m:num>
                            <m:den>
                              <m:r>
                                <a:rPr lang="en-US" sz="2000" i="1">
                                  <a:solidFill>
                                    <a:srgbClr val="000000"/>
                                  </a:solidFill>
                                  <a:latin typeface="Cambria Math" panose="02040503050406030204" pitchFamily="18" charset="0"/>
                                </a:rPr>
                                <m:t>𝑇</m:t>
                              </m:r>
                            </m:den>
                          </m:f>
                        </m:sup>
                        <m:e>
                          <m:f>
                            <m:fPr>
                              <m:ctrlPr>
                                <a:rPr lang="en-US" sz="2000" i="1">
                                  <a:solidFill>
                                    <a:srgbClr val="000000"/>
                                  </a:solidFill>
                                  <a:latin typeface="Cambria Math" panose="02040503050406030204" pitchFamily="18" charset="0"/>
                                </a:rPr>
                              </m:ctrlPr>
                            </m:fPr>
                            <m:num>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𝜉</m:t>
                                  </m:r>
                                </m:e>
                                <m:sup>
                                  <m:r>
                                    <a:rPr lang="en-US" sz="2000" i="1">
                                      <a:solidFill>
                                        <a:srgbClr val="000000"/>
                                      </a:solidFill>
                                      <a:latin typeface="Cambria Math" panose="02040503050406030204" pitchFamily="18" charset="0"/>
                                    </a:rPr>
                                    <m:t>4</m:t>
                                  </m:r>
                                </m:sup>
                              </m:sSup>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𝑒</m:t>
                                  </m:r>
                                </m:e>
                                <m:sup>
                                  <m:r>
                                    <a:rPr lang="en-US" sz="2000" i="1">
                                      <a:solidFill>
                                        <a:srgbClr val="000000"/>
                                      </a:solidFill>
                                      <a:latin typeface="Cambria Math" panose="02040503050406030204" pitchFamily="18" charset="0"/>
                                    </a:rPr>
                                    <m:t>𝜉</m:t>
                                  </m:r>
                                </m:sup>
                              </m:sSup>
                            </m:num>
                            <m:den>
                              <m:sSup>
                                <m:sSupPr>
                                  <m:ctrlPr>
                                    <a:rPr lang="en-US" sz="2000" i="1">
                                      <a:solidFill>
                                        <a:srgbClr val="000000"/>
                                      </a:solidFill>
                                      <a:latin typeface="Cambria Math" panose="02040503050406030204" pitchFamily="18" charset="0"/>
                                    </a:rPr>
                                  </m:ctrlPr>
                                </m:sSupPr>
                                <m:e>
                                  <m:d>
                                    <m:dPr>
                                      <m:ctrlPr>
                                        <a:rPr lang="en-US" sz="2000" i="1">
                                          <a:solidFill>
                                            <a:srgbClr val="000000"/>
                                          </a:solidFill>
                                          <a:latin typeface="Cambria Math" panose="02040503050406030204" pitchFamily="18" charset="0"/>
                                        </a:rPr>
                                      </m:ctrlPr>
                                    </m:dPr>
                                    <m:e>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𝑒</m:t>
                                          </m:r>
                                        </m:e>
                                        <m:sup>
                                          <m:r>
                                            <a:rPr lang="en-US" sz="2000" i="1">
                                              <a:solidFill>
                                                <a:srgbClr val="000000"/>
                                              </a:solidFill>
                                              <a:latin typeface="Cambria Math" panose="02040503050406030204" pitchFamily="18" charset="0"/>
                                            </a:rPr>
                                            <m:t>𝜉</m:t>
                                          </m:r>
                                        </m:sup>
                                      </m:sSup>
                                      <m:r>
                                        <a:rPr lang="en-US" sz="2000" i="1">
                                          <a:solidFill>
                                            <a:srgbClr val="000000"/>
                                          </a:solidFill>
                                          <a:latin typeface="Cambria Math" panose="02040503050406030204" pitchFamily="18" charset="0"/>
                                        </a:rPr>
                                        <m:t>−1</m:t>
                                      </m:r>
                                    </m:e>
                                  </m:d>
                                </m:e>
                                <m:sup>
                                  <m:r>
                                    <a:rPr lang="en-US" sz="2000" i="1">
                                      <a:solidFill>
                                        <a:srgbClr val="000000"/>
                                      </a:solidFill>
                                      <a:latin typeface="Cambria Math" panose="02040503050406030204" pitchFamily="18" charset="0"/>
                                    </a:rPr>
                                    <m:t>2</m:t>
                                  </m:r>
                                </m:sup>
                              </m:sSup>
                            </m:den>
                          </m:f>
                          <m:r>
                            <a:rPr lang="en-US" sz="2000" i="1">
                              <a:solidFill>
                                <a:srgbClr val="000000"/>
                              </a:solidFill>
                              <a:latin typeface="Cambria Math" panose="02040503050406030204" pitchFamily="18" charset="0"/>
                            </a:rPr>
                            <m:t>𝑑</m:t>
                          </m:r>
                          <m:r>
                            <a:rPr lang="en-US" sz="2000" i="1">
                              <a:solidFill>
                                <a:srgbClr val="000000"/>
                              </a:solidFill>
                              <a:latin typeface="Cambria Math" panose="02040503050406030204" pitchFamily="18" charset="0"/>
                            </a:rPr>
                            <m:t>𝜉</m:t>
                          </m:r>
                        </m:e>
                      </m:nary>
                    </m:oMath>
                  </m:oMathPara>
                </a14:m>
                <a:endParaRPr lang="en-US" sz="2000" dirty="0">
                  <a:solidFill>
                    <a:srgbClr val="000000"/>
                  </a:solidFill>
                </a:endParaRPr>
              </a:p>
              <a:p>
                <a:pPr marL="0" indent="0">
                  <a:lnSpc>
                    <a:spcPct val="100000"/>
                  </a:lnSpc>
                  <a:spcBef>
                    <a:spcPts val="0"/>
                  </a:spcBef>
                  <a:spcAft>
                    <a:spcPts val="1200"/>
                  </a:spcAft>
                  <a:buNone/>
                </a:pPr>
                <a14:m>
                  <m:oMathPara xmlns:m="http://schemas.openxmlformats.org/officeDocument/2006/math">
                    <m:oMath>
                      <m:r>
                        <a:rPr lang="en-US" sz="2000" i="1" smtClean="0">
                          <a:solidFill>
                            <a:schemeClr val="tx1"/>
                          </a:solidFill>
                          <a:latin typeface="Cambria Math" panose="02040503050406030204" pitchFamily="18" charset="0"/>
                        </a:rPr>
                        <m:t>𝜉</m:t>
                      </m:r>
                      <m:r>
                        <a:rPr lang="en-US" sz="2000" i="1" smtClean="0">
                          <a:solidFill>
                            <a:schemeClr val="tx1"/>
                          </a:solidFill>
                          <a:latin typeface="Cambria Math" panose="02040503050406030204" pitchFamily="18" charset="0"/>
                        </a:rPr>
                        <m:t>=</m:t>
                      </m:r>
                      <m:f>
                        <m:fPr>
                          <m:ctrlPr>
                            <a:rPr lang="en-US" sz="2000" i="1">
                              <a:solidFill>
                                <a:schemeClr val="tx1"/>
                              </a:solidFill>
                              <a:latin typeface="Cambria Math" panose="02040503050406030204" pitchFamily="18" charset="0"/>
                            </a:rPr>
                          </m:ctrlPr>
                        </m:fPr>
                        <m:num>
                          <m:r>
                            <m:rPr>
                              <m:sty m:val="p"/>
                            </m:rPr>
                            <a:rPr lang="en-US" sz="2000" i="1">
                              <a:solidFill>
                                <a:schemeClr val="tx1"/>
                              </a:solidFill>
                              <a:latin typeface="Cambria Math" panose="02040503050406030204" pitchFamily="18" charset="0"/>
                            </a:rPr>
                            <m:t>ℏ</m:t>
                          </m:r>
                          <m:r>
                            <a:rPr lang="en-US" sz="2000" i="1">
                              <a:solidFill>
                                <a:schemeClr val="tx1"/>
                              </a:solidFill>
                              <a:latin typeface="Cambria Math" panose="02040503050406030204" pitchFamily="18" charset="0"/>
                            </a:rPr>
                            <m:t>𝜔</m:t>
                          </m:r>
                        </m:num>
                        <m:den>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𝑘</m:t>
                              </m:r>
                            </m:e>
                            <m:sub>
                              <m:r>
                                <a:rPr lang="en-US" sz="2000" i="1">
                                  <a:solidFill>
                                    <a:schemeClr val="tx1"/>
                                  </a:solidFill>
                                  <a:latin typeface="Cambria Math" panose="02040503050406030204" pitchFamily="18" charset="0"/>
                                </a:rPr>
                                <m:t>𝐵</m:t>
                              </m:r>
                            </m:sub>
                          </m:sSub>
                          <m:r>
                            <a:rPr lang="en-US" sz="2000" i="1">
                              <a:solidFill>
                                <a:schemeClr val="tx1"/>
                              </a:solidFill>
                              <a:latin typeface="Cambria Math" panose="02040503050406030204" pitchFamily="18" charset="0"/>
                            </a:rPr>
                            <m:t>𝑇</m:t>
                          </m:r>
                        </m:den>
                      </m:f>
                    </m:oMath>
                  </m:oMathPara>
                </a14:m>
                <a:endParaRPr lang="en-US" sz="2000" dirty="0">
                  <a:solidFill>
                    <a:schemeClr val="tx1"/>
                  </a:solidFill>
                </a:endParaRPr>
              </a:p>
            </p:txBody>
          </p:sp>
        </mc:Choice>
        <mc:Fallback>
          <p:sp>
            <p:nvSpPr>
              <p:cNvPr id="3" name="内容占位符 2">
                <a:extLst>
                  <a:ext uri="{FF2B5EF4-FFF2-40B4-BE49-F238E27FC236}">
                    <a16:creationId xmlns:a16="http://schemas.microsoft.com/office/drawing/2014/main" id="{63A7A5EB-ACA3-AC87-00EE-97BC405DC1DF}"/>
                  </a:ext>
                </a:extLst>
              </p:cNvPr>
              <p:cNvSpPr>
                <a:spLocks noGrp="1" noRot="1" noChangeAspect="1" noMove="1" noResize="1" noEditPoints="1" noAdjustHandles="1" noChangeArrowheads="1" noChangeShapeType="1" noTextEdit="1"/>
              </p:cNvSpPr>
              <p:nvPr>
                <p:ph idx="1"/>
              </p:nvPr>
            </p:nvSpPr>
            <p:spPr>
              <a:xfrm>
                <a:off x="838200" y="1607127"/>
                <a:ext cx="10515600" cy="5114348"/>
              </a:xfrm>
              <a:blipFill>
                <a:blip r:embed="rId2"/>
                <a:stretch>
                  <a:fillRect l="-638"/>
                </a:stretch>
              </a:blipFill>
            </p:spPr>
            <p:txBody>
              <a:bodyPr/>
              <a:lstStyle/>
              <a:p>
                <a:r>
                  <a:rPr lang="zh-CN" altLang="en-US">
                    <a:noFill/>
                  </a:rPr>
                  <a:t> </a:t>
                </a:r>
              </a:p>
            </p:txBody>
          </p:sp>
        </mc:Fallback>
      </mc:AlternateContent>
      <p:graphicFrame>
        <p:nvGraphicFramePr>
          <p:cNvPr id="5" name="表格 4">
            <a:extLst>
              <a:ext uri="{FF2B5EF4-FFF2-40B4-BE49-F238E27FC236}">
                <a16:creationId xmlns:a16="http://schemas.microsoft.com/office/drawing/2014/main" id="{AE5C8E9F-4CA0-2399-6805-06B43148727F}"/>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33</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279013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E773845-D67D-BC4A-95F1-AD68613422E9}"/>
              </a:ext>
            </a:extLst>
          </p:cNvPr>
          <p:cNvSpPr>
            <a:spLocks noGrp="1"/>
          </p:cNvSpPr>
          <p:nvPr>
            <p:ph type="title"/>
          </p:nvPr>
        </p:nvSpPr>
        <p:spPr/>
        <p:txBody>
          <a:bodyPr/>
          <a:lstStyle/>
          <a:p>
            <a:r>
              <a:rPr lang="zh-CN" altLang="en-US" dirty="0">
                <a:solidFill>
                  <a:srgbClr val="FF0000"/>
                </a:solidFill>
              </a:rPr>
              <a:t>德拜模型</a:t>
            </a:r>
            <a:endParaRPr lang="en-US" dirty="0">
              <a:solidFill>
                <a:srgbClr val="FF0000"/>
              </a:solidFill>
            </a:endParaRPr>
          </a:p>
        </p:txBody>
      </p:sp>
      <mc:AlternateContent xmlns:mc="http://schemas.openxmlformats.org/markup-compatibility/2006">
        <mc:Choice xmlns:a14="http://schemas.microsoft.com/office/drawing/2010/main" Requires="a14">
          <p:sp>
            <p:nvSpPr>
              <p:cNvPr id="6" name="内容占位符 5">
                <a:extLst>
                  <a:ext uri="{FF2B5EF4-FFF2-40B4-BE49-F238E27FC236}">
                    <a16:creationId xmlns:a16="http://schemas.microsoft.com/office/drawing/2014/main" id="{956F19C0-AF0D-3E84-0EBB-AA247B91B353}"/>
                  </a:ext>
                </a:extLst>
              </p:cNvPr>
              <p:cNvSpPr>
                <a:spLocks noGrp="1"/>
              </p:cNvSpPr>
              <p:nvPr>
                <p:ph sz="half" idx="1"/>
              </p:nvPr>
            </p:nvSpPr>
            <p:spPr/>
            <p:txBody>
              <a:bodyPr/>
              <a:lstStyle/>
              <a:p>
                <a:r>
                  <a:rPr lang="zh-CN" altLang="en-US" dirty="0">
                    <a:solidFill>
                      <a:srgbClr val="FF0000"/>
                    </a:solidFill>
                  </a:rPr>
                  <a:t>高温下</a:t>
                </a:r>
                <a14:m>
                  <m:oMath xmlns:m="http://schemas.openxmlformats.org/officeDocument/2006/math">
                    <m:r>
                      <a:rPr lang="en-US" i="1" smtClean="0">
                        <a:solidFill>
                          <a:srgbClr val="000000"/>
                        </a:solidFill>
                        <a:latin typeface="Cambria Math" panose="02040503050406030204" pitchFamily="18" charset="0"/>
                      </a:rPr>
                      <m:t>𝑇</m:t>
                    </m:r>
                    <m:r>
                      <a:rPr lang="en-US" altLang="zh-CN" i="1">
                        <a:latin typeface="Cambria Math" panose="02040503050406030204" pitchFamily="18" charset="0"/>
                        <a:ea typeface="Cambria Math" panose="02040503050406030204" pitchFamily="18" charset="0"/>
                      </a:rPr>
                      <m:t>≫</m:t>
                    </m:r>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𝑇</m:t>
                        </m:r>
                      </m:e>
                      <m:sub>
                        <m:r>
                          <a:rPr lang="en-US" b="0" i="1" smtClean="0">
                            <a:solidFill>
                              <a:srgbClr val="000000"/>
                            </a:solidFill>
                            <a:latin typeface="Cambria Math" panose="02040503050406030204" pitchFamily="18" charset="0"/>
                          </a:rPr>
                          <m:t>𝐷</m:t>
                        </m:r>
                      </m:sub>
                    </m:sSub>
                  </m:oMath>
                </a14:m>
                <a:endParaRPr lang="en-US" dirty="0"/>
              </a:p>
              <a:p>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𝑓</m:t>
                        </m:r>
                      </m:e>
                      <m:sub>
                        <m:r>
                          <a:rPr lang="en-US" i="1">
                            <a:solidFill>
                              <a:srgbClr val="000000"/>
                            </a:solidFill>
                            <a:latin typeface="Cambria Math" panose="02040503050406030204" pitchFamily="18" charset="0"/>
                          </a:rPr>
                          <m:t>𝐷</m:t>
                        </m:r>
                      </m:sub>
                    </m:sSub>
                    <m:d>
                      <m:dPr>
                        <m:ctrlPr>
                          <a:rPr lang="en-US" i="1">
                            <a:solidFill>
                              <a:srgbClr val="000000"/>
                            </a:solidFill>
                            <a:latin typeface="Cambria Math" panose="02040503050406030204" pitchFamily="18" charset="0"/>
                          </a:rPr>
                        </m:ctrlPr>
                      </m:dPr>
                      <m:e>
                        <m:f>
                          <m:fPr>
                            <m:ctrlPr>
                              <a:rPr lang="en-US" i="1">
                                <a:solidFill>
                                  <a:srgbClr val="000000"/>
                                </a:solidFill>
                                <a:latin typeface="Cambria Math" panose="02040503050406030204" pitchFamily="18" charset="0"/>
                              </a:rPr>
                            </m:ctrlPr>
                          </m:fPr>
                          <m:num>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𝑇</m:t>
                                </m:r>
                              </m:e>
                              <m:sub>
                                <m:r>
                                  <a:rPr lang="en-US" i="1">
                                    <a:solidFill>
                                      <a:srgbClr val="000000"/>
                                    </a:solidFill>
                                    <a:latin typeface="Cambria Math" panose="02040503050406030204" pitchFamily="18" charset="0"/>
                                  </a:rPr>
                                  <m:t>𝐷</m:t>
                                </m:r>
                              </m:sub>
                            </m:sSub>
                          </m:num>
                          <m:den>
                            <m:r>
                              <a:rPr lang="en-US" i="1">
                                <a:solidFill>
                                  <a:srgbClr val="000000"/>
                                </a:solidFill>
                                <a:latin typeface="Cambria Math" panose="02040503050406030204" pitchFamily="18" charset="0"/>
                              </a:rPr>
                              <m:t>𝑇</m:t>
                            </m:r>
                          </m:den>
                        </m:f>
                      </m:e>
                    </m:d>
                  </m:oMath>
                </a14:m>
                <a:r>
                  <a:rPr lang="en-US" dirty="0">
                    <a:solidFill>
                      <a:srgbClr val="000000"/>
                    </a:solidFill>
                  </a:rPr>
                  <a:t> </a:t>
                </a:r>
                <a14:m>
                  <m:oMath xmlns:m="http://schemas.openxmlformats.org/officeDocument/2006/math">
                    <m:r>
                      <a:rPr lang="en-US" i="1">
                        <a:solidFill>
                          <a:srgbClr val="000000"/>
                        </a:solidFill>
                        <a:latin typeface="Cambria Math" panose="02040503050406030204" pitchFamily="18" charset="0"/>
                      </a:rPr>
                      <m:t>≈1</m:t>
                    </m:r>
                  </m:oMath>
                </a14:m>
                <a:endParaRPr lang="en-US" i="1" dirty="0">
                  <a:solidFill>
                    <a:srgbClr val="000000"/>
                  </a:solidFill>
                  <a:latin typeface="Cambria Math" panose="02040503050406030204" pitchFamily="18" charset="0"/>
                </a:endParaRPr>
              </a:p>
              <a:p>
                <a14:m>
                  <m:oMath xmlns:m="http://schemas.openxmlformats.org/officeDocument/2006/math">
                    <m:r>
                      <a:rPr lang="en-US" b="0" i="1" smtClean="0">
                        <a:solidFill>
                          <a:srgbClr val="000000"/>
                        </a:solidFill>
                        <a:latin typeface="Cambria Math" panose="02040503050406030204" pitchFamily="18" charset="0"/>
                      </a:rPr>
                      <m:t>𝐶</m:t>
                    </m:r>
                    <m:r>
                      <a:rPr lang="en-US" altLang="zh-CN" i="1">
                        <a:solidFill>
                          <a:srgbClr val="000000"/>
                        </a:solidFill>
                        <a:latin typeface="Cambria Math" panose="02040503050406030204" pitchFamily="18" charset="0"/>
                      </a:rPr>
                      <m:t>=3</m:t>
                    </m:r>
                    <m:r>
                      <a:rPr lang="en-US" altLang="zh-CN" i="1">
                        <a:solidFill>
                          <a:srgbClr val="000000"/>
                        </a:solidFill>
                        <a:latin typeface="Cambria Math" panose="02040503050406030204" pitchFamily="18" charset="0"/>
                      </a:rPr>
                      <m:t>𝑁</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𝑘</m:t>
                        </m:r>
                      </m:e>
                      <m:sub>
                        <m:r>
                          <a:rPr lang="en-US" altLang="zh-CN" i="1">
                            <a:solidFill>
                              <a:srgbClr val="000000"/>
                            </a:solidFill>
                            <a:latin typeface="Cambria Math" panose="02040503050406030204" pitchFamily="18" charset="0"/>
                          </a:rPr>
                          <m:t>𝐵</m:t>
                        </m:r>
                      </m:sub>
                    </m:sSub>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𝑓</m:t>
                        </m:r>
                      </m:e>
                      <m:sub>
                        <m:r>
                          <a:rPr lang="en-US" i="1">
                            <a:solidFill>
                              <a:schemeClr val="tx1"/>
                            </a:solidFill>
                            <a:latin typeface="Cambria Math" panose="02040503050406030204" pitchFamily="18" charset="0"/>
                          </a:rPr>
                          <m:t>𝐷</m:t>
                        </m:r>
                      </m:sub>
                    </m:sSub>
                    <m:d>
                      <m:dPr>
                        <m:ctrlPr>
                          <a:rPr lang="en-US" i="1">
                            <a:solidFill>
                              <a:schemeClr val="tx1"/>
                            </a:solidFill>
                            <a:latin typeface="Cambria Math" panose="02040503050406030204" pitchFamily="18" charset="0"/>
                          </a:rPr>
                        </m:ctrlPr>
                      </m:dPr>
                      <m:e>
                        <m:f>
                          <m:fPr>
                            <m:ctrlPr>
                              <a:rPr lang="en-US" i="1">
                                <a:solidFill>
                                  <a:schemeClr val="tx1"/>
                                </a:solidFill>
                                <a:latin typeface="Cambria Math" panose="02040503050406030204" pitchFamily="18" charset="0"/>
                              </a:rPr>
                            </m:ctrlPr>
                          </m:fPr>
                          <m:num>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𝑇</m:t>
                                </m:r>
                              </m:e>
                              <m:sub>
                                <m:r>
                                  <a:rPr lang="en-US" i="1">
                                    <a:solidFill>
                                      <a:schemeClr val="tx1"/>
                                    </a:solidFill>
                                    <a:latin typeface="Cambria Math" panose="02040503050406030204" pitchFamily="18" charset="0"/>
                                  </a:rPr>
                                  <m:t>𝐷</m:t>
                                </m:r>
                              </m:sub>
                            </m:sSub>
                          </m:num>
                          <m:den>
                            <m:r>
                              <a:rPr lang="en-US" i="1">
                                <a:solidFill>
                                  <a:schemeClr val="tx1"/>
                                </a:solidFill>
                                <a:latin typeface="Cambria Math" panose="02040503050406030204" pitchFamily="18" charset="0"/>
                              </a:rPr>
                              <m:t>𝑇</m:t>
                            </m:r>
                          </m:den>
                        </m:f>
                      </m:e>
                    </m:d>
                    <m:r>
                      <a:rPr lang="en-US" i="1">
                        <a:solidFill>
                          <a:srgbClr val="000000"/>
                        </a:solidFill>
                        <a:latin typeface="Cambria Math" panose="02040503050406030204" pitchFamily="18" charset="0"/>
                      </a:rPr>
                      <m:t>≈</m:t>
                    </m:r>
                    <m:r>
                      <a:rPr lang="en-US" i="1" smtClean="0">
                        <a:solidFill>
                          <a:srgbClr val="FF0000"/>
                        </a:solidFill>
                        <a:latin typeface="Cambria Math" panose="02040503050406030204" pitchFamily="18" charset="0"/>
                      </a:rPr>
                      <m:t>3</m:t>
                    </m:r>
                    <m:r>
                      <a:rPr lang="en-US" b="0" i="1" smtClean="0">
                        <a:solidFill>
                          <a:srgbClr val="FF0000"/>
                        </a:solidFill>
                        <a:latin typeface="Cambria Math" panose="02040503050406030204" pitchFamily="18" charset="0"/>
                      </a:rPr>
                      <m:t>𝑁</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𝑘</m:t>
                        </m:r>
                      </m:e>
                      <m:sub>
                        <m:r>
                          <a:rPr lang="en-US" i="1">
                            <a:solidFill>
                              <a:srgbClr val="FF0000"/>
                            </a:solidFill>
                            <a:latin typeface="Cambria Math" panose="02040503050406030204" pitchFamily="18" charset="0"/>
                          </a:rPr>
                          <m:t>𝐵</m:t>
                        </m:r>
                      </m:sub>
                    </m:sSub>
                  </m:oMath>
                </a14:m>
                <a:endParaRPr lang="en-US" dirty="0"/>
              </a:p>
              <a:p>
                <a:r>
                  <a:rPr lang="zh-CN" altLang="en-US" dirty="0">
                    <a:solidFill>
                      <a:srgbClr val="FF0000"/>
                    </a:solidFill>
                  </a:rPr>
                  <a:t>退化为</a:t>
                </a:r>
                <a:r>
                  <a:rPr lang="en-US" altLang="zh-CN" dirty="0">
                    <a:solidFill>
                      <a:srgbClr val="FF0000"/>
                    </a:solidFill>
                  </a:rPr>
                  <a:t>DP</a:t>
                </a:r>
                <a:r>
                  <a:rPr lang="zh-CN" altLang="en-US" dirty="0">
                    <a:solidFill>
                      <a:srgbClr val="FF0000"/>
                    </a:solidFill>
                  </a:rPr>
                  <a:t>定律</a:t>
                </a:r>
                <a:endParaRPr lang="en-US" dirty="0">
                  <a:solidFill>
                    <a:srgbClr val="FF0000"/>
                  </a:solidFill>
                </a:endParaRPr>
              </a:p>
            </p:txBody>
          </p:sp>
        </mc:Choice>
        <mc:Fallback>
          <p:sp>
            <p:nvSpPr>
              <p:cNvPr id="6" name="内容占位符 5">
                <a:extLst>
                  <a:ext uri="{FF2B5EF4-FFF2-40B4-BE49-F238E27FC236}">
                    <a16:creationId xmlns:a16="http://schemas.microsoft.com/office/drawing/2014/main" id="{956F19C0-AF0D-3E84-0EBB-AA247B91B353}"/>
                  </a:ext>
                </a:extLst>
              </p:cNvPr>
              <p:cNvSpPr>
                <a:spLocks noGrp="1" noRot="1" noChangeAspect="1" noMove="1" noResize="1" noEditPoints="1" noAdjustHandles="1" noChangeArrowheads="1" noChangeShapeType="1" noTextEdit="1"/>
              </p:cNvSpPr>
              <p:nvPr>
                <p:ph sz="half" idx="1"/>
              </p:nvPr>
            </p:nvSpPr>
            <p:spPr>
              <a:blipFill>
                <a:blip r:embed="rId2"/>
                <a:stretch>
                  <a:fillRect l="-2118" t="-294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内容占位符 6">
                <a:extLst>
                  <a:ext uri="{FF2B5EF4-FFF2-40B4-BE49-F238E27FC236}">
                    <a16:creationId xmlns:a16="http://schemas.microsoft.com/office/drawing/2014/main" id="{B04151A0-6860-71EA-4A3A-41F468B63806}"/>
                  </a:ext>
                </a:extLst>
              </p:cNvPr>
              <p:cNvSpPr>
                <a:spLocks noGrp="1"/>
              </p:cNvSpPr>
              <p:nvPr>
                <p:ph sz="half" idx="2"/>
              </p:nvPr>
            </p:nvSpPr>
            <p:spPr/>
            <p:txBody>
              <a:bodyPr/>
              <a:lstStyle/>
              <a:p>
                <a:r>
                  <a:rPr lang="zh-CN" altLang="en-US" dirty="0">
                    <a:solidFill>
                      <a:srgbClr val="FF0000"/>
                    </a:solidFill>
                  </a:rPr>
                  <a:t>低温下</a:t>
                </a:r>
                <a14:m>
                  <m:oMath xmlns:m="http://schemas.openxmlformats.org/officeDocument/2006/math">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𝑇</m:t>
                        </m:r>
                      </m:e>
                      <m:sub>
                        <m:r>
                          <a:rPr lang="en-US" b="0" i="1" smtClean="0">
                            <a:solidFill>
                              <a:srgbClr val="000000"/>
                            </a:solidFill>
                            <a:latin typeface="Cambria Math" panose="02040503050406030204" pitchFamily="18" charset="0"/>
                          </a:rPr>
                          <m:t>𝐷</m:t>
                        </m:r>
                      </m:sub>
                    </m:sSub>
                    <m:r>
                      <a:rPr lang="en-US" altLang="zh-CN" i="1">
                        <a:latin typeface="Cambria Math" panose="02040503050406030204" pitchFamily="18" charset="0"/>
                        <a:ea typeface="Cambria Math" panose="02040503050406030204" pitchFamily="18" charset="0"/>
                      </a:rPr>
                      <m:t>≫</m:t>
                    </m:r>
                    <m:r>
                      <a:rPr lang="en-US" i="1">
                        <a:solidFill>
                          <a:srgbClr val="000000"/>
                        </a:solidFill>
                        <a:latin typeface="Cambria Math" panose="02040503050406030204" pitchFamily="18" charset="0"/>
                      </a:rPr>
                      <m:t>𝑇</m:t>
                    </m:r>
                    <m:r>
                      <a:rPr lang="en-US" b="0" i="0" smtClean="0">
                        <a:solidFill>
                          <a:srgbClr val="000000"/>
                        </a:solidFill>
                        <a:latin typeface="Cambria Math" panose="02040503050406030204" pitchFamily="18" charset="0"/>
                      </a:rPr>
                      <m:t>,  </m:t>
                    </m:r>
                    <m:f>
                      <m:fPr>
                        <m:type m:val="lin"/>
                        <m:ctrlPr>
                          <a:rPr lang="en-US" i="1">
                            <a:solidFill>
                              <a:srgbClr val="000000"/>
                            </a:solidFill>
                            <a:latin typeface="Cambria Math" panose="02040503050406030204" pitchFamily="18" charset="0"/>
                          </a:rPr>
                        </m:ctrlPr>
                      </m:fPr>
                      <m:num>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𝑇</m:t>
                            </m:r>
                          </m:e>
                          <m:sub>
                            <m:r>
                              <a:rPr lang="en-US" i="1">
                                <a:solidFill>
                                  <a:srgbClr val="000000"/>
                                </a:solidFill>
                                <a:latin typeface="Cambria Math" panose="02040503050406030204" pitchFamily="18" charset="0"/>
                              </a:rPr>
                              <m:t>𝐷</m:t>
                            </m:r>
                          </m:sub>
                        </m:sSub>
                      </m:num>
                      <m:den>
                        <m:r>
                          <a:rPr lang="en-US" i="1">
                            <a:solidFill>
                              <a:srgbClr val="000000"/>
                            </a:solidFill>
                            <a:latin typeface="Cambria Math" panose="02040503050406030204" pitchFamily="18" charset="0"/>
                          </a:rPr>
                          <m:t>𝑇</m:t>
                        </m:r>
                      </m:den>
                    </m:f>
                    <m:r>
                      <a:rPr lang="en-US" i="1">
                        <a:solidFill>
                          <a:srgbClr val="000000"/>
                        </a:solidFill>
                        <a:latin typeface="Cambria Math" panose="02040503050406030204" pitchFamily="18" charset="0"/>
                      </a:rPr>
                      <m:t>→∞</m:t>
                    </m:r>
                  </m:oMath>
                </a14:m>
                <a:endParaRPr lang="en-US" dirty="0"/>
              </a:p>
              <a:p>
                <a14:m>
                  <m:oMath xmlns:m="http://schemas.openxmlformats.org/officeDocument/2006/math">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𝑓</m:t>
                        </m:r>
                      </m:e>
                      <m:sub>
                        <m:r>
                          <a:rPr lang="en-US" altLang="zh-CN" i="1">
                            <a:solidFill>
                              <a:srgbClr val="000000"/>
                            </a:solidFill>
                            <a:latin typeface="Cambria Math" panose="02040503050406030204" pitchFamily="18" charset="0"/>
                          </a:rPr>
                          <m:t>𝐷</m:t>
                        </m:r>
                      </m:sub>
                    </m:sSub>
                    <m:d>
                      <m:dPr>
                        <m:ctrlPr>
                          <a:rPr lang="en-US" altLang="zh-CN" i="1">
                            <a:solidFill>
                              <a:srgbClr val="000000"/>
                            </a:solidFill>
                            <a:latin typeface="Cambria Math" panose="02040503050406030204" pitchFamily="18" charset="0"/>
                          </a:rPr>
                        </m:ctrlPr>
                      </m:dPr>
                      <m:e>
                        <m:f>
                          <m:fPr>
                            <m:ctrlPr>
                              <a:rPr lang="en-US" altLang="zh-CN" i="1">
                                <a:solidFill>
                                  <a:srgbClr val="000000"/>
                                </a:solidFill>
                                <a:latin typeface="Cambria Math" panose="02040503050406030204" pitchFamily="18" charset="0"/>
                              </a:rPr>
                            </m:ctrlPr>
                          </m:fPr>
                          <m:num>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𝑇</m:t>
                                </m:r>
                              </m:e>
                              <m:sub>
                                <m:r>
                                  <a:rPr lang="en-US" altLang="zh-CN" i="1">
                                    <a:solidFill>
                                      <a:srgbClr val="000000"/>
                                    </a:solidFill>
                                    <a:latin typeface="Cambria Math" panose="02040503050406030204" pitchFamily="18" charset="0"/>
                                  </a:rPr>
                                  <m:t>𝐷</m:t>
                                </m:r>
                              </m:sub>
                            </m:sSub>
                          </m:num>
                          <m:den>
                            <m:r>
                              <a:rPr lang="en-US" altLang="zh-CN" i="1">
                                <a:solidFill>
                                  <a:srgbClr val="000000"/>
                                </a:solidFill>
                                <a:latin typeface="Cambria Math" panose="02040503050406030204" pitchFamily="18" charset="0"/>
                              </a:rPr>
                              <m:t>𝑇</m:t>
                            </m:r>
                          </m:den>
                        </m:f>
                      </m:e>
                    </m:d>
                    <m:r>
                      <a:rPr lang="en-US" altLang="zh-CN" i="1">
                        <a:solidFill>
                          <a:srgbClr val="000000"/>
                        </a:solidFill>
                        <a:latin typeface="Cambria Math" panose="02040503050406030204" pitchFamily="18" charset="0"/>
                      </a:rPr>
                      <m:t>→</m:t>
                    </m:r>
                    <m:f>
                      <m:fPr>
                        <m:ctrlPr>
                          <a:rPr lang="en-US"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4</m:t>
                        </m:r>
                      </m:num>
                      <m:den>
                        <m:r>
                          <a:rPr lang="en-US" altLang="zh-CN" i="1">
                            <a:solidFill>
                              <a:schemeClr val="tx1"/>
                            </a:solidFill>
                            <a:latin typeface="Cambria Math" panose="02040503050406030204" pitchFamily="18" charset="0"/>
                          </a:rPr>
                          <m:t>5</m:t>
                        </m:r>
                      </m:den>
                    </m:f>
                    <m:sSup>
                      <m:sSupPr>
                        <m:ctrlPr>
                          <a:rPr lang="en-US" altLang="zh-CN" i="1">
                            <a:solidFill>
                              <a:schemeClr val="tx1"/>
                            </a:solidFill>
                            <a:latin typeface="Cambria Math" panose="02040503050406030204" pitchFamily="18" charset="0"/>
                          </a:rPr>
                        </m:ctrlPr>
                      </m:sSupPr>
                      <m:e>
                        <m:r>
                          <a:rPr lang="en-US" altLang="zh-CN" i="1">
                            <a:solidFill>
                              <a:schemeClr val="tx1"/>
                            </a:solidFill>
                            <a:latin typeface="Cambria Math" panose="02040503050406030204" pitchFamily="18" charset="0"/>
                          </a:rPr>
                          <m:t>𝜋</m:t>
                        </m:r>
                      </m:e>
                      <m:sup>
                        <m:r>
                          <a:rPr lang="en-US" altLang="zh-CN" i="1">
                            <a:solidFill>
                              <a:schemeClr val="tx1"/>
                            </a:solidFill>
                            <a:latin typeface="Cambria Math" panose="02040503050406030204" pitchFamily="18" charset="0"/>
                          </a:rPr>
                          <m:t>4</m:t>
                        </m:r>
                      </m:sup>
                    </m:sSup>
                    <m:sSup>
                      <m:sSupPr>
                        <m:ctrlPr>
                          <a:rPr lang="en-US" altLang="zh-CN" i="1">
                            <a:solidFill>
                              <a:schemeClr val="tx1"/>
                            </a:solidFill>
                            <a:latin typeface="Cambria Math" panose="02040503050406030204" pitchFamily="18" charset="0"/>
                          </a:rPr>
                        </m:ctrlPr>
                      </m:sSupPr>
                      <m:e>
                        <m:d>
                          <m:dPr>
                            <m:ctrlPr>
                              <a:rPr lang="en-US" altLang="zh-CN" i="1">
                                <a:solidFill>
                                  <a:schemeClr val="tx1"/>
                                </a:solidFill>
                                <a:latin typeface="Cambria Math" panose="02040503050406030204" pitchFamily="18" charset="0"/>
                              </a:rPr>
                            </m:ctrlPr>
                          </m:dPr>
                          <m:e>
                            <m:f>
                              <m:fPr>
                                <m:ctrlPr>
                                  <a:rPr lang="en-US"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𝑇</m:t>
                                </m:r>
                              </m:num>
                              <m:den>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𝑇</m:t>
                                    </m:r>
                                  </m:e>
                                  <m:sub>
                                    <m:r>
                                      <a:rPr lang="en-US" altLang="zh-CN" i="1">
                                        <a:solidFill>
                                          <a:schemeClr val="tx1"/>
                                        </a:solidFill>
                                        <a:latin typeface="Cambria Math" panose="02040503050406030204" pitchFamily="18" charset="0"/>
                                      </a:rPr>
                                      <m:t>𝐷</m:t>
                                    </m:r>
                                  </m:sub>
                                </m:sSub>
                              </m:den>
                            </m:f>
                          </m:e>
                        </m:d>
                      </m:e>
                      <m:sup>
                        <m:r>
                          <a:rPr lang="en-US" altLang="zh-CN" i="1">
                            <a:solidFill>
                              <a:schemeClr val="tx1"/>
                            </a:solidFill>
                            <a:latin typeface="Cambria Math" panose="02040503050406030204" pitchFamily="18" charset="0"/>
                          </a:rPr>
                          <m:t>3</m:t>
                        </m:r>
                      </m:sup>
                    </m:sSup>
                  </m:oMath>
                </a14:m>
                <a:endParaRPr lang="en-US" dirty="0"/>
              </a:p>
              <a:p>
                <a14:m>
                  <m:oMath xmlns:m="http://schemas.openxmlformats.org/officeDocument/2006/math">
                    <m:r>
                      <a:rPr lang="en-US" b="0" i="1" smtClean="0">
                        <a:solidFill>
                          <a:schemeClr val="tx1"/>
                        </a:solidFill>
                        <a:latin typeface="Cambria Math" panose="02040503050406030204" pitchFamily="18" charset="0"/>
                      </a:rPr>
                      <m:t>𝐶</m:t>
                    </m:r>
                    <m:r>
                      <a:rPr lang="en-US" i="1" smtClean="0">
                        <a:solidFill>
                          <a:schemeClr val="tx1"/>
                        </a:solidFill>
                        <a:latin typeface="Cambria Math" panose="02040503050406030204" pitchFamily="18" charset="0"/>
                      </a:rPr>
                      <m:t>→</m:t>
                    </m:r>
                  </m:oMath>
                </a14:m>
                <a:r>
                  <a:rPr lang="en-US" dirty="0">
                    <a:solidFill>
                      <a:schemeClr val="tx1"/>
                    </a:solidFill>
                  </a:rPr>
                  <a:t> </a:t>
                </a:r>
                <a14:m>
                  <m:oMath xmlns:m="http://schemas.openxmlformats.org/officeDocument/2006/math">
                    <m:r>
                      <a:rPr lang="en-US" altLang="zh-CN" i="1">
                        <a:solidFill>
                          <a:schemeClr val="tx1"/>
                        </a:solidFill>
                        <a:latin typeface="Cambria Math" panose="02040503050406030204" pitchFamily="18" charset="0"/>
                      </a:rPr>
                      <m:t>3</m:t>
                    </m:r>
                    <m:r>
                      <a:rPr lang="en-US" altLang="zh-CN" i="1">
                        <a:solidFill>
                          <a:schemeClr val="tx1"/>
                        </a:solidFill>
                        <a:latin typeface="Cambria Math" panose="02040503050406030204" pitchFamily="18" charset="0"/>
                      </a:rPr>
                      <m:t>𝑁</m:t>
                    </m:r>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𝑘</m:t>
                        </m:r>
                      </m:e>
                      <m:sub>
                        <m:r>
                          <a:rPr lang="en-US" altLang="zh-CN" i="1">
                            <a:solidFill>
                              <a:schemeClr val="tx1"/>
                            </a:solidFill>
                            <a:latin typeface="Cambria Math" panose="02040503050406030204" pitchFamily="18" charset="0"/>
                          </a:rPr>
                          <m:t>𝐵</m:t>
                        </m:r>
                      </m:sub>
                    </m:sSub>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4</m:t>
                        </m:r>
                      </m:num>
                      <m:den>
                        <m:r>
                          <a:rPr lang="en-US" i="1">
                            <a:solidFill>
                              <a:schemeClr val="tx1"/>
                            </a:solidFill>
                            <a:latin typeface="Cambria Math" panose="02040503050406030204" pitchFamily="18" charset="0"/>
                          </a:rPr>
                          <m:t>5</m:t>
                        </m:r>
                      </m:den>
                    </m:f>
                    <m:sSup>
                      <m:sSupPr>
                        <m:ctrlPr>
                          <a:rPr lang="en-US" altLang="zh-CN" i="1">
                            <a:solidFill>
                              <a:schemeClr val="tx1"/>
                            </a:solidFill>
                            <a:latin typeface="Cambria Math" panose="02040503050406030204" pitchFamily="18" charset="0"/>
                          </a:rPr>
                        </m:ctrlPr>
                      </m:sSupPr>
                      <m:e>
                        <m:r>
                          <a:rPr lang="en-US" altLang="zh-CN" i="1">
                            <a:solidFill>
                              <a:schemeClr val="tx1"/>
                            </a:solidFill>
                            <a:latin typeface="Cambria Math" panose="02040503050406030204" pitchFamily="18" charset="0"/>
                          </a:rPr>
                          <m:t>𝜋</m:t>
                        </m:r>
                      </m:e>
                      <m:sup>
                        <m:r>
                          <a:rPr lang="en-US" altLang="zh-CN" i="1">
                            <a:solidFill>
                              <a:schemeClr val="tx1"/>
                            </a:solidFill>
                            <a:latin typeface="Cambria Math" panose="02040503050406030204" pitchFamily="18" charset="0"/>
                          </a:rPr>
                          <m:t>4</m:t>
                        </m:r>
                      </m:sup>
                    </m:sSup>
                    <m:sSup>
                      <m:sSupPr>
                        <m:ctrlPr>
                          <a:rPr lang="en-US" i="1">
                            <a:solidFill>
                              <a:srgbClr val="FF0000"/>
                            </a:solidFill>
                            <a:latin typeface="Cambria Math" panose="02040503050406030204" pitchFamily="18" charset="0"/>
                          </a:rPr>
                        </m:ctrlPr>
                      </m:sSupPr>
                      <m:e>
                        <m:d>
                          <m:dPr>
                            <m:ctrlPr>
                              <a:rPr lang="en-US" i="1">
                                <a:solidFill>
                                  <a:srgbClr val="FF0000"/>
                                </a:solidFill>
                                <a:latin typeface="Cambria Math" panose="02040503050406030204" pitchFamily="18" charset="0"/>
                              </a:rPr>
                            </m:ctrlPr>
                          </m:dPr>
                          <m:e>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𝑇</m:t>
                                </m:r>
                              </m:num>
                              <m:den>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𝑇</m:t>
                                    </m:r>
                                  </m:e>
                                  <m:sub>
                                    <m:r>
                                      <a:rPr lang="en-US" i="1">
                                        <a:solidFill>
                                          <a:srgbClr val="FF0000"/>
                                        </a:solidFill>
                                        <a:latin typeface="Cambria Math" panose="02040503050406030204" pitchFamily="18" charset="0"/>
                                      </a:rPr>
                                      <m:t>𝐷</m:t>
                                    </m:r>
                                  </m:sub>
                                </m:sSub>
                              </m:den>
                            </m:f>
                          </m:e>
                        </m:d>
                      </m:e>
                      <m:sup>
                        <m:r>
                          <a:rPr lang="en-US" i="1">
                            <a:solidFill>
                              <a:srgbClr val="FF0000"/>
                            </a:solidFill>
                            <a:latin typeface="Cambria Math" panose="02040503050406030204" pitchFamily="18" charset="0"/>
                          </a:rPr>
                          <m:t>3</m:t>
                        </m:r>
                      </m:sup>
                    </m:sSup>
                  </m:oMath>
                </a14:m>
                <a:endParaRPr lang="en-US" altLang="zh-CN" sz="2800" dirty="0">
                  <a:solidFill>
                    <a:srgbClr val="FF0000"/>
                  </a:solidFill>
                </a:endParaRPr>
              </a:p>
              <a:p>
                <a:r>
                  <a:rPr lang="zh-CN" altLang="en-US" sz="2800" dirty="0">
                    <a:solidFill>
                      <a:srgbClr val="FF0000"/>
                    </a:solidFill>
                  </a:rPr>
                  <a:t>此为德拜定律</a:t>
                </a:r>
                <a:endParaRPr lang="en-US" altLang="zh-CN" sz="2800" dirty="0">
                  <a:solidFill>
                    <a:srgbClr val="FF0000"/>
                  </a:solidFill>
                </a:endParaRPr>
              </a:p>
              <a:p>
                <a:r>
                  <a:rPr lang="zh-CN" altLang="en-US" sz="2800" dirty="0">
                    <a:solidFill>
                      <a:srgbClr val="FF0000"/>
                    </a:solidFill>
                  </a:rPr>
                  <a:t>热容随温度的三次方下降</a:t>
                </a:r>
                <a:endParaRPr lang="en-US" dirty="0">
                  <a:solidFill>
                    <a:srgbClr val="FF0000"/>
                  </a:solidFill>
                </a:endParaRPr>
              </a:p>
            </p:txBody>
          </p:sp>
        </mc:Choice>
        <mc:Fallback>
          <p:sp>
            <p:nvSpPr>
              <p:cNvPr id="7" name="内容占位符 6">
                <a:extLst>
                  <a:ext uri="{FF2B5EF4-FFF2-40B4-BE49-F238E27FC236}">
                    <a16:creationId xmlns:a16="http://schemas.microsoft.com/office/drawing/2014/main" id="{B04151A0-6860-71EA-4A3A-41F468B63806}"/>
                  </a:ext>
                </a:extLst>
              </p:cNvPr>
              <p:cNvSpPr>
                <a:spLocks noGrp="1" noRot="1" noChangeAspect="1" noMove="1" noResize="1" noEditPoints="1" noAdjustHandles="1" noChangeArrowheads="1" noChangeShapeType="1" noTextEdit="1"/>
              </p:cNvSpPr>
              <p:nvPr>
                <p:ph sz="half" idx="2"/>
              </p:nvPr>
            </p:nvSpPr>
            <p:spPr>
              <a:blipFill>
                <a:blip r:embed="rId3"/>
                <a:stretch>
                  <a:fillRect l="-2118" t="-2941"/>
                </a:stretch>
              </a:blipFill>
            </p:spPr>
            <p:txBody>
              <a:bodyPr/>
              <a:lstStyle/>
              <a:p>
                <a:r>
                  <a:rPr lang="zh-CN" altLang="en-US">
                    <a:noFill/>
                  </a:rPr>
                  <a:t> </a:t>
                </a:r>
              </a:p>
            </p:txBody>
          </p:sp>
        </mc:Fallback>
      </mc:AlternateContent>
      <p:graphicFrame>
        <p:nvGraphicFramePr>
          <p:cNvPr id="2" name="表格 1">
            <a:extLst>
              <a:ext uri="{FF2B5EF4-FFF2-40B4-BE49-F238E27FC236}">
                <a16:creationId xmlns:a16="http://schemas.microsoft.com/office/drawing/2014/main" id="{BBAD72D7-D19D-BDAF-A5A0-BCB2A33970C0}"/>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34</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594356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fade">
                                      <p:cBhvr>
                                        <p:cTn id="27" dur="500"/>
                                        <p:tgtEl>
                                          <p:spTgt spid="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Effect transition="in" filter="fade">
                                      <p:cBhvr>
                                        <p:cTn id="32" dur="500"/>
                                        <p:tgtEl>
                                          <p:spTgt spid="7">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xEl>
                                              <p:pRg st="2" end="2"/>
                                            </p:txEl>
                                          </p:spTgt>
                                        </p:tgtEl>
                                        <p:attrNameLst>
                                          <p:attrName>style.visibility</p:attrName>
                                        </p:attrNameLst>
                                      </p:cBhvr>
                                      <p:to>
                                        <p:strVal val="visible"/>
                                      </p:to>
                                    </p:set>
                                    <p:animEffect transition="in" filter="fade">
                                      <p:cBhvr>
                                        <p:cTn id="37" dur="500"/>
                                        <p:tgtEl>
                                          <p:spTgt spid="7">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7">
                                            <p:txEl>
                                              <p:pRg st="3" end="3"/>
                                            </p:txEl>
                                          </p:spTgt>
                                        </p:tgtEl>
                                        <p:attrNameLst>
                                          <p:attrName>style.visibility</p:attrName>
                                        </p:attrNameLst>
                                      </p:cBhvr>
                                      <p:to>
                                        <p:strVal val="visible"/>
                                      </p:to>
                                    </p:set>
                                    <p:animEffect transition="in" filter="fade">
                                      <p:cBhvr>
                                        <p:cTn id="42" dur="500"/>
                                        <p:tgtEl>
                                          <p:spTgt spid="7">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7">
                                            <p:txEl>
                                              <p:pRg st="4" end="4"/>
                                            </p:txEl>
                                          </p:spTgt>
                                        </p:tgtEl>
                                        <p:attrNameLst>
                                          <p:attrName>style.visibility</p:attrName>
                                        </p:attrNameLst>
                                      </p:cBhvr>
                                      <p:to>
                                        <p:strVal val="visible"/>
                                      </p:to>
                                    </p:set>
                                    <p:animEffect transition="in" filter="fade">
                                      <p:cBhvr>
                                        <p:cTn id="4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C35A855-FDFE-2A5F-66E6-75B4D5F98034}"/>
              </a:ext>
            </a:extLst>
          </p:cNvPr>
          <p:cNvPicPr>
            <a:picLocks noChangeAspect="1"/>
          </p:cNvPicPr>
          <p:nvPr/>
        </p:nvPicPr>
        <p:blipFill>
          <a:blip r:embed="rId2"/>
          <a:stretch>
            <a:fillRect/>
          </a:stretch>
        </p:blipFill>
        <p:spPr>
          <a:xfrm>
            <a:off x="497999" y="454637"/>
            <a:ext cx="4403726" cy="6196818"/>
          </a:xfrm>
          <a:prstGeom prst="rect">
            <a:avLst/>
          </a:prstGeom>
        </p:spPr>
      </p:pic>
      <p:pic>
        <p:nvPicPr>
          <p:cNvPr id="5" name="图片 4">
            <a:extLst>
              <a:ext uri="{FF2B5EF4-FFF2-40B4-BE49-F238E27FC236}">
                <a16:creationId xmlns:a16="http://schemas.microsoft.com/office/drawing/2014/main" id="{A8AF9EEF-0CB8-16E0-C6DF-19159138D3AF}"/>
              </a:ext>
            </a:extLst>
          </p:cNvPr>
          <p:cNvPicPr>
            <a:picLocks noChangeAspect="1"/>
          </p:cNvPicPr>
          <p:nvPr/>
        </p:nvPicPr>
        <p:blipFill>
          <a:blip r:embed="rId3"/>
          <a:stretch>
            <a:fillRect/>
          </a:stretch>
        </p:blipFill>
        <p:spPr>
          <a:xfrm>
            <a:off x="5533293" y="553111"/>
            <a:ext cx="5976497" cy="5370298"/>
          </a:xfrm>
          <a:prstGeom prst="rect">
            <a:avLst/>
          </a:prstGeom>
        </p:spPr>
      </p:pic>
      <p:sp>
        <p:nvSpPr>
          <p:cNvPr id="7" name="文本框 6">
            <a:extLst>
              <a:ext uri="{FF2B5EF4-FFF2-40B4-BE49-F238E27FC236}">
                <a16:creationId xmlns:a16="http://schemas.microsoft.com/office/drawing/2014/main" id="{8BCC2BB3-2E1F-1CF6-50F1-424F6999B2C4}"/>
              </a:ext>
            </a:extLst>
          </p:cNvPr>
          <p:cNvSpPr txBox="1"/>
          <p:nvPr/>
        </p:nvSpPr>
        <p:spPr>
          <a:xfrm>
            <a:off x="6963431" y="6027003"/>
            <a:ext cx="3532290" cy="830997"/>
          </a:xfrm>
          <a:prstGeom prst="rect">
            <a:avLst/>
          </a:prstGeom>
          <a:noFill/>
        </p:spPr>
        <p:txBody>
          <a:bodyPr wrap="square">
            <a:spAutoFit/>
          </a:bodyPr>
          <a:lstStyle/>
          <a:p>
            <a:r>
              <a:rPr lang="zh-CN" altLang="en-US" sz="1600" b="0" i="0" dirty="0">
                <a:solidFill>
                  <a:srgbClr val="000000"/>
                </a:solidFill>
                <a:effectLst/>
                <a:latin typeface="FandolHei-Regular-Identity-H"/>
              </a:rPr>
              <a:t>氩低温比热实验数值（</a:t>
            </a:r>
            <a:r>
              <a:rPr lang="zh-CN" altLang="en-US" sz="1600" b="0" i="0" dirty="0">
                <a:solidFill>
                  <a:srgbClr val="0000FF"/>
                </a:solidFill>
                <a:effectLst/>
                <a:latin typeface="FandolHei-Regular-Identity-H"/>
              </a:rPr>
              <a:t>蓝色方块</a:t>
            </a:r>
            <a:r>
              <a:rPr lang="zh-CN" altLang="en-US" sz="1600" b="0" i="0" dirty="0">
                <a:solidFill>
                  <a:srgbClr val="000000"/>
                </a:solidFill>
                <a:effectLst/>
                <a:latin typeface="FandolHei-Regular-Identity-H"/>
              </a:rPr>
              <a:t>）与德拜模型（</a:t>
            </a:r>
            <a:r>
              <a:rPr lang="zh-CN" altLang="en-US" sz="1600" b="0" i="0" dirty="0">
                <a:solidFill>
                  <a:srgbClr val="FF0000"/>
                </a:solidFill>
                <a:effectLst/>
                <a:latin typeface="FandolHei-Regular-Identity-H"/>
              </a:rPr>
              <a:t>红线</a:t>
            </a:r>
            <a:r>
              <a:rPr lang="zh-CN" altLang="en-US" sz="1600" b="0" i="0" dirty="0">
                <a:solidFill>
                  <a:srgbClr val="000000"/>
                </a:solidFill>
                <a:effectLst/>
                <a:latin typeface="FandolHei-Regular-Identity-H"/>
              </a:rPr>
              <a:t>）的对比</a:t>
            </a:r>
            <a:r>
              <a:rPr lang="zh-CN" altLang="en-US" sz="1600" dirty="0"/>
              <a:t> </a:t>
            </a:r>
            <a:br>
              <a:rPr lang="zh-CN" altLang="en-US" sz="1600" dirty="0"/>
            </a:br>
            <a:endParaRPr lang="zh-CN" altLang="en-US" sz="1600" dirty="0"/>
          </a:p>
        </p:txBody>
      </p:sp>
      <p:graphicFrame>
        <p:nvGraphicFramePr>
          <p:cNvPr id="2" name="表格 1">
            <a:extLst>
              <a:ext uri="{FF2B5EF4-FFF2-40B4-BE49-F238E27FC236}">
                <a16:creationId xmlns:a16="http://schemas.microsoft.com/office/drawing/2014/main" id="{69705258-0D94-51EC-B837-83D213152DF7}"/>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35</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7362021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699921-3FD9-41A3-7827-F46411EA15B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036A85E-0F8A-2BC8-C9B0-E769FA9C8FC5}"/>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25BC0040-AD9A-EBB9-CEB2-93E47749E777}"/>
              </a:ext>
            </a:extLst>
          </p:cNvPr>
          <p:cNvPicPr>
            <a:picLocks noChangeAspect="1"/>
          </p:cNvPicPr>
          <p:nvPr/>
        </p:nvPicPr>
        <p:blipFill>
          <a:blip r:embed="rId2"/>
          <a:stretch>
            <a:fillRect/>
          </a:stretch>
        </p:blipFill>
        <p:spPr>
          <a:xfrm>
            <a:off x="0" y="558077"/>
            <a:ext cx="12192000" cy="6299923"/>
          </a:xfrm>
          <a:prstGeom prst="rect">
            <a:avLst/>
          </a:prstGeom>
        </p:spPr>
      </p:pic>
      <p:graphicFrame>
        <p:nvGraphicFramePr>
          <p:cNvPr id="4" name="表格 3">
            <a:extLst>
              <a:ext uri="{FF2B5EF4-FFF2-40B4-BE49-F238E27FC236}">
                <a16:creationId xmlns:a16="http://schemas.microsoft.com/office/drawing/2014/main" id="{0A347DF7-A82C-A505-196F-AEA1BBEDBCB0}"/>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36</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41746837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a:extLst>
                  <a:ext uri="{FF2B5EF4-FFF2-40B4-BE49-F238E27FC236}">
                    <a16:creationId xmlns:a16="http://schemas.microsoft.com/office/drawing/2014/main" id="{C5BA0F51-31C6-8571-F81F-416DACE16FD8}"/>
                  </a:ext>
                </a:extLst>
              </p:cNvPr>
              <p:cNvSpPr>
                <a:spLocks noGrp="1"/>
              </p:cNvSpPr>
              <p:nvPr>
                <p:ph type="title"/>
              </p:nvPr>
            </p:nvSpPr>
            <p:spPr/>
            <p:txBody>
              <a:bodyPr/>
              <a:lstStyle/>
              <a:p>
                <a:r>
                  <a:rPr lang="zh-CN" altLang="en-US" dirty="0"/>
                  <a:t>德拜频率</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𝜔</m:t>
                        </m:r>
                      </m:e>
                      <m:sub>
                        <m:r>
                          <a:rPr lang="en-US" b="0" i="1" smtClean="0">
                            <a:solidFill>
                              <a:srgbClr val="FF0000"/>
                            </a:solidFill>
                            <a:latin typeface="Cambria Math" panose="02040503050406030204" pitchFamily="18" charset="0"/>
                          </a:rPr>
                          <m:t>𝐷</m:t>
                        </m:r>
                      </m:sub>
                    </m:sSub>
                  </m:oMath>
                </a14:m>
                <a:endParaRPr lang="en-US" dirty="0"/>
              </a:p>
            </p:txBody>
          </p:sp>
        </mc:Choice>
        <mc:Fallback xmlns="">
          <p:sp>
            <p:nvSpPr>
              <p:cNvPr id="2" name="标题 1">
                <a:extLst>
                  <a:ext uri="{FF2B5EF4-FFF2-40B4-BE49-F238E27FC236}">
                    <a16:creationId xmlns:a16="http://schemas.microsoft.com/office/drawing/2014/main" id="{C5BA0F51-31C6-8571-F81F-416DACE16FD8}"/>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FDB8025F-9FF3-EFA5-DAE1-87E0F4518AE2}"/>
                  </a:ext>
                </a:extLst>
              </p:cNvPr>
              <p:cNvSpPr>
                <a:spLocks noGrp="1"/>
              </p:cNvSpPr>
              <p:nvPr>
                <p:ph idx="1"/>
              </p:nvPr>
            </p:nvSpPr>
            <p:spPr/>
            <p:txBody>
              <a:bodyPr>
                <a:normAutofit/>
              </a:bodyPr>
              <a:lstStyle/>
              <a:p>
                <a:r>
                  <a:rPr lang="zh-CN" altLang="en-US" dirty="0"/>
                  <a:t>数学上：德拜积分的频率上限</a:t>
                </a:r>
                <a:endParaRPr lang="en-US" altLang="zh-CN" dirty="0"/>
              </a:p>
              <a:p>
                <a:r>
                  <a:rPr lang="zh-CN" altLang="en-US" dirty="0"/>
                  <a:t>物理上：</a:t>
                </a:r>
                <a:r>
                  <a:rPr lang="zh-CN" altLang="en-US" dirty="0">
                    <a:solidFill>
                      <a:srgbClr val="FF0000"/>
                    </a:solidFill>
                  </a:rPr>
                  <a:t>弹性波近似下，晶格振动的最高频率</a:t>
                </a:r>
                <a:endParaRPr lang="en-US" altLang="zh-CN" dirty="0">
                  <a:solidFill>
                    <a:srgbClr val="FF0000"/>
                  </a:solidFill>
                </a:endParaRPr>
              </a:p>
              <a:p>
                <a:r>
                  <a:rPr lang="zh-CN" altLang="en-US" dirty="0"/>
                  <a:t>还可定义相应的德拜半径</a:t>
                </a:r>
                <a:endParaRPr lang="en-US" altLang="zh-CN" dirty="0"/>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𝐷</m:t>
                          </m:r>
                        </m:sub>
                      </m:sSub>
                      <m:r>
                        <a:rPr lang="en-US" b="0" i="1" smtClean="0">
                          <a:latin typeface="Cambria Math" panose="02040503050406030204" pitchFamily="18" charset="0"/>
                        </a:rPr>
                        <m:t>=</m:t>
                      </m:r>
                      <m:rad>
                        <m:radPr>
                          <m:ctrlPr>
                            <a:rPr lang="en-US" b="0" i="1" smtClean="0">
                              <a:latin typeface="Cambria Math" panose="02040503050406030204" pitchFamily="18" charset="0"/>
                            </a:rPr>
                          </m:ctrlPr>
                        </m:radPr>
                        <m:deg>
                          <m:r>
                            <a:rPr lang="en-US" b="0" i="1" smtClean="0">
                              <a:latin typeface="Cambria Math" panose="02040503050406030204" pitchFamily="18" charset="0"/>
                            </a:rPr>
                            <m:t>3</m:t>
                          </m:r>
                        </m:deg>
                        <m:e>
                          <m:r>
                            <a:rPr lang="en-US" b="0" i="1" smtClean="0">
                              <a:latin typeface="Cambria Math" panose="02040503050406030204" pitchFamily="18" charset="0"/>
                            </a:rPr>
                            <m:t>6</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𝜋</m:t>
                              </m:r>
                            </m:e>
                            <m:sup>
                              <m:r>
                                <a:rPr lang="en-US" b="0" i="1" smtClean="0">
                                  <a:latin typeface="Cambria Math" panose="02040503050406030204" pitchFamily="18" charset="0"/>
                                </a:rPr>
                                <m:t>2</m:t>
                              </m:r>
                            </m:sup>
                          </m:sSup>
                          <m:f>
                            <m:fPr>
                              <m:ctrlPr>
                                <a:rPr lang="en-US" b="0" i="1" smtClean="0">
                                  <a:latin typeface="Cambria Math" panose="02040503050406030204" pitchFamily="18" charset="0"/>
                                </a:rPr>
                              </m:ctrlPr>
                            </m:fPr>
                            <m:num>
                              <m:r>
                                <a:rPr lang="en-US" b="0" i="1" smtClean="0">
                                  <a:latin typeface="Cambria Math" panose="02040503050406030204" pitchFamily="18" charset="0"/>
                                </a:rPr>
                                <m:t>𝑁</m:t>
                              </m:r>
                            </m:num>
                            <m:den>
                              <m:r>
                                <a:rPr lang="en-US" b="0" i="1" smtClean="0">
                                  <a:latin typeface="Cambria Math" panose="02040503050406030204" pitchFamily="18" charset="0"/>
                                </a:rPr>
                                <m:t>𝑉</m:t>
                              </m:r>
                            </m:den>
                          </m:f>
                        </m:e>
                      </m:rad>
                    </m:oMath>
                  </m:oMathPara>
                </a14:m>
                <a:endParaRPr lang="en-US" dirty="0"/>
              </a:p>
              <a:p>
                <a:pPr marL="0" indent="0">
                  <a:buNone/>
                </a:pPr>
                <a:r>
                  <a:rPr lang="zh-CN" altLang="en-US" dirty="0"/>
                  <a:t>对应的是德拜频率所具有的波矢</a:t>
                </a:r>
                <a:endParaRPr lang="en-US" altLang="zh-CN" dirty="0"/>
              </a:p>
              <a:p>
                <a:pPr marL="0" indent="0">
                  <a:buNone/>
                </a:pPr>
                <a:r>
                  <a:rPr lang="zh-CN" altLang="en-US" dirty="0">
                    <a:solidFill>
                      <a:srgbClr val="FF0000"/>
                    </a:solidFill>
                  </a:rPr>
                  <a:t>德拜半径内的格波才有可能被激发，以外的格波不能被激发</a:t>
                </a:r>
                <a:endParaRPr lang="en-US" dirty="0">
                  <a:solidFill>
                    <a:srgbClr val="FF0000"/>
                  </a:solidFill>
                </a:endParaRPr>
              </a:p>
            </p:txBody>
          </p:sp>
        </mc:Choice>
        <mc:Fallback>
          <p:sp>
            <p:nvSpPr>
              <p:cNvPr id="3" name="内容占位符 2">
                <a:extLst>
                  <a:ext uri="{FF2B5EF4-FFF2-40B4-BE49-F238E27FC236}">
                    <a16:creationId xmlns:a16="http://schemas.microsoft.com/office/drawing/2014/main" id="{FDB8025F-9FF3-EFA5-DAE1-87E0F4518AE2}"/>
                  </a:ext>
                </a:extLst>
              </p:cNvPr>
              <p:cNvSpPr>
                <a:spLocks noGrp="1" noRot="1" noChangeAspect="1" noMove="1" noResize="1" noEditPoints="1" noAdjustHandles="1" noChangeArrowheads="1" noChangeShapeType="1" noTextEdit="1"/>
              </p:cNvSpPr>
              <p:nvPr>
                <p:ph idx="1"/>
              </p:nvPr>
            </p:nvSpPr>
            <p:spPr>
              <a:blipFill>
                <a:blip r:embed="rId3"/>
                <a:stretch>
                  <a:fillRect l="-1217" t="-2941"/>
                </a:stretch>
              </a:blipFill>
            </p:spPr>
            <p:txBody>
              <a:bodyPr/>
              <a:lstStyle/>
              <a:p>
                <a:r>
                  <a:rPr lang="zh-CN" altLang="en-US">
                    <a:noFill/>
                  </a:rPr>
                  <a:t> </a:t>
                </a:r>
              </a:p>
            </p:txBody>
          </p:sp>
        </mc:Fallback>
      </mc:AlternateContent>
      <p:graphicFrame>
        <p:nvGraphicFramePr>
          <p:cNvPr id="4" name="表格 3">
            <a:extLst>
              <a:ext uri="{FF2B5EF4-FFF2-40B4-BE49-F238E27FC236}">
                <a16:creationId xmlns:a16="http://schemas.microsoft.com/office/drawing/2014/main" id="{9C30D8E4-C627-650C-AD96-23DD1260DFFB}"/>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37</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3298800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a:extLst>
                  <a:ext uri="{FF2B5EF4-FFF2-40B4-BE49-F238E27FC236}">
                    <a16:creationId xmlns:a16="http://schemas.microsoft.com/office/drawing/2014/main" id="{C5BA0F51-31C6-8571-F81F-416DACE16FD8}"/>
                  </a:ext>
                </a:extLst>
              </p:cNvPr>
              <p:cNvSpPr>
                <a:spLocks noGrp="1"/>
              </p:cNvSpPr>
              <p:nvPr>
                <p:ph type="title"/>
              </p:nvPr>
            </p:nvSpPr>
            <p:spPr/>
            <p:txBody>
              <a:bodyPr/>
              <a:lstStyle/>
              <a:p>
                <a:r>
                  <a:rPr lang="zh-CN" altLang="en-US" dirty="0"/>
                  <a:t>德拜温度</a:t>
                </a:r>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𝑇</m:t>
                        </m:r>
                      </m:e>
                      <m:sub>
                        <m:r>
                          <a:rPr lang="en-US" i="1">
                            <a:solidFill>
                              <a:srgbClr val="FF0000"/>
                            </a:solidFill>
                            <a:latin typeface="Cambria Math" panose="02040503050406030204" pitchFamily="18" charset="0"/>
                          </a:rPr>
                          <m:t>𝐷</m:t>
                        </m:r>
                      </m:sub>
                    </m:sSub>
                  </m:oMath>
                </a14:m>
                <a:endParaRPr lang="en-US" dirty="0"/>
              </a:p>
            </p:txBody>
          </p:sp>
        </mc:Choice>
        <mc:Fallback xmlns="">
          <p:sp>
            <p:nvSpPr>
              <p:cNvPr id="2" name="标题 1">
                <a:extLst>
                  <a:ext uri="{FF2B5EF4-FFF2-40B4-BE49-F238E27FC236}">
                    <a16:creationId xmlns:a16="http://schemas.microsoft.com/office/drawing/2014/main" id="{C5BA0F51-31C6-8571-F81F-416DACE16FD8}"/>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zh-CN" altLang="en-US">
                    <a:noFill/>
                  </a:rPr>
                  <a:t> </a:t>
                </a:r>
              </a:p>
            </p:txBody>
          </p:sp>
        </mc:Fallback>
      </mc:AlternateContent>
      <p:sp>
        <p:nvSpPr>
          <p:cNvPr id="3" name="内容占位符 2">
            <a:extLst>
              <a:ext uri="{FF2B5EF4-FFF2-40B4-BE49-F238E27FC236}">
                <a16:creationId xmlns:a16="http://schemas.microsoft.com/office/drawing/2014/main" id="{FDB8025F-9FF3-EFA5-DAE1-87E0F4518AE2}"/>
              </a:ext>
            </a:extLst>
          </p:cNvPr>
          <p:cNvSpPr>
            <a:spLocks noGrp="1"/>
          </p:cNvSpPr>
          <p:nvPr>
            <p:ph idx="1"/>
          </p:nvPr>
        </p:nvSpPr>
        <p:spPr/>
        <p:txBody>
          <a:bodyPr/>
          <a:lstStyle/>
          <a:p>
            <a:r>
              <a:rPr lang="zh-CN" altLang="en-US" dirty="0">
                <a:solidFill>
                  <a:srgbClr val="FF0000"/>
                </a:solidFill>
              </a:rPr>
              <a:t>衡量晶体物理性质的重要参量</a:t>
            </a:r>
            <a:endParaRPr lang="en-US" altLang="zh-CN" dirty="0">
              <a:solidFill>
                <a:srgbClr val="FF0000"/>
              </a:solidFill>
            </a:endParaRPr>
          </a:p>
          <a:p>
            <a:r>
              <a:rPr lang="zh-CN" altLang="en-US" dirty="0"/>
              <a:t>多数晶体在</a:t>
            </a:r>
            <a:r>
              <a:rPr lang="en-US" altLang="zh-CN" dirty="0"/>
              <a:t>200K</a:t>
            </a:r>
            <a:r>
              <a:rPr lang="zh-CN" altLang="en-US" dirty="0"/>
              <a:t>－</a:t>
            </a:r>
            <a:r>
              <a:rPr lang="en-US" altLang="zh-CN" dirty="0"/>
              <a:t>400K</a:t>
            </a:r>
            <a:r>
              <a:rPr lang="zh-CN" altLang="en-US" dirty="0"/>
              <a:t>之间，个别弹性模量大、密度低的晶体，如金刚石</a:t>
            </a:r>
            <a:r>
              <a:rPr lang="en-US" altLang="zh-CN" dirty="0"/>
              <a:t>, Be, B</a:t>
            </a:r>
            <a:r>
              <a:rPr lang="zh-CN" altLang="en-US" dirty="0"/>
              <a:t>等到达</a:t>
            </a:r>
            <a:r>
              <a:rPr lang="en-US" altLang="zh-CN" dirty="0"/>
              <a:t>1000K</a:t>
            </a:r>
            <a:r>
              <a:rPr lang="zh-CN" altLang="en-US" dirty="0"/>
              <a:t>以上</a:t>
            </a:r>
            <a:endParaRPr lang="en-US" altLang="zh-CN" dirty="0"/>
          </a:p>
          <a:p>
            <a:r>
              <a:rPr lang="zh-CN" altLang="en-US" dirty="0">
                <a:solidFill>
                  <a:srgbClr val="FF0000"/>
                </a:solidFill>
              </a:rPr>
              <a:t>德拜温度可以看作是一个分界温度，近似地表示了经典理论的使用范围</a:t>
            </a:r>
            <a:r>
              <a:rPr lang="zh-CN" altLang="en-US" dirty="0"/>
              <a:t>，在该温度以下，许多模式被冻结，必须使用量子理论处理。</a:t>
            </a:r>
            <a:endParaRPr lang="en-US" dirty="0">
              <a:solidFill>
                <a:srgbClr val="FF0000"/>
              </a:solidFill>
            </a:endParaRPr>
          </a:p>
        </p:txBody>
      </p:sp>
      <p:graphicFrame>
        <p:nvGraphicFramePr>
          <p:cNvPr id="4" name="表格 3">
            <a:extLst>
              <a:ext uri="{FF2B5EF4-FFF2-40B4-BE49-F238E27FC236}">
                <a16:creationId xmlns:a16="http://schemas.microsoft.com/office/drawing/2014/main" id="{A1931DDF-D4BD-3235-A44E-C338AE341D7D}"/>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38</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178472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E0D1C5-7087-C1E4-0E50-4435C17EB01A}"/>
              </a:ext>
            </a:extLst>
          </p:cNvPr>
          <p:cNvSpPr>
            <a:spLocks noGrp="1"/>
          </p:cNvSpPr>
          <p:nvPr>
            <p:ph type="title"/>
          </p:nvPr>
        </p:nvSpPr>
        <p:spPr/>
        <p:txBody>
          <a:bodyPr/>
          <a:lstStyle/>
          <a:p>
            <a:r>
              <a:rPr lang="zh-CN" altLang="en-US" dirty="0">
                <a:solidFill>
                  <a:srgbClr val="FF0000"/>
                </a:solidFill>
              </a:rPr>
              <a:t>德拜模型</a:t>
            </a:r>
            <a:endParaRPr lang="en-US" dirty="0">
              <a:solidFill>
                <a:srgbClr val="FF0000"/>
              </a:solidFill>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A1B02A4-E492-5CDE-D245-8D4B49B4561D}"/>
                  </a:ext>
                </a:extLst>
              </p:cNvPr>
              <p:cNvSpPr>
                <a:spLocks noGrp="1"/>
              </p:cNvSpPr>
              <p:nvPr>
                <p:ph idx="1"/>
              </p:nvPr>
            </p:nvSpPr>
            <p:spPr/>
            <p:txBody>
              <a:bodyPr/>
              <a:lstStyle/>
              <a:p>
                <a:r>
                  <a:rPr lang="zh-CN" altLang="en-US" dirty="0"/>
                  <a:t>德拜模型的成功说明，长波长的声学波对固体的热容起绝对主要贡献</a:t>
                </a:r>
                <a:endParaRPr lang="en-US" altLang="zh-CN" dirty="0"/>
              </a:p>
              <a:p>
                <a:r>
                  <a:rPr lang="zh-CN" altLang="en-US" dirty="0"/>
                  <a:t>德拜模型的局限性也很明显：</a:t>
                </a:r>
                <a:endParaRPr lang="en-US" altLang="zh-CN" dirty="0"/>
              </a:p>
              <a:p>
                <a:r>
                  <a:rPr lang="en-US" dirty="0"/>
                  <a:t>1</a:t>
                </a:r>
                <a:r>
                  <a:rPr lang="en-US" altLang="zh-CN" dirty="0"/>
                  <a:t>. </a:t>
                </a:r>
                <a:r>
                  <a:rPr lang="zh-CN" altLang="en-US" dirty="0">
                    <a:solidFill>
                      <a:srgbClr val="FF0000"/>
                    </a:solidFill>
                  </a:rPr>
                  <a:t>忽略了全部光学波以及波矢较大的声学波</a:t>
                </a:r>
                <a:r>
                  <a:rPr lang="zh-CN" altLang="en-US" dirty="0"/>
                  <a:t>，可描述热容但不足以全面表述晶格振动</a:t>
                </a:r>
                <a:endParaRPr lang="en-US" altLang="zh-CN" dirty="0"/>
              </a:p>
              <a:p>
                <a:r>
                  <a:rPr lang="en-US" dirty="0"/>
                  <a:t>2</a:t>
                </a:r>
                <a:r>
                  <a:rPr lang="en-US" altLang="zh-CN" dirty="0"/>
                  <a:t>. </a:t>
                </a:r>
                <a:r>
                  <a:rPr lang="zh-CN" altLang="en-US" dirty="0">
                    <a:solidFill>
                      <a:srgbClr val="FF0000"/>
                    </a:solidFill>
                  </a:rPr>
                  <a:t>态密度</a:t>
                </a:r>
                <a14:m>
                  <m:oMath xmlns:m="http://schemas.openxmlformats.org/officeDocument/2006/math">
                    <m:r>
                      <a:rPr lang="en-US" i="1" smtClean="0">
                        <a:solidFill>
                          <a:srgbClr val="FF0000"/>
                        </a:solidFill>
                        <a:latin typeface="Cambria Math" panose="02040503050406030204" pitchFamily="18" charset="0"/>
                      </a:rPr>
                      <m:t>𝑔</m:t>
                    </m:r>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𝜔</m:t>
                        </m:r>
                      </m:e>
                    </m:d>
                  </m:oMath>
                </a14:m>
                <a:r>
                  <a:rPr lang="zh-CN" altLang="en-US" dirty="0">
                    <a:solidFill>
                      <a:srgbClr val="FF0000"/>
                    </a:solidFill>
                  </a:rPr>
                  <a:t>在德拜模型中的近似与实际情况差距明显</a:t>
                </a:r>
                <a:endParaRPr lang="en-US" dirty="0"/>
              </a:p>
            </p:txBody>
          </p:sp>
        </mc:Choice>
        <mc:Fallback xmlns="">
          <p:sp>
            <p:nvSpPr>
              <p:cNvPr id="3" name="内容占位符 2">
                <a:extLst>
                  <a:ext uri="{FF2B5EF4-FFF2-40B4-BE49-F238E27FC236}">
                    <a16:creationId xmlns:a16="http://schemas.microsoft.com/office/drawing/2014/main" id="{8A1B02A4-E492-5CDE-D245-8D4B49B4561D}"/>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graphicFrame>
        <p:nvGraphicFramePr>
          <p:cNvPr id="4" name="表格 3">
            <a:extLst>
              <a:ext uri="{FF2B5EF4-FFF2-40B4-BE49-F238E27FC236}">
                <a16:creationId xmlns:a16="http://schemas.microsoft.com/office/drawing/2014/main" id="{C0AC9256-28A4-4C00-024B-D9A3500D497B}"/>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39</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503507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8545A954-5EEE-71AC-8128-8C439FAC8F7D}"/>
              </a:ext>
            </a:extLst>
          </p:cNvPr>
          <p:cNvPicPr>
            <a:picLocks noChangeAspect="1"/>
          </p:cNvPicPr>
          <p:nvPr/>
        </p:nvPicPr>
        <p:blipFill>
          <a:blip r:embed="rId2"/>
          <a:stretch>
            <a:fillRect/>
          </a:stretch>
        </p:blipFill>
        <p:spPr>
          <a:xfrm>
            <a:off x="972477" y="567734"/>
            <a:ext cx="10247046" cy="6290266"/>
          </a:xfrm>
          <a:prstGeom prst="rect">
            <a:avLst/>
          </a:prstGeom>
        </p:spPr>
      </p:pic>
      <p:graphicFrame>
        <p:nvGraphicFramePr>
          <p:cNvPr id="2" name="表格 1">
            <a:extLst>
              <a:ext uri="{FF2B5EF4-FFF2-40B4-BE49-F238E27FC236}">
                <a16:creationId xmlns:a16="http://schemas.microsoft.com/office/drawing/2014/main" id="{10BA3A2A-6D53-FEFA-6D21-A623ABB93DBA}"/>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40</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2451439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9C9D46F8-E13D-0982-0220-1961F7A5E357}"/>
              </a:ext>
            </a:extLst>
          </p:cNvPr>
          <p:cNvPicPr>
            <a:picLocks noChangeAspect="1"/>
          </p:cNvPicPr>
          <p:nvPr/>
        </p:nvPicPr>
        <p:blipFill>
          <a:blip r:embed="rId2"/>
          <a:stretch>
            <a:fillRect/>
          </a:stretch>
        </p:blipFill>
        <p:spPr>
          <a:xfrm>
            <a:off x="0" y="548323"/>
            <a:ext cx="12192000" cy="5761353"/>
          </a:xfrm>
          <a:prstGeom prst="rect">
            <a:avLst/>
          </a:prstGeom>
        </p:spPr>
      </p:pic>
      <p:graphicFrame>
        <p:nvGraphicFramePr>
          <p:cNvPr id="2" name="表格 1">
            <a:extLst>
              <a:ext uri="{FF2B5EF4-FFF2-40B4-BE49-F238E27FC236}">
                <a16:creationId xmlns:a16="http://schemas.microsoft.com/office/drawing/2014/main" id="{C32E1D16-A4D1-286F-0410-BBF6F6A15184}"/>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41</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16682258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703A92CE-444E-456F-9243-81FE5F277664}"/>
              </a:ext>
            </a:extLst>
          </p:cNvPr>
          <p:cNvPicPr>
            <a:picLocks noChangeAspect="1"/>
          </p:cNvPicPr>
          <p:nvPr/>
        </p:nvPicPr>
        <p:blipFill>
          <a:blip r:embed="rId2"/>
          <a:stretch>
            <a:fillRect/>
          </a:stretch>
        </p:blipFill>
        <p:spPr>
          <a:xfrm>
            <a:off x="887896" y="379877"/>
            <a:ext cx="10527486" cy="6418488"/>
          </a:xfrm>
          <a:prstGeom prst="rect">
            <a:avLst/>
          </a:prstGeom>
        </p:spPr>
      </p:pic>
      <p:graphicFrame>
        <p:nvGraphicFramePr>
          <p:cNvPr id="2" name="表格 1">
            <a:extLst>
              <a:ext uri="{FF2B5EF4-FFF2-40B4-BE49-F238E27FC236}">
                <a16:creationId xmlns:a16="http://schemas.microsoft.com/office/drawing/2014/main" id="{727FACCA-AE70-2A59-6A4F-2C8B2F6C6A10}"/>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42</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extLst>
      <p:ext uri="{BB962C8B-B14F-4D97-AF65-F5344CB8AC3E}">
        <p14:creationId xmlns:p14="http://schemas.microsoft.com/office/powerpoint/2010/main" val="36357724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作业（需要上交）</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r>
                  <a:rPr lang="zh-CN" altLang="en-US" dirty="0"/>
                  <a:t>对一维简单晶格</a:t>
                </a:r>
                <a:r>
                  <a:rPr lang="zh-CN" altLang="en-US" dirty="0">
                    <a:solidFill>
                      <a:schemeClr val="tx1"/>
                    </a:solidFill>
                  </a:rPr>
                  <a:t>，晶格常数为</a:t>
                </a:r>
                <a14:m>
                  <m:oMath xmlns:m="http://schemas.openxmlformats.org/officeDocument/2006/math">
                    <m:r>
                      <a:rPr lang="en-US" altLang="zh-CN" i="1">
                        <a:solidFill>
                          <a:schemeClr val="tx1"/>
                        </a:solidFill>
                        <a:latin typeface="Cambria Math" panose="02040503050406030204" pitchFamily="18" charset="0"/>
                      </a:rPr>
                      <m:t>𝑎</m:t>
                    </m:r>
                  </m:oMath>
                </a14:m>
                <a:r>
                  <a:rPr lang="zh-CN" altLang="en-US" dirty="0">
                    <a:solidFill>
                      <a:schemeClr val="tx1"/>
                    </a:solidFill>
                  </a:rPr>
                  <a:t>，原子质量为</a:t>
                </a:r>
                <a14:m>
                  <m:oMath xmlns:m="http://schemas.openxmlformats.org/officeDocument/2006/math">
                    <m:r>
                      <a:rPr lang="en-US" altLang="zh-CN" b="0" i="1" smtClean="0">
                        <a:solidFill>
                          <a:schemeClr val="tx1"/>
                        </a:solidFill>
                        <a:latin typeface="Cambria Math" panose="02040503050406030204" pitchFamily="18" charset="0"/>
                      </a:rPr>
                      <m:t>𝑚</m:t>
                    </m:r>
                  </m:oMath>
                </a14:m>
                <a:r>
                  <a:rPr lang="zh-CN" altLang="en-US" dirty="0">
                    <a:solidFill>
                      <a:schemeClr val="tx1"/>
                    </a:solidFill>
                  </a:rPr>
                  <a:t>，原子数为</a:t>
                </a:r>
                <a14:m>
                  <m:oMath xmlns:m="http://schemas.openxmlformats.org/officeDocument/2006/math">
                    <m:r>
                      <a:rPr lang="en-US" altLang="zh-CN" b="0" i="1" smtClean="0">
                        <a:solidFill>
                          <a:schemeClr val="tx1"/>
                        </a:solidFill>
                        <a:latin typeface="Cambria Math" panose="02040503050406030204" pitchFamily="18" charset="0"/>
                      </a:rPr>
                      <m:t>𝑁</m:t>
                    </m:r>
                  </m:oMath>
                </a14:m>
                <a:r>
                  <a:rPr lang="zh-CN" altLang="en-US" dirty="0">
                    <a:solidFill>
                      <a:schemeClr val="tx1"/>
                    </a:solidFill>
                  </a:rPr>
                  <a:t>，原子间两体相互作用的势能形式为</a:t>
                </a:r>
                <a:endParaRPr lang="en-US" altLang="zh-CN" dirty="0">
                  <a:solidFill>
                    <a:schemeClr val="tx1"/>
                  </a:solidFill>
                </a:endParaRPr>
              </a:p>
              <a:p>
                <a:pPr marL="0" indent="0">
                  <a:buNone/>
                </a:pPr>
                <a14:m>
                  <m:oMathPara xmlns:m="http://schemas.openxmlformats.org/officeDocument/2006/math">
                    <m:oMath>
                      <m:r>
                        <a:rPr lang="en-US" altLang="zh-CN" b="0" i="1" smtClean="0">
                          <a:solidFill>
                            <a:schemeClr val="tx1"/>
                          </a:solidFill>
                          <a:latin typeface="Cambria Math" panose="02040503050406030204" pitchFamily="18" charset="0"/>
                        </a:rPr>
                        <m:t>𝑈</m:t>
                      </m:r>
                      <m:d>
                        <m:dPr>
                          <m:ctrlPr>
                            <a:rPr lang="en-US" altLang="zh-CN" b="0" i="1" smtClean="0">
                              <a:solidFill>
                                <a:schemeClr val="tx1"/>
                              </a:solidFill>
                              <a:latin typeface="Cambria Math" panose="02040503050406030204" pitchFamily="18" charset="0"/>
                            </a:rPr>
                          </m:ctrlPr>
                        </m:dPr>
                        <m:e>
                          <m:r>
                            <a:rPr lang="en-US" altLang="zh-CN" b="0" i="1" smtClean="0">
                              <a:solidFill>
                                <a:schemeClr val="tx1"/>
                              </a:solidFill>
                              <a:latin typeface="Cambria Math" panose="02040503050406030204" pitchFamily="18" charset="0"/>
                            </a:rPr>
                            <m:t>𝑟</m:t>
                          </m:r>
                        </m:e>
                      </m:d>
                      <m:r>
                        <a:rPr lang="en-US" altLang="zh-CN" b="0" i="1" smtClean="0">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m:t>
                      </m:r>
                      <m:f>
                        <m:fPr>
                          <m:ctrlPr>
                            <a:rPr lang="en-US"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𝐴</m:t>
                          </m:r>
                        </m:num>
                        <m:den>
                          <m:r>
                            <a:rPr lang="en-US" altLang="zh-CN" i="1">
                              <a:solidFill>
                                <a:schemeClr val="tx1"/>
                              </a:solidFill>
                              <a:latin typeface="Cambria Math" panose="02040503050406030204" pitchFamily="18" charset="0"/>
                            </a:rPr>
                            <m:t>𝑟</m:t>
                          </m:r>
                        </m:den>
                      </m:f>
                      <m:r>
                        <a:rPr lang="en-US" altLang="zh-CN" i="1">
                          <a:solidFill>
                            <a:schemeClr val="tx1"/>
                          </a:solidFill>
                          <a:latin typeface="Cambria Math" panose="02040503050406030204" pitchFamily="18" charset="0"/>
                        </a:rPr>
                        <m:t>+</m:t>
                      </m:r>
                      <m:f>
                        <m:fPr>
                          <m:ctrlPr>
                            <a:rPr lang="en-US" altLang="zh-CN"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𝐴</m:t>
                          </m:r>
                        </m:num>
                        <m:den>
                          <m:r>
                            <a:rPr lang="en-US" altLang="zh-CN" b="0" i="1" smtClean="0">
                              <a:solidFill>
                                <a:schemeClr val="tx1"/>
                              </a:solidFill>
                              <a:latin typeface="Cambria Math" panose="02040503050406030204" pitchFamily="18" charset="0"/>
                            </a:rPr>
                            <m:t>𝑛</m:t>
                          </m:r>
                        </m:den>
                      </m:f>
                      <m:f>
                        <m:fPr>
                          <m:ctrlPr>
                            <a:rPr lang="en-US" altLang="zh-CN" i="1" smtClean="0">
                              <a:solidFill>
                                <a:schemeClr val="tx1"/>
                              </a:solidFill>
                              <a:latin typeface="Cambria Math" panose="02040503050406030204" pitchFamily="18" charset="0"/>
                            </a:rPr>
                          </m:ctrlPr>
                        </m:fPr>
                        <m:num>
                          <m:sSup>
                            <m:sSupPr>
                              <m:ctrlPr>
                                <a:rPr lang="en-US" altLang="zh-CN" b="0" i="1" smtClean="0">
                                  <a:solidFill>
                                    <a:schemeClr val="tx1"/>
                                  </a:solidFill>
                                  <a:latin typeface="Cambria Math" panose="02040503050406030204" pitchFamily="18" charset="0"/>
                                </a:rPr>
                              </m:ctrlPr>
                            </m:sSupPr>
                            <m:e>
                              <m:r>
                                <a:rPr lang="en-US" altLang="zh-CN" b="0" i="1" smtClean="0">
                                  <a:solidFill>
                                    <a:schemeClr val="tx1"/>
                                  </a:solidFill>
                                  <a:latin typeface="Cambria Math" panose="02040503050406030204" pitchFamily="18" charset="0"/>
                                </a:rPr>
                                <m:t>𝑎</m:t>
                              </m:r>
                            </m:e>
                            <m:sup>
                              <m:r>
                                <a:rPr lang="en-US" altLang="zh-CN" b="0" i="1" smtClean="0">
                                  <a:solidFill>
                                    <a:schemeClr val="tx1"/>
                                  </a:solidFill>
                                  <a:latin typeface="Cambria Math" panose="02040503050406030204" pitchFamily="18" charset="0"/>
                                </a:rPr>
                                <m:t>𝑛</m:t>
                              </m:r>
                              <m:r>
                                <a:rPr lang="en-US" altLang="zh-CN" b="0" i="1" smtClean="0">
                                  <a:solidFill>
                                    <a:schemeClr val="tx1"/>
                                  </a:solidFill>
                                  <a:latin typeface="Cambria Math" panose="02040503050406030204" pitchFamily="18" charset="0"/>
                                </a:rPr>
                                <m:t>−1</m:t>
                              </m:r>
                            </m:sup>
                          </m:sSup>
                        </m:num>
                        <m:den>
                          <m:sSup>
                            <m:sSupPr>
                              <m:ctrlPr>
                                <a:rPr lang="en-US" altLang="zh-CN" i="1">
                                  <a:solidFill>
                                    <a:schemeClr val="tx1"/>
                                  </a:solidFill>
                                  <a:latin typeface="Cambria Math" panose="02040503050406030204" pitchFamily="18" charset="0"/>
                                </a:rPr>
                              </m:ctrlPr>
                            </m:sSupPr>
                            <m:e>
                              <m:r>
                                <a:rPr lang="en-US" altLang="zh-CN" i="1">
                                  <a:solidFill>
                                    <a:schemeClr val="tx1"/>
                                  </a:solidFill>
                                  <a:latin typeface="Cambria Math" panose="02040503050406030204" pitchFamily="18" charset="0"/>
                                </a:rPr>
                                <m:t>𝑟</m:t>
                              </m:r>
                            </m:e>
                            <m:sup>
                              <m:r>
                                <a:rPr lang="en-US" altLang="zh-CN" i="1">
                                  <a:solidFill>
                                    <a:schemeClr val="tx1"/>
                                  </a:solidFill>
                                  <a:latin typeface="Cambria Math" panose="02040503050406030204" pitchFamily="18" charset="0"/>
                                </a:rPr>
                                <m:t>𝑛</m:t>
                              </m:r>
                            </m:sup>
                          </m:sSup>
                        </m:den>
                      </m:f>
                    </m:oMath>
                  </m:oMathPara>
                </a14:m>
                <a:endParaRPr lang="en-US" altLang="zh-CN" dirty="0"/>
              </a:p>
              <a:p>
                <a:pPr marL="0" indent="0">
                  <a:buNone/>
                </a:pPr>
                <a:r>
                  <a:rPr lang="zh-CN" altLang="en-US" dirty="0"/>
                  <a:t>。写出</a:t>
                </a:r>
                <a14:m>
                  <m:oMath xmlns:m="http://schemas.openxmlformats.org/officeDocument/2006/math">
                    <m:r>
                      <a:rPr lang="zh-CN" altLang="en-US" i="1" dirty="0">
                        <a:latin typeface="Cambria Math" panose="02040503050406030204" pitchFamily="18" charset="0"/>
                      </a:rPr>
                      <m:t>以下问题的解</m:t>
                    </m:r>
                  </m:oMath>
                </a14:m>
                <a:r>
                  <a:rPr lang="zh-CN" altLang="en-US" dirty="0"/>
                  <a:t>（含有</a:t>
                </a:r>
                <a14:m>
                  <m:oMath xmlns:m="http://schemas.openxmlformats.org/officeDocument/2006/math">
                    <m:r>
                      <a:rPr lang="en-US" altLang="zh-CN" i="1">
                        <a:latin typeface="Cambria Math" panose="02040503050406030204" pitchFamily="18" charset="0"/>
                      </a:rPr>
                      <m:t>𝐴</m:t>
                    </m:r>
                    <m:r>
                      <a:rPr lang="en-US" altLang="zh-CN" i="1">
                        <a:latin typeface="Cambria Math" panose="02040503050406030204" pitchFamily="18" charset="0"/>
                      </a:rPr>
                      <m:t>,  </m:t>
                    </m:r>
                    <m:r>
                      <a:rPr lang="en-US" altLang="zh-CN" i="1">
                        <a:latin typeface="Cambria Math" panose="02040503050406030204" pitchFamily="18" charset="0"/>
                      </a:rPr>
                      <m:t>𝑛</m:t>
                    </m:r>
                    <m:r>
                      <a:rPr lang="en-US" altLang="zh-CN" i="1">
                        <a:latin typeface="Cambria Math" panose="02040503050406030204" pitchFamily="18" charset="0"/>
                      </a:rPr>
                      <m:t>,  </m:t>
                    </m:r>
                    <m:r>
                      <a:rPr lang="en-US" altLang="zh-CN" i="1">
                        <a:latin typeface="Cambria Math" panose="02040503050406030204" pitchFamily="18" charset="0"/>
                      </a:rPr>
                      <m:t>𝑚</m:t>
                    </m:r>
                    <m:r>
                      <a:rPr lang="en-US" altLang="zh-CN" i="1">
                        <a:latin typeface="Cambria Math" panose="02040503050406030204" pitchFamily="18" charset="0"/>
                      </a:rPr>
                      <m:t>,  </m:t>
                    </m:r>
                    <m:r>
                      <a:rPr lang="en-US" altLang="zh-CN" i="1">
                        <a:latin typeface="Cambria Math" panose="02040503050406030204" pitchFamily="18" charset="0"/>
                      </a:rPr>
                      <m:t>𝑎</m:t>
                    </m:r>
                  </m:oMath>
                </a14:m>
                <a:r>
                  <a:rPr lang="zh-CN" altLang="en-US" dirty="0"/>
                  <a:t>的表达式）</a:t>
                </a:r>
                <a:endParaRPr lang="en-US" altLang="zh-CN" dirty="0"/>
              </a:p>
              <a:p>
                <a:pPr marL="0" indent="0">
                  <a:buNone/>
                </a:pPr>
                <a:r>
                  <a:rPr lang="zh-CN" altLang="en-US" dirty="0"/>
                  <a:t>（</a:t>
                </a:r>
                <a:r>
                  <a:rPr lang="en-US" altLang="zh-CN" dirty="0"/>
                  <a:t>1</a:t>
                </a:r>
                <a:r>
                  <a:rPr lang="zh-CN" altLang="en-US" dirty="0"/>
                  <a:t>）长波极限下，弹性波的群速度</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𝑔</m:t>
                        </m:r>
                      </m:sub>
                    </m:sSub>
                  </m:oMath>
                </a14:m>
                <a:endParaRPr lang="en-US" altLang="zh-CN" dirty="0"/>
              </a:p>
              <a:p>
                <a:pPr marL="0" indent="0">
                  <a:buNone/>
                </a:pPr>
                <a:r>
                  <a:rPr lang="zh-CN" altLang="en-US" dirty="0"/>
                  <a:t>（</a:t>
                </a:r>
                <a:r>
                  <a:rPr lang="en-US" altLang="zh-CN" dirty="0"/>
                  <a:t>2</a:t>
                </a:r>
                <a:r>
                  <a:rPr lang="zh-CN" altLang="en-US" dirty="0"/>
                  <a:t>）德拜模型的态密度</a:t>
                </a:r>
                <a14:m>
                  <m:oMath xmlns:m="http://schemas.openxmlformats.org/officeDocument/2006/math">
                    <m:r>
                      <a:rPr lang="en-US" altLang="zh-CN" i="1">
                        <a:solidFill>
                          <a:srgbClr val="000000"/>
                        </a:solidFill>
                        <a:latin typeface="Cambria Math" panose="02040503050406030204" pitchFamily="18" charset="0"/>
                      </a:rPr>
                      <m:t>𝑔</m:t>
                    </m:r>
                    <m:d>
                      <m:dPr>
                        <m:ctrlPr>
                          <a:rPr lang="en-US" altLang="zh-CN" i="1">
                            <a:solidFill>
                              <a:srgbClr val="000000"/>
                            </a:solidFill>
                            <a:latin typeface="Cambria Math" panose="02040503050406030204" pitchFamily="18" charset="0"/>
                          </a:rPr>
                        </m:ctrlPr>
                      </m:dPr>
                      <m:e>
                        <m:r>
                          <a:rPr lang="en-US" altLang="zh-CN" i="1">
                            <a:solidFill>
                              <a:srgbClr val="000000"/>
                            </a:solidFill>
                            <a:latin typeface="Cambria Math" panose="02040503050406030204" pitchFamily="18" charset="0"/>
                          </a:rPr>
                          <m:t>𝜔</m:t>
                        </m:r>
                      </m:e>
                    </m:d>
                  </m:oMath>
                </a14:m>
                <a:r>
                  <a:rPr lang="zh-CN" altLang="en-US" dirty="0"/>
                  <a:t>，德拜频率</a:t>
                </a:r>
                <a14:m>
                  <m:oMath xmlns:m="http://schemas.openxmlformats.org/officeDocument/2006/math">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𝜔</m:t>
                        </m:r>
                      </m:e>
                      <m:sub>
                        <m:r>
                          <a:rPr lang="en-US" altLang="zh-CN" b="0" i="1" smtClean="0">
                            <a:solidFill>
                              <a:schemeClr val="tx1"/>
                            </a:solidFill>
                            <a:latin typeface="Cambria Math" panose="02040503050406030204" pitchFamily="18" charset="0"/>
                          </a:rPr>
                          <m:t>𝐷</m:t>
                        </m:r>
                      </m:sub>
                    </m:sSub>
                  </m:oMath>
                </a14:m>
                <a:r>
                  <a:rPr lang="zh-CN" altLang="en-US" dirty="0"/>
                  <a:t>，德拜温度</a:t>
                </a:r>
                <a14:m>
                  <m:oMath xmlns:m="http://schemas.openxmlformats.org/officeDocument/2006/math">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𝜃</m:t>
                        </m:r>
                      </m:e>
                      <m:sub>
                        <m:r>
                          <a:rPr lang="en-US" altLang="zh-CN" i="1">
                            <a:solidFill>
                              <a:srgbClr val="000000"/>
                            </a:solidFill>
                            <a:latin typeface="Cambria Math" panose="02040503050406030204" pitchFamily="18" charset="0"/>
                          </a:rPr>
                          <m:t>𝐷</m:t>
                        </m:r>
                      </m:sub>
                    </m:sSub>
                  </m:oMath>
                </a14:m>
                <a:endParaRPr lang="en-US" altLang="zh-CN" dirty="0"/>
              </a:p>
              <a:p>
                <a:pPr marL="0" indent="0">
                  <a:buNone/>
                </a:pPr>
                <a:r>
                  <a:rPr lang="zh-CN" altLang="en-US" dirty="0"/>
                  <a:t>（</a:t>
                </a:r>
                <a:r>
                  <a:rPr lang="en-US" altLang="zh-CN" dirty="0"/>
                  <a:t>3</a:t>
                </a:r>
                <a:r>
                  <a:rPr lang="zh-CN" altLang="en-US" dirty="0"/>
                  <a:t>）晶格振动的平均能量</a:t>
                </a:r>
                <a14:m>
                  <m:oMath xmlns:m="http://schemas.openxmlformats.org/officeDocument/2006/math">
                    <m:d>
                      <m:dPr>
                        <m:begChr m:val="⟨"/>
                        <m:endChr m:val="⟩"/>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𝑈</m:t>
                        </m:r>
                      </m:e>
                    </m:d>
                  </m:oMath>
                </a14:m>
                <a:endParaRPr lang="en-US" altLang="zh-CN" dirty="0"/>
              </a:p>
              <a:p>
                <a:pPr marL="0" indent="0">
                  <a:buNone/>
                </a:pPr>
                <a:r>
                  <a:rPr lang="zh-CN" altLang="en-US" dirty="0"/>
                  <a:t>（</a:t>
                </a:r>
                <a:r>
                  <a:rPr lang="en-US" altLang="zh-CN" dirty="0"/>
                  <a:t>4</a:t>
                </a:r>
                <a:r>
                  <a:rPr lang="zh-CN" altLang="en-US" dirty="0"/>
                  <a:t>）晶格热容</a:t>
                </a:r>
                <a14:m>
                  <m:oMath xmlns:m="http://schemas.openxmlformats.org/officeDocument/2006/math">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𝐶</m:t>
                        </m:r>
                      </m:e>
                      <m:sub>
                        <m:r>
                          <a:rPr lang="en-US" altLang="zh-CN" i="1">
                            <a:solidFill>
                              <a:srgbClr val="000000"/>
                            </a:solidFill>
                            <a:latin typeface="Cambria Math" panose="02040503050406030204" pitchFamily="18" charset="0"/>
                          </a:rPr>
                          <m:t>𝑉</m:t>
                        </m:r>
                      </m:sub>
                    </m:sSub>
                  </m:oMath>
                </a14:m>
                <a:r>
                  <a:rPr lang="zh-CN" altLang="en-US" dirty="0"/>
                  <a:t>，并讨论高低温极限</a:t>
                </a:r>
                <a:endParaRPr lang="en-US" altLang="zh-CN" dirty="0"/>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217" t="-2661" r="-464" b="-980"/>
                </a:stretch>
              </a:blipFill>
            </p:spPr>
            <p:txBody>
              <a:bodyPr/>
              <a:lstStyle/>
              <a:p>
                <a:r>
                  <a:rPr lang="zh-CN" altLang="en-US">
                    <a:noFill/>
                  </a:rPr>
                  <a:t> </a:t>
                </a:r>
              </a:p>
            </p:txBody>
          </p:sp>
        </mc:Fallback>
      </mc:AlternateContent>
      <p:graphicFrame>
        <p:nvGraphicFramePr>
          <p:cNvPr id="4" name="表格 3">
            <a:extLst>
              <a:ext uri="{FF2B5EF4-FFF2-40B4-BE49-F238E27FC236}">
                <a16:creationId xmlns:a16="http://schemas.microsoft.com/office/drawing/2014/main" id="{AF8F275A-D01A-D3AC-FD98-D1C23853F65F}"/>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43</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本课小结</a:t>
            </a:r>
          </a:p>
        </p:txBody>
      </p:sp>
      <p:sp>
        <p:nvSpPr>
          <p:cNvPr id="3" name="内容占位符 2"/>
          <p:cNvSpPr>
            <a:spLocks noGrp="1"/>
          </p:cNvSpPr>
          <p:nvPr>
            <p:ph idx="1"/>
          </p:nvPr>
        </p:nvSpPr>
        <p:spPr/>
        <p:txBody>
          <a:bodyPr/>
          <a:lstStyle/>
          <a:p>
            <a:r>
              <a:rPr lang="en-US" altLang="zh-CN" dirty="0"/>
              <a:t>DP</a:t>
            </a:r>
            <a:r>
              <a:rPr lang="zh-CN" altLang="en-US" dirty="0"/>
              <a:t>定律</a:t>
            </a:r>
            <a:endParaRPr lang="en-US" altLang="zh-CN" dirty="0"/>
          </a:p>
          <a:p>
            <a:r>
              <a:rPr lang="zh-CN" altLang="en-US" dirty="0"/>
              <a:t>爱因斯坦模型</a:t>
            </a:r>
            <a:endParaRPr lang="en-US" altLang="zh-CN" dirty="0"/>
          </a:p>
          <a:p>
            <a:r>
              <a:rPr lang="zh-CN" altLang="en-US" dirty="0"/>
              <a:t>德拜模型</a:t>
            </a:r>
          </a:p>
        </p:txBody>
      </p:sp>
      <p:graphicFrame>
        <p:nvGraphicFramePr>
          <p:cNvPr id="4" name="表格 3">
            <a:extLst>
              <a:ext uri="{FF2B5EF4-FFF2-40B4-BE49-F238E27FC236}">
                <a16:creationId xmlns:a16="http://schemas.microsoft.com/office/drawing/2014/main" id="{8802FDA4-5E73-A6B4-B91A-91326FEC0F44}"/>
              </a:ext>
            </a:extLst>
          </p:cNvPr>
          <p:cNvGraphicFramePr>
            <a:graphicFrameLocks noGrp="1"/>
          </p:cNvGraphicFramePr>
          <p:nvPr>
            <p:extLst>
              <p:ext uri="{D42A27DB-BD31-4B8C-83A1-F6EECF244321}">
                <p14:modId xmlns:p14="http://schemas.microsoft.com/office/powerpoint/2010/main" val="3842977811"/>
              </p:ext>
            </p:extLst>
          </p:nvPr>
        </p:nvGraphicFramePr>
        <p:xfrm>
          <a:off x="0" y="0"/>
          <a:ext cx="12192000" cy="304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07207433"/>
                    </a:ext>
                  </a:extLst>
                </a:gridCol>
                <a:gridCol w="4064000">
                  <a:extLst>
                    <a:ext uri="{9D8B030D-6E8A-4147-A177-3AD203B41FA5}">
                      <a16:colId xmlns:a16="http://schemas.microsoft.com/office/drawing/2014/main" val="1511326896"/>
                    </a:ext>
                  </a:extLst>
                </a:gridCol>
                <a:gridCol w="4064000">
                  <a:extLst>
                    <a:ext uri="{9D8B030D-6E8A-4147-A177-3AD203B41FA5}">
                      <a16:colId xmlns:a16="http://schemas.microsoft.com/office/drawing/2014/main" val="2527446776"/>
                    </a:ext>
                  </a:extLst>
                </a:gridCol>
              </a:tblGrid>
              <a:tr h="251791">
                <a:tc>
                  <a:txBody>
                    <a:bodyPr/>
                    <a:lstStyle/>
                    <a:p>
                      <a:r>
                        <a:rPr lang="zh-CN" altLang="en-US" sz="1400" b="0" dirty="0">
                          <a:latin typeface="微软雅黑" panose="020B0503020204020204" pitchFamily="34" charset="-122"/>
                          <a:ea typeface="微软雅黑" panose="020B0503020204020204" pitchFamily="34" charset="-122"/>
                        </a:rPr>
                        <a:t>中国科学院大学</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ctr"/>
                      <a:r>
                        <a:rPr lang="en-US" altLang="zh-CN" sz="1200" b="0" dirty="0">
                          <a:latin typeface="微软雅黑" panose="020B0503020204020204" pitchFamily="34" charset="-122"/>
                          <a:ea typeface="微软雅黑" panose="020B0503020204020204" pitchFamily="34" charset="-122"/>
                        </a:rPr>
                        <a:t>2026 </a:t>
                      </a:r>
                      <a:r>
                        <a:rPr lang="zh-CN" altLang="en-US" sz="1200" b="0" dirty="0">
                          <a:latin typeface="微软雅黑" panose="020B0503020204020204" pitchFamily="34" charset="-122"/>
                          <a:ea typeface="微软雅黑" panose="020B0503020204020204" pitchFamily="34" charset="-122"/>
                        </a:rPr>
                        <a:t>年 </a:t>
                      </a:r>
                      <a:r>
                        <a:rPr lang="en-US" altLang="zh-CN" sz="1200" b="0" dirty="0">
                          <a:latin typeface="微软雅黑" panose="020B0503020204020204" pitchFamily="34" charset="-122"/>
                          <a:ea typeface="微软雅黑" panose="020B0503020204020204" pitchFamily="34" charset="-122"/>
                        </a:rPr>
                        <a:t>09 </a:t>
                      </a:r>
                      <a:r>
                        <a:rPr lang="zh-CN" altLang="en-US" sz="1200" b="0" dirty="0">
                          <a:latin typeface="微软雅黑" panose="020B0503020204020204" pitchFamily="34" charset="-122"/>
                          <a:ea typeface="微软雅黑" panose="020B0503020204020204" pitchFamily="34" charset="-122"/>
                        </a:rPr>
                        <a:t>月 </a:t>
                      </a:r>
                      <a:r>
                        <a:rPr lang="en-US" altLang="zh-CN" sz="1200" b="0" dirty="0">
                          <a:latin typeface="微软雅黑" panose="020B0503020204020204" pitchFamily="34" charset="-122"/>
                          <a:ea typeface="微软雅黑" panose="020B0503020204020204" pitchFamily="34" charset="-122"/>
                        </a:rPr>
                        <a:t>30 </a:t>
                      </a:r>
                      <a:r>
                        <a:rPr lang="zh-CN" altLang="en-US" sz="1200" b="0" dirty="0">
                          <a:latin typeface="微软雅黑" panose="020B0503020204020204" pitchFamily="34" charset="-122"/>
                          <a:ea typeface="微软雅黑" panose="020B0503020204020204" pitchFamily="34" charset="-122"/>
                        </a:rPr>
                        <a:t>日</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50000"/>
                      </a:schemeClr>
                    </a:solidFill>
                  </a:tcPr>
                </a:tc>
                <a:tc>
                  <a:txBody>
                    <a:bodyPr/>
                    <a:lstStyle/>
                    <a:p>
                      <a:pPr algn="r"/>
                      <a:fld id="{24CD34AB-CB5C-4BA4-AA5E-53B933206454}" type="slidenum">
                        <a:rPr lang="zh-CN" altLang="en-US" sz="1200" smtClean="0"/>
                        <a:t>44</a:t>
                      </a:fld>
                      <a:endParaRPr lang="zh-CN" altLang="en-US" sz="12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25000"/>
                      </a:schemeClr>
                    </a:solidFill>
                  </a:tcPr>
                </a:tc>
                <a:extLst>
                  <a:ext uri="{0D108BD9-81ED-4DB2-BD59-A6C34878D82A}">
                    <a16:rowId xmlns:a16="http://schemas.microsoft.com/office/drawing/2014/main" val="1657570505"/>
                  </a:ext>
                </a:extLst>
              </a:tr>
            </a:tbl>
          </a:graphicData>
        </a:graphic>
      </p:graphicFrame>
    </p:spTree>
  </p:cSld>
  <p:clrMapOvr>
    <a:masterClrMapping/>
  </p:clrMapOvr>
</p:sld>
</file>

<file path=ppt/theme/theme1.xml><?xml version="1.0" encoding="utf-8"?>
<a:theme xmlns:a="http://schemas.openxmlformats.org/drawingml/2006/main" name="Office 2013 - 2022 主题">
  <a:themeElements>
    <a:clrScheme name="Office 2013 - 2022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2">
      <a:majorFont>
        <a:latin typeface="Calibri"/>
        <a:ea typeface="黑体"/>
        <a:cs typeface=""/>
      </a:majorFont>
      <a:minorFont>
        <a:latin typeface="Calibri"/>
        <a:ea typeface="黑体"/>
        <a:cs typeface=""/>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247</TotalTime>
  <Words>4685</Words>
  <Application>Microsoft Office PowerPoint</Application>
  <PresentationFormat>宽屏</PresentationFormat>
  <Paragraphs>523</Paragraphs>
  <Slides>44</Slides>
  <Notes>3</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44</vt:i4>
      </vt:variant>
    </vt:vector>
  </HeadingPairs>
  <TitlesOfParts>
    <vt:vector size="54" baseType="lpstr">
      <vt:lpstr>FandolHei-Regular-Identity-H</vt:lpstr>
      <vt:lpstr>等线</vt:lpstr>
      <vt:lpstr>微软雅黑</vt:lpstr>
      <vt:lpstr>Aptos</vt:lpstr>
      <vt:lpstr>Arial</vt:lpstr>
      <vt:lpstr>Calibri</vt:lpstr>
      <vt:lpstr>Cambria Math</vt:lpstr>
      <vt:lpstr>Noto Sans</vt:lpstr>
      <vt:lpstr>Wingdings</vt:lpstr>
      <vt:lpstr>Office 2013 - 2022 主题</vt:lpstr>
      <vt:lpstr>固体物理（2班） Solid-State Physics</vt:lpstr>
      <vt:lpstr>第三章 晶格振动</vt:lpstr>
      <vt:lpstr>晶格动力学研究的历史</vt:lpstr>
      <vt:lpstr>晶格动力学研究的历史</vt:lpstr>
      <vt:lpstr>晶格动力学研究的历史</vt:lpstr>
      <vt:lpstr>晶格动力学研究的历史</vt:lpstr>
      <vt:lpstr>PowerPoint 演示文稿</vt:lpstr>
      <vt:lpstr>晶格动力学研究的历史</vt:lpstr>
      <vt:lpstr>晶格动力学研究的历史</vt:lpstr>
      <vt:lpstr>晶格动力学研究的历史</vt:lpstr>
      <vt:lpstr>晶格动力学研究的历史</vt:lpstr>
      <vt:lpstr>晶格动力学研究的历史</vt:lpstr>
      <vt:lpstr>晶格动力学研究的历史</vt:lpstr>
      <vt:lpstr>晶格动力学研究的历史</vt:lpstr>
      <vt:lpstr>固体热容</vt:lpstr>
      <vt:lpstr>PowerPoint 演示文稿</vt:lpstr>
      <vt:lpstr>杜隆-珀蒂定律（Dulong-Petit law）</vt:lpstr>
      <vt:lpstr>杜隆-珀蒂定律的失败（1）</vt:lpstr>
      <vt:lpstr>杜隆-珀蒂定律的失败（2）</vt:lpstr>
      <vt:lpstr>爱因斯坦模型</vt:lpstr>
      <vt:lpstr>经典模型 vs 爱因斯坦模型</vt:lpstr>
      <vt:lpstr>爱因斯坦模型</vt:lpstr>
      <vt:lpstr>PowerPoint 演示文稿</vt:lpstr>
      <vt:lpstr>爱因斯坦模型</vt:lpstr>
      <vt:lpstr>爱因斯坦模型存在的问题</vt:lpstr>
      <vt:lpstr>爱因斯坦模型存在的问题</vt:lpstr>
      <vt:lpstr>德拜模型（Debye model）</vt:lpstr>
      <vt:lpstr>密度函数g(ω)的求解</vt:lpstr>
      <vt:lpstr>密度函数g(ω)的求解</vt:lpstr>
      <vt:lpstr>德拜模型</vt:lpstr>
      <vt:lpstr>德拜模型</vt:lpstr>
      <vt:lpstr>德拜模型</vt:lpstr>
      <vt:lpstr>德拜模型</vt:lpstr>
      <vt:lpstr>德拜模型</vt:lpstr>
      <vt:lpstr>PowerPoint 演示文稿</vt:lpstr>
      <vt:lpstr>PowerPoint 演示文稿</vt:lpstr>
      <vt:lpstr>德拜频率ω_D</vt:lpstr>
      <vt:lpstr>德拜温度T_D</vt:lpstr>
      <vt:lpstr>德拜模型</vt:lpstr>
      <vt:lpstr>PowerPoint 演示文稿</vt:lpstr>
      <vt:lpstr>PowerPoint 演示文稿</vt:lpstr>
      <vt:lpstr>PowerPoint 演示文稿</vt:lpstr>
      <vt:lpstr>作业（需要上交）</vt:lpstr>
      <vt:lpstr>本课小结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Zhi Wang</dc:creator>
  <cp:lastModifiedBy>Zhi Wang</cp:lastModifiedBy>
  <cp:revision>1</cp:revision>
  <dcterms:created xsi:type="dcterms:W3CDTF">2025-10-21T15:18:47Z</dcterms:created>
  <dcterms:modified xsi:type="dcterms:W3CDTF">2026-09-27T12:14:30Z</dcterms:modified>
</cp:coreProperties>
</file>