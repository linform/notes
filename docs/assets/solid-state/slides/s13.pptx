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7" r:id="rId2"/>
    <p:sldId id="262" r:id="rId3"/>
    <p:sldId id="337" r:id="rId4"/>
    <p:sldId id="338" r:id="rId5"/>
    <p:sldId id="261" r:id="rId6"/>
    <p:sldId id="310" r:id="rId7"/>
    <p:sldId id="311" r:id="rId8"/>
    <p:sldId id="312" r:id="rId9"/>
    <p:sldId id="313" r:id="rId10"/>
    <p:sldId id="315" r:id="rId11"/>
    <p:sldId id="316" r:id="rId12"/>
    <p:sldId id="318" r:id="rId13"/>
    <p:sldId id="340" r:id="rId14"/>
    <p:sldId id="341" r:id="rId15"/>
    <p:sldId id="343" r:id="rId16"/>
    <p:sldId id="339" r:id="rId17"/>
    <p:sldId id="342" r:id="rId18"/>
    <p:sldId id="322" r:id="rId19"/>
    <p:sldId id="324" r:id="rId20"/>
    <p:sldId id="323" r:id="rId21"/>
    <p:sldId id="321" r:id="rId22"/>
    <p:sldId id="317" r:id="rId23"/>
    <p:sldId id="330" r:id="rId24"/>
    <p:sldId id="334" r:id="rId25"/>
    <p:sldId id="335" r:id="rId26"/>
    <p:sldId id="336" r:id="rId27"/>
    <p:sldId id="32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4472C4"/>
    <a:srgbClr val="FF0000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24D754-5973-4BEB-B156-4CE9B2FB7E56}" v="3" dt="2026-10-13T11:36:41.1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9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 Wang" userId="7588ea56f58b19c7" providerId="LiveId" clId="{96B72205-E234-467C-A3DC-8BF4882781A8}"/>
    <pc:docChg chg="modSld">
      <pc:chgData name="Zhi Wang" userId="7588ea56f58b19c7" providerId="LiveId" clId="{96B72205-E234-467C-A3DC-8BF4882781A8}" dt="2026-10-13T11:36:41.108" v="3" actId="20577"/>
      <pc:docMkLst>
        <pc:docMk/>
      </pc:docMkLst>
      <pc:sldChg chg="modSp mod">
        <pc:chgData name="Zhi Wang" userId="7588ea56f58b19c7" providerId="LiveId" clId="{96B72205-E234-467C-A3DC-8BF4882781A8}" dt="2026-10-13T11:36:07.394" v="0" actId="207"/>
        <pc:sldMkLst>
          <pc:docMk/>
          <pc:sldMk cId="431657256" sldId="257"/>
        </pc:sldMkLst>
        <pc:spChg chg="mod">
          <ac:chgData name="Zhi Wang" userId="7588ea56f58b19c7" providerId="LiveId" clId="{96B72205-E234-467C-A3DC-8BF4882781A8}" dt="2026-10-13T11:36:07.394" v="0" actId="207"/>
          <ac:spMkLst>
            <pc:docMk/>
            <pc:sldMk cId="431657256" sldId="257"/>
            <ac:spMk id="3" creationId="{0FBC71C4-AAF9-252F-52C3-C8A1AD8C5C53}"/>
          </ac:spMkLst>
        </pc:sp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413324664" sldId="261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413324664" sldId="261"/>
            <ac:graphicFrameMk id="3" creationId="{FC59F8C0-C17B-CDD8-C306-2DE19A51A652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1064634504" sldId="262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1064634504" sldId="262"/>
            <ac:graphicFrameMk id="3" creationId="{6AAC2EC4-02B5-1AF2-C00E-095E1BA93FE5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3227900063" sldId="310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3227900063" sldId="310"/>
            <ac:graphicFrameMk id="7" creationId="{3FB13C45-A38E-40EB-16AA-F7CF40EF8474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3500195126" sldId="311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3500195126" sldId="311"/>
            <ac:graphicFrameMk id="7" creationId="{C4CA36DE-CDA2-F3E9-8177-C27CC042C378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2760426579" sldId="312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2760426579" sldId="312"/>
            <ac:graphicFrameMk id="3" creationId="{C5A2F2C0-4E8A-9CF6-8640-C1E8666C582A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2068520516" sldId="313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2068520516" sldId="313"/>
            <ac:graphicFrameMk id="8" creationId="{CB90A0FE-B293-201A-85CA-57C3A6A02AAE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839780655" sldId="315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839780655" sldId="315"/>
            <ac:graphicFrameMk id="11" creationId="{4C5F0446-0A56-2F6C-2953-556B5EFD5247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938838590" sldId="316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938838590" sldId="316"/>
            <ac:graphicFrameMk id="2" creationId="{3BA41ADF-DAA9-E512-6011-3CFA2BB4EB81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2039205025" sldId="317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2039205025" sldId="317"/>
            <ac:graphicFrameMk id="2" creationId="{63B39314-9D72-7398-4FE6-076B4C80ACA5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3777146136" sldId="318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3777146136" sldId="318"/>
            <ac:graphicFrameMk id="10" creationId="{F3D5ABC7-83BD-0048-91AF-AD1699397A1A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1107667665" sldId="321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1107667665" sldId="321"/>
            <ac:graphicFrameMk id="3" creationId="{A26736CC-2AE7-F5BA-E853-EFBFE8101E07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3927872071" sldId="322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3927872071" sldId="322"/>
            <ac:graphicFrameMk id="16" creationId="{F894D03E-12F5-142B-9E05-46BD6251EE16}"/>
          </ac:graphicFrameMkLst>
        </pc:graphicFrameChg>
      </pc:sldChg>
      <pc:sldChg chg="modSp">
        <pc:chgData name="Zhi Wang" userId="7588ea56f58b19c7" providerId="LiveId" clId="{96B72205-E234-467C-A3DC-8BF4882781A8}" dt="2026-10-13T11:36:41.108" v="3" actId="20577"/>
        <pc:sldMkLst>
          <pc:docMk/>
          <pc:sldMk cId="903789689" sldId="323"/>
        </pc:sldMkLst>
        <pc:spChg chg="mod">
          <ac:chgData name="Zhi Wang" userId="7588ea56f58b19c7" providerId="LiveId" clId="{96B72205-E234-467C-A3DC-8BF4882781A8}" dt="2026-10-13T11:36:41.108" v="3" actId="20577"/>
          <ac:spMkLst>
            <pc:docMk/>
            <pc:sldMk cId="903789689" sldId="323"/>
            <ac:spMk id="3" creationId="{4CCBC005-B313-8857-466D-4EBC48702B06}"/>
          </ac:spMkLst>
        </pc:spChg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903789689" sldId="323"/>
            <ac:graphicFrameMk id="42" creationId="{A3F8205A-DB46-9BE0-CDEF-0F86D0205904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1675737972" sldId="324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1675737972" sldId="324"/>
            <ac:graphicFrameMk id="7" creationId="{8FB70770-4E78-D7F5-EFA1-FE84626746AB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770612847" sldId="329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770612847" sldId="329"/>
            <ac:graphicFrameMk id="2" creationId="{11423CE5-5FCC-B045-3300-2C311F74048D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3804688499" sldId="330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3804688499" sldId="330"/>
            <ac:graphicFrameMk id="2" creationId="{AD9C960F-7841-65DB-FC8C-911656EEC7D1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3357932262" sldId="334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3357932262" sldId="334"/>
            <ac:graphicFrameMk id="2" creationId="{782BB32E-20D1-58F7-ECEA-1540F400D7F8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2286486760" sldId="335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2286486760" sldId="335"/>
            <ac:graphicFrameMk id="2" creationId="{9A454B0B-1802-A5E2-25E5-B6C8F2C814DD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388860776" sldId="336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388860776" sldId="336"/>
            <ac:graphicFrameMk id="2" creationId="{65ED6D10-27C1-C226-613B-15EF014934B8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3655021810" sldId="337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3655021810" sldId="337"/>
            <ac:graphicFrameMk id="9" creationId="{C2CE5F95-D7F9-1C99-C809-824C447D0B6D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2373894341" sldId="338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2373894341" sldId="338"/>
            <ac:graphicFrameMk id="4" creationId="{A7FAEFEC-2CE4-3050-7D6D-8CAA285B18B4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1676206308" sldId="339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1676206308" sldId="339"/>
            <ac:graphicFrameMk id="12" creationId="{1FBD9BD5-4BD1-C69B-4A0E-D17E90563FF0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865131696" sldId="340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865131696" sldId="340"/>
            <ac:graphicFrameMk id="15" creationId="{B47A6E70-BED7-D585-76E2-CB3C17FF9C71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1689046155" sldId="341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1689046155" sldId="341"/>
            <ac:graphicFrameMk id="6" creationId="{377D08DE-A938-F02F-82CC-C3BABC3D22AD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1379609843" sldId="342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1379609843" sldId="342"/>
            <ac:graphicFrameMk id="34" creationId="{0B5A2E56-BBA3-0FB2-EFF1-3566A240E04C}"/>
          </ac:graphicFrameMkLst>
        </pc:graphicFrameChg>
      </pc:sldChg>
      <pc:sldChg chg="modSp">
        <pc:chgData name="Zhi Wang" userId="7588ea56f58b19c7" providerId="LiveId" clId="{96B72205-E234-467C-A3DC-8BF4882781A8}" dt="2026-10-13T11:36:20.814" v="1"/>
        <pc:sldMkLst>
          <pc:docMk/>
          <pc:sldMk cId="71831428" sldId="343"/>
        </pc:sldMkLst>
        <pc:graphicFrameChg chg="mod">
          <ac:chgData name="Zhi Wang" userId="7588ea56f58b19c7" providerId="LiveId" clId="{96B72205-E234-467C-A3DC-8BF4882781A8}" dt="2026-10-13T11:36:20.814" v="1"/>
          <ac:graphicFrameMkLst>
            <pc:docMk/>
            <pc:sldMk cId="71831428" sldId="343"/>
            <ac:graphicFrameMk id="16" creationId="{0CAFAB29-6854-7868-EB27-FB188F6FBED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A8AB4-FF85-49A2-94B2-3E9D0526FCD7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AD85C-B42F-45E2-A64D-6FEB1CCFF0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640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A6E1F-410B-44CA-9071-CB362EFAAA0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213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A74E-AD38-4209-B06F-B9B1BF84DD1B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0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5803-8467-4B12-9952-6A160D00D8AE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36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6507F-02D8-4B44-8110-1D013B8C00C0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2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A34B5-EBAC-4205-9817-C119D44CC050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87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DB98-B7F5-4908-AECA-BE0103831E5A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28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797DA-0A0D-450E-B061-2DFEE67795CD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975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20A4-85DE-45E3-A92F-C829C1F71C90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61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3B0F-475B-48E2-9A27-169A8ECFFBA3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86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A58F3-CDC0-4C16-879E-68CB7B57CFE4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00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4E847-A41D-4E59-AE33-C4B496D17763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0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EDB9D-ECE2-4FEF-9FDA-ED18CA77E7FE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69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A5B3B-24FF-4FBB-8CF0-B02F3C88B043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776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23.png"/><Relationship Id="rId12" Type="http://schemas.openxmlformats.org/officeDocument/2006/relationships/image" Target="../media/image3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9.png"/><Relationship Id="rId5" Type="http://schemas.openxmlformats.org/officeDocument/2006/relationships/image" Target="../media/image22.png"/><Relationship Id="rId10" Type="http://schemas.openxmlformats.org/officeDocument/2006/relationships/image" Target="../media/image28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3.png"/><Relationship Id="rId7" Type="http://schemas.openxmlformats.org/officeDocument/2006/relationships/image" Target="../media/image3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2.png"/><Relationship Id="rId9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背景图案&#10;&#10;描述已自动生成">
            <a:extLst>
              <a:ext uri="{FF2B5EF4-FFF2-40B4-BE49-F238E27FC236}">
                <a16:creationId xmlns:a16="http://schemas.microsoft.com/office/drawing/2014/main" id="{40966F33-00AC-0962-30D1-0024E93CD2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834187" y="1500187"/>
            <a:ext cx="6858000" cy="38576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E9BF14C-4FC7-5CBF-3D37-DA31CA5A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4887" y="864268"/>
            <a:ext cx="9001462" cy="1660594"/>
          </a:xfrm>
        </p:spPr>
        <p:txBody>
          <a:bodyPr/>
          <a:lstStyle/>
          <a:p>
            <a:pPr algn="l"/>
            <a:r>
              <a:rPr lang="zh-CN" altLang="en-US" b="1" dirty="0"/>
              <a:t>固体物理（</a:t>
            </a:r>
            <a:r>
              <a:rPr lang="en-US" altLang="zh-CN" b="1" dirty="0"/>
              <a:t>2</a:t>
            </a:r>
            <a:r>
              <a:rPr lang="zh-CN" altLang="en-US" b="1" dirty="0"/>
              <a:t>班）</a:t>
            </a:r>
            <a:br>
              <a:rPr lang="en-US" altLang="zh-CN" b="1" dirty="0"/>
            </a:br>
            <a:r>
              <a:rPr lang="en-US" altLang="zh-CN" sz="4400" b="1" dirty="0"/>
              <a:t>Solid state physics</a:t>
            </a:r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BC71C4-AAF9-252F-52C3-C8A1AD8C5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509" y="2850727"/>
            <a:ext cx="5767639" cy="2475854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/>
              <a:t>学院（系）     材料科学与光电技术学院</a:t>
            </a:r>
            <a:endParaRPr lang="en-US" altLang="zh-CN" b="1" dirty="0"/>
          </a:p>
          <a:p>
            <a:pPr algn="l"/>
            <a:r>
              <a:rPr lang="zh-CN" altLang="en-US" b="1" dirty="0"/>
              <a:t>授课教师         王峙，魏大海</a:t>
            </a:r>
            <a:endParaRPr lang="en-US" altLang="zh-CN" b="1" dirty="0"/>
          </a:p>
          <a:p>
            <a:pPr algn="l"/>
            <a:r>
              <a:rPr lang="zh-CN" altLang="en-US" b="1" dirty="0"/>
              <a:t>                           中科院半导体所</a:t>
            </a:r>
            <a:endParaRPr lang="en-US" altLang="zh-CN" b="1" dirty="0"/>
          </a:p>
          <a:p>
            <a:pPr algn="l"/>
            <a:r>
              <a:rPr lang="en-US" altLang="zh-CN" b="1" dirty="0"/>
              <a:t>Email                 wangzhi@semi.ac.cn</a:t>
            </a:r>
          </a:p>
          <a:p>
            <a:pPr algn="l"/>
            <a:r>
              <a:rPr lang="en-US" altLang="zh-CN" b="1" dirty="0"/>
              <a:t>Tel                      010-82304043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FC7264-F22F-376E-05E6-028D55E09392}"/>
              </a:ext>
            </a:extLst>
          </p:cNvPr>
          <p:cNvSpPr txBox="1"/>
          <p:nvPr/>
        </p:nvSpPr>
        <p:spPr>
          <a:xfrm>
            <a:off x="9442175" y="6550223"/>
            <a:ext cx="279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Samuel Velasco/Quanta Magazine</a:t>
            </a:r>
            <a:endParaRPr lang="zh-CN" altLang="en-US" sz="1400" b="1" dirty="0"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" name="图片 8" descr="国科大">
            <a:extLst>
              <a:ext uri="{FF2B5EF4-FFF2-40B4-BE49-F238E27FC236}">
                <a16:creationId xmlns:a16="http://schemas.microsoft.com/office/drawing/2014/main" id="{8B5A9827-8F2B-56F1-10E5-A2DA9F8F4B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079" y="5634718"/>
            <a:ext cx="975361" cy="981731"/>
          </a:xfrm>
          <a:prstGeom prst="rect">
            <a:avLst/>
          </a:prstGeom>
        </p:spPr>
      </p:pic>
      <p:pic>
        <p:nvPicPr>
          <p:cNvPr id="11" name="图片 10" descr="半导体所">
            <a:extLst>
              <a:ext uri="{FF2B5EF4-FFF2-40B4-BE49-F238E27FC236}">
                <a16:creationId xmlns:a16="http://schemas.microsoft.com/office/drawing/2014/main" id="{53B3A381-6BB4-CE19-645E-ABF7269009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4940" y="5634717"/>
            <a:ext cx="1019895" cy="98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57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071BF27-A73B-50E9-84E5-D1906A0280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230"/>
          <a:stretch/>
        </p:blipFill>
        <p:spPr>
          <a:xfrm>
            <a:off x="2100110" y="3404931"/>
            <a:ext cx="3412012" cy="3316544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回顾：近自由电子近似与带隙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173"/>
                <a:ext cx="10515600" cy="49851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将自由电子（空格子模型）作为零级近似，将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20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𝐫</m:t>
                        </m:r>
                      </m:e>
                    </m:d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作为微扰，通过微扰论求解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在自由电子能带简并处打开带隙，带隙大小为 </a:t>
                </a:r>
                <a:r>
                  <a:rPr lang="en-US" altLang="zh-CN" sz="2000" dirty="0"/>
                  <a:t>2 * </a:t>
                </a:r>
                <a:r>
                  <a:rPr lang="zh-CN" altLang="en-US" sz="2000" dirty="0"/>
                  <a:t>势能的傅里叶展开系数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173"/>
                <a:ext cx="10515600" cy="4985174"/>
              </a:xfrm>
              <a:blipFill>
                <a:blip r:embed="rId3"/>
                <a:stretch>
                  <a:fillRect l="-522" t="-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A0890A41-EA4B-2915-341A-07F45A35DC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79" r="25468"/>
          <a:stretch/>
        </p:blipFill>
        <p:spPr>
          <a:xfrm>
            <a:off x="6774032" y="3294799"/>
            <a:ext cx="2735068" cy="29830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35AF7C3-D233-5B86-28EE-122F44758CD0}"/>
                  </a:ext>
                </a:extLst>
              </p:cNvPr>
              <p:cNvSpPr txBox="1"/>
              <p:nvPr/>
            </p:nvSpPr>
            <p:spPr>
              <a:xfrm>
                <a:off x="6582154" y="5398553"/>
                <a:ext cx="8812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35AF7C3-D233-5B86-28EE-122F44758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154" y="5398553"/>
                <a:ext cx="88127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61FC063-1149-1538-2A09-5BBB0E4D90FF}"/>
                  </a:ext>
                </a:extLst>
              </p:cNvPr>
              <p:cNvSpPr txBox="1"/>
              <p:nvPr/>
            </p:nvSpPr>
            <p:spPr>
              <a:xfrm>
                <a:off x="8819708" y="5398553"/>
                <a:ext cx="8812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61FC063-1149-1538-2A09-5BBB0E4D9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708" y="5398553"/>
                <a:ext cx="88127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C5D7E2C-2BA6-8822-2833-284D3CF4F8A9}"/>
                  </a:ext>
                </a:extLst>
              </p:cNvPr>
              <p:cNvSpPr txBox="1"/>
              <p:nvPr/>
            </p:nvSpPr>
            <p:spPr>
              <a:xfrm>
                <a:off x="8095083" y="4162010"/>
                <a:ext cx="8812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C5D7E2C-2BA6-8822-2833-284D3CF4F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5083" y="4162010"/>
                <a:ext cx="88127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箭头: 右 20">
            <a:extLst>
              <a:ext uri="{FF2B5EF4-FFF2-40B4-BE49-F238E27FC236}">
                <a16:creationId xmlns:a16="http://schemas.microsoft.com/office/drawing/2014/main" id="{88B790FD-812E-D269-E1FA-22D0C0ABAB98}"/>
              </a:ext>
            </a:extLst>
          </p:cNvPr>
          <p:cNvSpPr/>
          <p:nvPr/>
        </p:nvSpPr>
        <p:spPr>
          <a:xfrm>
            <a:off x="5603631" y="4330454"/>
            <a:ext cx="729766" cy="769084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AAC2EC4-02B5-1AF2-C00E-095E1BA93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439610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4634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98A5B-0772-19FE-C792-F7C4EA763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5284"/>
          </a:xfrm>
        </p:spPr>
        <p:txBody>
          <a:bodyPr/>
          <a:lstStyle/>
          <a:p>
            <a:r>
              <a:rPr lang="zh-CN" altLang="en-US" dirty="0"/>
              <a:t>近自由电子近似的成功与局限性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B2C04E-FE09-295A-428B-EF9566D2B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796"/>
            <a:ext cx="10515600" cy="465716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200" dirty="0"/>
              <a:t>近自由电子近似认为， 原子实对电子的作用很弱，电子感受到的平均场接近一常数（或</a:t>
            </a:r>
            <a:r>
              <a:rPr lang="en-US" altLang="zh-CN" sz="2200" dirty="0"/>
              <a:t>0</a:t>
            </a:r>
            <a:r>
              <a:rPr lang="zh-CN" altLang="en-US" sz="2200" dirty="0"/>
              <a:t>），起伏很小</a:t>
            </a:r>
            <a:endParaRPr lang="en-US" altLang="zh-CN" sz="2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200" dirty="0"/>
              <a:t>这一图像接近金属中电子的实际情况</a:t>
            </a:r>
            <a:endParaRPr lang="en-US" altLang="zh-CN" sz="2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200" dirty="0"/>
              <a:t>对轻、主族金属的总带宽、有效质量、费米面预测都比较成功</a:t>
            </a:r>
            <a:endParaRPr lang="en-US" sz="2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20F6D8-E677-9A45-E691-9331F66F0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12" y="3588231"/>
            <a:ext cx="2773966" cy="32256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F78BD70-4B79-2D61-FEC3-F50134C97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779" y="3537462"/>
            <a:ext cx="2679800" cy="3225625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2CE5F95-D7F9-1C99-C809-824C447D0B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021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8489A-18A2-0334-669E-B4B1EFB00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EBEAF9-EAD5-5E2C-A8F5-A482DF8C8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5284"/>
          </a:xfrm>
        </p:spPr>
        <p:txBody>
          <a:bodyPr/>
          <a:lstStyle/>
          <a:p>
            <a:r>
              <a:rPr lang="zh-CN" altLang="en-US" dirty="0"/>
              <a:t>近自由电子近似的成功与局限性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DEF90B-AB2B-0E98-E2C9-1864163A4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796"/>
            <a:ext cx="10515600" cy="465716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200" dirty="0"/>
              <a:t>预测的带隙大小存在显著误差</a:t>
            </a:r>
            <a:endParaRPr lang="en-US" altLang="zh-CN" sz="2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200" dirty="0"/>
              <a:t>远离费米面处能带结构显著偏离实验</a:t>
            </a:r>
            <a:endParaRPr lang="en-US" altLang="zh-CN" sz="2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200" dirty="0"/>
              <a:t>无法定量预测过渡金属、离子晶体、共价晶体能带结构</a:t>
            </a:r>
            <a:endParaRPr lang="en-US" altLang="zh-CN" sz="2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2200" dirty="0"/>
              <a:t>。。。</a:t>
            </a:r>
            <a:endParaRPr lang="en-US" sz="22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7FAEFEC-2CE4-3050-7D6D-8CAA285B1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3894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94023-2813-CCE3-975A-DD9AC6D9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zh-CN" altLang="en-US" sz="5400" dirty="0"/>
              <a:t>紧束缚模型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4C7A060-527E-89EA-B305-18CC6F0C6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zh-CN" altLang="en-US" dirty="0">
                <a:solidFill>
                  <a:schemeClr val="tx1"/>
                </a:solidFill>
              </a:rPr>
              <a:t>第四章 能带理论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C59F8C0-C17B-CDD8-C306-2DE19A51A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24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558FA669-C085-C00F-C44C-B7E84BCA7644}"/>
              </a:ext>
            </a:extLst>
          </p:cNvPr>
          <p:cNvSpPr/>
          <p:nvPr/>
        </p:nvSpPr>
        <p:spPr>
          <a:xfrm>
            <a:off x="1828800" y="3235569"/>
            <a:ext cx="4351283" cy="597877"/>
          </a:xfrm>
          <a:prstGeom prst="round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6EF0CCA-1C00-5E21-A7C1-9E793B632985}"/>
              </a:ext>
            </a:extLst>
          </p:cNvPr>
          <p:cNvSpPr/>
          <p:nvPr/>
        </p:nvSpPr>
        <p:spPr>
          <a:xfrm>
            <a:off x="2227385" y="4396154"/>
            <a:ext cx="3706756" cy="550984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9F4706E7-9602-557B-B5F1-CB017B2B29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4609"/>
                <a:ext cx="6054969" cy="521473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zh-CN" altLang="en-US" sz="2400" dirty="0"/>
                  <a:t>和近自由电子近似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相反</a:t>
                </a:r>
                <a:r>
                  <a:rPr lang="zh-CN" altLang="en-US" sz="2400" dirty="0"/>
                  <a:t>，假定势场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很强</a:t>
                </a:r>
                <a:r>
                  <a:rPr lang="zh-CN" altLang="en-US" sz="2400" dirty="0"/>
                  <a:t>，在某个原子附近的电子主要受该原子势场影响，而受其他原子影响很弱</a:t>
                </a:r>
                <a:endParaRPr lang="en-US" altLang="zh-CN" sz="2400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zh-CN" altLang="en-US" sz="2400" dirty="0"/>
                  <a:t>将孤立原子的电子态作为零级近似</a:t>
                </a:r>
                <a:endParaRPr lang="en-US" altLang="zh-CN" sz="2400" dirty="0"/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altLang="zh-CN" sz="2400" b="0" dirty="0">
                    <a:ea typeface="Cambria Math" panose="02040503050406030204" pitchFamily="18" charset="0"/>
                  </a:rPr>
                  <a:t>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𝑎𝑡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𝑜𝑚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𝐫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1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zh-CN" altLang="en-US" sz="2400" dirty="0"/>
                  <a:t>将其他原子的势能作为微扰</a:t>
                </a:r>
                <a:endParaRPr lang="en-US" altLang="zh-CN" sz="2400" dirty="0"/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𝑎𝑡</m:t>
                            </m:r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𝑜𝑚</m:t>
                            </m:r>
                          </m:sup>
                        </m:s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𝐫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sz="2400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</a:rPr>
                  <a:t>称为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紧束缚模型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，或紧束缚近似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9F4706E7-9602-557B-B5F1-CB017B2B29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4609"/>
                <a:ext cx="6054969" cy="5214730"/>
              </a:xfrm>
              <a:blipFill>
                <a:blip r:embed="rId2"/>
                <a:stretch>
                  <a:fillRect l="-1410" t="-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A6E82BEE-FDDF-8DD4-FBC4-882369D24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1188"/>
          </a:xfrm>
        </p:spPr>
        <p:txBody>
          <a:bodyPr/>
          <a:lstStyle/>
          <a:p>
            <a:r>
              <a:rPr lang="zh-CN" altLang="en-US" dirty="0"/>
              <a:t>紧束缚模型 </a:t>
            </a:r>
            <a:r>
              <a:rPr lang="en-US" altLang="zh-CN" dirty="0"/>
              <a:t>(Tight-Binding Model)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767F4DB-3EB2-0B0D-201A-8C233934C8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843" y="1628800"/>
            <a:ext cx="5017195" cy="3600400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FB13C45-A38E-40EB-16AA-F7CF40EF8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7900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89645C1-1459-CA13-D29A-2EA0B04A70C8}"/>
              </a:ext>
            </a:extLst>
          </p:cNvPr>
          <p:cNvSpPr/>
          <p:nvPr/>
        </p:nvSpPr>
        <p:spPr>
          <a:xfrm>
            <a:off x="7888357" y="1429172"/>
            <a:ext cx="2401956" cy="405212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C86B960-9F1A-6B1A-BDDD-2515CBE61D78}"/>
              </a:ext>
            </a:extLst>
          </p:cNvPr>
          <p:cNvSpPr/>
          <p:nvPr/>
        </p:nvSpPr>
        <p:spPr>
          <a:xfrm>
            <a:off x="6640435" y="2739025"/>
            <a:ext cx="4087199" cy="405212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紧束缚模型：一维有限深势阱的耦合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64924" y="1429173"/>
                <a:ext cx="7288876" cy="49851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单个一维势阱内的电子波函数，其本征能量为分立的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假设有两个相同形状的一维势阱，只考虑最低能态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没有相互作用时，波函数完全相同，本征值简并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0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/>
                  <a:t>，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924" y="1429173"/>
                <a:ext cx="7288876" cy="4985174"/>
              </a:xfrm>
              <a:blipFill>
                <a:blip r:embed="rId2"/>
                <a:stretch>
                  <a:fillRect l="-753" t="-9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 descr="图表, 直方图&#10;&#10;描述已自动生成">
            <a:extLst>
              <a:ext uri="{FF2B5EF4-FFF2-40B4-BE49-F238E27FC236}">
                <a16:creationId xmlns:a16="http://schemas.microsoft.com/office/drawing/2014/main" id="{7C35A61F-2464-FAFC-8ADF-6179BFBE0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492"/>
          <a:stretch/>
        </p:blipFill>
        <p:spPr>
          <a:xfrm>
            <a:off x="888076" y="1400587"/>
            <a:ext cx="3176847" cy="484507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6642A0E-D62C-16E7-EC90-05C675938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0047" y="3431801"/>
            <a:ext cx="3031906" cy="23859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6795F5F-EDAF-1D21-AA59-33FF8E5A5832}"/>
                  </a:ext>
                </a:extLst>
              </p:cNvPr>
              <p:cNvSpPr txBox="1"/>
              <p:nvPr/>
            </p:nvSpPr>
            <p:spPr>
              <a:xfrm>
                <a:off x="5767754" y="4424697"/>
                <a:ext cx="922688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6795F5F-EDAF-1D21-AA59-33FF8E5A5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754" y="4424697"/>
                <a:ext cx="922688" cy="400110"/>
              </a:xfrm>
              <a:prstGeom prst="rect">
                <a:avLst/>
              </a:prstGeom>
              <a:blipFill>
                <a:blip r:embed="rId5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DD0515F-CAC7-84F2-AC14-C361AAB88404}"/>
                  </a:ext>
                </a:extLst>
              </p:cNvPr>
              <p:cNvSpPr txBox="1"/>
              <p:nvPr/>
            </p:nvSpPr>
            <p:spPr>
              <a:xfrm>
                <a:off x="5548345" y="5228772"/>
                <a:ext cx="913070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DD0515F-CAC7-84F2-AC14-C361AAB88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345" y="5228772"/>
                <a:ext cx="913070" cy="400110"/>
              </a:xfrm>
              <a:prstGeom prst="rect">
                <a:avLst/>
              </a:prstGeom>
              <a:blipFill>
                <a:blip r:embed="rId6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7B0D0EBA-0C30-7863-6D9D-57E2B1D4DBAD}"/>
              </a:ext>
            </a:extLst>
          </p:cNvPr>
          <p:cNvSpPr txBox="1"/>
          <p:nvPr/>
        </p:nvSpPr>
        <p:spPr>
          <a:xfrm>
            <a:off x="8163338" y="4946183"/>
            <a:ext cx="20673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highlight>
                  <a:srgbClr val="FFFF00"/>
                </a:highlight>
              </a:rPr>
              <a:t>零级近似波函数</a:t>
            </a:r>
            <a:endParaRPr lang="en-US" altLang="zh-CN" sz="2000" dirty="0">
              <a:highlight>
                <a:srgbClr val="FFFF00"/>
              </a:highlight>
            </a:endParaRPr>
          </a:p>
          <a:p>
            <a:pPr algn="ctr"/>
            <a:r>
              <a:rPr lang="zh-CN" altLang="en-US" sz="2000" dirty="0">
                <a:highlight>
                  <a:srgbClr val="FFFF00"/>
                </a:highlight>
              </a:rPr>
              <a:t>（简并）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64C78C3-EA51-B740-1F66-AB16373C8563}"/>
              </a:ext>
            </a:extLst>
          </p:cNvPr>
          <p:cNvSpPr txBox="1"/>
          <p:nvPr/>
        </p:nvSpPr>
        <p:spPr>
          <a:xfrm>
            <a:off x="7772400" y="3689152"/>
            <a:ext cx="2849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没有相互作用的双势阱</a:t>
            </a:r>
            <a:r>
              <a:rPr lang="zh-CN" altLang="en-US" sz="2000" dirty="0">
                <a:highlight>
                  <a:srgbClr val="FFFF00"/>
                </a:highlight>
                <a:latin typeface="+mn-ea"/>
              </a:rPr>
              <a:t> 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702CB76-D748-E91F-D88F-8F74F0227DA1}"/>
              </a:ext>
            </a:extLst>
          </p:cNvPr>
          <p:cNvCxnSpPr/>
          <p:nvPr/>
        </p:nvCxnSpPr>
        <p:spPr>
          <a:xfrm>
            <a:off x="5019006" y="6414347"/>
            <a:ext cx="74874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CA6E451-571A-FF91-B6EF-9A07E1795D39}"/>
              </a:ext>
            </a:extLst>
          </p:cNvPr>
          <p:cNvCxnSpPr/>
          <p:nvPr/>
        </p:nvCxnSpPr>
        <p:spPr>
          <a:xfrm>
            <a:off x="6566452" y="6414347"/>
            <a:ext cx="74874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A34DDA5-3618-0798-D0D0-9650075AE0CA}"/>
                  </a:ext>
                </a:extLst>
              </p:cNvPr>
              <p:cNvSpPr txBox="1"/>
              <p:nvPr/>
            </p:nvSpPr>
            <p:spPr>
              <a:xfrm>
                <a:off x="5144786" y="5942769"/>
                <a:ext cx="497187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A34DDA5-3618-0798-D0D0-9650075AE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4786" y="5942769"/>
                <a:ext cx="497187" cy="400110"/>
              </a:xfrm>
              <a:prstGeom prst="rect">
                <a:avLst/>
              </a:prstGeom>
              <a:blipFill>
                <a:blip r:embed="rId7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87830E3-B2EE-E142-65A6-183D29D814C5}"/>
                  </a:ext>
                </a:extLst>
              </p:cNvPr>
              <p:cNvSpPr txBox="1"/>
              <p:nvPr/>
            </p:nvSpPr>
            <p:spPr>
              <a:xfrm>
                <a:off x="6690442" y="5942769"/>
                <a:ext cx="487569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87830E3-B2EE-E142-65A6-183D29D81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0442" y="5942769"/>
                <a:ext cx="487569" cy="400110"/>
              </a:xfrm>
              <a:prstGeom prst="rect">
                <a:avLst/>
              </a:prstGeom>
              <a:blipFill>
                <a:blip r:embed="rId8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>
            <a:extLst>
              <a:ext uri="{FF2B5EF4-FFF2-40B4-BE49-F238E27FC236}">
                <a16:creationId xmlns:a16="http://schemas.microsoft.com/office/drawing/2014/main" id="{1D238122-6BFE-C5F2-84C3-A0548AACDE39}"/>
              </a:ext>
            </a:extLst>
          </p:cNvPr>
          <p:cNvSpPr txBox="1"/>
          <p:nvPr/>
        </p:nvSpPr>
        <p:spPr>
          <a:xfrm>
            <a:off x="8163338" y="6091263"/>
            <a:ext cx="20673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highlight>
                  <a:srgbClr val="FFFF00"/>
                </a:highlight>
              </a:rPr>
              <a:t>零级近似本征值（简并）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3995203-1F0C-248A-3D53-5EC0FA044B92}"/>
              </a:ext>
            </a:extLst>
          </p:cNvPr>
          <p:cNvSpPr txBox="1"/>
          <p:nvPr/>
        </p:nvSpPr>
        <p:spPr>
          <a:xfrm>
            <a:off x="925388" y="6283583"/>
            <a:ext cx="32686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一维有限深势阱内的本征波函数解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3B95738-2661-83D3-2B0F-AAD580C0D386}"/>
              </a:ext>
            </a:extLst>
          </p:cNvPr>
          <p:cNvSpPr/>
          <p:nvPr/>
        </p:nvSpPr>
        <p:spPr>
          <a:xfrm>
            <a:off x="4346028" y="2739025"/>
            <a:ext cx="2115388" cy="405212"/>
          </a:xfrm>
          <a:prstGeom prst="round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4CA36DE-CDA2-F3E9-8177-C27CC042C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195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C86B960-9F1A-6B1A-BDDD-2515CBE61D78}"/>
              </a:ext>
            </a:extLst>
          </p:cNvPr>
          <p:cNvSpPr/>
          <p:nvPr/>
        </p:nvSpPr>
        <p:spPr>
          <a:xfrm>
            <a:off x="2555831" y="4637852"/>
            <a:ext cx="1847698" cy="405212"/>
          </a:xfrm>
          <a:prstGeom prst="roundRect">
            <a:avLst/>
          </a:prstGeom>
          <a:solidFill>
            <a:schemeClr val="bg1">
              <a:lumMod val="85000"/>
              <a:alpha val="25098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59B745-FD12-F574-0B58-A6AFDBDD6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412" y="1307092"/>
            <a:ext cx="3902493" cy="1970439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紧束缚模型：一维有限深势阱的耦合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172"/>
                <a:ext cx="5285275" cy="533738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当一个势阱中的电子开始受到另一个势阱的影响，势能需要写成两个势阱的叠加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此时电子能量是下面行列式的解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000" b="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记跃迁</a:t>
                </a:r>
                <a:r>
                  <a:rPr lang="en-US" altLang="zh-CN" sz="2000" dirty="0"/>
                  <a:t>(</a:t>
                </a:r>
                <a:r>
                  <a:rPr lang="en-US" altLang="zh-CN" sz="2000" dirty="0">
                    <a:highlight>
                      <a:srgbClr val="FFFF00"/>
                    </a:highlight>
                  </a:rPr>
                  <a:t>hopping</a:t>
                </a:r>
                <a:r>
                  <a:rPr lang="en-US" altLang="zh-CN" sz="2000" dirty="0"/>
                  <a:t>)</a:t>
                </a:r>
                <a:r>
                  <a:rPr lang="zh-CN" altLang="en-US" sz="2000" dirty="0"/>
                  <a:t>积分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e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类似近自由电子近似时我们求解过的简并微扰条件，当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dirty="0"/>
                  <a:t>时，求解得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最低的两个能级不再简并，其对应的波函数分别为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b="0" dirty="0">
                    <a:solidFill>
                      <a:schemeClr val="tx1"/>
                    </a:solidFill>
                  </a:rPr>
                  <a:t>，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zh-CN" sz="20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/>
                  <a:t>，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zh-CN" alt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172"/>
                <a:ext cx="5285275" cy="5337387"/>
              </a:xfrm>
              <a:blipFill>
                <a:blip r:embed="rId3"/>
                <a:stretch>
                  <a:fillRect l="-1038" t="-571" r="-346" b="-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6795F5F-EDAF-1D21-AA59-33FF8E5A5832}"/>
                  </a:ext>
                </a:extLst>
              </p:cNvPr>
              <p:cNvSpPr txBox="1"/>
              <p:nvPr/>
            </p:nvSpPr>
            <p:spPr>
              <a:xfrm>
                <a:off x="7911472" y="1495909"/>
                <a:ext cx="922688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6795F5F-EDAF-1D21-AA59-33FF8E5A5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1472" y="1495909"/>
                <a:ext cx="922688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DD0515F-CAC7-84F2-AC14-C361AAB88404}"/>
                  </a:ext>
                </a:extLst>
              </p:cNvPr>
              <p:cNvSpPr txBox="1"/>
              <p:nvPr/>
            </p:nvSpPr>
            <p:spPr>
              <a:xfrm>
                <a:off x="9133058" y="1495909"/>
                <a:ext cx="913070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DD0515F-CAC7-84F2-AC14-C361AAB88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3058" y="1495909"/>
                <a:ext cx="913070" cy="4001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89645C1-1459-CA13-D29A-2EA0B04A70C8}"/>
              </a:ext>
            </a:extLst>
          </p:cNvPr>
          <p:cNvSpPr/>
          <p:nvPr/>
        </p:nvSpPr>
        <p:spPr>
          <a:xfrm>
            <a:off x="1110254" y="5702512"/>
            <a:ext cx="2107095" cy="509458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A07BDA5-01E9-2E42-8AFB-01AF7357CF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3141" y="4303333"/>
            <a:ext cx="2876550" cy="13335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D3D7176-4D4A-AC09-D464-A1858E4188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9658" y="4277001"/>
            <a:ext cx="3114675" cy="1905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39B2BDA-8987-61C7-7EBB-9B60772E8829}"/>
                  </a:ext>
                </a:extLst>
              </p:cNvPr>
              <p:cNvSpPr txBox="1"/>
              <p:nvPr/>
            </p:nvSpPr>
            <p:spPr>
              <a:xfrm>
                <a:off x="6303443" y="3645911"/>
                <a:ext cx="2199861" cy="664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39B2BDA-8987-61C7-7EBB-9B60772E8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443" y="3645911"/>
                <a:ext cx="2199861" cy="6646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DA04FC1-47C1-8E15-75F1-BFF80A910E51}"/>
                  </a:ext>
                </a:extLst>
              </p:cNvPr>
              <p:cNvSpPr txBox="1"/>
              <p:nvPr/>
            </p:nvSpPr>
            <p:spPr>
              <a:xfrm>
                <a:off x="9470256" y="3638727"/>
                <a:ext cx="2153478" cy="66460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DA04FC1-47C1-8E15-75F1-BFF80A910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0256" y="3638727"/>
                <a:ext cx="2153478" cy="66460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1189093-04B0-B093-E885-A944BBD41AE6}"/>
              </a:ext>
            </a:extLst>
          </p:cNvPr>
          <p:cNvSpPr/>
          <p:nvPr/>
        </p:nvSpPr>
        <p:spPr>
          <a:xfrm>
            <a:off x="1110254" y="6257101"/>
            <a:ext cx="2107095" cy="509458"/>
          </a:xfrm>
          <a:prstGeom prst="round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FF6C49A0-6B63-59B8-B950-A5088C0E0779}"/>
              </a:ext>
            </a:extLst>
          </p:cNvPr>
          <p:cNvSpPr/>
          <p:nvPr/>
        </p:nvSpPr>
        <p:spPr>
          <a:xfrm rot="19556556">
            <a:off x="10080674" y="3199712"/>
            <a:ext cx="437322" cy="516834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60C8DE5C-2A86-3CAB-7C4C-345CD47AEE40}"/>
              </a:ext>
            </a:extLst>
          </p:cNvPr>
          <p:cNvSpPr/>
          <p:nvPr/>
        </p:nvSpPr>
        <p:spPr>
          <a:xfrm rot="2111305">
            <a:off x="7532520" y="3301359"/>
            <a:ext cx="437322" cy="516834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63E0CD-FC6C-F50D-4129-21C816D89D46}"/>
              </a:ext>
            </a:extLst>
          </p:cNvPr>
          <p:cNvSpPr txBox="1"/>
          <p:nvPr/>
        </p:nvSpPr>
        <p:spPr>
          <a:xfrm>
            <a:off x="5211562" y="3386054"/>
            <a:ext cx="1443157" cy="408623"/>
          </a:xfrm>
          <a:prstGeom prst="roundRect">
            <a:avLst/>
          </a:prstGeom>
          <a:solidFill>
            <a:srgbClr val="0070C0">
              <a:alpha val="25098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r>
              <a:rPr lang="zh-CN" altLang="en-US" dirty="0"/>
              <a:t>一般是负的</a:t>
            </a:r>
            <a:endParaRPr 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5A2F2C0-4E8A-9CF6-8640-C1E8666C58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426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459B745-FD12-F574-0B58-A6AFDBDD6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412" y="1307092"/>
            <a:ext cx="3902493" cy="1970439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紧束缚模型：一维有限深势阱的耦合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429173"/>
                <a:ext cx="5158856" cy="49851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000" i="0" dirty="0" smtClean="0"/>
                      <m:t>跃迁积分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e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/>
                  <a:t>表征了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电子在耦合态之间量子混合所带来的能量变化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为何称之为</a:t>
                </a:r>
                <a:r>
                  <a:rPr lang="en-US" altLang="zh-CN" sz="2000" dirty="0"/>
                  <a:t>“</a:t>
                </a:r>
                <a:r>
                  <a:rPr lang="zh-CN" altLang="en-US" sz="2000" dirty="0"/>
                  <a:t>跃迁</a:t>
                </a:r>
                <a:r>
                  <a:rPr lang="en-US" altLang="zh-CN" sz="2000" dirty="0"/>
                  <a:t>”</a:t>
                </a:r>
                <a:r>
                  <a:rPr lang="zh-CN" altLang="en-US" sz="2000" dirty="0"/>
                  <a:t>？用于计算费米黄金定则中的跃迁概率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形成的两个新的解波函数分别称为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成键态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(bonding state) 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和反键态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(anti-bonding state)</a:t>
                </a:r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成键态能量低，反键态能量高，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能量差正比于跃迁积分的模</a:t>
                </a:r>
                <a:r>
                  <a:rPr lang="zh-CN" altLang="en-US" sz="2000" dirty="0"/>
                  <a:t>。利用分子轨道图像 </a:t>
                </a:r>
                <a:r>
                  <a:rPr lang="en-US" altLang="zh-CN" sz="2000" dirty="0"/>
                  <a:t>(molecular orbital diagram) </a:t>
                </a:r>
                <a:r>
                  <a:rPr lang="zh-CN" altLang="en-US" sz="2000" dirty="0"/>
                  <a:t>可表示为下图</a:t>
                </a:r>
              </a:p>
              <a:p>
                <a:pPr>
                  <a:lnSpc>
                    <a:spcPct val="100000"/>
                  </a:lnSpc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429173"/>
                <a:ext cx="5158856" cy="4985174"/>
              </a:xfrm>
              <a:blipFill>
                <a:blip r:embed="rId3"/>
                <a:stretch>
                  <a:fillRect l="-1064" t="-856" r="-1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6795F5F-EDAF-1D21-AA59-33FF8E5A5832}"/>
                  </a:ext>
                </a:extLst>
              </p:cNvPr>
              <p:cNvSpPr txBox="1"/>
              <p:nvPr/>
            </p:nvSpPr>
            <p:spPr>
              <a:xfrm>
                <a:off x="7911472" y="1495909"/>
                <a:ext cx="922688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6795F5F-EDAF-1D21-AA59-33FF8E5A5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1472" y="1495909"/>
                <a:ext cx="922688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DD0515F-CAC7-84F2-AC14-C361AAB88404}"/>
                  </a:ext>
                </a:extLst>
              </p:cNvPr>
              <p:cNvSpPr txBox="1"/>
              <p:nvPr/>
            </p:nvSpPr>
            <p:spPr>
              <a:xfrm>
                <a:off x="9133058" y="1495909"/>
                <a:ext cx="913070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DD0515F-CAC7-84F2-AC14-C361AAB88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3058" y="1495909"/>
                <a:ext cx="913070" cy="4001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0A07BDA5-01E9-2E42-8AFB-01AF7357CF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3141" y="4303333"/>
            <a:ext cx="2876550" cy="13335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D3D7176-4D4A-AC09-D464-A1858E4188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9658" y="4277001"/>
            <a:ext cx="3114675" cy="1905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39B2BDA-8987-61C7-7EBB-9B60772E8829}"/>
                  </a:ext>
                </a:extLst>
              </p:cNvPr>
              <p:cNvSpPr txBox="1"/>
              <p:nvPr/>
            </p:nvSpPr>
            <p:spPr>
              <a:xfrm>
                <a:off x="6303443" y="3645911"/>
                <a:ext cx="2199861" cy="664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39B2BDA-8987-61C7-7EBB-9B60772E8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443" y="3645911"/>
                <a:ext cx="2199861" cy="6646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DA04FC1-47C1-8E15-75F1-BFF80A910E51}"/>
                  </a:ext>
                </a:extLst>
              </p:cNvPr>
              <p:cNvSpPr txBox="1"/>
              <p:nvPr/>
            </p:nvSpPr>
            <p:spPr>
              <a:xfrm>
                <a:off x="9470256" y="3638727"/>
                <a:ext cx="2153478" cy="66460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DA04FC1-47C1-8E15-75F1-BFF80A910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0256" y="3638727"/>
                <a:ext cx="2153478" cy="66460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箭头: 下 23">
            <a:extLst>
              <a:ext uri="{FF2B5EF4-FFF2-40B4-BE49-F238E27FC236}">
                <a16:creationId xmlns:a16="http://schemas.microsoft.com/office/drawing/2014/main" id="{FF6C49A0-6B63-59B8-B950-A5088C0E0779}"/>
              </a:ext>
            </a:extLst>
          </p:cNvPr>
          <p:cNvSpPr/>
          <p:nvPr/>
        </p:nvSpPr>
        <p:spPr>
          <a:xfrm rot="19556556">
            <a:off x="10080674" y="3199712"/>
            <a:ext cx="437322" cy="516834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60C8DE5C-2A86-3CAB-7C4C-345CD47AEE40}"/>
              </a:ext>
            </a:extLst>
          </p:cNvPr>
          <p:cNvSpPr/>
          <p:nvPr/>
        </p:nvSpPr>
        <p:spPr>
          <a:xfrm rot="2111305">
            <a:off x="7532520" y="3301359"/>
            <a:ext cx="437322" cy="516834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6CB1272-30C5-4C62-C2A1-28E0AE9F9B3B}"/>
              </a:ext>
            </a:extLst>
          </p:cNvPr>
          <p:cNvSpPr txBox="1"/>
          <p:nvPr/>
        </p:nvSpPr>
        <p:spPr>
          <a:xfrm>
            <a:off x="6292702" y="6103975"/>
            <a:ext cx="2480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成键态 </a:t>
            </a:r>
            <a:r>
              <a:rPr lang="en-US" altLang="zh-CN" sz="1800" dirty="0"/>
              <a:t>(bonding state)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6C990F-B1FD-EED4-02AB-5CDFA81C6439}"/>
              </a:ext>
            </a:extLst>
          </p:cNvPr>
          <p:cNvSpPr txBox="1"/>
          <p:nvPr/>
        </p:nvSpPr>
        <p:spPr>
          <a:xfrm>
            <a:off x="9273392" y="6112020"/>
            <a:ext cx="2830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/>
              <a:t>反键态 </a:t>
            </a:r>
            <a:r>
              <a:rPr lang="en-US" altLang="zh-CN" sz="1800" dirty="0"/>
              <a:t>(anti-bonding state)</a:t>
            </a:r>
            <a:endParaRPr lang="zh-CN" altLang="en-US" sz="1800" dirty="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46319FE-07CD-8D61-CDE0-ACD1DF0E29B9}"/>
              </a:ext>
            </a:extLst>
          </p:cNvPr>
          <p:cNvCxnSpPr/>
          <p:nvPr/>
        </p:nvCxnSpPr>
        <p:spPr>
          <a:xfrm>
            <a:off x="1767215" y="5564916"/>
            <a:ext cx="74874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430D55D-625F-3E27-CB5E-8F6C86711572}"/>
              </a:ext>
            </a:extLst>
          </p:cNvPr>
          <p:cNvCxnSpPr/>
          <p:nvPr/>
        </p:nvCxnSpPr>
        <p:spPr>
          <a:xfrm>
            <a:off x="4195930" y="5564916"/>
            <a:ext cx="74874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8DE69B1-CC16-483A-8076-8DBB1A930058}"/>
              </a:ext>
            </a:extLst>
          </p:cNvPr>
          <p:cNvCxnSpPr/>
          <p:nvPr/>
        </p:nvCxnSpPr>
        <p:spPr>
          <a:xfrm>
            <a:off x="2979788" y="5180603"/>
            <a:ext cx="74874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436440D-A9C4-520C-524C-B40F787F23B3}"/>
              </a:ext>
            </a:extLst>
          </p:cNvPr>
          <p:cNvCxnSpPr/>
          <p:nvPr/>
        </p:nvCxnSpPr>
        <p:spPr>
          <a:xfrm>
            <a:off x="2979788" y="5949229"/>
            <a:ext cx="74874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ADF70A7-FBB6-09C2-249E-14016E7F0EB7}"/>
              </a:ext>
            </a:extLst>
          </p:cNvPr>
          <p:cNvCxnSpPr/>
          <p:nvPr/>
        </p:nvCxnSpPr>
        <p:spPr>
          <a:xfrm flipV="1">
            <a:off x="2515963" y="5180603"/>
            <a:ext cx="463825" cy="384313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ABD0C77-699D-2F29-4820-B30DD789A914}"/>
              </a:ext>
            </a:extLst>
          </p:cNvPr>
          <p:cNvCxnSpPr>
            <a:cxnSpLocks/>
          </p:cNvCxnSpPr>
          <p:nvPr/>
        </p:nvCxnSpPr>
        <p:spPr>
          <a:xfrm>
            <a:off x="2515963" y="5577873"/>
            <a:ext cx="463825" cy="37135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588EED4-9C44-D7C4-C185-D0E0B071504A}"/>
              </a:ext>
            </a:extLst>
          </p:cNvPr>
          <p:cNvCxnSpPr>
            <a:cxnSpLocks/>
          </p:cNvCxnSpPr>
          <p:nvPr/>
        </p:nvCxnSpPr>
        <p:spPr>
          <a:xfrm>
            <a:off x="3728536" y="5180603"/>
            <a:ext cx="467394" cy="384313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B8E8BB4E-D717-446F-F4D0-3A3F7DCE3A11}"/>
              </a:ext>
            </a:extLst>
          </p:cNvPr>
          <p:cNvCxnSpPr>
            <a:cxnSpLocks/>
          </p:cNvCxnSpPr>
          <p:nvPr/>
        </p:nvCxnSpPr>
        <p:spPr>
          <a:xfrm flipV="1">
            <a:off x="3728536" y="5577873"/>
            <a:ext cx="467394" cy="37135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152687B-3ECC-F3A1-E857-563DF7271C58}"/>
                  </a:ext>
                </a:extLst>
              </p:cNvPr>
              <p:cNvSpPr txBox="1"/>
              <p:nvPr/>
            </p:nvSpPr>
            <p:spPr>
              <a:xfrm>
                <a:off x="1904686" y="5094607"/>
                <a:ext cx="565796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152687B-3ECC-F3A1-E857-563DF7271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686" y="5094607"/>
                <a:ext cx="565796" cy="400110"/>
              </a:xfrm>
              <a:prstGeom prst="rect">
                <a:avLst/>
              </a:prstGeom>
              <a:blipFill>
                <a:blip r:embed="rId10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BE5EDAC-1137-A59F-B5F0-4AAF8FFDF91C}"/>
                  </a:ext>
                </a:extLst>
              </p:cNvPr>
              <p:cNvSpPr txBox="1"/>
              <p:nvPr/>
            </p:nvSpPr>
            <p:spPr>
              <a:xfrm>
                <a:off x="4310478" y="5094607"/>
                <a:ext cx="556178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BE5EDAC-1137-A59F-B5F0-4AAF8FFDF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478" y="5094607"/>
                <a:ext cx="556178" cy="400110"/>
              </a:xfrm>
              <a:prstGeom prst="rect">
                <a:avLst/>
              </a:prstGeom>
              <a:blipFill>
                <a:blip r:embed="rId11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D92B706-B02B-1519-D24D-318127743432}"/>
                  </a:ext>
                </a:extLst>
              </p:cNvPr>
              <p:cNvSpPr txBox="1"/>
              <p:nvPr/>
            </p:nvSpPr>
            <p:spPr>
              <a:xfrm>
                <a:off x="3085563" y="6014237"/>
                <a:ext cx="537198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D92B706-B02B-1519-D24D-318127743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563" y="6014237"/>
                <a:ext cx="537198" cy="400110"/>
              </a:xfrm>
              <a:prstGeom prst="rect">
                <a:avLst/>
              </a:prstGeom>
              <a:blipFill>
                <a:blip r:embed="rId12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9EDE2733-DC22-3700-3F91-ECA5AE1BF189}"/>
                  </a:ext>
                </a:extLst>
              </p:cNvPr>
              <p:cNvSpPr txBox="1"/>
              <p:nvPr/>
            </p:nvSpPr>
            <p:spPr>
              <a:xfrm>
                <a:off x="3085563" y="4747990"/>
                <a:ext cx="543161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9EDE2733-DC22-3700-3F91-ECA5AE1BF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563" y="4747990"/>
                <a:ext cx="543161" cy="400110"/>
              </a:xfrm>
              <a:prstGeom prst="rect">
                <a:avLst/>
              </a:prstGeom>
              <a:blipFill>
                <a:blip r:embed="rId1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C7A8BD50-4517-BF6C-953D-29BD5074DDA0}"/>
              </a:ext>
            </a:extLst>
          </p:cNvPr>
          <p:cNvCxnSpPr>
            <a:cxnSpLocks/>
          </p:cNvCxnSpPr>
          <p:nvPr/>
        </p:nvCxnSpPr>
        <p:spPr>
          <a:xfrm>
            <a:off x="3321286" y="5235283"/>
            <a:ext cx="0" cy="6626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0D91C03D-5F54-A347-A635-D64851B7B4F1}"/>
                  </a:ext>
                </a:extLst>
              </p:cNvPr>
              <p:cNvSpPr txBox="1"/>
              <p:nvPr/>
            </p:nvSpPr>
            <p:spPr>
              <a:xfrm>
                <a:off x="3025269" y="5380250"/>
                <a:ext cx="101379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0D91C03D-5F54-A347-A635-D64851B7B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269" y="5380250"/>
                <a:ext cx="101379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8924BD3B-9078-9219-66CF-B6F77892CC45}"/>
              </a:ext>
            </a:extLst>
          </p:cNvPr>
          <p:cNvSpPr/>
          <p:nvPr/>
        </p:nvSpPr>
        <p:spPr>
          <a:xfrm>
            <a:off x="6317529" y="6041491"/>
            <a:ext cx="2293071" cy="509458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9F215468-2269-337E-7E94-328308F5B46B}"/>
              </a:ext>
            </a:extLst>
          </p:cNvPr>
          <p:cNvSpPr/>
          <p:nvPr/>
        </p:nvSpPr>
        <p:spPr>
          <a:xfrm>
            <a:off x="9325748" y="6055664"/>
            <a:ext cx="2690844" cy="509458"/>
          </a:xfrm>
          <a:prstGeom prst="round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BF03F0F-9F68-B856-93A3-945A3DCF208B}"/>
              </a:ext>
            </a:extLst>
          </p:cNvPr>
          <p:cNvSpPr txBox="1"/>
          <p:nvPr/>
        </p:nvSpPr>
        <p:spPr>
          <a:xfrm>
            <a:off x="3980144" y="6048551"/>
            <a:ext cx="1443157" cy="408623"/>
          </a:xfrm>
          <a:prstGeom prst="roundRect">
            <a:avLst/>
          </a:prstGeom>
          <a:solidFill>
            <a:srgbClr val="0070C0">
              <a:alpha val="25098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r>
              <a:rPr lang="zh-CN" altLang="en-US" dirty="0"/>
              <a:t>一般是负的</a:t>
            </a:r>
            <a:endParaRPr 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B90A0FE-B293-201A-85CA-57C3A6A02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520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EA0A0FA-3E24-2F68-8987-2D33189DA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64" y="1325994"/>
            <a:ext cx="3499125" cy="553200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327F7A3-79DB-670C-9697-D437AB82E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173" y="867148"/>
            <a:ext cx="3914851" cy="316992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6201794-8E83-6EB4-2DE2-BD18F066CBEF}"/>
              </a:ext>
            </a:extLst>
          </p:cNvPr>
          <p:cNvSpPr txBox="1"/>
          <p:nvPr/>
        </p:nvSpPr>
        <p:spPr>
          <a:xfrm>
            <a:off x="798243" y="559764"/>
            <a:ext cx="34194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/>
              <a:t>6</a:t>
            </a:r>
            <a:r>
              <a:rPr lang="zh-CN" altLang="en-US" sz="2000" dirty="0"/>
              <a:t>个电子轨道的线性组合</a:t>
            </a:r>
            <a:endParaRPr lang="en-US" altLang="zh-CN" sz="2000" dirty="0"/>
          </a:p>
          <a:p>
            <a:pPr algn="ctr"/>
            <a:r>
              <a:rPr lang="zh-CN" altLang="en-US" sz="2000" dirty="0"/>
              <a:t>（仅考虑最近邻跃迁积分）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50797A-3F79-7A2A-E27E-481F3B46C3D8}"/>
              </a:ext>
            </a:extLst>
          </p:cNvPr>
          <p:cNvSpPr txBox="1"/>
          <p:nvPr/>
        </p:nvSpPr>
        <p:spPr>
          <a:xfrm>
            <a:off x="4611445" y="862850"/>
            <a:ext cx="1261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本征能量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11DC61B-CAC7-4F3A-5464-E6A23CA00BBF}"/>
                  </a:ext>
                </a:extLst>
              </p:cNvPr>
              <p:cNvSpPr txBox="1"/>
              <p:nvPr/>
            </p:nvSpPr>
            <p:spPr>
              <a:xfrm>
                <a:off x="4341712" y="5524815"/>
                <a:ext cx="1786268" cy="554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en-US" altLang="zh-CN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zh-CN" alt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11DC61B-CAC7-4F3A-5464-E6A23CA00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712" y="5524815"/>
                <a:ext cx="1786268" cy="5540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55D030D-3D8E-EF0B-CFA6-FAF6C1E37A6D}"/>
                  </a:ext>
                </a:extLst>
              </p:cNvPr>
              <p:cNvSpPr txBox="1"/>
              <p:nvPr/>
            </p:nvSpPr>
            <p:spPr>
              <a:xfrm>
                <a:off x="4341712" y="4888421"/>
                <a:ext cx="1801193" cy="5770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55D030D-3D8E-EF0B-CFA6-FAF6C1E37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712" y="4888421"/>
                <a:ext cx="1801193" cy="5770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0094800-3B58-23A9-D1C8-9C03DBCE050F}"/>
                  </a:ext>
                </a:extLst>
              </p:cNvPr>
              <p:cNvSpPr txBox="1"/>
              <p:nvPr/>
            </p:nvSpPr>
            <p:spPr>
              <a:xfrm>
                <a:off x="4334250" y="4015560"/>
                <a:ext cx="1801192" cy="55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0094800-3B58-23A9-D1C8-9C03DBCE0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250" y="4015560"/>
                <a:ext cx="1801192" cy="5531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89A566F-3037-755C-EADA-3358AD70F574}"/>
                  </a:ext>
                </a:extLst>
              </p:cNvPr>
              <p:cNvSpPr txBox="1"/>
              <p:nvPr/>
            </p:nvSpPr>
            <p:spPr>
              <a:xfrm>
                <a:off x="4334250" y="3275748"/>
                <a:ext cx="1801192" cy="554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89A566F-3037-755C-EADA-3358AD70F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250" y="3275748"/>
                <a:ext cx="1801192" cy="5540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96AD317-2E36-F2B6-C6BF-09BB1CB07174}"/>
                  </a:ext>
                </a:extLst>
              </p:cNvPr>
              <p:cNvSpPr txBox="1"/>
              <p:nvPr/>
            </p:nvSpPr>
            <p:spPr>
              <a:xfrm>
                <a:off x="4357702" y="1544780"/>
                <a:ext cx="1754287" cy="571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96AD317-2E36-F2B6-C6BF-09BB1CB07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7702" y="1544780"/>
                <a:ext cx="1754287" cy="5715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2EF7EF2-4875-5D88-CEDB-93B89A3F130C}"/>
                  </a:ext>
                </a:extLst>
              </p:cNvPr>
              <p:cNvSpPr txBox="1"/>
              <p:nvPr/>
            </p:nvSpPr>
            <p:spPr>
              <a:xfrm>
                <a:off x="4318260" y="2276131"/>
                <a:ext cx="1801192" cy="554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2EF7EF2-4875-5D88-CEDB-93B89A3F1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260" y="2276131"/>
                <a:ext cx="1801192" cy="5540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32C93EA9-2AA9-91FF-05C6-9EBF0506B0A3}"/>
              </a:ext>
            </a:extLst>
          </p:cNvPr>
          <p:cNvSpPr txBox="1"/>
          <p:nvPr/>
        </p:nvSpPr>
        <p:spPr>
          <a:xfrm>
            <a:off x="6527104" y="4292143"/>
            <a:ext cx="53070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</a:rPr>
              <a:t>原子轨道之间的耦合</a:t>
            </a:r>
            <a:r>
              <a:rPr lang="zh-CN" altLang="en-US" sz="2000" dirty="0"/>
              <a:t>使得本来简并的原子能级发生劈裂，</a:t>
            </a:r>
            <a:r>
              <a:rPr lang="zh-CN" altLang="en-US" sz="2000" dirty="0">
                <a:solidFill>
                  <a:srgbClr val="FF0000"/>
                </a:solidFill>
              </a:rPr>
              <a:t>形成一系列近似等间距的能级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当原子数趋向于无穷时，</a:t>
            </a:r>
            <a:r>
              <a:rPr lang="zh-CN" altLang="en-US" sz="2000" dirty="0">
                <a:solidFill>
                  <a:srgbClr val="FF0000"/>
                </a:solidFill>
              </a:rPr>
              <a:t>这一系列能级形成能带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</a:rPr>
              <a:t>能带宽度随原子间距减小而增大</a:t>
            </a:r>
            <a:r>
              <a:rPr lang="zh-CN" altLang="en-US" sz="2000" dirty="0"/>
              <a:t>，这是因为跃迁积分随间距减小而增大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BEAD319-ABB4-A866-D696-4C8D61F2A9F4}"/>
              </a:ext>
            </a:extLst>
          </p:cNvPr>
          <p:cNvSpPr/>
          <p:nvPr/>
        </p:nvSpPr>
        <p:spPr>
          <a:xfrm>
            <a:off x="731519" y="1325994"/>
            <a:ext cx="3486147" cy="478664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BAA42F0-DC79-186A-5F74-4CF48E7EFC06}"/>
              </a:ext>
            </a:extLst>
          </p:cNvPr>
          <p:cNvSpPr/>
          <p:nvPr/>
        </p:nvSpPr>
        <p:spPr>
          <a:xfrm>
            <a:off x="4392951" y="1322273"/>
            <a:ext cx="1703049" cy="478664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4C5F0446-0A56-2F6C-2953-556B5EFD5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9780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紧束缚模型：在晶体中的求解过程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429173"/>
                <a:ext cx="6026426" cy="49851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晶体中第</a:t>
                </a:r>
                <a:r>
                  <a:rPr lang="en-US" altLang="zh-CN" sz="2000" dirty="0"/>
                  <a:t>m</a:t>
                </a:r>
                <a:r>
                  <a:rPr lang="zh-CN" altLang="en-US" sz="2000" dirty="0"/>
                  <a:t>个原子附近的电子孤立波动方程（</a:t>
                </a:r>
                <a:r>
                  <a:rPr lang="zh-CN" altLang="en-US" sz="2000" dirty="0">
                    <a:solidFill>
                      <a:srgbClr val="4472C4"/>
                    </a:solidFill>
                  </a:rPr>
                  <a:t>零阶近似</a:t>
                </a:r>
                <a:r>
                  <a:rPr lang="zh-CN" altLang="en-US" sz="2000" dirty="0"/>
                  <a:t>）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2000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l-GR" altLang="zh-CN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  <m:r>
                            <a:rPr lang="zh-CN" alt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000" b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l-GR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l-GR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  <m:r>
                            <a:rPr lang="zh-CN" alt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000" b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l-GR" altLang="zh-CN" sz="2000" dirty="0"/>
                  <a:t>α</a:t>
                </a:r>
                <a:r>
                  <a:rPr lang="zh-CN" altLang="en-US" sz="2000" dirty="0"/>
                  <a:t>表示不同的电子壳层（不同元素的不同</a:t>
                </a:r>
                <a:r>
                  <a:rPr lang="en-US" altLang="zh-CN" sz="2000" dirty="0" err="1"/>
                  <a:t>s,p,d</a:t>
                </a:r>
                <a:r>
                  <a:rPr lang="en-US" altLang="zh-CN" sz="2000" dirty="0"/>
                  <a:t>,…</a:t>
                </a:r>
                <a:r>
                  <a:rPr lang="zh-CN" altLang="en-US" sz="2000" dirty="0"/>
                  <a:t>）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晶体中布洛赫波满足的定态方程（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真正的解</a:t>
                </a:r>
                <a:r>
                  <a:rPr lang="zh-CN" altLang="en-US" sz="2000" dirty="0"/>
                  <a:t>）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CN" sz="20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𝐫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sSub>
                        <m:sSub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</m:oMath>
                  </m:oMathPara>
                </a14:m>
                <a:endParaRPr lang="en-US" altLang="zh-CN" sz="20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sz="2000" dirty="0"/>
                  <a:t>注意到周期性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2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𝐫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20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𝐫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zh-CN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000" dirty="0"/>
                  <a:t>取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微扰项</a:t>
                </a:r>
                <a:endParaRPr lang="en-US" altLang="zh-CN" sz="20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0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20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𝑎𝑡</m:t>
                          </m:r>
                        </m:sup>
                      </m:sSup>
                      <m:d>
                        <m:dPr>
                          <m:ctrlPr>
                            <a:rPr lang="en-US" altLang="zh-CN" sz="20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zh-CN" altLang="en-US" sz="2000" dirty="0"/>
                  <a:t>微扰项表示周期性势场减去在原点处的原子势场，如右图所示，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为负值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429173"/>
                <a:ext cx="6026426" cy="4985174"/>
              </a:xfrm>
              <a:blipFill>
                <a:blip r:embed="rId2"/>
                <a:stretch>
                  <a:fillRect l="-1113" t="-978" r="-10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>
            <a:extLst>
              <a:ext uri="{FF2B5EF4-FFF2-40B4-BE49-F238E27FC236}">
                <a16:creationId xmlns:a16="http://schemas.microsoft.com/office/drawing/2014/main" id="{ABD8806B-4328-772A-A066-8817F91A35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8" t="40706"/>
          <a:stretch/>
        </p:blipFill>
        <p:spPr>
          <a:xfrm>
            <a:off x="6864627" y="4586658"/>
            <a:ext cx="4737838" cy="2134817"/>
          </a:xfrm>
          <a:prstGeom prst="rect">
            <a:avLst/>
          </a:prstGeom>
        </p:spPr>
      </p:pic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350B81D-A362-B4EB-F1A0-0388F9E5E5A4}"/>
              </a:ext>
            </a:extLst>
          </p:cNvPr>
          <p:cNvCxnSpPr/>
          <p:nvPr/>
        </p:nvCxnSpPr>
        <p:spPr>
          <a:xfrm>
            <a:off x="8832575" y="4122833"/>
            <a:ext cx="0" cy="1967948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FC33C68A-03C1-5F37-71C7-4CA8B3A842BE}"/>
              </a:ext>
            </a:extLst>
          </p:cNvPr>
          <p:cNvSpPr txBox="1"/>
          <p:nvPr/>
        </p:nvSpPr>
        <p:spPr>
          <a:xfrm>
            <a:off x="8832575" y="421732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原点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DE911E22-618F-06BA-D278-5E5301395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864" y="1763135"/>
            <a:ext cx="3892844" cy="17951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BA41ADF-DAA9-E512-6011-3CFA2BB4E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8838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紧束缚模型：在晶体中的求解过程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173"/>
                <a:ext cx="10515599" cy="49851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有一个数学上的麻烦：</a:t>
                </a:r>
                <a:r>
                  <a:rPr lang="en-US" altLang="zh-CN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l-GR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altLang="zh-CN" sz="20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𝐫</m:t>
                        </m:r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/>
                  <a:t>存在大量简并的情况，要使用简并微扰论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首先，将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简并的原子轨道基底</a:t>
                </a:r>
                <a:r>
                  <a:rPr lang="zh-CN" altLang="en-US" sz="2000" dirty="0"/>
                  <a:t>写成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线性叠加</a:t>
                </a:r>
                <a:r>
                  <a:rPr lang="zh-CN" altLang="en-US" sz="2000" dirty="0"/>
                  <a:t>的形式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l-GR" altLang="zh-CN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  <m:d>
                        <m:dPr>
                          <m:ctrlPr>
                            <a:rPr lang="en-US" altLang="zh-CN" sz="2000" b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000" b="1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p>
                          </m:sSup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可以证明它是布洛赫波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zh-CN" alt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l-GR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20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  <m:d>
                        <m:dPr>
                          <m:ctrlPr>
                            <a:rPr lang="en-US" altLang="zh-CN" sz="20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  <m:r>
                            <a:rPr lang="en-US" altLang="zh-CN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b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p>
                          </m:sSup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000" b="1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d>
                                <m:dPr>
                                  <m:ctrlPr>
                                    <a:rPr lang="en-US" altLang="zh-CN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b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000" b="1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0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sup>
                      </m:sSup>
                      <m:nary>
                        <m:naryPr>
                          <m:chr m:val="∑"/>
                          <m:supHide m:val="on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sup>
                          </m:sSup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altLang="zh-CN" sz="2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000" b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sup>
                      </m:sSup>
                      <m:sSubSup>
                        <m:sSubSupPr>
                          <m:ctrlPr>
                            <a:rPr lang="zh-CN" alt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l-GR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20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  <m:d>
                        <m:dPr>
                          <m:ctrlPr>
                            <a:rPr lang="en-US" altLang="zh-CN" sz="20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0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173"/>
                <a:ext cx="10515599" cy="4985174"/>
              </a:xfrm>
              <a:blipFill>
                <a:blip r:embed="rId2"/>
                <a:stretch>
                  <a:fillRect l="-522" t="-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F06FE66A-3EB2-40B0-EFA1-9A0C506D7909}"/>
              </a:ext>
            </a:extLst>
          </p:cNvPr>
          <p:cNvSpPr txBox="1"/>
          <p:nvPr/>
        </p:nvSpPr>
        <p:spPr>
          <a:xfrm>
            <a:off x="838200" y="5816136"/>
            <a:ext cx="47310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+mn-ea"/>
              </a:rPr>
              <a:t>原子轨道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线性</a:t>
            </a:r>
            <a:r>
              <a:rPr lang="zh-CN" altLang="en-US" sz="1800" b="0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+mn-ea"/>
              </a:rPr>
              <a:t>组合方法（</a:t>
            </a:r>
            <a:r>
              <a:rPr lang="en-US" altLang="zh-CN" sz="1800" b="0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+mn-ea"/>
              </a:rPr>
              <a:t>LCAO</a:t>
            </a:r>
            <a:r>
              <a:rPr lang="zh-CN" altLang="en-US" sz="1800" b="0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+mn-ea"/>
              </a:rPr>
              <a:t>）是化学学科常用说法，其物理思想本质和紧束缚方法方法是一致的</a:t>
            </a:r>
            <a:r>
              <a:rPr lang="zh-CN" altLang="en-US" dirty="0">
                <a:highlight>
                  <a:srgbClr val="FFFF00"/>
                </a:highlight>
                <a:latin typeface="+mn-ea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4999431-E90F-562E-E4FE-FBDC71EF52EC}"/>
              </a:ext>
            </a:extLst>
          </p:cNvPr>
          <p:cNvSpPr txBox="1"/>
          <p:nvPr/>
        </p:nvSpPr>
        <p:spPr>
          <a:xfrm>
            <a:off x="7195384" y="1020550"/>
            <a:ext cx="4344459" cy="408623"/>
          </a:xfrm>
          <a:prstGeom prst="roundRect">
            <a:avLst/>
          </a:prstGeom>
          <a:solidFill>
            <a:srgbClr val="0070C0">
              <a:alpha val="25098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例如，所有</a:t>
            </a:r>
            <a:r>
              <a:rPr lang="en-US" altLang="zh-CN" dirty="0"/>
              <a:t>Na</a:t>
            </a:r>
            <a:r>
              <a:rPr lang="zh-CN" altLang="en-US" dirty="0"/>
              <a:t>原子的</a:t>
            </a:r>
            <a:r>
              <a:rPr lang="en-US" altLang="zh-CN" dirty="0"/>
              <a:t>2s</a:t>
            </a:r>
            <a:r>
              <a:rPr lang="zh-CN" altLang="en-US" dirty="0"/>
              <a:t>轨道波函数都简并</a:t>
            </a:r>
            <a:endParaRPr lang="en-US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3D5ABC7-83BD-0048-91AF-AD1699397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7146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54721-042C-5695-2815-B5BCA5E96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45B2E50-BCF6-3AAA-EC42-F97F574376DE}"/>
              </a:ext>
            </a:extLst>
          </p:cNvPr>
          <p:cNvSpPr/>
          <p:nvPr/>
        </p:nvSpPr>
        <p:spPr>
          <a:xfrm>
            <a:off x="4105341" y="4754880"/>
            <a:ext cx="3998134" cy="731520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8AAF583-E9BF-BD8D-DE7C-DE991258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紧束缚模型：在晶体中的求解过程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09FE679B-CE67-2AC4-706E-D01F12F1B1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173"/>
                <a:ext cx="10515599" cy="49851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正交归一性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⟨"/>
                          <m:endChr m:val="⟩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sup>
                          </m:sSubSup>
                        </m:e>
                        <m:e>
                          <m:sSubSup>
                            <m:sSub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l-GR" altLang="zh-CN" sz="20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</a:rPr>
                                <m:t>𝐪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sup>
                          </m:sSubSup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altLang="zh-CN" sz="2000" b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l-GR" altLang="zh-CN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b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𝐫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b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l-GR" altLang="zh-CN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b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𝐫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b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</a:rPr>
                                <m:t>𝐪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000" b="1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altLang="zh-CN" sz="2000" b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  <m:t>𝐪</m:t>
                                  </m:r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altLang="zh-CN" sz="2000" b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p>
                              </m:sSup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l-GR" altLang="zh-CN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𝛼𝛽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𝑚𝑛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>
                        <m:sSubPr>
                          <m:ctrlP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l-GR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𝛼𝛽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d>
                                <m:d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𝐪</m:t>
                                  </m:r>
                                </m:e>
                              </m:d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l-GR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𝛼𝛽</m:t>
                          </m:r>
                        </m:sub>
                      </m:sSub>
                      <m:sSub>
                        <m:sSubPr>
                          <m:ctrlP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接着再使用简并微扰论，得到能量修正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l-GR" altLang="zh-CN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l-GR" altLang="zh-CN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000" dirty="0"/>
                  <a:t>其中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跃迁积分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l-GR" altLang="zh-CN" sz="20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l-GR" altLang="zh-CN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000" b="1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</m:d>
                      </m:e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l-GR" altLang="zh-CN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000" b="1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l-GR" altLang="zh-CN" sz="20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l-GR" altLang="zh-CN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000" b="1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𝐫</m:t>
                            </m:r>
                            <m:r>
                              <a:rPr lang="en-US" altLang="zh-CN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000" b="1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l-GR" altLang="zh-CN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000" b="1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</m:d>
                      </m:e>
                    </m:d>
                  </m:oMath>
                </a14:m>
                <a:endParaRPr lang="en-US" altLang="zh-CN" sz="2000" dirty="0">
                  <a:highlight>
                    <a:srgbClr val="FFFF00"/>
                  </a:highlight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highlight>
                      <a:srgbClr val="FFFF00"/>
                    </a:highlight>
                  </a:rPr>
                  <a:t>然后再考虑不同的电子壳层</a:t>
                </a:r>
                <a:r>
                  <a:rPr lang="el-GR" altLang="zh-CN" sz="2000" dirty="0">
                    <a:highlight>
                      <a:srgbClr val="FFFF00"/>
                    </a:highlight>
                  </a:rPr>
                  <a:t>αβγ</a:t>
                </a:r>
                <a:r>
                  <a:rPr lang="en-US" altLang="zh-CN" sz="2000" dirty="0">
                    <a:highlight>
                      <a:srgbClr val="FFFF00"/>
                    </a:highlight>
                  </a:rPr>
                  <a:t>…</a:t>
                </a:r>
                <a:r>
                  <a:rPr lang="zh-CN" altLang="en-US" sz="2000" dirty="0">
                    <a:highlight>
                      <a:srgbClr val="FFFF00"/>
                    </a:highlight>
                  </a:rPr>
                  <a:t>，得到真正的布洛赫解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  <m:r>
                      <a:rPr lang="zh-CN" alt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</m:oMath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09FE679B-CE67-2AC4-706E-D01F12F1B1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173"/>
                <a:ext cx="10515599" cy="4985174"/>
              </a:xfrm>
              <a:blipFill>
                <a:blip r:embed="rId2"/>
                <a:stretch>
                  <a:fillRect l="-638" t="-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A9BC2612-5869-B48C-9D62-A41183CB6F6E}"/>
              </a:ext>
            </a:extLst>
          </p:cNvPr>
          <p:cNvSpPr txBox="1"/>
          <p:nvPr/>
        </p:nvSpPr>
        <p:spPr>
          <a:xfrm>
            <a:off x="8286356" y="2569138"/>
            <a:ext cx="2750165" cy="408623"/>
          </a:xfrm>
          <a:prstGeom prst="roundRect">
            <a:avLst/>
          </a:prstGeom>
          <a:solidFill>
            <a:srgbClr val="0070C0">
              <a:alpha val="25098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原子轨道基底的正交近似</a:t>
            </a:r>
            <a:endParaRPr lang="en-US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D3BF6AD-384D-6578-4E2A-41D8A15B5DCC}"/>
              </a:ext>
            </a:extLst>
          </p:cNvPr>
          <p:cNvCxnSpPr>
            <a:cxnSpLocks/>
          </p:cNvCxnSpPr>
          <p:nvPr/>
        </p:nvCxnSpPr>
        <p:spPr>
          <a:xfrm>
            <a:off x="6096000" y="2416268"/>
            <a:ext cx="269485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D60B9D8-698E-C63E-8073-B85A2E080FA0}"/>
              </a:ext>
            </a:extLst>
          </p:cNvPr>
          <p:cNvCxnSpPr/>
          <p:nvPr/>
        </p:nvCxnSpPr>
        <p:spPr>
          <a:xfrm>
            <a:off x="7359343" y="2416268"/>
            <a:ext cx="0" cy="4716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B47A6E70-BED7-D585-76E2-CB3C17FF9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5131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FC3B9327-27E4-AE2E-7C65-D0044AF59976}"/>
              </a:ext>
            </a:extLst>
          </p:cNvPr>
          <p:cNvSpPr/>
          <p:nvPr/>
        </p:nvSpPr>
        <p:spPr>
          <a:xfrm>
            <a:off x="838200" y="4534163"/>
            <a:ext cx="10515600" cy="195871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AAD3616-C814-71C9-C475-2BAE030D5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紧束缚模型：在晶体中的求解过程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92193-BA38-983D-572B-A4D8A4E749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2141"/>
                <a:ext cx="10515600" cy="5265682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1600" dirty="0"/>
                  <a:t>（1）</a:t>
                </a:r>
                <a:r>
                  <a:rPr lang="zh-CN" altLang="en-US" sz="1600" dirty="0"/>
                  <a:t>从一组简并的原子轨道基底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l-GR" altLang="zh-CN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altLang="zh-CN" sz="16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𝐫</m:t>
                        </m:r>
                        <m:r>
                          <a:rPr lang="zh-CN" alt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00" b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dirty="0"/>
                  <a:t>出发，建立线性组合布洛赫态</a:t>
                </a:r>
                <a:endParaRPr lang="en-US" altLang="zh-CN" sz="1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zh-CN" altLang="en-US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l-GR" altLang="zh-CN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16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  <m:sup>
                          <m:r>
                            <a:rPr lang="en-US" altLang="zh-CN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  <m:d>
                        <m:dPr>
                          <m:ctrlPr>
                            <a:rPr lang="en-US" altLang="zh-CN" sz="16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altLang="zh-CN" sz="16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b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16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p>
                          </m:sSup>
                          <m:sSub>
                            <m:sSub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l-GR" altLang="zh-CN" sz="1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600" b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600" b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1600" dirty="0"/>
                  <a:t>（2）</a:t>
                </a:r>
                <a:r>
                  <a:rPr lang="zh-CN" altLang="en-US" sz="1600" dirty="0"/>
                  <a:t>简并微扰论求解该布洛赫态的能量</a:t>
                </a:r>
                <a:endParaRPr lang="en-US" altLang="zh-CN" sz="1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l-GR" altLang="zh-CN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16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l-GR" altLang="zh-CN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l-GR" altLang="zh-CN" sz="1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b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16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sz="1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1600" dirty="0"/>
                  <a:t>（3）</a:t>
                </a:r>
                <a:r>
                  <a:rPr lang="zh-CN" altLang="en-US" sz="1600" dirty="0"/>
                  <a:t>当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仅考虑单个轨道（</a:t>
                </a:r>
                <a:r>
                  <a:rPr lang="el-GR" altLang="zh-CN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1600" dirty="0">
                    <a:solidFill>
                      <a:srgbClr val="FF0000"/>
                    </a:solidFill>
                  </a:rPr>
                  <a:t>），或不同电子轨道之间耦合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16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1600" dirty="0"/>
                  <a:t>时，修正后的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l-GR" altLang="zh-CN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16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  <m:r>
                      <a:rPr lang="zh-CN" altLang="en-US" sz="16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和</m:t>
                    </m:r>
                    <m:sSubSup>
                      <m:sSubSupPr>
                        <m:ctrlPr>
                          <a:rPr lang="zh-CN" alt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l-GR" altLang="zh-CN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16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bSup>
                    <m:d>
                      <m:dPr>
                        <m:ctrlPr>
                          <a:rPr lang="en-US" altLang="zh-CN" sz="16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</m:d>
                  </m:oMath>
                </a14:m>
                <a:r>
                  <a:rPr lang="zh-CN" altLang="en-US" sz="1600" dirty="0"/>
                  <a:t>就是要求的布洛赫解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  <m:r>
                      <a:rPr lang="zh-CN" altLang="en-US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</m:oMath>
                </a14:m>
                <a:r>
                  <a:rPr lang="zh-CN" altLang="en-US" sz="1600" dirty="0"/>
                  <a:t>，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此时布洛赫态的量子数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1600" dirty="0">
                    <a:solidFill>
                      <a:srgbClr val="FF0000"/>
                    </a:solidFill>
                  </a:rPr>
                  <a:t>对应某个原子轨道</a:t>
                </a:r>
                <a14:m>
                  <m:oMath xmlns:m="http://schemas.openxmlformats.org/officeDocument/2006/math">
                    <m:r>
                      <a:rPr lang="el-GR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1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1600" dirty="0"/>
                  <a:t>（ex）</a:t>
                </a:r>
                <a:r>
                  <a:rPr lang="zh-CN" altLang="en-US" sz="1600" dirty="0"/>
                  <a:t>当不同电子轨道之间耦合不可忽略时，需要进一步构造包含多轨道的哈密顿量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l-GR" altLang="zh-CN" sz="1600" b="0" i="1" smtClean="0">
                            <a:latin typeface="Cambria Math" panose="02040503050406030204" pitchFamily="18" charset="0"/>
                          </a:rPr>
                          <m:t>𝛼𝛽</m:t>
                        </m:r>
                      </m:sub>
                    </m:sSub>
                    <m:d>
                      <m:dPr>
                        <m:ctrlPr>
                          <a:rPr lang="en-US" altLang="zh-CN" sz="1600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0" smtClean="0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l-GR" altLang="zh-C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sz="16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b>
                          <m:sup>
                            <m:r>
                              <a:rPr lang="en-US" altLang="zh-C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(0)</m:t>
                            </m:r>
                          </m:sup>
                        </m:sSubSup>
                      </m:e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e>
                        <m:sSubSup>
                          <m:sSubSupPr>
                            <m:ctrlPr>
                              <a:rPr lang="zh-CN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l-GR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CN" sz="16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b>
                          <m:sup>
                            <m:r>
                              <a:rPr lang="en-US" altLang="zh-C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(0)</m:t>
                            </m:r>
                          </m:sup>
                        </m:sSubSup>
                      </m:e>
                    </m:d>
                  </m:oMath>
                </a14:m>
                <a:r>
                  <a:rPr lang="zh-CN" altLang="en-US" sz="1600" dirty="0"/>
                  <a:t>，再对角化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l-GR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altLang="zh-CN" sz="16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</m:d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，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6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altLang="zh-CN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altLang="zh-CN" sz="16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l-GR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l-GR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l-GR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6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e>
                          </m:d>
                          <m:sSubSup>
                            <m:sSubSupPr>
                              <m:ctrlPr>
                                <a:rPr lang="zh-CN" altLang="en-US" sz="16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16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l-GR" altLang="zh-CN" sz="16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sz="1600" b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sub>
                            <m:sup>
                              <m:r>
                                <a:rPr lang="en-US" altLang="zh-CN" sz="16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1600" b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1600" dirty="0"/>
                  <a:t>才能得到体系的布洛赫解，此时布洛赫态量子数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丧失和原子轨道之间的一一对应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92193-BA38-983D-572B-A4D8A4E749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2141"/>
                <a:ext cx="10515600" cy="5265682"/>
              </a:xfrm>
              <a:blipFill>
                <a:blip r:embed="rId2"/>
                <a:stretch>
                  <a:fillRect l="-348" t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77D08DE-A938-F02F-82CC-C3BABC3D2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046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4033866-9D08-8B5C-29C3-3ACB7FEC4627}"/>
              </a:ext>
            </a:extLst>
          </p:cNvPr>
          <p:cNvSpPr/>
          <p:nvPr/>
        </p:nvSpPr>
        <p:spPr>
          <a:xfrm>
            <a:off x="838200" y="3998135"/>
            <a:ext cx="10515600" cy="64953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9466D2D-E2FE-5AA2-230D-58D327C1D248}"/>
              </a:ext>
            </a:extLst>
          </p:cNvPr>
          <p:cNvSpPr/>
          <p:nvPr/>
        </p:nvSpPr>
        <p:spPr>
          <a:xfrm>
            <a:off x="838200" y="4912535"/>
            <a:ext cx="10515600" cy="96944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F58DDE6-678B-8B3C-D5E9-FCAD05345D2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zh-CN" alt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跃迁积分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的物理意义</a:t>
                </a:r>
                <a:endParaRPr 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F58DDE6-678B-8B3C-D5E9-FCAD05345D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内容占位符 12">
                <a:extLst>
                  <a:ext uri="{FF2B5EF4-FFF2-40B4-BE49-F238E27FC236}">
                    <a16:creationId xmlns:a16="http://schemas.microsoft.com/office/drawing/2014/main" id="{90D088A1-6456-DBEF-5488-7A1BFF4662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086422"/>
                <a:ext cx="10515600" cy="209054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sz="24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</m:d>
                      </m:e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sz="24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400" dirty="0"/>
                  <a:t>：电子态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4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</m:d>
                  </m:oMath>
                </a14:m>
                <a:r>
                  <a:rPr lang="zh-CN" altLang="en-US" sz="2400" dirty="0"/>
                  <a:t>因为感受到扰动势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400" dirty="0"/>
                  <a:t>而产生的能量变化</a:t>
                </a:r>
                <a:endParaRPr lang="en-US" altLang="zh-CN" sz="24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sz="24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𝐫</m:t>
                            </m:r>
                            <m:r>
                              <a:rPr lang="en-US" altLang="zh-CN" sz="2400" b="1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sz="24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400" dirty="0"/>
                  <a:t>：在某个格点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𝐫</m:t>
                    </m:r>
                  </m:oMath>
                </a14:m>
                <a:r>
                  <a:rPr lang="zh-CN" altLang="en-US" sz="2400" dirty="0"/>
                  <a:t>上的电子态，因为感受到扰动势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400" dirty="0"/>
                  <a:t>而和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US" altLang="zh-CN" sz="24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400" dirty="0"/>
                  <a:t>格点上的电子态发生耦合，所带来的能量变化</a:t>
                </a:r>
                <a:endParaRPr lang="en-US" sz="2400" dirty="0"/>
              </a:p>
            </p:txBody>
          </p:sp>
        </mc:Choice>
        <mc:Fallback xmlns="">
          <p:sp>
            <p:nvSpPr>
              <p:cNvPr id="13" name="内容占位符 12">
                <a:extLst>
                  <a:ext uri="{FF2B5EF4-FFF2-40B4-BE49-F238E27FC236}">
                    <a16:creationId xmlns:a16="http://schemas.microsoft.com/office/drawing/2014/main" id="{90D088A1-6456-DBEF-5488-7A1BFF4662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086422"/>
                <a:ext cx="10515600" cy="2090540"/>
              </a:xfrm>
              <a:blipFill>
                <a:blip r:embed="rId3"/>
                <a:stretch>
                  <a:fillRect l="-174" t="-3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图片包含 黑暗, 看着, 空气, 电话&#10;&#10;AI 生成的内容可能不正确。">
            <a:extLst>
              <a:ext uri="{FF2B5EF4-FFF2-40B4-BE49-F238E27FC236}">
                <a16:creationId xmlns:a16="http://schemas.microsoft.com/office/drawing/2014/main" id="{485AA233-58A2-193B-0605-29F6091872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018" y="1569711"/>
            <a:ext cx="5739443" cy="20048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BC28E06-C18B-5B28-FF76-6457EDB0E3C8}"/>
                  </a:ext>
                </a:extLst>
              </p:cNvPr>
              <p:cNvSpPr txBox="1"/>
              <p:nvPr/>
            </p:nvSpPr>
            <p:spPr>
              <a:xfrm>
                <a:off x="5305097" y="1424181"/>
                <a:ext cx="66057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18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8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BC28E06-C18B-5B28-FF76-6457EDB0E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097" y="1424181"/>
                <a:ext cx="660575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2ACC272-F148-E7A4-EDB9-71E43951709B}"/>
                  </a:ext>
                </a:extLst>
              </p:cNvPr>
              <p:cNvSpPr txBox="1"/>
              <p:nvPr/>
            </p:nvSpPr>
            <p:spPr>
              <a:xfrm>
                <a:off x="5965672" y="1424181"/>
                <a:ext cx="124600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18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8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altLang="zh-CN" sz="18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2ACC272-F148-E7A4-EDB9-71E439517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672" y="1424181"/>
                <a:ext cx="1246001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72D73EC-179B-30C1-E8B0-70BD512F7F3D}"/>
                  </a:ext>
                </a:extLst>
              </p:cNvPr>
              <p:cNvSpPr txBox="1"/>
              <p:nvPr/>
            </p:nvSpPr>
            <p:spPr>
              <a:xfrm>
                <a:off x="4059096" y="1424181"/>
                <a:ext cx="124600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18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800" b="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altLang="zh-CN" sz="18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72D73EC-179B-30C1-E8B0-70BD512F7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096" y="1424181"/>
                <a:ext cx="1246001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00F7C4E-218B-28A5-7A9A-0B312F9B90C6}"/>
                  </a:ext>
                </a:extLst>
              </p:cNvPr>
              <p:cNvSpPr txBox="1"/>
              <p:nvPr/>
            </p:nvSpPr>
            <p:spPr>
              <a:xfrm>
                <a:off x="5305097" y="2530133"/>
                <a:ext cx="66057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zh-CN" altLang="en-US" sz="1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zh-CN" altLang="en-US" sz="1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𝑎𝑡</m:t>
                          </m:r>
                        </m:sup>
                      </m:sSup>
                      <m:d>
                        <m:dPr>
                          <m:ctrlPr>
                            <a:rPr lang="en-US" altLang="zh-CN" sz="1400" b="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400" b="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00F7C4E-218B-28A5-7A9A-0B312F9B9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097" y="2530133"/>
                <a:ext cx="660575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62736BF-5C37-6445-D6C4-C02E2E4DDFC4}"/>
                  </a:ext>
                </a:extLst>
              </p:cNvPr>
              <p:cNvSpPr txBox="1"/>
              <p:nvPr/>
            </p:nvSpPr>
            <p:spPr>
              <a:xfrm>
                <a:off x="5852029" y="3205198"/>
                <a:ext cx="48794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62736BF-5C37-6445-D6C4-C02E2E4DD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029" y="3205198"/>
                <a:ext cx="48794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0CAFAB29-6854-7868-EB27-FB188F6FB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831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5270D-A564-9C5E-2BE6-D4B71F24E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913B598-936A-D08F-AB12-F22AC7E5A292}"/>
              </a:ext>
            </a:extLst>
          </p:cNvPr>
          <p:cNvSpPr/>
          <p:nvPr/>
        </p:nvSpPr>
        <p:spPr>
          <a:xfrm>
            <a:off x="8570135" y="5120640"/>
            <a:ext cx="2245010" cy="479272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0450B3A-3A2C-BA54-BB9E-8F1EBB493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最近邻</a:t>
            </a:r>
            <a:r>
              <a:rPr lang="en-US" altLang="zh-CN" dirty="0">
                <a:solidFill>
                  <a:srgbClr val="FF0000"/>
                </a:solidFill>
              </a:rPr>
              <a:t>(nearest-neighbor, NN)</a:t>
            </a:r>
            <a:r>
              <a:rPr lang="zh-CN" altLang="en-US" dirty="0"/>
              <a:t>近似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29E9C005-7FE8-CA58-BDA9-A7791EA4DE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173"/>
                <a:ext cx="10515599" cy="49851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仅考虑单一轨道（去掉</a:t>
                </a:r>
                <a:r>
                  <a:rPr lang="el-GR" altLang="zh-CN" sz="2000" dirty="0"/>
                  <a:t>α</a:t>
                </a:r>
                <a:r>
                  <a:rPr lang="zh-CN" altLang="en-US" sz="2000" dirty="0"/>
                  <a:t>下标），使用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最近邻近似</a:t>
                </a:r>
                <a:r>
                  <a:rPr lang="zh-CN" altLang="en-US" sz="2000" dirty="0"/>
                  <a:t>，即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仅考虑最近邻的格点的跃迁积分</a:t>
                </a:r>
                <a:r>
                  <a:rPr lang="zh-CN" altLang="en-US" sz="2000" dirty="0"/>
                  <a:t>，得到紧束缚近似最常用结论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0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𝑁𝑁</m:t>
                          </m:r>
                        </m:sub>
                        <m:sup/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例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：晶格常数为</a:t>
                </a:r>
                <a:r>
                  <a:rPr lang="en-US" altLang="zh-CN" sz="2000" dirty="0"/>
                  <a:t>a</a:t>
                </a:r>
                <a:r>
                  <a:rPr lang="zh-CN" altLang="en-US" sz="2000" dirty="0"/>
                  <a:t>的一维单原子链</a:t>
                </a:r>
                <a:endParaRPr lang="en-US" altLang="zh-CN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altLang="zh-CN" sz="2000" dirty="0"/>
                  <a:t>	</a:t>
                </a:r>
                <a:r>
                  <a:rPr lang="zh-CN" altLang="en-US" sz="2000" dirty="0">
                    <a:solidFill>
                      <a:srgbClr val="0070C0"/>
                    </a:solidFill>
                  </a:rPr>
                  <a:t>最近邻原子坐标</a:t>
                </a:r>
                <a:r>
                  <a:rPr lang="zh-CN" altLang="en-US" sz="2000" dirty="0"/>
                  <a:t>？</a:t>
                </a:r>
                <a:r>
                  <a:rPr lang="en-US" altLang="zh-CN" sz="2000" dirty="0"/>
                  <a:t>a, -a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altLang="zh-CN" sz="2000" dirty="0"/>
                  <a:t>	</a:t>
                </a:r>
                <a:r>
                  <a:rPr lang="zh-CN" altLang="en-US" sz="2000" dirty="0"/>
                  <a:t>取</a:t>
                </a:r>
                <a:r>
                  <a:rPr lang="zh-CN" altLang="en-US" sz="2000" dirty="0">
                    <a:solidFill>
                      <a:srgbClr val="0070C0"/>
                    </a:solidFill>
                  </a:rPr>
                  <a:t>跃迁积分</a:t>
                </a:r>
                <a:r>
                  <a:rPr lang="zh-CN" altLang="en-US" sz="2000" dirty="0"/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/>
                  <a:t>（</a:t>
                </a:r>
                <a:r>
                  <a:rPr lang="zh-CN" altLang="en-US" sz="2000" dirty="0">
                    <a:highlight>
                      <a:srgbClr val="FFFF00"/>
                    </a:highlight>
                  </a:rPr>
                  <a:t>都是负的</a:t>
                </a:r>
                <a:r>
                  <a:rPr lang="en-US" altLang="zh-CN" sz="2000" dirty="0"/>
                  <a:t>）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altLang="zh-CN" sz="2000" dirty="0">
                    <a:solidFill>
                      <a:srgbClr val="0070C0"/>
                    </a:solidFill>
                  </a:rPr>
                  <a:t>	</a:t>
                </a:r>
                <a:r>
                  <a:rPr lang="zh-CN" altLang="en-US" sz="2000" dirty="0">
                    <a:solidFill>
                      <a:srgbClr val="0070C0"/>
                    </a:solidFill>
                  </a:rPr>
                  <a:t>代入公式</a:t>
                </a:r>
                <a:endParaRPr lang="en-US" altLang="zh-CN" sz="2000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0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𝑁𝑁</m:t>
                          </m:r>
                        </m:sub>
                        <m:sup/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r>
                        <a:rPr lang="en-US" altLang="zh-CN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𝑘𝑎</m:t>
                              </m:r>
                            </m:sup>
                          </m:sSup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en-US" altLang="zh-CN" sz="200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𝑘𝑎</m:t>
                          </m:r>
                        </m:e>
                      </m:func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29E9C005-7FE8-CA58-BDA9-A7791EA4DE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173"/>
                <a:ext cx="10515599" cy="4985174"/>
              </a:xfrm>
              <a:blipFill>
                <a:blip r:embed="rId2"/>
                <a:stretch>
                  <a:fillRect l="-522" t="-978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47BBD7A9-1236-54FA-EA51-5DB40B2E35BD}"/>
              </a:ext>
            </a:extLst>
          </p:cNvPr>
          <p:cNvSpPr/>
          <p:nvPr/>
        </p:nvSpPr>
        <p:spPr>
          <a:xfrm>
            <a:off x="1349527" y="3429000"/>
            <a:ext cx="420414" cy="449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①</a:t>
            </a:r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32172F-B26A-5085-63D5-ABF263975AAF}"/>
              </a:ext>
            </a:extLst>
          </p:cNvPr>
          <p:cNvSpPr/>
          <p:nvPr/>
        </p:nvSpPr>
        <p:spPr>
          <a:xfrm>
            <a:off x="1349527" y="3978777"/>
            <a:ext cx="420414" cy="449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②</a:t>
            </a:r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248311-0B78-FEEA-017E-0C74F9F6E8F2}"/>
              </a:ext>
            </a:extLst>
          </p:cNvPr>
          <p:cNvSpPr/>
          <p:nvPr/>
        </p:nvSpPr>
        <p:spPr>
          <a:xfrm>
            <a:off x="1349527" y="4528554"/>
            <a:ext cx="420414" cy="449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③</a:t>
            </a:r>
            <a:endParaRPr lang="en-US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6CB208A-92C0-4D19-F15A-11F809BD67CB}"/>
              </a:ext>
            </a:extLst>
          </p:cNvPr>
          <p:cNvSpPr/>
          <p:nvPr/>
        </p:nvSpPr>
        <p:spPr>
          <a:xfrm>
            <a:off x="4096932" y="2156722"/>
            <a:ext cx="3998134" cy="819807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FBD9BD5-4BD1-C69B-4A0E-D17E90563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206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16D04-B712-9B63-32AE-20B13734B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FB452D6-DCA3-FAF5-1C85-EFB32BDDF12D}"/>
              </a:ext>
            </a:extLst>
          </p:cNvPr>
          <p:cNvSpPr/>
          <p:nvPr/>
        </p:nvSpPr>
        <p:spPr>
          <a:xfrm>
            <a:off x="5688200" y="5662638"/>
            <a:ext cx="4871124" cy="479272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72E6180-253D-97E2-46BF-692C4C4A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最近邻</a:t>
            </a:r>
            <a:r>
              <a:rPr lang="en-US" altLang="zh-CN" dirty="0">
                <a:solidFill>
                  <a:srgbClr val="FF0000"/>
                </a:solidFill>
              </a:rPr>
              <a:t>(nearest-neighbor, NN)</a:t>
            </a:r>
            <a:r>
              <a:rPr lang="zh-CN" altLang="en-US" dirty="0"/>
              <a:t>近似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60E22AED-6BAB-E5C5-EC90-95046B782D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173"/>
                <a:ext cx="10515599" cy="49851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仅考虑单一轨道（去掉</a:t>
                </a:r>
                <a:r>
                  <a:rPr lang="el-GR" altLang="zh-CN" sz="2000" dirty="0"/>
                  <a:t>α</a:t>
                </a:r>
                <a:r>
                  <a:rPr lang="zh-CN" altLang="en-US" sz="2000" dirty="0"/>
                  <a:t>下标），使用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最近邻近似</a:t>
                </a:r>
                <a:r>
                  <a:rPr lang="zh-CN" altLang="en-US" sz="2000" dirty="0"/>
                  <a:t>，即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仅考虑最近邻的格点的跃迁积分</a:t>
                </a:r>
                <a:r>
                  <a:rPr lang="zh-CN" altLang="en-US" sz="2000" dirty="0"/>
                  <a:t>，得到紧束缚近似最常用结论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0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𝑁𝑁</m:t>
                          </m:r>
                        </m:sub>
                        <m:sup/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例</a:t>
                </a:r>
                <a:r>
                  <a:rPr lang="en-US" altLang="zh-CN" sz="2000" dirty="0"/>
                  <a:t>2</a:t>
                </a:r>
                <a:r>
                  <a:rPr lang="zh-CN" altLang="en-US" sz="2000" dirty="0"/>
                  <a:t>：晶格常数为</a:t>
                </a:r>
                <a:r>
                  <a:rPr lang="en-US" altLang="zh-CN" sz="2000" dirty="0"/>
                  <a:t>a</a:t>
                </a:r>
                <a:r>
                  <a:rPr lang="zh-CN" altLang="en-US" sz="2000" dirty="0"/>
                  <a:t>的简单立方格子的</a:t>
                </a:r>
                <a:r>
                  <a:rPr lang="en-US" altLang="zh-CN" sz="2000" dirty="0"/>
                  <a:t>s</a:t>
                </a:r>
                <a:r>
                  <a:rPr lang="zh-CN" altLang="en-US" sz="2000" dirty="0"/>
                  <a:t>轨道能带</a:t>
                </a:r>
                <a:endParaRPr lang="en-US" altLang="zh-CN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altLang="zh-CN" sz="2000" dirty="0"/>
                  <a:t>	s</a:t>
                </a:r>
                <a:r>
                  <a:rPr lang="zh-CN" altLang="en-US" sz="2000" dirty="0"/>
                  <a:t>态电子呈球对称，其分布是各向同性的，故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/>
                  <a:t>也是各向同性的</a:t>
                </a:r>
                <a:endParaRPr lang="en-US" altLang="zh-CN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altLang="zh-CN" sz="2000" dirty="0"/>
                  <a:t>	</a:t>
                </a:r>
                <a:r>
                  <a:rPr lang="zh-CN" altLang="en-US" sz="2000" dirty="0">
                    <a:solidFill>
                      <a:srgbClr val="0070C0"/>
                    </a:solidFill>
                  </a:rPr>
                  <a:t>最近邻原子坐标</a:t>
                </a:r>
                <a:r>
                  <a:rPr lang="zh-CN" altLang="en-US" sz="2000" dirty="0"/>
                  <a:t>？</a:t>
                </a:r>
                <a:r>
                  <a:rPr lang="en-US" altLang="zh-CN" sz="2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,0,0</m:t>
                        </m:r>
                      </m:e>
                    </m:d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0,0,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000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altLang="zh-CN" sz="2000" dirty="0">
                    <a:solidFill>
                      <a:srgbClr val="0070C0"/>
                    </a:solidFill>
                  </a:rPr>
                  <a:t>	</a:t>
                </a:r>
                <a:r>
                  <a:rPr lang="zh-CN" altLang="en-US" sz="2000" dirty="0"/>
                  <a:t>取</a:t>
                </a:r>
                <a:r>
                  <a:rPr lang="zh-CN" altLang="en-US" sz="2000" dirty="0">
                    <a:solidFill>
                      <a:srgbClr val="0070C0"/>
                    </a:solidFill>
                  </a:rPr>
                  <a:t>跃迁积分</a:t>
                </a:r>
                <a:r>
                  <a:rPr lang="zh-CN" altLang="en-US" sz="2000" dirty="0"/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最近邻</m:t>
                        </m:r>
                      </m:e>
                    </m:d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000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altLang="zh-CN" sz="2000" dirty="0">
                    <a:solidFill>
                      <a:srgbClr val="0070C0"/>
                    </a:solidFill>
                  </a:rPr>
                  <a:t>	</a:t>
                </a:r>
                <a:r>
                  <a:rPr lang="zh-CN" altLang="en-US" sz="2000" dirty="0">
                    <a:solidFill>
                      <a:srgbClr val="0070C0"/>
                    </a:solidFill>
                  </a:rPr>
                  <a:t>代入公式</a:t>
                </a:r>
                <a:endParaRPr lang="en-US" altLang="zh-CN" sz="2000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b="1" i="0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0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𝑁𝑁</m:t>
                          </m:r>
                        </m:sub>
                        <m:sup/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r>
                        <a:rPr lang="en-US" altLang="zh-CN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zh-CN" alt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func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zh-CN" alt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func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zh-CN" alt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func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60E22AED-6BAB-E5C5-EC90-95046B782D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173"/>
                <a:ext cx="10515599" cy="4985174"/>
              </a:xfrm>
              <a:blipFill>
                <a:blip r:embed="rId2"/>
                <a:stretch>
                  <a:fillRect l="-522" t="-978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F4F23D3E-CB19-0D4D-7374-5697CAF9647B}"/>
              </a:ext>
            </a:extLst>
          </p:cNvPr>
          <p:cNvSpPr/>
          <p:nvPr/>
        </p:nvSpPr>
        <p:spPr>
          <a:xfrm>
            <a:off x="1374752" y="3946109"/>
            <a:ext cx="420414" cy="449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①</a:t>
            </a:r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B4AD96-320D-001C-BE28-849360FA0C65}"/>
              </a:ext>
            </a:extLst>
          </p:cNvPr>
          <p:cNvSpPr/>
          <p:nvPr/>
        </p:nvSpPr>
        <p:spPr>
          <a:xfrm>
            <a:off x="1374752" y="4495886"/>
            <a:ext cx="420414" cy="449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②</a:t>
            </a:r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9E85852-249D-C151-6DBB-77740459977B}"/>
              </a:ext>
            </a:extLst>
          </p:cNvPr>
          <p:cNvSpPr/>
          <p:nvPr/>
        </p:nvSpPr>
        <p:spPr>
          <a:xfrm>
            <a:off x="1374752" y="5045663"/>
            <a:ext cx="420414" cy="449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③</a:t>
            </a:r>
            <a:endParaRPr lang="en-US" dirty="0"/>
          </a:p>
        </p:txBody>
      </p:sp>
      <p:grpSp>
        <p:nvGrpSpPr>
          <p:cNvPr id="3" name="Group 27">
            <a:extLst>
              <a:ext uri="{FF2B5EF4-FFF2-40B4-BE49-F238E27FC236}">
                <a16:creationId xmlns:a16="http://schemas.microsoft.com/office/drawing/2014/main" id="{ADFAA3F8-177C-077B-1152-C27BF20BFB61}"/>
              </a:ext>
            </a:extLst>
          </p:cNvPr>
          <p:cNvGrpSpPr>
            <a:grpSpLocks/>
          </p:cNvGrpSpPr>
          <p:nvPr/>
        </p:nvGrpSpPr>
        <p:grpSpPr bwMode="auto">
          <a:xfrm>
            <a:off x="9492526" y="3059614"/>
            <a:ext cx="2119312" cy="1838325"/>
            <a:chOff x="3504" y="954"/>
            <a:chExt cx="1335" cy="1158"/>
          </a:xfrm>
        </p:grpSpPr>
        <p:grpSp>
          <p:nvGrpSpPr>
            <p:cNvPr id="7" name="Group 24">
              <a:extLst>
                <a:ext uri="{FF2B5EF4-FFF2-40B4-BE49-F238E27FC236}">
                  <a16:creationId xmlns:a16="http://schemas.microsoft.com/office/drawing/2014/main" id="{5421A3FF-EE22-6685-252D-448623A950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4" y="954"/>
              <a:ext cx="1335" cy="1158"/>
              <a:chOff x="3504" y="954"/>
              <a:chExt cx="1335" cy="1158"/>
            </a:xfrm>
          </p:grpSpPr>
          <p:sp>
            <p:nvSpPr>
              <p:cNvPr id="12" name="Line 3">
                <a:extLst>
                  <a:ext uri="{FF2B5EF4-FFF2-40B4-BE49-F238E27FC236}">
                    <a16:creationId xmlns:a16="http://schemas.microsoft.com/office/drawing/2014/main" id="{CF134C90-F16A-F913-91A7-C771288C38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082"/>
                <a:ext cx="81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Line 4">
                <a:extLst>
                  <a:ext uri="{FF2B5EF4-FFF2-40B4-BE49-F238E27FC236}">
                    <a16:creationId xmlns:a16="http://schemas.microsoft.com/office/drawing/2014/main" id="{4671B1CE-DAEA-CDFE-0687-188C1D9FA7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1266"/>
                <a:ext cx="81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5">
                <a:extLst>
                  <a:ext uri="{FF2B5EF4-FFF2-40B4-BE49-F238E27FC236}">
                    <a16:creationId xmlns:a16="http://schemas.microsoft.com/office/drawing/2014/main" id="{7D52A5F5-9046-F617-C5C7-FF13604A5B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3144" y="1674"/>
                <a:ext cx="81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6">
                <a:extLst>
                  <a:ext uri="{FF2B5EF4-FFF2-40B4-BE49-F238E27FC236}">
                    <a16:creationId xmlns:a16="http://schemas.microsoft.com/office/drawing/2014/main" id="{89A51336-4736-7A2A-FA22-E8743F5827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3960" y="1674"/>
                <a:ext cx="81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7">
                <a:extLst>
                  <a:ext uri="{FF2B5EF4-FFF2-40B4-BE49-F238E27FC236}">
                    <a16:creationId xmlns:a16="http://schemas.microsoft.com/office/drawing/2014/main" id="{2EB341FE-17D6-3446-369A-26E23FD933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3573" y="1404"/>
                <a:ext cx="81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8">
                <a:extLst>
                  <a:ext uri="{FF2B5EF4-FFF2-40B4-BE49-F238E27FC236}">
                    <a16:creationId xmlns:a16="http://schemas.microsoft.com/office/drawing/2014/main" id="{A00B2B89-51B0-87FF-8F6A-FABD2B583C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389" y="1404"/>
                <a:ext cx="81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9">
                <a:extLst>
                  <a:ext uri="{FF2B5EF4-FFF2-40B4-BE49-F238E27FC236}">
                    <a16:creationId xmlns:a16="http://schemas.microsoft.com/office/drawing/2014/main" id="{A80BDFFF-63C3-B158-DDD6-43C1C40F42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1" y="1812"/>
                <a:ext cx="81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10">
                <a:extLst>
                  <a:ext uri="{FF2B5EF4-FFF2-40B4-BE49-F238E27FC236}">
                    <a16:creationId xmlns:a16="http://schemas.microsoft.com/office/drawing/2014/main" id="{A26381F5-0B86-7716-7AE8-E5373A658F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1" y="996"/>
                <a:ext cx="81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11">
                <a:extLst>
                  <a:ext uri="{FF2B5EF4-FFF2-40B4-BE49-F238E27FC236}">
                    <a16:creationId xmlns:a16="http://schemas.microsoft.com/office/drawing/2014/main" id="{D51AC95D-ED24-D67F-499D-6EFAA73C71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9800000">
                <a:off x="3504" y="1947"/>
                <a:ext cx="521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12">
                <a:extLst>
                  <a:ext uri="{FF2B5EF4-FFF2-40B4-BE49-F238E27FC236}">
                    <a16:creationId xmlns:a16="http://schemas.microsoft.com/office/drawing/2014/main" id="{2B348485-FEF9-CCA1-5572-980B6FB44A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9800000">
                <a:off x="4318" y="1947"/>
                <a:ext cx="521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13">
                <a:extLst>
                  <a:ext uri="{FF2B5EF4-FFF2-40B4-BE49-F238E27FC236}">
                    <a16:creationId xmlns:a16="http://schemas.microsoft.com/office/drawing/2014/main" id="{12199AFE-9FEC-F402-842D-665E8A3CAC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9800000">
                <a:off x="3504" y="1122"/>
                <a:ext cx="521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14">
                <a:extLst>
                  <a:ext uri="{FF2B5EF4-FFF2-40B4-BE49-F238E27FC236}">
                    <a16:creationId xmlns:a16="http://schemas.microsoft.com/office/drawing/2014/main" id="{714887BA-5775-D81C-AA2A-52531A1854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9800000">
                <a:off x="4309" y="1131"/>
                <a:ext cx="521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Oval 16">
                <a:extLst>
                  <a:ext uri="{FF2B5EF4-FFF2-40B4-BE49-F238E27FC236}">
                    <a16:creationId xmlns:a16="http://schemas.microsoft.com/office/drawing/2014/main" id="{1607A260-BCB3-3E7A-7074-906C01C8E7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0" y="1773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Oval 17">
                <a:extLst>
                  <a:ext uri="{FF2B5EF4-FFF2-40B4-BE49-F238E27FC236}">
                    <a16:creationId xmlns:a16="http://schemas.microsoft.com/office/drawing/2014/main" id="{5CBF8158-EB7B-BCDC-96B3-CFE606C5D2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0" y="1764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Oval 18">
                <a:extLst>
                  <a:ext uri="{FF2B5EF4-FFF2-40B4-BE49-F238E27FC236}">
                    <a16:creationId xmlns:a16="http://schemas.microsoft.com/office/drawing/2014/main" id="{4DEED71B-6FDA-F353-5BA9-4CA510709C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7" y="2041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Oval 19">
                <a:extLst>
                  <a:ext uri="{FF2B5EF4-FFF2-40B4-BE49-F238E27FC236}">
                    <a16:creationId xmlns:a16="http://schemas.microsoft.com/office/drawing/2014/main" id="{EB9A347F-AE2A-56CC-0F3C-E218C15C4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6" y="2044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Oval 20">
                <a:extLst>
                  <a:ext uri="{FF2B5EF4-FFF2-40B4-BE49-F238E27FC236}">
                    <a16:creationId xmlns:a16="http://schemas.microsoft.com/office/drawing/2014/main" id="{07E27C87-11D4-06C5-9FB7-62C7F2688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960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Oval 21">
                <a:extLst>
                  <a:ext uri="{FF2B5EF4-FFF2-40B4-BE49-F238E27FC236}">
                    <a16:creationId xmlns:a16="http://schemas.microsoft.com/office/drawing/2014/main" id="{F72EE489-58A3-783F-FF6F-D2A0AD156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0" y="954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Oval 22">
                <a:extLst>
                  <a:ext uri="{FF2B5EF4-FFF2-40B4-BE49-F238E27FC236}">
                    <a16:creationId xmlns:a16="http://schemas.microsoft.com/office/drawing/2014/main" id="{477E709F-C20D-BD22-D486-72BA1A9742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0" y="1218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Oval 23">
                <a:extLst>
                  <a:ext uri="{FF2B5EF4-FFF2-40B4-BE49-F238E27FC236}">
                    <a16:creationId xmlns:a16="http://schemas.microsoft.com/office/drawing/2014/main" id="{CC9BF0F7-B104-F84A-94A9-AC619D342E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3" y="1221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" name="Text Box 25">
              <a:extLst>
                <a:ext uri="{FF2B5EF4-FFF2-40B4-BE49-F238E27FC236}">
                  <a16:creationId xmlns:a16="http://schemas.microsoft.com/office/drawing/2014/main" id="{45E1BC47-7380-04AD-FBDD-F74781B0D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82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11" name="Text Box 26">
              <a:extLst>
                <a:ext uri="{FF2B5EF4-FFF2-40B4-BE49-F238E27FC236}">
                  <a16:creationId xmlns:a16="http://schemas.microsoft.com/office/drawing/2014/main" id="{12704E53-0EDA-63AE-20F6-9EBD9FD0BF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4" y="148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</a:t>
              </a:r>
            </a:p>
          </p:txBody>
        </p:sp>
      </p:grpSp>
      <p:pic>
        <p:nvPicPr>
          <p:cNvPr id="32" name="图片 31">
            <a:extLst>
              <a:ext uri="{FF2B5EF4-FFF2-40B4-BE49-F238E27FC236}">
                <a16:creationId xmlns:a16="http://schemas.microsoft.com/office/drawing/2014/main" id="{C7F89DB5-F41B-4DA6-8E95-042BA7F57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644" y="6422927"/>
            <a:ext cx="3776868" cy="2939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B0354AB2-C6F6-2C7A-4CB2-16B8F83BD3DD}"/>
              </a:ext>
            </a:extLst>
          </p:cNvPr>
          <p:cNvCxnSpPr/>
          <p:nvPr/>
        </p:nvCxnSpPr>
        <p:spPr>
          <a:xfrm>
            <a:off x="5101493" y="5902274"/>
            <a:ext cx="0" cy="512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0B5A2E56-BBA3-0FB2-EFF1-3566A240E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9609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8EF56DAB-9846-E7F7-0683-E35AF94EA761}"/>
              </a:ext>
            </a:extLst>
          </p:cNvPr>
          <p:cNvSpPr/>
          <p:nvPr/>
        </p:nvSpPr>
        <p:spPr>
          <a:xfrm>
            <a:off x="2314037" y="2031144"/>
            <a:ext cx="3731524" cy="559904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6ABB4164-9A8D-AA83-0198-3C8E8073EB33}"/>
              </a:ext>
            </a:extLst>
          </p:cNvPr>
          <p:cNvSpPr/>
          <p:nvPr/>
        </p:nvSpPr>
        <p:spPr>
          <a:xfrm>
            <a:off x="2314036" y="4808763"/>
            <a:ext cx="3731524" cy="559904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C57C76F9-920F-A93A-D813-71ED596EFC99}"/>
              </a:ext>
            </a:extLst>
          </p:cNvPr>
          <p:cNvSpPr/>
          <p:nvPr/>
        </p:nvSpPr>
        <p:spPr>
          <a:xfrm>
            <a:off x="3367382" y="5748137"/>
            <a:ext cx="3338218" cy="559904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Text Box 7">
            <a:extLst>
              <a:ext uri="{FF2B5EF4-FFF2-40B4-BE49-F238E27FC236}">
                <a16:creationId xmlns:a16="http://schemas.microsoft.com/office/drawing/2014/main" id="{57692BFB-3D15-CA09-8BF4-F08F046F0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162" y="1528669"/>
            <a:ext cx="2819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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点：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(0, 0, 0)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8">
                <a:extLst>
                  <a:ext uri="{FF2B5EF4-FFF2-40B4-BE49-F238E27FC236}">
                    <a16:creationId xmlns:a16="http://schemas.microsoft.com/office/drawing/2014/main" id="{B8F236DA-90A5-C254-65BD-BFE9A90AEEC7}"/>
                  </a:ext>
                </a:extLst>
              </p:cNvPr>
              <p:cNvSpPr txBox="1"/>
              <p:nvPr/>
            </p:nvSpPr>
            <p:spPr bwMode="auto">
              <a:xfrm>
                <a:off x="2341562" y="2035175"/>
                <a:ext cx="2944273" cy="5302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</m:d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Object 8">
                <a:extLst>
                  <a:ext uri="{FF2B5EF4-FFF2-40B4-BE49-F238E27FC236}">
                    <a16:creationId xmlns:a16="http://schemas.microsoft.com/office/drawing/2014/main" id="{B8F236DA-90A5-C254-65BD-BFE9A90AE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1562" y="2035175"/>
                <a:ext cx="2944273" cy="530225"/>
              </a:xfrm>
              <a:prstGeom prst="rect">
                <a:avLst/>
              </a:prstGeom>
              <a:blipFill>
                <a:blip r:embed="rId2"/>
                <a:stretch>
                  <a:fillRect l="-4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Box 9">
            <a:extLst>
              <a:ext uri="{FF2B5EF4-FFF2-40B4-BE49-F238E27FC236}">
                <a16:creationId xmlns:a16="http://schemas.microsoft.com/office/drawing/2014/main" id="{1D7B03CB-1CDF-63DB-254E-2DFBF7454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4161" y="2854224"/>
            <a:ext cx="3124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</a:rPr>
              <a:t>点：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/a, 0, 0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10">
                <a:extLst>
                  <a:ext uri="{FF2B5EF4-FFF2-40B4-BE49-F238E27FC236}">
                    <a16:creationId xmlns:a16="http://schemas.microsoft.com/office/drawing/2014/main" id="{FCA27FCB-AF6E-0321-1A76-D616D5D04A16}"/>
                  </a:ext>
                </a:extLst>
              </p:cNvPr>
              <p:cNvSpPr txBox="1"/>
              <p:nvPr/>
            </p:nvSpPr>
            <p:spPr bwMode="auto">
              <a:xfrm>
                <a:off x="2244724" y="3409950"/>
                <a:ext cx="3009485" cy="514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Object 10">
                <a:extLst>
                  <a:ext uri="{FF2B5EF4-FFF2-40B4-BE49-F238E27FC236}">
                    <a16:creationId xmlns:a16="http://schemas.microsoft.com/office/drawing/2014/main" id="{FCA27FCB-AF6E-0321-1A76-D616D5D04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4724" y="3409950"/>
                <a:ext cx="3009485" cy="514350"/>
              </a:xfrm>
              <a:prstGeom prst="rect">
                <a:avLst/>
              </a:prstGeom>
              <a:blipFill>
                <a:blip r:embed="rId3"/>
                <a:stretch>
                  <a:fillRect l="-4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 Box 11">
            <a:extLst>
              <a:ext uri="{FF2B5EF4-FFF2-40B4-BE49-F238E27FC236}">
                <a16:creationId xmlns:a16="http://schemas.microsoft.com/office/drawing/2014/main" id="{272D937B-9CEA-0940-8035-587CA5BC7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162" y="4264662"/>
            <a:ext cx="3429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</a:rPr>
              <a:t>点：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/a, /a, /a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12">
                <a:extLst>
                  <a:ext uri="{FF2B5EF4-FFF2-40B4-BE49-F238E27FC236}">
                    <a16:creationId xmlns:a16="http://schemas.microsoft.com/office/drawing/2014/main" id="{7F5B82A3-4D32-9EE9-1BC1-8D0CC9BA5208}"/>
                  </a:ext>
                </a:extLst>
              </p:cNvPr>
              <p:cNvSpPr txBox="1"/>
              <p:nvPr/>
            </p:nvSpPr>
            <p:spPr bwMode="auto">
              <a:xfrm>
                <a:off x="2314575" y="4797425"/>
                <a:ext cx="2971800" cy="558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Object 12">
                <a:extLst>
                  <a:ext uri="{FF2B5EF4-FFF2-40B4-BE49-F238E27FC236}">
                    <a16:creationId xmlns:a16="http://schemas.microsoft.com/office/drawing/2014/main" id="{7F5B82A3-4D32-9EE9-1BC1-8D0CC9BA5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4575" y="4797425"/>
                <a:ext cx="2971800" cy="558800"/>
              </a:xfrm>
              <a:prstGeom prst="rect">
                <a:avLst/>
              </a:prstGeom>
              <a:blipFill>
                <a:blip r:embed="rId4"/>
                <a:stretch>
                  <a:fillRect l="-6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文本框 73">
            <a:extLst>
              <a:ext uri="{FF2B5EF4-FFF2-40B4-BE49-F238E27FC236}">
                <a16:creationId xmlns:a16="http://schemas.microsoft.com/office/drawing/2014/main" id="{20C47EB2-103B-1AFE-FA8F-3AEC8629A7F9}"/>
              </a:ext>
            </a:extLst>
          </p:cNvPr>
          <p:cNvSpPr txBox="1"/>
          <p:nvPr/>
        </p:nvSpPr>
        <p:spPr>
          <a:xfrm>
            <a:off x="5168225" y="2069354"/>
            <a:ext cx="877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带底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AF46094-CF48-B43E-6D6B-741E0D1BABE7}"/>
              </a:ext>
            </a:extLst>
          </p:cNvPr>
          <p:cNvSpPr txBox="1"/>
          <p:nvPr/>
        </p:nvSpPr>
        <p:spPr>
          <a:xfrm>
            <a:off x="5254210" y="4845771"/>
            <a:ext cx="877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带顶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284199C7-87F2-04C1-0302-C793F8E92BD3}"/>
              </a:ext>
            </a:extLst>
          </p:cNvPr>
          <p:cNvSpPr txBox="1"/>
          <p:nvPr/>
        </p:nvSpPr>
        <p:spPr>
          <a:xfrm>
            <a:off x="1094385" y="580501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能带宽度：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对象 76">
                <a:extLst>
                  <a:ext uri="{FF2B5EF4-FFF2-40B4-BE49-F238E27FC236}">
                    <a16:creationId xmlns:a16="http://schemas.microsoft.com/office/drawing/2014/main" id="{2574541B-3901-A319-6126-42D6FA60608D}"/>
                  </a:ext>
                </a:extLst>
              </p:cNvPr>
              <p:cNvSpPr txBox="1"/>
              <p:nvPr/>
            </p:nvSpPr>
            <p:spPr>
              <a:xfrm>
                <a:off x="3450462" y="5846138"/>
                <a:ext cx="3670745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</m:d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7" name="对象 76">
                <a:extLst>
                  <a:ext uri="{FF2B5EF4-FFF2-40B4-BE49-F238E27FC236}">
                    <a16:creationId xmlns:a16="http://schemas.microsoft.com/office/drawing/2014/main" id="{2574541B-3901-A319-6126-42D6FA606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462" y="5846138"/>
                <a:ext cx="3670745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2" name="图片 81">
            <a:extLst>
              <a:ext uri="{FF2B5EF4-FFF2-40B4-BE49-F238E27FC236}">
                <a16:creationId xmlns:a16="http://schemas.microsoft.com/office/drawing/2014/main" id="{8D28CA0B-9AC6-D071-5A91-D58C3E8698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758" y="1300162"/>
            <a:ext cx="4676775" cy="4562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DA5E514-F32C-457D-16E5-E0E04ABA22DB}"/>
                  </a:ext>
                </a:extLst>
              </p:cNvPr>
              <p:cNvSpPr txBox="1"/>
              <p:nvPr/>
            </p:nvSpPr>
            <p:spPr>
              <a:xfrm>
                <a:off x="977810" y="886652"/>
                <a:ext cx="6094948" cy="5012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b="1" i="0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zh-CN" alt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func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zh-CN" alt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func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zh-CN" alt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func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DA5E514-F32C-457D-16E5-E0E04ABA2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810" y="886652"/>
                <a:ext cx="6094948" cy="5012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F894D03E-12F5-142B-9E05-46BD6251E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7872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跃迁积分的各向异性：</a:t>
            </a:r>
            <a:r>
              <a:rPr lang="en-US" altLang="zh-CN" dirty="0"/>
              <a:t>p</a:t>
            </a:r>
            <a:r>
              <a:rPr lang="zh-CN" altLang="en-US" dirty="0"/>
              <a:t>轨道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669798C7-C815-F721-2BCB-1F82206329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7861"/>
                <a:ext cx="5489713" cy="497648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 dirty="0"/>
                  <a:t>p</a:t>
                </a:r>
                <a:r>
                  <a:rPr lang="zh-CN" altLang="en-US" sz="2000" dirty="0"/>
                  <a:t>态电子呈纺锤形，呈现各向异性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对于</a:t>
                </a:r>
                <a:r>
                  <a:rPr lang="en-US" altLang="zh-CN" sz="2000" dirty="0"/>
                  <a:t>px</a:t>
                </a:r>
                <a:r>
                  <a:rPr lang="zh-CN" altLang="en-US" sz="2000" dirty="0"/>
                  <a:t>轨道来说，</a:t>
                </a:r>
                <a:r>
                  <a:rPr lang="en-US" altLang="zh-CN" sz="2000" dirty="0"/>
                  <a:t>yz</a:t>
                </a:r>
                <a:r>
                  <a:rPr lang="zh-CN" altLang="en-US" sz="2000" dirty="0"/>
                  <a:t>方向等价，而</a:t>
                </a:r>
                <a:r>
                  <a:rPr lang="en-US" altLang="zh-CN" sz="2000" dirty="0"/>
                  <a:t>x</a:t>
                </a:r>
                <a:r>
                  <a:rPr lang="zh-CN" altLang="en-US" sz="2000" dirty="0"/>
                  <a:t>方向与</a:t>
                </a:r>
                <a:r>
                  <a:rPr lang="en-US" altLang="zh-CN" sz="2000" dirty="0"/>
                  <a:t>yz</a:t>
                </a:r>
                <a:r>
                  <a:rPr lang="zh-CN" altLang="en-US" sz="2000" dirty="0"/>
                  <a:t>不等价，故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sz="2000" dirty="0"/>
                  <a:t>；</a:t>
                </a:r>
                <a:r>
                  <a:rPr lang="en-US" altLang="zh-CN" sz="2000" dirty="0" err="1"/>
                  <a:t>py</a:t>
                </a:r>
                <a:r>
                  <a:rPr lang="en-US" altLang="zh-CN" sz="2000" dirty="0"/>
                  <a:t>, </a:t>
                </a:r>
                <a:r>
                  <a:rPr lang="en-US" altLang="zh-CN" sz="2000" dirty="0" err="1"/>
                  <a:t>pz</a:t>
                </a:r>
                <a:r>
                  <a:rPr lang="zh-CN" altLang="en-US" sz="2000" dirty="0"/>
                  <a:t>轨道同理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平行于纺锤轴方向的跃迁积分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zh-CN" sz="2000" b="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垂直于纺锤轴方向的跃迁积分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altLang="zh-CN" sz="2000" b="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zh-CN" alt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平行方向波函数距离更近，所以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b="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endParaRPr lang="en-US" altLang="zh-CN" sz="20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669798C7-C815-F721-2BCB-1F82206329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7861"/>
                <a:ext cx="5489713" cy="4976486"/>
              </a:xfrm>
              <a:blipFill>
                <a:blip r:embed="rId2"/>
                <a:stretch>
                  <a:fillRect l="-1000" t="-1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 descr="图片包含 室内, 小, 桌子, 电脑&#10;&#10;描述已自动生成">
            <a:extLst>
              <a:ext uri="{FF2B5EF4-FFF2-40B4-BE49-F238E27FC236}">
                <a16:creationId xmlns:a16="http://schemas.microsoft.com/office/drawing/2014/main" id="{E38F622F-C510-7A61-A76E-6BF706B394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383" y="1736034"/>
            <a:ext cx="5702533" cy="356483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2F8C519-127C-9BB0-4A18-DA9213CB9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832" y="4283450"/>
            <a:ext cx="4946168" cy="2397808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FB70770-4E78-D7F5-EFA1-FE8462674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737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763C50-81A2-D0B8-7695-AF5C31B94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作业：简单立方格子的</a:t>
            </a:r>
            <a:r>
              <a:rPr lang="en-US" altLang="zh-CN" dirty="0"/>
              <a:t>p</a:t>
            </a:r>
            <a:r>
              <a:rPr lang="zh-CN" altLang="en-US" dirty="0"/>
              <a:t>轨道能带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CCBC005-B313-8857-466D-4EBC48702B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803802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dirty="0"/>
                  <a:t>推导简单立方格子的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个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轨道（</a:t>
                </a:r>
                <a:r>
                  <a:rPr lang="en-US" altLang="zh-CN" dirty="0"/>
                  <a:t>px, </a:t>
                </a:r>
                <a:r>
                  <a:rPr lang="en-US" altLang="zh-CN" dirty="0" err="1"/>
                  <a:t>py</a:t>
                </a:r>
                <a:r>
                  <a:rPr lang="en-US" altLang="zh-CN" dirty="0"/>
                  <a:t>, </a:t>
                </a:r>
                <a:r>
                  <a:rPr lang="en-US" altLang="zh-CN" dirty="0" err="1"/>
                  <a:t>pz</a:t>
                </a:r>
                <a:r>
                  <a:rPr lang="zh-CN" altLang="en-US" dirty="0"/>
                  <a:t>）各自的能带表达式，并简述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：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在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m:rPr>
                        <m:nor/>
                      </m:rPr>
                      <a:rPr lang="en-US" i="0"/>
                      <m:t>(0, 0, 0)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US" i="0"/>
                      <m:t>(</m:t>
                    </m:r>
                    <m:r>
                      <m:rPr>
                        <m:nor/>
                      </m:rPr>
                      <a:rPr lang="en-US" i="0">
                        <a:sym typeface="Symbol" panose="05050102010706020507" pitchFamily="18" charset="2"/>
                      </a:rPr>
                      <m:t></m:t>
                    </m:r>
                    <m:r>
                      <m:rPr>
                        <m:nor/>
                      </m:rPr>
                      <a:rPr lang="en-US" i="0"/>
                      <m:t>/a, 0, 0)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m:rPr>
                        <m:nor/>
                      </m:rPr>
                      <a:rPr lang="en-US" i="0"/>
                      <m:t>(</m:t>
                    </m:r>
                    <m:r>
                      <m:rPr>
                        <m:nor/>
                      </m:rPr>
                      <a:rPr lang="en-US" i="0">
                        <a:sym typeface="Symbol" panose="05050102010706020507" pitchFamily="18" charset="2"/>
                      </a:rPr>
                      <m:t></m:t>
                    </m:r>
                    <m:r>
                      <m:rPr>
                        <m:nor/>
                      </m:rPr>
                      <a:rPr lang="en-US" i="0"/>
                      <m:t>/a,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en-US" altLang="zh-CN">
                        <a:sym typeface="Symbol" panose="05050102010706020507" pitchFamily="18" charset="2"/>
                      </a:rPr>
                      <m:t></m:t>
                    </m:r>
                    <m:r>
                      <m:rPr>
                        <m:nor/>
                      </m:rPr>
                      <a:rPr lang="en-US" i="0"/>
                      <m:t>/a, 0)</m:t>
                    </m:r>
                  </m:oMath>
                </a14:m>
                <a:r>
                  <a:rPr lang="zh-CN" altLang="en-US" dirty="0"/>
                  <a:t>点上，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个轨道的能量顺序与简并性</a:t>
                </a:r>
                <a:endParaRPr lang="en-US" altLang="zh-CN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dirty="0"/>
                  <a:t>（取晶格常数为</a:t>
                </a:r>
                <a:r>
                  <a:rPr lang="en-US" altLang="zh-CN" i="1" dirty="0"/>
                  <a:t>a</a:t>
                </a:r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，平行于纺锤轴方向的跃迁积分为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，垂直于纺锤轴方向的跃迁积分为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）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CCBC005-B313-8857-466D-4EBC48702B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803802" cy="4351338"/>
              </a:xfrm>
              <a:blipFill>
                <a:blip r:embed="rId2"/>
                <a:stretch>
                  <a:fillRect l="-1406" t="-1961" r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50">
            <a:extLst>
              <a:ext uri="{FF2B5EF4-FFF2-40B4-BE49-F238E27FC236}">
                <a16:creationId xmlns:a16="http://schemas.microsoft.com/office/drawing/2014/main" id="{0E9B0517-3B16-4D6B-E134-C6BFD4FD0930}"/>
              </a:ext>
            </a:extLst>
          </p:cNvPr>
          <p:cNvGrpSpPr>
            <a:grpSpLocks/>
          </p:cNvGrpSpPr>
          <p:nvPr/>
        </p:nvGrpSpPr>
        <p:grpSpPr bwMode="auto">
          <a:xfrm>
            <a:off x="8840857" y="2459145"/>
            <a:ext cx="2971800" cy="2667000"/>
            <a:chOff x="3120" y="816"/>
            <a:chExt cx="1872" cy="1680"/>
          </a:xfrm>
        </p:grpSpPr>
        <p:grpSp>
          <p:nvGrpSpPr>
            <p:cNvPr id="6" name="Group 14">
              <a:extLst>
                <a:ext uri="{FF2B5EF4-FFF2-40B4-BE49-F238E27FC236}">
                  <a16:creationId xmlns:a16="http://schemas.microsoft.com/office/drawing/2014/main" id="{FDE99168-AB16-DC67-889B-04563EECCA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1152"/>
              <a:ext cx="1521" cy="1315"/>
              <a:chOff x="3687" y="960"/>
              <a:chExt cx="1278" cy="1104"/>
            </a:xfrm>
          </p:grpSpPr>
          <p:sp>
            <p:nvSpPr>
              <p:cNvPr id="13" name="AutoShape 15">
                <a:extLst>
                  <a:ext uri="{FF2B5EF4-FFF2-40B4-BE49-F238E27FC236}">
                    <a16:creationId xmlns:a16="http://schemas.microsoft.com/office/drawing/2014/main" id="{5305634A-9F72-73DA-8328-38CEAC791A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960"/>
                <a:ext cx="1104" cy="1104"/>
              </a:xfrm>
              <a:prstGeom prst="cube">
                <a:avLst>
                  <a:gd name="adj" fmla="val 25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Line 16">
                <a:extLst>
                  <a:ext uri="{FF2B5EF4-FFF2-40B4-BE49-F238E27FC236}">
                    <a16:creationId xmlns:a16="http://schemas.microsoft.com/office/drawing/2014/main" id="{B9AA90EF-C11E-BE82-18DD-2C7BCD59BB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560000">
                <a:off x="4250" y="1587"/>
                <a:ext cx="340" cy="0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17">
                <a:extLst>
                  <a:ext uri="{FF2B5EF4-FFF2-40B4-BE49-F238E27FC236}">
                    <a16:creationId xmlns:a16="http://schemas.microsoft.com/office/drawing/2014/main" id="{6D98FF31-65A4-0AEF-92E3-73FCB4389F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9" y="1782"/>
                <a:ext cx="8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18">
                <a:extLst>
                  <a:ext uri="{FF2B5EF4-FFF2-40B4-BE49-F238E27FC236}">
                    <a16:creationId xmlns:a16="http://schemas.microsoft.com/office/drawing/2014/main" id="{5BA5CFBD-84BD-6937-1723-E52F71DE92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3624" y="1377"/>
                <a:ext cx="8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19">
                <a:extLst>
                  <a:ext uri="{FF2B5EF4-FFF2-40B4-BE49-F238E27FC236}">
                    <a16:creationId xmlns:a16="http://schemas.microsoft.com/office/drawing/2014/main" id="{43F9B47B-6228-AC24-5C5E-B8C1C25D5F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>
                <a:off x="3687" y="1911"/>
                <a:ext cx="4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20">
                <a:extLst>
                  <a:ext uri="{FF2B5EF4-FFF2-40B4-BE49-F238E27FC236}">
                    <a16:creationId xmlns:a16="http://schemas.microsoft.com/office/drawing/2014/main" id="{16972469-16ED-5B11-B372-3A75EF3C26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4" y="1515"/>
                <a:ext cx="408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21">
                <a:extLst>
                  <a:ext uri="{FF2B5EF4-FFF2-40B4-BE49-F238E27FC236}">
                    <a16:creationId xmlns:a16="http://schemas.microsoft.com/office/drawing/2014/main" id="{252A06C5-4DAD-D5EC-1E0F-029B29E749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>
                <a:off x="4538" y="1587"/>
                <a:ext cx="193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22">
                <a:extLst>
                  <a:ext uri="{FF2B5EF4-FFF2-40B4-BE49-F238E27FC236}">
                    <a16:creationId xmlns:a16="http://schemas.microsoft.com/office/drawing/2014/main" id="{91E3B054-FA85-6CBE-51C0-E9557F0FB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3780000">
                <a:off x="4488" y="1387"/>
                <a:ext cx="317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23">
                <a:extLst>
                  <a:ext uri="{FF2B5EF4-FFF2-40B4-BE49-F238E27FC236}">
                    <a16:creationId xmlns:a16="http://schemas.microsoft.com/office/drawing/2014/main" id="{185C5F1E-676D-7B44-B596-C42AEBA4D5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720000">
                <a:off x="4236" y="1376"/>
                <a:ext cx="385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Text Box 24">
                <a:extLst>
                  <a:ext uri="{FF2B5EF4-FFF2-40B4-BE49-F238E27FC236}">
                    <a16:creationId xmlns:a16="http://schemas.microsoft.com/office/drawing/2014/main" id="{E926EB98-90CA-12B0-381E-648D37BAD6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1392"/>
                <a:ext cx="33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FF0000"/>
                    </a:solidFill>
                    <a:sym typeface="Symbol" panose="05050102010706020507" pitchFamily="18" charset="2"/>
                  </a:rPr>
                  <a:t></a:t>
                </a:r>
                <a:endParaRPr lang="en-US" altLang="zh-CN" sz="2000">
                  <a:solidFill>
                    <a:srgbClr val="FF0000"/>
                  </a:solidFill>
                </a:endParaRPr>
              </a:p>
            </p:txBody>
          </p:sp>
          <p:sp>
            <p:nvSpPr>
              <p:cNvPr id="23" name="Text Box 25">
                <a:extLst>
                  <a:ext uri="{FF2B5EF4-FFF2-40B4-BE49-F238E27FC236}">
                    <a16:creationId xmlns:a16="http://schemas.microsoft.com/office/drawing/2014/main" id="{5A59043C-8E82-6854-2A35-33FDF675F2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1" y="1536"/>
                <a:ext cx="33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FF0000"/>
                    </a:solidFill>
                    <a:sym typeface="Symbol" panose="05050102010706020507" pitchFamily="18" charset="2"/>
                  </a:rPr>
                  <a:t></a:t>
                </a:r>
                <a:endParaRPr lang="en-US" altLang="zh-CN" sz="2000">
                  <a:solidFill>
                    <a:srgbClr val="FF0000"/>
                  </a:solidFill>
                </a:endParaRPr>
              </a:p>
            </p:txBody>
          </p:sp>
          <p:sp>
            <p:nvSpPr>
              <p:cNvPr id="24" name="Text Box 26">
                <a:extLst>
                  <a:ext uri="{FF2B5EF4-FFF2-40B4-BE49-F238E27FC236}">
                    <a16:creationId xmlns:a16="http://schemas.microsoft.com/office/drawing/2014/main" id="{EAAAACC6-8692-3FA7-8C54-9CFDD87C95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1632"/>
                <a:ext cx="33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M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5" name="Text Box 27">
                <a:extLst>
                  <a:ext uri="{FF2B5EF4-FFF2-40B4-BE49-F238E27FC236}">
                    <a16:creationId xmlns:a16="http://schemas.microsoft.com/office/drawing/2014/main" id="{D28546A1-A571-FAAA-BED6-1D45AC0C33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29" y="1395"/>
                <a:ext cx="33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FF0000"/>
                    </a:solidFill>
                    <a:sym typeface="Symbol" panose="05050102010706020507" pitchFamily="18" charset="2"/>
                  </a:rPr>
                  <a:t>X</a:t>
                </a:r>
                <a:endParaRPr lang="en-US" altLang="zh-CN" sz="2000">
                  <a:solidFill>
                    <a:srgbClr val="FF0000"/>
                  </a:solidFill>
                </a:endParaRPr>
              </a:p>
            </p:txBody>
          </p:sp>
          <p:sp>
            <p:nvSpPr>
              <p:cNvPr id="26" name="Text Box 28">
                <a:extLst>
                  <a:ext uri="{FF2B5EF4-FFF2-40B4-BE49-F238E27FC236}">
                    <a16:creationId xmlns:a16="http://schemas.microsoft.com/office/drawing/2014/main" id="{B8E91DB7-3C22-1AB9-945D-0060503AAC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8" y="998"/>
                <a:ext cx="33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FF0000"/>
                    </a:solidFill>
                    <a:sym typeface="Symbol" panose="05050102010706020507" pitchFamily="18" charset="2"/>
                  </a:rPr>
                  <a:t>R</a:t>
                </a:r>
                <a:endParaRPr lang="en-US" altLang="zh-CN" sz="2000">
                  <a:solidFill>
                    <a:srgbClr val="FF0000"/>
                  </a:solidFill>
                </a:endParaRPr>
              </a:p>
            </p:txBody>
          </p:sp>
          <p:sp>
            <p:nvSpPr>
              <p:cNvPr id="27" name="Text Box 29">
                <a:extLst>
                  <a:ext uri="{FF2B5EF4-FFF2-40B4-BE49-F238E27FC236}">
                    <a16:creationId xmlns:a16="http://schemas.microsoft.com/office/drawing/2014/main" id="{A97C607E-74BD-9423-CFCA-FE7D372CEC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1536"/>
                <a:ext cx="33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FF0000"/>
                    </a:solidFill>
                    <a:sym typeface="Symbol" panose="05050102010706020507" pitchFamily="18" charset="2"/>
                  </a:rPr>
                  <a:t>Z</a:t>
                </a:r>
                <a:endParaRPr lang="en-US" altLang="zh-CN" sz="2000">
                  <a:solidFill>
                    <a:srgbClr val="FF0000"/>
                  </a:solidFill>
                </a:endParaRPr>
              </a:p>
            </p:txBody>
          </p:sp>
          <p:sp>
            <p:nvSpPr>
              <p:cNvPr id="28" name="Text Box 30">
                <a:extLst>
                  <a:ext uri="{FF2B5EF4-FFF2-40B4-BE49-F238E27FC236}">
                    <a16:creationId xmlns:a16="http://schemas.microsoft.com/office/drawing/2014/main" id="{F5C063F3-B6E4-E21F-000A-9C1DC1D4ED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30" y="1191"/>
                <a:ext cx="33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FF0000"/>
                    </a:solidFill>
                    <a:sym typeface="Symbol" panose="05050102010706020507" pitchFamily="18" charset="2"/>
                  </a:rPr>
                  <a:t>S</a:t>
                </a:r>
                <a:endParaRPr lang="en-US" altLang="zh-CN" sz="2000">
                  <a:solidFill>
                    <a:srgbClr val="FF0000"/>
                  </a:solidFill>
                </a:endParaRPr>
              </a:p>
            </p:txBody>
          </p:sp>
          <p:sp>
            <p:nvSpPr>
              <p:cNvPr id="29" name="Text Box 31">
                <a:extLst>
                  <a:ext uri="{FF2B5EF4-FFF2-40B4-BE49-F238E27FC236}">
                    <a16:creationId xmlns:a16="http://schemas.microsoft.com/office/drawing/2014/main" id="{9FCF58E2-4417-2988-39BB-8CB12BF1A7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9" y="1305"/>
                <a:ext cx="33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FF0000"/>
                    </a:solidFill>
                    <a:sym typeface="Symbol" panose="05050102010706020507" pitchFamily="18" charset="2"/>
                  </a:rPr>
                  <a:t></a:t>
                </a:r>
                <a:endParaRPr lang="en-US" altLang="zh-CN" sz="2000">
                  <a:solidFill>
                    <a:srgbClr val="FF0000"/>
                  </a:solidFill>
                </a:endParaRPr>
              </a:p>
            </p:txBody>
          </p:sp>
          <p:sp>
            <p:nvSpPr>
              <p:cNvPr id="30" name="Text Box 32">
                <a:extLst>
                  <a:ext uri="{FF2B5EF4-FFF2-40B4-BE49-F238E27FC236}">
                    <a16:creationId xmlns:a16="http://schemas.microsoft.com/office/drawing/2014/main" id="{CF471266-4F05-4BA4-E1AF-8E4EDF7E21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64" y="1344"/>
                <a:ext cx="33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FF0000"/>
                    </a:solidFill>
                    <a:sym typeface="Symbol" panose="05050102010706020507" pitchFamily="18" charset="2"/>
                  </a:rPr>
                  <a:t>T</a:t>
                </a:r>
                <a:endParaRPr lang="en-US" altLang="zh-CN" sz="2000">
                  <a:solidFill>
                    <a:srgbClr val="FF0000"/>
                  </a:solidFill>
                </a:endParaRPr>
              </a:p>
            </p:txBody>
          </p:sp>
          <p:sp>
            <p:nvSpPr>
              <p:cNvPr id="31" name="Text Box 33">
                <a:extLst>
                  <a:ext uri="{FF2B5EF4-FFF2-40B4-BE49-F238E27FC236}">
                    <a16:creationId xmlns:a16="http://schemas.microsoft.com/office/drawing/2014/main" id="{8CD3A79E-C842-4063-1876-0553BF0AFC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3" y="1173"/>
                <a:ext cx="33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FF0000"/>
                    </a:solidFill>
                    <a:sym typeface="Symbol" panose="05050102010706020507" pitchFamily="18" charset="2"/>
                  </a:rPr>
                  <a:t></a:t>
                </a:r>
                <a:endParaRPr lang="en-US" altLang="zh-CN" sz="2000">
                  <a:solidFill>
                    <a:srgbClr val="FF0000"/>
                  </a:solidFill>
                </a:endParaRPr>
              </a:p>
            </p:txBody>
          </p:sp>
          <p:sp>
            <p:nvSpPr>
              <p:cNvPr id="32" name="Oval 34">
                <a:extLst>
                  <a:ext uri="{FF2B5EF4-FFF2-40B4-BE49-F238E27FC236}">
                    <a16:creationId xmlns:a16="http://schemas.microsoft.com/office/drawing/2014/main" id="{74C540AC-B9C6-8680-020F-711E3C4124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0" y="1491"/>
                <a:ext cx="41" cy="4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Oval 35">
                <a:extLst>
                  <a:ext uri="{FF2B5EF4-FFF2-40B4-BE49-F238E27FC236}">
                    <a16:creationId xmlns:a16="http://schemas.microsoft.com/office/drawing/2014/main" id="{55F51234-50F0-CED9-41C6-9BCED5A307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8" y="1497"/>
                <a:ext cx="41" cy="4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Oval 36">
                <a:extLst>
                  <a:ext uri="{FF2B5EF4-FFF2-40B4-BE49-F238E27FC236}">
                    <a16:creationId xmlns:a16="http://schemas.microsoft.com/office/drawing/2014/main" id="{A348D9AE-9E09-BED7-4E59-713ED63066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46" y="1644"/>
                <a:ext cx="41" cy="4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Oval 37">
                <a:extLst>
                  <a:ext uri="{FF2B5EF4-FFF2-40B4-BE49-F238E27FC236}">
                    <a16:creationId xmlns:a16="http://schemas.microsoft.com/office/drawing/2014/main" id="{7EC2132B-9A85-0213-2B1B-D8F578CDDA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2" y="1578"/>
                <a:ext cx="41" cy="4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Oval 38">
                <a:extLst>
                  <a:ext uri="{FF2B5EF4-FFF2-40B4-BE49-F238E27FC236}">
                    <a16:creationId xmlns:a16="http://schemas.microsoft.com/office/drawing/2014/main" id="{921A46BA-875C-0CE6-163B-4CE2C00CC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49" y="1431"/>
                <a:ext cx="41" cy="4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Oval 39">
                <a:extLst>
                  <a:ext uri="{FF2B5EF4-FFF2-40B4-BE49-F238E27FC236}">
                    <a16:creationId xmlns:a16="http://schemas.microsoft.com/office/drawing/2014/main" id="{3DDCC339-8282-F1E0-880D-793CED9B8A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9" y="1578"/>
                <a:ext cx="41" cy="4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Oval 40">
                <a:extLst>
                  <a:ext uri="{FF2B5EF4-FFF2-40B4-BE49-F238E27FC236}">
                    <a16:creationId xmlns:a16="http://schemas.microsoft.com/office/drawing/2014/main" id="{754BFCE4-CC32-C4F6-CCAB-3959F2107F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1" y="1494"/>
                <a:ext cx="41" cy="4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Oval 41">
                <a:extLst>
                  <a:ext uri="{FF2B5EF4-FFF2-40B4-BE49-F238E27FC236}">
                    <a16:creationId xmlns:a16="http://schemas.microsoft.com/office/drawing/2014/main" id="{617D5403-9799-AB8E-36F0-096742734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2" y="1299"/>
                <a:ext cx="41" cy="4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" name="Oval 42">
                <a:extLst>
                  <a:ext uri="{FF2B5EF4-FFF2-40B4-BE49-F238E27FC236}">
                    <a16:creationId xmlns:a16="http://schemas.microsoft.com/office/drawing/2014/main" id="{C5D73B9B-B4B5-07D9-67A4-E07F779EC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49" y="1212"/>
                <a:ext cx="41" cy="4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Oval 43">
                <a:extLst>
                  <a:ext uri="{FF2B5EF4-FFF2-40B4-BE49-F238E27FC236}">
                    <a16:creationId xmlns:a16="http://schemas.microsoft.com/office/drawing/2014/main" id="{9BD7B308-1AF1-EF2B-4BAC-3FFE86552B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1305"/>
                <a:ext cx="41" cy="4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" name="Line 44">
              <a:extLst>
                <a:ext uri="{FF2B5EF4-FFF2-40B4-BE49-F238E27FC236}">
                  <a16:creationId xmlns:a16="http://schemas.microsoft.com/office/drawing/2014/main" id="{E24EBBBA-3016-E207-24AE-5A4219A73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806"/>
              <a:ext cx="1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45">
              <a:extLst>
                <a:ext uri="{FF2B5EF4-FFF2-40B4-BE49-F238E27FC236}">
                  <a16:creationId xmlns:a16="http://schemas.microsoft.com/office/drawing/2014/main" id="{A8341F9D-27D3-3850-3456-E630B636D2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864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46">
              <a:extLst>
                <a:ext uri="{FF2B5EF4-FFF2-40B4-BE49-F238E27FC236}">
                  <a16:creationId xmlns:a16="http://schemas.microsoft.com/office/drawing/2014/main" id="{6AD214AD-5C13-1355-E977-3AE4B88453C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600000" flipH="1">
              <a:off x="3278" y="2060"/>
              <a:ext cx="6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Box 47">
              <a:extLst>
                <a:ext uri="{FF2B5EF4-FFF2-40B4-BE49-F238E27FC236}">
                  <a16:creationId xmlns:a16="http://schemas.microsoft.com/office/drawing/2014/main" id="{706CB636-2219-FE89-8372-1496D4879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2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k</a:t>
              </a:r>
              <a:r>
                <a:rPr lang="en-US" altLang="zh-CN" i="1" baseline="-25000"/>
                <a:t>x</a:t>
              </a:r>
              <a:endParaRPr lang="en-US" altLang="zh-CN" i="1"/>
            </a:p>
          </p:txBody>
        </p:sp>
        <p:sp>
          <p:nvSpPr>
            <p:cNvPr id="11" name="Text Box 48">
              <a:extLst>
                <a:ext uri="{FF2B5EF4-FFF2-40B4-BE49-F238E27FC236}">
                  <a16:creationId xmlns:a16="http://schemas.microsoft.com/office/drawing/2014/main" id="{32A0F079-6455-3228-3165-19CF5EE981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82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k</a:t>
              </a:r>
              <a:r>
                <a:rPr lang="en-US" altLang="zh-CN" i="1" baseline="-25000"/>
                <a:t>y</a:t>
              </a:r>
              <a:endParaRPr lang="en-US" altLang="zh-CN" i="1"/>
            </a:p>
          </p:txBody>
        </p:sp>
        <p:sp>
          <p:nvSpPr>
            <p:cNvPr id="12" name="Text Box 49">
              <a:extLst>
                <a:ext uri="{FF2B5EF4-FFF2-40B4-BE49-F238E27FC236}">
                  <a16:creationId xmlns:a16="http://schemas.microsoft.com/office/drawing/2014/main" id="{7A9F5751-B65E-1257-3A43-0F662AA915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7" y="816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k</a:t>
              </a:r>
              <a:r>
                <a:rPr lang="en-US" altLang="zh-CN" i="1" baseline="-25000"/>
                <a:t>z</a:t>
              </a:r>
              <a:endParaRPr lang="en-US" altLang="zh-CN" i="1"/>
            </a:p>
          </p:txBody>
        </p:sp>
      </p:grpSp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A3F8205A-DB46-9BE0-CDEF-0F86D0205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789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紧束缚模型：结论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191872"/>
                <a:ext cx="6158948" cy="552423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孤立粒子</a:t>
                </a:r>
                <a:r>
                  <a:rPr lang="en-US" altLang="zh-CN" sz="2000" dirty="0"/>
                  <a:t>（</a:t>
                </a:r>
                <a:r>
                  <a:rPr lang="zh-CN" altLang="en-US" sz="2000" dirty="0"/>
                  <a:t>原子、离子、分子）形成固体时，其轨道能级将展宽为相应的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能带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其布洛赫波函数为各格点上原子轨道波函数的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线性组合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l-GR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l-GR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m:rPr>
                              <m:brk m:alnAt="7"/>
                            </m:r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l-GR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e>
                          </m:d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l-GR" altLang="zh-CN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000" b="1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只考虑单一轨道时，其本征能量为原子轨道能级加上各格点（一般只考虑最近邻）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跃迁积分修正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b="1" i="0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0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𝑁𝑁</m:t>
                          </m:r>
                        </m:sub>
                        <m:sup/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能带宽度决定于跃迁积分</a:t>
                </a:r>
                <a:r>
                  <a:rPr lang="zh-CN" altLang="en-US" sz="2000" dirty="0"/>
                  <a:t>，进而取决于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近邻原子波函数间的耦合</a:t>
                </a:r>
                <a:r>
                  <a:rPr lang="zh-CN" altLang="en-US" sz="2000" dirty="0"/>
                  <a:t>，耦合越强，形成的能带就越宽。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内层电子所形成的能带较窄，而外层电子所形成的能带较宽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0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191872"/>
                <a:ext cx="6158948" cy="5524237"/>
              </a:xfrm>
              <a:blipFill>
                <a:blip r:embed="rId2"/>
                <a:stretch>
                  <a:fillRect l="-891" t="-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151D1CFF-42F7-45B3-2C32-1BE5254EFB4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6"/>
          <a:stretch/>
        </p:blipFill>
        <p:spPr>
          <a:xfrm>
            <a:off x="6783663" y="1982798"/>
            <a:ext cx="5330274" cy="3056742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26736CC-2AE7-F5BA-E853-EFBFE8101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667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带隙的产生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6FEDEC-CCC6-95EE-375E-E0D73B0A3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173"/>
            <a:ext cx="10515599" cy="498517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若仅考虑单一轨道的展宽过程，是不存在带隙的；但是若考虑多个原子轨道：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）当能带宽度小于轨道能量差时，不同轨道耦合弱，</a:t>
            </a:r>
            <a:r>
              <a:rPr lang="zh-CN" altLang="en-US" sz="2000" dirty="0">
                <a:solidFill>
                  <a:srgbClr val="4472C4"/>
                </a:solidFill>
              </a:rPr>
              <a:t>带隙约为原子轨道能量差减去能带宽度之和</a:t>
            </a:r>
            <a:endParaRPr lang="en-US" altLang="zh-CN" sz="2000" dirty="0">
              <a:solidFill>
                <a:srgbClr val="4472C4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）当能带宽度大于轨道能量差时，不同轨道耦合强，会出现来自不同轨道之间的成键、反键态，此时</a:t>
            </a:r>
            <a:r>
              <a:rPr lang="zh-CN" altLang="en-US" sz="2000" dirty="0">
                <a:solidFill>
                  <a:srgbClr val="FF0000"/>
                </a:solidFill>
              </a:rPr>
              <a:t>带隙为成反键态之间的能量差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endParaRPr lang="zh-CN" altLang="en-US" sz="2000" dirty="0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E556419E-29C3-B74E-8933-ED676B9E4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656" y="3305044"/>
            <a:ext cx="7112688" cy="3258226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3B39314-9D72-7398-4FE6-076B4C80AC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9205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紧束缚近似和近自由电子近似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6FEDEC-CCC6-95EE-375E-E0D73B0A3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173"/>
            <a:ext cx="10515599" cy="498517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dirty="0"/>
              <a:t>NFE</a:t>
            </a:r>
            <a:r>
              <a:rPr lang="zh-CN" altLang="en-US" sz="2000" dirty="0"/>
              <a:t>和</a:t>
            </a:r>
            <a:r>
              <a:rPr lang="en-US" altLang="zh-CN" sz="2000" dirty="0"/>
              <a:t>TB</a:t>
            </a:r>
            <a:r>
              <a:rPr lang="zh-CN" altLang="en-US" sz="2000" dirty="0"/>
              <a:t>是两个非常不同的极限。</a:t>
            </a:r>
            <a:r>
              <a:rPr lang="en-US" altLang="zh-CN" sz="2000" dirty="0"/>
              <a:t>TB</a:t>
            </a:r>
            <a:r>
              <a:rPr lang="zh-CN" altLang="en-US" sz="2000" dirty="0"/>
              <a:t>假设电子和离子实间的相互作用非常强，电子多数时间绕离子实运动，只有较小的几率会跳到别的离子。</a:t>
            </a:r>
            <a:r>
              <a:rPr lang="en-US" altLang="zh-CN" sz="2000" dirty="0"/>
              <a:t>NFE</a:t>
            </a:r>
            <a:r>
              <a:rPr lang="zh-CN" altLang="en-US" sz="2000" dirty="0"/>
              <a:t>则相反，假设电子和离子实的作用非常弱，电子可以在空间上的运动几乎是自由的。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但这两个极限都得到一些共同的结论：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晶体里的电子是</a:t>
            </a:r>
            <a:r>
              <a:rPr lang="en-US" altLang="zh-CN" sz="2000" dirty="0"/>
              <a:t>Bloch</a:t>
            </a:r>
            <a:r>
              <a:rPr lang="zh-CN" altLang="en-US" sz="2000" dirty="0"/>
              <a:t>电子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电子能量呈现不连续，出现带隙</a:t>
            </a:r>
            <a:endParaRPr lang="en-US" altLang="zh-CN" sz="2000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能谱呈带状结构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从能量的角度看，如果电子只有原子内运动（孤立原子情况），电子的能量取分立的能级；若电子只有共有化运动（自由电子情况），电子的能量连续取值。由于晶体中电子的运动介于自由电子与孤立原子之间，既有共有化运动也有原子内运动，因此，电子的能量取值就表现为由能量的允带和禁带相间组成的能带结构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D9C960F-7841-65DB-FC8C-911656EEC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688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15FE2B9-AD39-4AB9-BB92-7866B643D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529" y="224762"/>
            <a:ext cx="5654951" cy="2816097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en-US" altLang="zh-CN" dirty="0"/>
              <a:t>*</a:t>
            </a:r>
            <a:r>
              <a:rPr lang="zh-CN" altLang="en-US" dirty="0"/>
              <a:t>例：石墨烯中的</a:t>
            </a:r>
            <a:r>
              <a:rPr lang="en-US" altLang="zh-CN" dirty="0"/>
              <a:t>sp</a:t>
            </a:r>
            <a:r>
              <a:rPr lang="en-US" altLang="zh-CN" baseline="30000" dirty="0"/>
              <a:t>2</a:t>
            </a:r>
            <a:r>
              <a:rPr lang="zh-CN" altLang="en-US" dirty="0"/>
              <a:t>能带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669798C7-C815-F721-2BCB-1F82206329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101009"/>
                <a:ext cx="10515600" cy="3313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石墨烯原胞中有两个碳原子（红蓝）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考虑到对称性，最近邻红蓝碳元素之间的重叠积分应该相等，令其等于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sz="2000" b="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非对角项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p>
                          </m:sSup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CN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b="1" i="1">
                                          <a:latin typeface="Cambria Math" panose="02040503050406030204" pitchFamily="18" charset="0"/>
                                        </a:rPr>
                                        <m:t>𝝉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CN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b="1" i="1">
                                          <a:latin typeface="Cambria Math" panose="02040503050406030204" pitchFamily="18" charset="0"/>
                                        </a:rPr>
                                        <m:t>𝝉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000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669798C7-C815-F721-2BCB-1F82206329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101009"/>
                <a:ext cx="10515600" cy="3313338"/>
              </a:xfrm>
              <a:blipFill>
                <a:blip r:embed="rId3"/>
                <a:stretch>
                  <a:fillRect l="-522" t="-16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82BB32E-20D1-58F7-ECEA-1540F400D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7932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en-US" altLang="zh-CN" dirty="0"/>
              <a:t>*</a:t>
            </a:r>
            <a:r>
              <a:rPr lang="zh-CN" altLang="en-US" dirty="0"/>
              <a:t>例：石墨烯中的</a:t>
            </a:r>
            <a:r>
              <a:rPr lang="en-US" altLang="zh-CN" dirty="0"/>
              <a:t>sp</a:t>
            </a:r>
            <a:r>
              <a:rPr lang="en-US" altLang="zh-CN" baseline="30000" dirty="0"/>
              <a:t>2</a:t>
            </a:r>
            <a:r>
              <a:rPr lang="zh-CN" altLang="en-US" dirty="0"/>
              <a:t>能带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669798C7-C815-F721-2BCB-1F82206329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18591"/>
                <a:ext cx="10515600" cy="509575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本征能量行列式为</m:t>
                    </m:r>
                  </m:oMath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sz="2000" b="1" i="1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  <m:r>
                                          <a:rPr lang="en-US" altLang="zh-CN" sz="2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∙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0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  <m:r>
                                      <a:rPr lang="en-US" altLang="zh-CN" sz="20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sz="2000" b="1" i="1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  <m:r>
                                          <a:rPr lang="en-US" altLang="zh-CN" sz="2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∙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0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sz="2000" b="1" i="1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  <m:r>
                                          <a:rPr lang="en-US" altLang="zh-CN" sz="2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∙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0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  <m:r>
                                      <a:rPr lang="en-US" altLang="zh-CN" sz="20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sz="2000" b="1" i="1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  <m:r>
                                          <a:rPr lang="en-US" altLang="zh-CN" sz="2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∙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0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000" dirty="0">
                    <a:latin typeface="Cambria Math" panose="02040503050406030204" pitchFamily="18" charset="0"/>
                  </a:rPr>
                  <a:t>解得</a:t>
                </a:r>
                <a:endParaRPr lang="en-US" altLang="zh-CN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669798C7-C815-F721-2BCB-1F82206329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18591"/>
                <a:ext cx="10515600" cy="5095756"/>
              </a:xfrm>
              <a:blipFill>
                <a:blip r:embed="rId2"/>
                <a:stretch>
                  <a:fillRect l="-638" t="-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5CFDFFAE-73B4-0055-4F4F-6DE5131C7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896" y="2687219"/>
            <a:ext cx="5344007" cy="4034256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A454B0B-1802-A5E2-25E5-B6C8F2C81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6486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4C7EE40-817B-5979-0329-6D25ED7D1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642937"/>
            <a:ext cx="9296400" cy="5572125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5ED6D10-27C1-C226-613B-15EF01493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860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7B2F0D0-BFC3-C883-F606-D7A07285F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565" y="0"/>
            <a:ext cx="8202870" cy="6858000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1423CE5-5FCC-B045-3300-2C311F740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75328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612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4059</TotalTime>
  <Words>3686</Words>
  <Application>Microsoft Office PowerPoint</Application>
  <PresentationFormat>宽屏</PresentationFormat>
  <Paragraphs>306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黑体</vt:lpstr>
      <vt:lpstr>微软雅黑</vt:lpstr>
      <vt:lpstr>Aptos</vt:lpstr>
      <vt:lpstr>Arial</vt:lpstr>
      <vt:lpstr>Calibri</vt:lpstr>
      <vt:lpstr>Cambria Math</vt:lpstr>
      <vt:lpstr>Symbol</vt:lpstr>
      <vt:lpstr>Times New Roman</vt:lpstr>
      <vt:lpstr>Office 2013 - 2022 主题</vt:lpstr>
      <vt:lpstr>固体物理（2班） Solid state physics</vt:lpstr>
      <vt:lpstr>回顾：近自由电子近似与带隙</vt:lpstr>
      <vt:lpstr>近自由电子近似的成功与局限性</vt:lpstr>
      <vt:lpstr>近自由电子近似的成功与局限性</vt:lpstr>
      <vt:lpstr>紧束缚模型</vt:lpstr>
      <vt:lpstr>紧束缚模型 (Tight-Binding Model)</vt:lpstr>
      <vt:lpstr>紧束缚模型：一维有限深势阱的耦合</vt:lpstr>
      <vt:lpstr>紧束缚模型：一维有限深势阱的耦合</vt:lpstr>
      <vt:lpstr>紧束缚模型：一维有限深势阱的耦合</vt:lpstr>
      <vt:lpstr>PowerPoint 演示文稿</vt:lpstr>
      <vt:lpstr>紧束缚模型：在晶体中的求解过程</vt:lpstr>
      <vt:lpstr>紧束缚模型：在晶体中的求解过程</vt:lpstr>
      <vt:lpstr>紧束缚模型：在晶体中的求解过程</vt:lpstr>
      <vt:lpstr>紧束缚模型：在晶体中的求解过程</vt:lpstr>
      <vt:lpstr>跃迁积分t_0，t(R_m )的物理意义</vt:lpstr>
      <vt:lpstr>最近邻(nearest-neighbor, NN)近似</vt:lpstr>
      <vt:lpstr>最近邻(nearest-neighbor, NN)近似</vt:lpstr>
      <vt:lpstr>PowerPoint 演示文稿</vt:lpstr>
      <vt:lpstr>跃迁积分的各向异性：p轨道</vt:lpstr>
      <vt:lpstr>作业：简单立方格子的p轨道能带</vt:lpstr>
      <vt:lpstr>紧束缚模型：结论</vt:lpstr>
      <vt:lpstr>带隙的产生</vt:lpstr>
      <vt:lpstr>紧束缚近似和近自由电子近似</vt:lpstr>
      <vt:lpstr>*例：石墨烯中的sp2能带</vt:lpstr>
      <vt:lpstr>*例：石墨烯中的sp2能带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 Wang</dc:creator>
  <cp:lastModifiedBy>Zhi Wang</cp:lastModifiedBy>
  <cp:revision>2</cp:revision>
  <dcterms:created xsi:type="dcterms:W3CDTF">2024-09-10T08:37:43Z</dcterms:created>
  <dcterms:modified xsi:type="dcterms:W3CDTF">2026-10-13T11:36:49Z</dcterms:modified>
</cp:coreProperties>
</file>