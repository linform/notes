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7" r:id="rId2"/>
    <p:sldId id="258" r:id="rId3"/>
    <p:sldId id="305" r:id="rId4"/>
    <p:sldId id="383" r:id="rId5"/>
    <p:sldId id="261" r:id="rId6"/>
    <p:sldId id="310" r:id="rId7"/>
    <p:sldId id="387" r:id="rId8"/>
    <p:sldId id="388" r:id="rId9"/>
    <p:sldId id="389" r:id="rId10"/>
    <p:sldId id="311" r:id="rId11"/>
    <p:sldId id="312" r:id="rId12"/>
    <p:sldId id="313" r:id="rId13"/>
    <p:sldId id="384" r:id="rId14"/>
    <p:sldId id="385" r:id="rId15"/>
    <p:sldId id="292" r:id="rId16"/>
    <p:sldId id="381" r:id="rId17"/>
    <p:sldId id="380" r:id="rId18"/>
    <p:sldId id="386" r:id="rId19"/>
    <p:sldId id="390" r:id="rId20"/>
    <p:sldId id="315" r:id="rId21"/>
    <p:sldId id="316" r:id="rId22"/>
    <p:sldId id="319" r:id="rId23"/>
    <p:sldId id="317" r:id="rId24"/>
    <p:sldId id="382" r:id="rId25"/>
    <p:sldId id="324" r:id="rId26"/>
    <p:sldId id="32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F0000"/>
    <a:srgbClr val="FFFF00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B8E3A6-4910-4676-AF3F-D7F37BAF0E18}" v="56" dt="2026-10-13T11:32:44.4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9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 Wang" userId="7588ea56f58b19c7" providerId="LiveId" clId="{96B72205-E234-467C-A3DC-8BF4882781A8}"/>
    <pc:docChg chg="addSld delSld modSld">
      <pc:chgData name="Zhi Wang" userId="7588ea56f58b19c7" providerId="LiveId" clId="{96B72205-E234-467C-A3DC-8BF4882781A8}" dt="2026-10-13T11:34:34.174" v="69" actId="47"/>
      <pc:docMkLst>
        <pc:docMk/>
      </pc:docMkLst>
      <pc:sldChg chg="modSp">
        <pc:chgData name="Zhi Wang" userId="7588ea56f58b19c7" providerId="LiveId" clId="{96B72205-E234-467C-A3DC-8BF4882781A8}" dt="2026-10-13T11:20:21.400" v="14"/>
        <pc:sldMkLst>
          <pc:docMk/>
          <pc:sldMk cId="3502179502" sldId="258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3502179502" sldId="258"/>
            <ac:graphicFrameMk id="5" creationId="{9110974F-0A37-CD55-3334-808C2166CEB6}"/>
          </ac:graphicFrameMkLst>
        </pc:graphicFrameChg>
      </pc:sldChg>
      <pc:sldChg chg="modSp mod">
        <pc:chgData name="Zhi Wang" userId="7588ea56f58b19c7" providerId="LiveId" clId="{96B72205-E234-467C-A3DC-8BF4882781A8}" dt="2026-10-13T11:20:21.400" v="14"/>
        <pc:sldMkLst>
          <pc:docMk/>
          <pc:sldMk cId="413324664" sldId="261"/>
        </pc:sldMkLst>
        <pc:spChg chg="mod">
          <ac:chgData name="Zhi Wang" userId="7588ea56f58b19c7" providerId="LiveId" clId="{96B72205-E234-467C-A3DC-8BF4882781A8}" dt="2026-10-11T14:45:36.308" v="13"/>
          <ac:spMkLst>
            <pc:docMk/>
            <pc:sldMk cId="413324664" sldId="261"/>
            <ac:spMk id="7" creationId="{B4C7A060-527E-89EA-B305-18CC6F0C6511}"/>
          </ac:spMkLst>
        </pc:spChg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413324664" sldId="261"/>
            <ac:graphicFrameMk id="3" creationId="{DC6F6A3C-29FE-BBEE-5BFC-B635A8BBFF94}"/>
          </ac:graphicFrameMkLst>
        </pc:graphicFrameChg>
      </pc:sldChg>
      <pc:sldChg chg="addSp add mod">
        <pc:chgData name="Zhi Wang" userId="7588ea56f58b19c7" providerId="LiveId" clId="{96B72205-E234-467C-A3DC-8BF4882781A8}" dt="2026-10-13T11:30:12.236" v="17" actId="22"/>
        <pc:sldMkLst>
          <pc:docMk/>
          <pc:sldMk cId="3765839446" sldId="292"/>
        </pc:sldMkLst>
        <pc:graphicFrameChg chg="add">
          <ac:chgData name="Zhi Wang" userId="7588ea56f58b19c7" providerId="LiveId" clId="{96B72205-E234-467C-A3DC-8BF4882781A8}" dt="2026-10-13T11:30:12.236" v="17" actId="22"/>
          <ac:graphicFrameMkLst>
            <pc:docMk/>
            <pc:sldMk cId="3765839446" sldId="292"/>
            <ac:graphicFrameMk id="4" creationId="{F01D2F34-6390-90E4-38D0-FC651D4A5025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3056436139" sldId="305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3056436139" sldId="305"/>
            <ac:graphicFrameMk id="9" creationId="{EEE78169-73AF-0E14-1C4C-C20B1C9CA2A7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3227900063" sldId="310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3227900063" sldId="310"/>
            <ac:graphicFrameMk id="14" creationId="{D05DE3BE-0425-701B-2BFC-37AB147E6090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3021356078" sldId="311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3021356078" sldId="311"/>
            <ac:graphicFrameMk id="14" creationId="{4CD4E9F2-F33E-ADA7-6D0D-0E7E4A8F1C3D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796525164" sldId="312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796525164" sldId="312"/>
            <ac:graphicFrameMk id="2" creationId="{11A3E02E-1CC0-1D95-2CE4-E2B52D5C9F4C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2673463924" sldId="313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2673463924" sldId="313"/>
            <ac:graphicFrameMk id="9" creationId="{F89CBE81-D525-438E-D86F-77F4415F738A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3614654772" sldId="315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3614654772" sldId="315"/>
            <ac:graphicFrameMk id="2" creationId="{C832C23F-2A2D-A0CE-6B0E-1F0C7D84264D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3757667589" sldId="316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3757667589" sldId="316"/>
            <ac:graphicFrameMk id="2" creationId="{5264CDB8-47EF-C565-D241-AA8C8F2AC149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2275491448" sldId="317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2275491448" sldId="317"/>
            <ac:graphicFrameMk id="5" creationId="{59840309-EC2C-6EF9-EE0D-5CBE02BE82F2}"/>
          </ac:graphicFrameMkLst>
        </pc:graphicFrameChg>
      </pc:sldChg>
      <pc:sldChg chg="modSp del">
        <pc:chgData name="Zhi Wang" userId="7588ea56f58b19c7" providerId="LiveId" clId="{96B72205-E234-467C-A3DC-8BF4882781A8}" dt="2026-10-13T11:29:23.946" v="15" actId="47"/>
        <pc:sldMkLst>
          <pc:docMk/>
          <pc:sldMk cId="1559836998" sldId="318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1559836998" sldId="318"/>
            <ac:graphicFrameMk id="2" creationId="{D79B1856-E3C0-1DD4-F4D6-C2593C4316FB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57800089" sldId="319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57800089" sldId="319"/>
            <ac:graphicFrameMk id="3" creationId="{A2799061-6DD5-DF4F-5C74-945EEAA07438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0" sldId="324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0" sldId="324"/>
            <ac:graphicFrameMk id="2" creationId="{292348F7-4F7E-5AF7-E297-12A08762B1DC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0" sldId="325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0" sldId="325"/>
            <ac:graphicFrameMk id="2" creationId="{96A3DAF6-2BD3-DD52-135D-9A4067A6ECF0}"/>
          </ac:graphicFrameMkLst>
        </pc:graphicFrameChg>
      </pc:sldChg>
      <pc:sldChg chg="modSp del">
        <pc:chgData name="Zhi Wang" userId="7588ea56f58b19c7" providerId="LiveId" clId="{96B72205-E234-467C-A3DC-8BF4882781A8}" dt="2026-10-13T11:34:34.174" v="69" actId="47"/>
        <pc:sldMkLst>
          <pc:docMk/>
          <pc:sldMk cId="2915563016" sldId="379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2915563016" sldId="379"/>
            <ac:graphicFrameMk id="3" creationId="{EE9D78AF-19EF-D5C2-0BC4-49D8D9D20388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3035970844" sldId="380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3035970844" sldId="380"/>
            <ac:graphicFrameMk id="3" creationId="{8962A1B8-498C-7882-7305-04341D0B3CEA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1609144971" sldId="381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1609144971" sldId="381"/>
            <ac:graphicFrameMk id="2" creationId="{A20ADF7C-BEF6-799E-762B-F7636C744B7A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446497222" sldId="382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446497222" sldId="382"/>
            <ac:graphicFrameMk id="3" creationId="{C2702E94-05CA-21E7-D03B-D91335460DC6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3168153385" sldId="383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3168153385" sldId="383"/>
            <ac:graphicFrameMk id="60" creationId="{5D50FF3A-762E-D6BA-3D6E-7170F85FE78F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4090484254" sldId="384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4090484254" sldId="384"/>
            <ac:graphicFrameMk id="16" creationId="{1C56C447-9ABD-822F-9DCB-332B77C1A10F}"/>
          </ac:graphicFrameMkLst>
        </pc:graphicFrameChg>
      </pc:sldChg>
      <pc:sldChg chg="modSp">
        <pc:chgData name="Zhi Wang" userId="7588ea56f58b19c7" providerId="LiveId" clId="{96B72205-E234-467C-A3DC-8BF4882781A8}" dt="2026-10-13T11:32:44.484" v="68" actId="12"/>
        <pc:sldMkLst>
          <pc:docMk/>
          <pc:sldMk cId="3423101369" sldId="385"/>
        </pc:sldMkLst>
        <pc:spChg chg="mod">
          <ac:chgData name="Zhi Wang" userId="7588ea56f58b19c7" providerId="LiveId" clId="{96B72205-E234-467C-A3DC-8BF4882781A8}" dt="2026-10-13T11:32:44.484" v="68" actId="12"/>
          <ac:spMkLst>
            <pc:docMk/>
            <pc:sldMk cId="3423101369" sldId="385"/>
            <ac:spMk id="3" creationId="{46583FAB-063B-C86C-33B8-BF4E1E596323}"/>
          </ac:spMkLst>
        </pc:spChg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3423101369" sldId="385"/>
            <ac:graphicFrameMk id="4" creationId="{1328962D-060E-FE5F-07CD-00DC87AD0D0F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1600233685" sldId="386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1600233685" sldId="386"/>
            <ac:graphicFrameMk id="7" creationId="{FB4FE580-FEF4-C8B9-FD44-F1FA86D1F902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3793900248" sldId="387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3793900248" sldId="387"/>
            <ac:graphicFrameMk id="5" creationId="{B261D4A0-8B18-FA9C-7116-19CEBF1D07D1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2401252022" sldId="388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2401252022" sldId="388"/>
            <ac:graphicFrameMk id="4" creationId="{F6784AC6-40FD-B6E3-7E46-371C4420B31D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3007036341" sldId="389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3007036341" sldId="389"/>
            <ac:graphicFrameMk id="4" creationId="{CF50262F-373D-251E-0D04-BEFBCD44E3BA}"/>
          </ac:graphicFrameMkLst>
        </pc:graphicFrameChg>
      </pc:sldChg>
      <pc:sldChg chg="modSp">
        <pc:chgData name="Zhi Wang" userId="7588ea56f58b19c7" providerId="LiveId" clId="{96B72205-E234-467C-A3DC-8BF4882781A8}" dt="2026-10-13T11:20:21.400" v="14"/>
        <pc:sldMkLst>
          <pc:docMk/>
          <pc:sldMk cId="1496713537" sldId="390"/>
        </pc:sldMkLst>
        <pc:graphicFrameChg chg="mod">
          <ac:chgData name="Zhi Wang" userId="7588ea56f58b19c7" providerId="LiveId" clId="{96B72205-E234-467C-A3DC-8BF4882781A8}" dt="2026-10-13T11:20:21.400" v="14"/>
          <ac:graphicFrameMkLst>
            <pc:docMk/>
            <pc:sldMk cId="1496713537" sldId="390"/>
            <ac:graphicFrameMk id="4" creationId="{83D6B875-5AA6-35AD-EE0D-E04524A1958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A8AB4-FF85-49A2-94B2-3E9D0526FCD7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AD85C-B42F-45E2-A64D-6FEB1CCFF0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640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2A6E1F-410B-44CA-9071-CB362EFAAA0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213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85C-B42F-45E2-A64D-6FEB1CCFF0C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51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85C-B42F-45E2-A64D-6FEB1CCFF0C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873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AD85C-B42F-45E2-A64D-6FEB1CCFF0C3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338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Shape 126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8" name="Shape 126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600"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Shape 127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5" name="Shape 127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600"/>
            </a:pPr>
            <a:endParaRPr dirty="0">
              <a:solidFill>
                <a:srgbClr val="FF26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D43B-6623-4C8E-9DDE-3FA393CF07EE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0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6E8C-8032-4675-9498-678EC2ACE61D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36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6422-6DDE-4273-A021-9A47926EFAB3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21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5D91D-8CB1-485A-BDD0-969800EDD639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87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8751-68A8-4FF8-AA51-6D877CA5A0D5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28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AED69-C7E2-46AA-B8E0-1545D8527884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975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934C9-D9A3-4988-911C-9D338F453690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611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9395-E1FC-4F01-A1CB-925D4E248EEC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86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89722-9FC2-4B18-8EA6-4A4F58A9D045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00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4C719-9ADB-4966-9BE6-9E9DF31A63BA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70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FB8E-48A6-4EA2-A3CB-DCCFBC8C32BF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69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itle Text"/>
          <p:cNvSpPr txBox="1">
            <a:spLocks noGrp="1"/>
          </p:cNvSpPr>
          <p:nvPr>
            <p:ph type="title"/>
          </p:nvPr>
        </p:nvSpPr>
        <p:spPr>
          <a:xfrm>
            <a:off x="95250" y="-8929"/>
            <a:ext cx="11953875" cy="616148"/>
          </a:xfrm>
          <a:prstGeom prst="rect">
            <a:avLst/>
          </a:prstGeom>
        </p:spPr>
        <p:txBody>
          <a:bodyPr/>
          <a:lstStyle>
            <a:lvl1pPr>
              <a:lnSpc>
                <a:spcPts val="4008"/>
              </a:lnSpc>
              <a:defRPr sz="3375">
                <a:solidFill>
                  <a:srgbClr val="BD252C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224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" y="1946672"/>
            <a:ext cx="11930063" cy="4018359"/>
          </a:xfrm>
          <a:prstGeom prst="rect">
            <a:avLst/>
          </a:prstGeom>
        </p:spPr>
        <p:txBody>
          <a:bodyPr/>
          <a:lstStyle>
            <a:lvl1pPr marL="573625" indent="-350391">
              <a:lnSpc>
                <a:spcPts val="2953"/>
              </a:lnSpc>
              <a:buFont typeface="Gill Sans"/>
              <a:tabLst>
                <a:tab pos="1026878" algn="l"/>
              </a:tabLst>
              <a:defRPr sz="2461">
                <a:latin typeface="+mn-lt"/>
                <a:ea typeface="+mn-ea"/>
                <a:cs typeface="+mn-cs"/>
                <a:sym typeface="Helvetica"/>
              </a:defRPr>
            </a:lvl1pPr>
            <a:lvl2pPr marL="895082" indent="-350391">
              <a:lnSpc>
                <a:spcPts val="2953"/>
              </a:lnSpc>
              <a:buFont typeface="Gill Sans"/>
              <a:tabLst>
                <a:tab pos="1348335" algn="l"/>
              </a:tabLst>
              <a:defRPr sz="2461">
                <a:latin typeface="+mn-lt"/>
                <a:ea typeface="+mn-ea"/>
                <a:cs typeface="+mn-cs"/>
                <a:sym typeface="Helvetica"/>
              </a:defRPr>
            </a:lvl2pPr>
            <a:lvl3pPr marL="1207610" indent="-350391">
              <a:lnSpc>
                <a:spcPts val="2953"/>
              </a:lnSpc>
              <a:buFont typeface="Gill Sans"/>
              <a:tabLst>
                <a:tab pos="1660863" algn="l"/>
              </a:tabLst>
              <a:defRPr sz="2461">
                <a:latin typeface="+mn-lt"/>
                <a:ea typeface="+mn-ea"/>
                <a:cs typeface="+mn-cs"/>
                <a:sym typeface="Helvetica"/>
              </a:defRPr>
            </a:lvl3pPr>
            <a:lvl4pPr marL="1520138" indent="-350391">
              <a:lnSpc>
                <a:spcPts val="2953"/>
              </a:lnSpc>
              <a:buFont typeface="Gill Sans"/>
              <a:tabLst>
                <a:tab pos="1973391" algn="l"/>
              </a:tabLst>
              <a:defRPr sz="2461">
                <a:latin typeface="+mn-lt"/>
                <a:ea typeface="+mn-ea"/>
                <a:cs typeface="+mn-cs"/>
                <a:sym typeface="Helvetica"/>
              </a:defRPr>
            </a:lvl4pPr>
            <a:lvl5pPr marL="1841595" indent="-350391">
              <a:lnSpc>
                <a:spcPts val="2953"/>
              </a:lnSpc>
              <a:buFont typeface="Gill Sans"/>
              <a:tabLst>
                <a:tab pos="2294848" algn="l"/>
              </a:tabLst>
              <a:defRPr sz="2461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386953" y="6518672"/>
            <a:ext cx="297656" cy="2411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18878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21B15-1A80-4654-880B-C9A3EA5C06D3}" type="datetime1">
              <a:rPr lang="en-US" smtClean="0"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28AEA-04F8-4985-BB48-C19B691D1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776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背景图案&#10;&#10;描述已自动生成">
            <a:extLst>
              <a:ext uri="{FF2B5EF4-FFF2-40B4-BE49-F238E27FC236}">
                <a16:creationId xmlns:a16="http://schemas.microsoft.com/office/drawing/2014/main" id="{40966F33-00AC-0962-30D1-0024E93CD2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834187" y="1500187"/>
            <a:ext cx="6858000" cy="38576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E9BF14C-4FC7-5CBF-3D37-DA31CA5A4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4887" y="864268"/>
            <a:ext cx="9001462" cy="1660594"/>
          </a:xfrm>
        </p:spPr>
        <p:txBody>
          <a:bodyPr/>
          <a:lstStyle/>
          <a:p>
            <a:pPr algn="l"/>
            <a:r>
              <a:rPr lang="zh-CN" altLang="en-US" b="1" dirty="0"/>
              <a:t>固体物理（</a:t>
            </a:r>
            <a:r>
              <a:rPr lang="en-US" altLang="zh-CN" b="1" dirty="0"/>
              <a:t>2</a:t>
            </a:r>
            <a:r>
              <a:rPr lang="zh-CN" altLang="en-US" b="1" dirty="0"/>
              <a:t>班）</a:t>
            </a:r>
            <a:br>
              <a:rPr lang="en-US" altLang="zh-CN" b="1" dirty="0"/>
            </a:br>
            <a:r>
              <a:rPr lang="en-US" altLang="zh-CN" sz="4400" b="1" dirty="0"/>
              <a:t>Solid state physics</a:t>
            </a:r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BC71C4-AAF9-252F-52C3-C8A1AD8C5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509" y="2850727"/>
            <a:ext cx="5767639" cy="2475854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/>
              <a:t>学院（系）     材料科学与光电技术学院</a:t>
            </a:r>
            <a:endParaRPr lang="en-US" altLang="zh-CN" b="1" dirty="0"/>
          </a:p>
          <a:p>
            <a:pPr algn="l"/>
            <a:r>
              <a:rPr lang="zh-CN" altLang="en-US" b="1" dirty="0"/>
              <a:t>授课教师         </a:t>
            </a:r>
            <a:r>
              <a:rPr lang="zh-CN" altLang="en-US" b="1" dirty="0">
                <a:solidFill>
                  <a:srgbClr val="FF0000"/>
                </a:solidFill>
              </a:rPr>
              <a:t>王峙</a:t>
            </a:r>
            <a:r>
              <a:rPr lang="zh-CN" altLang="en-US" b="1" dirty="0"/>
              <a:t>，魏大海</a:t>
            </a:r>
            <a:endParaRPr lang="en-US" altLang="zh-CN" b="1" dirty="0"/>
          </a:p>
          <a:p>
            <a:pPr algn="l"/>
            <a:r>
              <a:rPr lang="zh-CN" altLang="en-US" b="1" dirty="0"/>
              <a:t>                           中科院半导体所</a:t>
            </a:r>
            <a:endParaRPr lang="en-US" altLang="zh-CN" b="1" dirty="0"/>
          </a:p>
          <a:p>
            <a:pPr algn="l"/>
            <a:r>
              <a:rPr lang="en-US" altLang="zh-CN" b="1" dirty="0"/>
              <a:t>Email                 </a:t>
            </a:r>
            <a:r>
              <a:rPr lang="en-US" altLang="zh-CN" b="1" dirty="0">
                <a:solidFill>
                  <a:srgbClr val="FF0000"/>
                </a:solidFill>
              </a:rPr>
              <a:t>wangzhi@semi.ac.cn</a:t>
            </a:r>
          </a:p>
          <a:p>
            <a:pPr algn="l"/>
            <a:r>
              <a:rPr lang="en-US" altLang="zh-CN" b="1" dirty="0"/>
              <a:t>Tel                      010-82304043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FC7264-F22F-376E-05E6-028D55E09392}"/>
              </a:ext>
            </a:extLst>
          </p:cNvPr>
          <p:cNvSpPr txBox="1"/>
          <p:nvPr/>
        </p:nvSpPr>
        <p:spPr>
          <a:xfrm>
            <a:off x="9442175" y="6550223"/>
            <a:ext cx="279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Samuel Velasco/Quanta Magazine</a:t>
            </a:r>
            <a:endParaRPr lang="zh-CN" altLang="en-US" sz="1400" b="1" dirty="0"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" name="图片 8" descr="国科大">
            <a:extLst>
              <a:ext uri="{FF2B5EF4-FFF2-40B4-BE49-F238E27FC236}">
                <a16:creationId xmlns:a16="http://schemas.microsoft.com/office/drawing/2014/main" id="{8B5A9827-8F2B-56F1-10E5-A2DA9F8F4B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079" y="5634718"/>
            <a:ext cx="975361" cy="981731"/>
          </a:xfrm>
          <a:prstGeom prst="rect">
            <a:avLst/>
          </a:prstGeom>
        </p:spPr>
      </p:pic>
      <p:pic>
        <p:nvPicPr>
          <p:cNvPr id="11" name="图片 10" descr="半导体所">
            <a:extLst>
              <a:ext uri="{FF2B5EF4-FFF2-40B4-BE49-F238E27FC236}">
                <a16:creationId xmlns:a16="http://schemas.microsoft.com/office/drawing/2014/main" id="{53B3A381-6BB4-CE19-645E-ABF7269009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4940" y="5634717"/>
            <a:ext cx="1019895" cy="98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57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BF4241C-CCFB-CFDE-EA16-44C375CA33DD}"/>
              </a:ext>
            </a:extLst>
          </p:cNvPr>
          <p:cNvSpPr/>
          <p:nvPr/>
        </p:nvSpPr>
        <p:spPr>
          <a:xfrm>
            <a:off x="6344480" y="3235213"/>
            <a:ext cx="938970" cy="341189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65C829-BB8C-EE41-E9DE-4ED59E985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回顾：布洛赫定理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B6A334-7769-F44D-09EE-CB93F0463A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00462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周期性势场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（正格子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，倒格子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）</a:t>
                </a:r>
                <a:r>
                  <a:rPr lang="zh-CN" altLang="en-US" dirty="0"/>
                  <a:t>中的电子波函数是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调幅平面波</a:t>
                </a:r>
                <a:r>
                  <a:rPr lang="zh-CN" altLang="en-US" dirty="0"/>
                  <a:t>，称为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布洛赫波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sSup>
                        <m:sSup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altLang="zh-CN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调幅函数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altLang="zh-CN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  <m:r>
                            <a:rPr lang="en-US" altLang="zh-CN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altLang="zh-C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sSup>
                        <m:sSup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altLang="zh-CN" b="1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0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sub>
                          </m:sSub>
                          <m:r>
                            <a:rPr lang="en-US" altLang="zh-CN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𝐫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布洛赫波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altLang="zh-CN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kumimoji="0" lang="en-US" altLang="zh-CN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altLang="zh-CN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  <m:r>
                            <a:rPr lang="en-US" altLang="zh-CN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altLang="zh-CN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b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altLang="zh-CN" b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本征值</a:t>
                </a:r>
                <a:r>
                  <a:rPr lang="zh-CN" altLang="en-US" dirty="0"/>
                  <a:t>是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倒空间的周期函数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sub>
                          </m:sSub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B6A334-7769-F44D-09EE-CB93F0463A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00462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A136CA9E-A789-7F65-1449-DA938FF93EA1}"/>
              </a:ext>
            </a:extLst>
          </p:cNvPr>
          <p:cNvSpPr/>
          <p:nvPr/>
        </p:nvSpPr>
        <p:spPr>
          <a:xfrm>
            <a:off x="5294244" y="3235214"/>
            <a:ext cx="324678" cy="341188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990E00-2C60-1CD8-93A5-9B88357CC0BA}"/>
              </a:ext>
            </a:extLst>
          </p:cNvPr>
          <p:cNvSpPr/>
          <p:nvPr/>
        </p:nvSpPr>
        <p:spPr>
          <a:xfrm>
            <a:off x="4940300" y="3883025"/>
            <a:ext cx="476525" cy="196846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503048-EABB-3A62-92AD-149DB70398B5}"/>
              </a:ext>
            </a:extLst>
          </p:cNvPr>
          <p:cNvSpPr/>
          <p:nvPr/>
        </p:nvSpPr>
        <p:spPr>
          <a:xfrm>
            <a:off x="6359524" y="3883023"/>
            <a:ext cx="134041" cy="196847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0B5277-02FA-DE10-8D48-14A6B026F421}"/>
              </a:ext>
            </a:extLst>
          </p:cNvPr>
          <p:cNvSpPr/>
          <p:nvPr/>
        </p:nvSpPr>
        <p:spPr>
          <a:xfrm>
            <a:off x="4921250" y="4641850"/>
            <a:ext cx="339725" cy="311150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9B451D-7BD7-97E6-C78D-97F3792C385D}"/>
              </a:ext>
            </a:extLst>
          </p:cNvPr>
          <p:cNvSpPr/>
          <p:nvPr/>
        </p:nvSpPr>
        <p:spPr>
          <a:xfrm>
            <a:off x="6011519" y="4641850"/>
            <a:ext cx="938970" cy="311150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5E4387D-2921-B4D4-C744-09A7B4D5B1B8}"/>
              </a:ext>
            </a:extLst>
          </p:cNvPr>
          <p:cNvSpPr/>
          <p:nvPr/>
        </p:nvSpPr>
        <p:spPr>
          <a:xfrm>
            <a:off x="5305425" y="5243033"/>
            <a:ext cx="482600" cy="214791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3D63FE-5843-863D-02C4-08A514FBD5CA}"/>
              </a:ext>
            </a:extLst>
          </p:cNvPr>
          <p:cNvSpPr/>
          <p:nvPr/>
        </p:nvSpPr>
        <p:spPr>
          <a:xfrm>
            <a:off x="6766896" y="5243032"/>
            <a:ext cx="110153" cy="214791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607F319-A974-61F6-C50A-536067D8E4A3}"/>
              </a:ext>
            </a:extLst>
          </p:cNvPr>
          <p:cNvSpPr/>
          <p:nvPr/>
        </p:nvSpPr>
        <p:spPr>
          <a:xfrm>
            <a:off x="5632174" y="6143624"/>
            <a:ext cx="482600" cy="212725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EB829A9-1B1B-BA24-E73D-546FD7CEF215}"/>
              </a:ext>
            </a:extLst>
          </p:cNvPr>
          <p:cNvSpPr/>
          <p:nvPr/>
        </p:nvSpPr>
        <p:spPr>
          <a:xfrm>
            <a:off x="6683374" y="6143623"/>
            <a:ext cx="136525" cy="212725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110974F-0A37-CD55-3334-808C2166C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650214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217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C115B09F-EB93-0D68-B59D-B7957A929B16}"/>
              </a:ext>
            </a:extLst>
          </p:cNvPr>
          <p:cNvSpPr/>
          <p:nvPr/>
        </p:nvSpPr>
        <p:spPr>
          <a:xfrm>
            <a:off x="1802295" y="2895600"/>
            <a:ext cx="8620540" cy="214022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EA33823-E012-27E2-E6A2-D1D7328F8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4440"/>
          </a:xfrm>
        </p:spPr>
        <p:txBody>
          <a:bodyPr/>
          <a:lstStyle/>
          <a:p>
            <a:r>
              <a:rPr lang="zh-CN" altLang="en-US" dirty="0"/>
              <a:t>回顾：中心方程的求解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5E7DED6-D683-8BBB-FB30-1DF86B60FB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13791"/>
                <a:ext cx="10515600" cy="5707683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supHide m:val="on"/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b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p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ℏ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  <m:t>𝐤</m:t>
                                      </m:r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e>
                                        <m:sup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𝐆</m:t>
                                  </m:r>
                                  <m:sSup>
                                    <m:sSupPr>
                                      <m:ctrlPr>
                                        <a:rPr lang="en-US" altLang="zh-CN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𝐆</m:t>
                                      </m:r>
                                    </m:e>
                                    <m:sup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</a:rPr>
                                    <m:t>𝐆</m:t>
                                  </m:r>
                                  <m: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  <m:t>𝐆</m:t>
                                      </m:r>
                                    </m:e>
                                    <m:sup>
                                      <m: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b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b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写为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矩阵形式</a:t>
                </a:r>
                <a:r>
                  <a:rPr lang="zh-CN" altLang="en-US" dirty="0"/>
                  <a:t>（采用原子单位制，</a:t>
                </a:r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/>
                  <a:t>，并取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          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       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   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  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</a:rPr>
                                                <m:t>𝐤</m:t>
                                              </m:r>
                                              <m: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</a:rPr>
                                                <m:t>𝐆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  <m:t>−2</m:t>
                                          </m:r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</a:rPr>
                                                <m:t>𝐤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altLang="zh-CN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</a:rPr>
                                                <m:t>𝐤</m:t>
                                              </m:r>
                                              <m: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</a:rPr>
                                                <m:t>𝐆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          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       </m:t>
                                      </m:r>
                                    </m: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   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  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𝐤</m:t>
                                          </m:r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𝐤</m:t>
                                          </m:r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𝐤</m:t>
                                          </m:r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b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𝐤</m:t>
                                          </m:r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𝐤</m:t>
                                          </m:r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𝐤</m:t>
                                          </m:r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sub>
                    </m:sSub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为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</m:d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傅里叶展开中</m:t>
                    </m:r>
                    <m:r>
                      <a:rPr lang="en-US" altLang="zh-CN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𝐆</m:t>
                    </m:r>
                    <m:r>
                      <a:rPr lang="zh-CN" alt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项的系数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求解矩阵，得到展开系数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d>
                  </m:oMath>
                </a14:m>
                <a:r>
                  <a:rPr lang="zh-CN" altLang="en-US" dirty="0"/>
                  <a:t>，然后构建布洛赫波函数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altLang="zh-CN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</m:d>
                    <m:r>
                      <a:rPr lang="en-US" altLang="zh-CN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1">
                            <a:latin typeface="Cambria Math" panose="02040503050406030204" pitchFamily="18" charset="0"/>
                          </a:rPr>
                          <m:t>𝐆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𝐆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d>
                              <m:dPr>
                                <m:ctrlP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  <m:t>𝐤</m:t>
                                </m:r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zh-CN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𝐫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5E7DED6-D683-8BBB-FB30-1DF86B60FB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13791"/>
                <a:ext cx="10515600" cy="5707683"/>
              </a:xfrm>
              <a:blipFill>
                <a:blip r:embed="rId2"/>
                <a:stretch>
                  <a:fillRect l="-696" b="-93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EE78169-73AF-0E14-1C4C-C20B1C9CA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95844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6436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75A59C-99ED-5C0C-ACF7-0F392805B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回顾：一维空格子的色散关系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7153F75-0213-702C-FF79-BC32C401A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74" y="1564896"/>
            <a:ext cx="10959252" cy="372820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465B325-71AE-1733-3858-92DE381518E8}"/>
              </a:ext>
            </a:extLst>
          </p:cNvPr>
          <p:cNvSpPr txBox="1"/>
          <p:nvPr/>
        </p:nvSpPr>
        <p:spPr>
          <a:xfrm>
            <a:off x="1057082" y="519143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扩展布里渊区图像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EF0F49-FE2A-A5AC-2749-DEAA3AA0E03A}"/>
              </a:ext>
            </a:extLst>
          </p:cNvPr>
          <p:cNvSpPr txBox="1"/>
          <p:nvPr/>
        </p:nvSpPr>
        <p:spPr>
          <a:xfrm>
            <a:off x="5080337" y="519143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周期布里渊区图像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44605D-2BDD-BE6D-12A0-0619ADA55318}"/>
              </a:ext>
            </a:extLst>
          </p:cNvPr>
          <p:cNvSpPr txBox="1"/>
          <p:nvPr/>
        </p:nvSpPr>
        <p:spPr>
          <a:xfrm>
            <a:off x="8966537" y="518403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简约布里渊区图像</a:t>
            </a:r>
          </a:p>
        </p:txBody>
      </p:sp>
      <p:sp>
        <p:nvSpPr>
          <p:cNvPr id="12" name="箭头: 左右 11">
            <a:extLst>
              <a:ext uri="{FF2B5EF4-FFF2-40B4-BE49-F238E27FC236}">
                <a16:creationId xmlns:a16="http://schemas.microsoft.com/office/drawing/2014/main" id="{39D02438-EEF5-D34F-6BA2-2184422F254E}"/>
              </a:ext>
            </a:extLst>
          </p:cNvPr>
          <p:cNvSpPr/>
          <p:nvPr/>
        </p:nvSpPr>
        <p:spPr>
          <a:xfrm>
            <a:off x="7568459" y="3096757"/>
            <a:ext cx="936413" cy="555414"/>
          </a:xfrm>
          <a:prstGeom prst="left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088F61D-E21F-0168-C451-8AE0EBF9169B}"/>
              </a:ext>
            </a:extLst>
          </p:cNvPr>
          <p:cNvSpPr txBox="1"/>
          <p:nvPr/>
        </p:nvSpPr>
        <p:spPr>
          <a:xfrm>
            <a:off x="7713499" y="265995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等价</a:t>
            </a:r>
          </a:p>
        </p:txBody>
      </p:sp>
      <p:sp>
        <p:nvSpPr>
          <p:cNvPr id="14" name="箭头: 左右 13">
            <a:extLst>
              <a:ext uri="{FF2B5EF4-FFF2-40B4-BE49-F238E27FC236}">
                <a16:creationId xmlns:a16="http://schemas.microsoft.com/office/drawing/2014/main" id="{481F4092-8C30-97DA-C92E-3FFC699D3BEA}"/>
              </a:ext>
            </a:extLst>
          </p:cNvPr>
          <p:cNvSpPr/>
          <p:nvPr/>
        </p:nvSpPr>
        <p:spPr>
          <a:xfrm>
            <a:off x="3460285" y="3096757"/>
            <a:ext cx="936413" cy="555414"/>
          </a:xfrm>
          <a:prstGeom prst="left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386CD2-DF1C-79EB-C750-11AC70065C96}"/>
              </a:ext>
            </a:extLst>
          </p:cNvPr>
          <p:cNvSpPr txBox="1"/>
          <p:nvPr/>
        </p:nvSpPr>
        <p:spPr>
          <a:xfrm>
            <a:off x="3605325" y="265995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等价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1FBE1AC-A5FE-864D-DA69-3552858D25D4}"/>
              </a:ext>
            </a:extLst>
          </p:cNvPr>
          <p:cNvSpPr txBox="1"/>
          <p:nvPr/>
        </p:nvSpPr>
        <p:spPr>
          <a:xfrm>
            <a:off x="8036664" y="5721359"/>
            <a:ext cx="4023347" cy="442674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/>
              <a:t>能带折叠 </a:t>
            </a:r>
            <a:r>
              <a:rPr lang="en-US" altLang="zh-CN" sz="2000" dirty="0"/>
              <a:t>(band folding mechanism)</a:t>
            </a:r>
            <a:endParaRPr lang="zh-CN" altLang="en-US" sz="2000" dirty="0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B49CFFB-5EB8-B8BE-30DE-3BB28C274E40}"/>
              </a:ext>
            </a:extLst>
          </p:cNvPr>
          <p:cNvCxnSpPr/>
          <p:nvPr/>
        </p:nvCxnSpPr>
        <p:spPr>
          <a:xfrm>
            <a:off x="2331844" y="2263885"/>
            <a:ext cx="0" cy="2330229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F6CA4C40-607F-F200-E3E2-9076FA8B2675}"/>
              </a:ext>
            </a:extLst>
          </p:cNvPr>
          <p:cNvGrpSpPr/>
          <p:nvPr/>
        </p:nvGrpSpPr>
        <p:grpSpPr>
          <a:xfrm>
            <a:off x="6242886" y="2263885"/>
            <a:ext cx="102716" cy="2330229"/>
            <a:chOff x="6242886" y="2263885"/>
            <a:chExt cx="102716" cy="2330229"/>
          </a:xfrm>
        </p:grpSpPr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7006C50-8267-AA41-7C34-A2DDED664BA8}"/>
                </a:ext>
              </a:extLst>
            </p:cNvPr>
            <p:cNvCxnSpPr/>
            <p:nvPr/>
          </p:nvCxnSpPr>
          <p:spPr>
            <a:xfrm>
              <a:off x="6294244" y="2263885"/>
              <a:ext cx="0" cy="2330229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B6F7DF1E-272B-EEB6-75EB-691A352E5725}"/>
                </a:ext>
              </a:extLst>
            </p:cNvPr>
            <p:cNvSpPr/>
            <p:nvPr/>
          </p:nvSpPr>
          <p:spPr>
            <a:xfrm>
              <a:off x="6242886" y="4457854"/>
              <a:ext cx="102716" cy="10271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7A30E4AF-4817-C7BD-05C7-C4E363D4B26D}"/>
                </a:ext>
              </a:extLst>
            </p:cNvPr>
            <p:cNvSpPr/>
            <p:nvPr/>
          </p:nvSpPr>
          <p:spPr>
            <a:xfrm>
              <a:off x="6242886" y="4321594"/>
              <a:ext cx="102716" cy="10271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D1EEB83A-8BB1-2877-FD15-51BC4D503AA1}"/>
                </a:ext>
              </a:extLst>
            </p:cNvPr>
            <p:cNvSpPr/>
            <p:nvPr/>
          </p:nvSpPr>
          <p:spPr>
            <a:xfrm>
              <a:off x="6242886" y="3389180"/>
              <a:ext cx="102716" cy="10271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A60BEF98-4D5B-2AEC-89CA-04BEB1A39341}"/>
                </a:ext>
              </a:extLst>
            </p:cNvPr>
            <p:cNvSpPr/>
            <p:nvPr/>
          </p:nvSpPr>
          <p:spPr>
            <a:xfrm>
              <a:off x="6242886" y="2999866"/>
              <a:ext cx="102716" cy="10271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8CF27A03-D9EA-672C-CF2D-0BACECE8AD3C}"/>
              </a:ext>
            </a:extLst>
          </p:cNvPr>
          <p:cNvCxnSpPr/>
          <p:nvPr/>
        </p:nvCxnSpPr>
        <p:spPr>
          <a:xfrm>
            <a:off x="3101120" y="2263885"/>
            <a:ext cx="0" cy="2330229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48BC3A80-8FFE-9639-563A-1449F64669A0}"/>
              </a:ext>
            </a:extLst>
          </p:cNvPr>
          <p:cNvCxnSpPr/>
          <p:nvPr/>
        </p:nvCxnSpPr>
        <p:spPr>
          <a:xfrm>
            <a:off x="1530738" y="2263885"/>
            <a:ext cx="0" cy="2330229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1BA80C1F-8029-2CD5-D69B-B60397333774}"/>
              </a:ext>
            </a:extLst>
          </p:cNvPr>
          <p:cNvCxnSpPr/>
          <p:nvPr/>
        </p:nvCxnSpPr>
        <p:spPr>
          <a:xfrm>
            <a:off x="742234" y="2263885"/>
            <a:ext cx="0" cy="2330229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B6B1384D-69F2-A47C-9B0D-38BC92EF2452}"/>
                  </a:ext>
                </a:extLst>
              </p:cNvPr>
              <p:cNvSpPr txBox="1"/>
              <p:nvPr/>
            </p:nvSpPr>
            <p:spPr>
              <a:xfrm>
                <a:off x="2203502" y="1855517"/>
                <a:ext cx="8976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B6B1384D-69F2-A47C-9B0D-38BC92EF2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502" y="1855517"/>
                <a:ext cx="89761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组合 53">
            <a:extLst>
              <a:ext uri="{FF2B5EF4-FFF2-40B4-BE49-F238E27FC236}">
                <a16:creationId xmlns:a16="http://schemas.microsoft.com/office/drawing/2014/main" id="{0F797DA5-F78B-63EF-73BD-D84234814DBA}"/>
              </a:ext>
            </a:extLst>
          </p:cNvPr>
          <p:cNvGrpSpPr/>
          <p:nvPr/>
        </p:nvGrpSpPr>
        <p:grpSpPr>
          <a:xfrm>
            <a:off x="10205286" y="2253916"/>
            <a:ext cx="102716" cy="2330229"/>
            <a:chOff x="6242886" y="2263885"/>
            <a:chExt cx="102716" cy="2330229"/>
          </a:xfrm>
        </p:grpSpPr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047E182C-CFA5-CDD5-AF67-FB566E955F70}"/>
                </a:ext>
              </a:extLst>
            </p:cNvPr>
            <p:cNvCxnSpPr/>
            <p:nvPr/>
          </p:nvCxnSpPr>
          <p:spPr>
            <a:xfrm>
              <a:off x="6294244" y="2263885"/>
              <a:ext cx="0" cy="2330229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7D730B4D-2441-DD2A-794C-9CB8D4FA7E76}"/>
                </a:ext>
              </a:extLst>
            </p:cNvPr>
            <p:cNvSpPr/>
            <p:nvPr/>
          </p:nvSpPr>
          <p:spPr>
            <a:xfrm>
              <a:off x="6242886" y="4457854"/>
              <a:ext cx="102716" cy="10271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9CE3860B-04FE-3454-C562-3B366EA4F3CF}"/>
                </a:ext>
              </a:extLst>
            </p:cNvPr>
            <p:cNvSpPr/>
            <p:nvPr/>
          </p:nvSpPr>
          <p:spPr>
            <a:xfrm>
              <a:off x="6242886" y="4321594"/>
              <a:ext cx="102716" cy="10271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572346F8-3786-AD1C-21B1-8CC1ABB88285}"/>
                </a:ext>
              </a:extLst>
            </p:cNvPr>
            <p:cNvSpPr/>
            <p:nvPr/>
          </p:nvSpPr>
          <p:spPr>
            <a:xfrm>
              <a:off x="6242886" y="3389180"/>
              <a:ext cx="102716" cy="10271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865293DD-6DA8-7B04-6C25-3F26F0F15970}"/>
                </a:ext>
              </a:extLst>
            </p:cNvPr>
            <p:cNvSpPr/>
            <p:nvPr/>
          </p:nvSpPr>
          <p:spPr>
            <a:xfrm>
              <a:off x="6242886" y="2999866"/>
              <a:ext cx="102716" cy="10271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5D50FF3A-762E-D6BA-3D6E-7170F85FE7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965479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C457E80-F2C0-5AC3-7DAB-BEE61C00362F}"/>
                  </a:ext>
                </a:extLst>
              </p:cNvPr>
              <p:cNvSpPr txBox="1"/>
              <p:nvPr/>
            </p:nvSpPr>
            <p:spPr>
              <a:xfrm>
                <a:off x="3046520" y="5726208"/>
                <a:ext cx="6098958" cy="876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𝑛𝑘</m:t>
                          </m:r>
                        </m:sub>
                      </m:sSub>
                      <m:d>
                        <m:dPr>
                          <m:ctrlP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</m:d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C457E80-F2C0-5AC3-7DAB-BEE61C003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520" y="5726208"/>
                <a:ext cx="6098958" cy="8760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8153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94023-2813-CCE3-975A-DD9AC6D9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zh-CN" altLang="en-US" sz="5400" dirty="0"/>
              <a:t>第四章 能带理论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4C7A060-527E-89EA-B305-18CC6F0C6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zh-CN" altLang="en-US" dirty="0">
                <a:solidFill>
                  <a:schemeClr val="tx1"/>
                </a:solidFill>
              </a:rPr>
              <a:t>近自由电子近似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C6F6A3C-29FE-BBEE-5BFC-B635A8BBF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60820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24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6E82BEE-FDDF-8DD4-FBC4-882369D24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1188"/>
          </a:xfrm>
        </p:spPr>
        <p:txBody>
          <a:bodyPr/>
          <a:lstStyle/>
          <a:p>
            <a:r>
              <a:rPr lang="zh-CN" altLang="en-US" dirty="0"/>
              <a:t>近自由电子模型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9F4706E7-9602-557B-B5F1-CB017B2B29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76399"/>
                <a:ext cx="6130771" cy="496294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200" dirty="0"/>
                  <a:t>周期势场不为零但</a:t>
                </a:r>
                <a:r>
                  <a:rPr lang="zh-CN" altLang="en-US" sz="2200" dirty="0">
                    <a:solidFill>
                      <a:srgbClr val="FF0000"/>
                    </a:solidFill>
                  </a:rPr>
                  <a:t>很弱</a:t>
                </a:r>
                <a:r>
                  <a:rPr lang="zh-CN" altLang="en-US" sz="2200" dirty="0"/>
                  <a:t>，即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2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𝐫</m:t>
                        </m:r>
                      </m:e>
                    </m:d>
                    <m:r>
                      <a:rPr lang="en-US" altLang="zh-CN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≳0</m:t>
                    </m:r>
                  </m:oMath>
                </a14:m>
                <a:r>
                  <a:rPr lang="zh-CN" altLang="en-US" sz="2200" dirty="0"/>
                  <a:t>的情况，采用原子单位制</a:t>
                </a:r>
                <a:endParaRPr lang="en-US" altLang="zh-CN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2200" b="0" dirty="0">
                    <a:ea typeface="Cambria Math" panose="02040503050406030204" pitchFamily="18" charset="0"/>
                  </a:rPr>
                  <a:t>                          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2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𝐫</m:t>
                        </m:r>
                      </m:e>
                    </m:d>
                  </m:oMath>
                </a14:m>
                <a:endParaRPr lang="en-US" altLang="zh-CN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200" dirty="0"/>
                  <a:t>称为</a:t>
                </a:r>
                <a:r>
                  <a:rPr lang="zh-CN" altLang="en-US" sz="2200" dirty="0">
                    <a:solidFill>
                      <a:srgbClr val="FF0000"/>
                    </a:solidFill>
                  </a:rPr>
                  <a:t>近自由电子模型 </a:t>
                </a:r>
                <a:r>
                  <a:rPr lang="en-US" altLang="zh-CN" sz="2200" dirty="0">
                    <a:solidFill>
                      <a:srgbClr val="FF0000"/>
                    </a:solidFill>
                  </a:rPr>
                  <a:t>(nearly free electron)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200" dirty="0">
                    <a:solidFill>
                      <a:schemeClr val="tx1"/>
                    </a:solidFill>
                  </a:rPr>
                  <a:t>一维空格子模型的本征波函数和本征能量</a:t>
                </a:r>
                <a:endParaRPr lang="en-US" altLang="zh-CN" sz="22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2200" dirty="0"/>
                  <a:t>   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20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200" b="1" i="0" smtClean="0"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altLang="zh-CN" sz="2200" b="1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1" i="0" smtClean="0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200" b="1" i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1" i="0" smtClean="0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sub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2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𝐫</m:t>
                        </m:r>
                      </m:sup>
                    </m:sSup>
                    <m:r>
                      <a:rPr lang="en-US" altLang="zh-CN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</a:rPr>
                                  <m:t>𝐤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altLang="zh-CN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zh-CN" sz="2200" dirty="0"/>
                  <a:t>    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20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2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sSup>
                      <m:sSupPr>
                        <m:ctrlPr>
                          <a:rPr lang="en-US" altLang="zh-CN" sz="2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200" b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1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200" b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sub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200" b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1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200" b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sub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200" dirty="0"/>
                  <a:t>因为势场很弱，此时电子应该非常</a:t>
                </a:r>
                <a:r>
                  <a:rPr lang="en-US" altLang="zh-CN" sz="2200" dirty="0"/>
                  <a:t>“</a:t>
                </a:r>
                <a:r>
                  <a:rPr lang="zh-CN" altLang="en-US" sz="2200" dirty="0"/>
                  <a:t>类似</a:t>
                </a:r>
                <a:r>
                  <a:rPr lang="en-US" altLang="zh-CN" sz="2200" dirty="0"/>
                  <a:t>”</a:t>
                </a:r>
                <a:r>
                  <a:rPr lang="zh-CN" altLang="en-US" sz="2200" dirty="0"/>
                  <a:t>空格子中的电子，所以可以将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</a:rPr>
                                  <m:t>𝐤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zh-CN" altLang="en-US" sz="2200" dirty="0">
                    <a:solidFill>
                      <a:schemeClr val="tx1"/>
                    </a:solidFill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2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altLang="zh-C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2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sub>
                                <m:r>
                                  <a:rPr lang="en-US" altLang="zh-C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200" dirty="0">
                    <a:solidFill>
                      <a:schemeClr val="tx1"/>
                    </a:solidFill>
                  </a:rPr>
                  <a:t>作为</a:t>
                </a:r>
                <a:r>
                  <a:rPr lang="zh-CN" altLang="en-US" sz="2200" dirty="0">
                    <a:solidFill>
                      <a:srgbClr val="FF0000"/>
                    </a:solidFill>
                  </a:rPr>
                  <a:t>零级近似</a:t>
                </a:r>
                <a:r>
                  <a:rPr lang="zh-CN" altLang="en-US" sz="2200" dirty="0"/>
                  <a:t>，将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22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𝐫</m:t>
                        </m:r>
                      </m:e>
                    </m:d>
                  </m:oMath>
                </a14:m>
                <a:r>
                  <a:rPr lang="zh-CN" altLang="en-US" sz="2200" dirty="0"/>
                  <a:t>作为</a:t>
                </a:r>
                <a:r>
                  <a:rPr lang="zh-CN" altLang="en-US" sz="2200" dirty="0">
                    <a:solidFill>
                      <a:srgbClr val="FF0000"/>
                    </a:solidFill>
                  </a:rPr>
                  <a:t>微扰</a:t>
                </a:r>
                <a:r>
                  <a:rPr lang="zh-CN" altLang="en-US" sz="2200" dirty="0"/>
                  <a:t>，通过</a:t>
                </a:r>
                <a:r>
                  <a:rPr lang="zh-CN" altLang="en-US" sz="2200" dirty="0">
                    <a:solidFill>
                      <a:srgbClr val="FF0000"/>
                    </a:solidFill>
                  </a:rPr>
                  <a:t>微扰论 </a:t>
                </a:r>
                <a:r>
                  <a:rPr lang="en-US" altLang="zh-CN" sz="2200" dirty="0">
                    <a:solidFill>
                      <a:srgbClr val="FF0000"/>
                    </a:solidFill>
                  </a:rPr>
                  <a:t>(perturbation theory) </a:t>
                </a:r>
                <a:r>
                  <a:rPr lang="zh-CN" altLang="en-US" sz="2200" dirty="0"/>
                  <a:t>求解</a:t>
                </a:r>
                <a:endParaRPr lang="en-US" altLang="zh-CN" sz="220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9F4706E7-9602-557B-B5F1-CB017B2B29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76399"/>
                <a:ext cx="6130771" cy="4962940"/>
              </a:xfrm>
              <a:blipFill>
                <a:blip r:embed="rId3"/>
                <a:stretch>
                  <a:fillRect l="-1194" t="-1229" r="-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4391D21A-EC51-6127-5EB2-C3BD44ABEA78}"/>
              </a:ext>
            </a:extLst>
          </p:cNvPr>
          <p:cNvSpPr/>
          <p:nvPr/>
        </p:nvSpPr>
        <p:spPr>
          <a:xfrm>
            <a:off x="4770812" y="3690706"/>
            <a:ext cx="712870" cy="424078"/>
          </a:xfrm>
          <a:prstGeom prst="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6655BE-ABCE-A9FE-E701-AC35E4174045}"/>
              </a:ext>
            </a:extLst>
          </p:cNvPr>
          <p:cNvSpPr/>
          <p:nvPr/>
        </p:nvSpPr>
        <p:spPr>
          <a:xfrm>
            <a:off x="5184559" y="4252404"/>
            <a:ext cx="1225119" cy="392465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BA550EC-7AB5-6352-A018-79F3B76B9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5855" y="947530"/>
            <a:ext cx="4328214" cy="49629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9A23844-4453-DA0F-49E6-F0A99A83B12A}"/>
                  </a:ext>
                </a:extLst>
              </p:cNvPr>
              <p:cNvSpPr txBox="1"/>
              <p:nvPr/>
            </p:nvSpPr>
            <p:spPr>
              <a:xfrm>
                <a:off x="9922831" y="4574539"/>
                <a:ext cx="1016838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</m:e>
                      </m:d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9A23844-4453-DA0F-49E6-F0A99A83B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2831" y="4574539"/>
                <a:ext cx="1016838" cy="400110"/>
              </a:xfrm>
              <a:prstGeom prst="rect">
                <a:avLst/>
              </a:prstGeom>
              <a:blipFill>
                <a:blip r:embed="rId5"/>
                <a:stretch>
                  <a:fillRect l="-37126" t="-122727" r="-26347" b="-18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2CC3E80-36B0-548C-7D75-4ED9A231443C}"/>
                  </a:ext>
                </a:extLst>
              </p:cNvPr>
              <p:cNvSpPr txBox="1"/>
              <p:nvPr/>
            </p:nvSpPr>
            <p:spPr>
              <a:xfrm>
                <a:off x="9565956" y="4032595"/>
                <a:ext cx="2216861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"/>
                          <m:ctrlPr>
                            <a:rPr lang="en-US" altLang="zh-CN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CN" sz="2000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US" altLang="zh-CN" sz="20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𝐤</m:t>
                              </m:r>
                            </m:e>
                          </m:d>
                        </m:e>
                      </m:d>
                      <m:r>
                        <a:rPr lang="en-US" altLang="zh-CN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b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𝐆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2CC3E80-36B0-548C-7D75-4ED9A2314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5956" y="4032595"/>
                <a:ext cx="2216861" cy="400110"/>
              </a:xfrm>
              <a:prstGeom prst="rect">
                <a:avLst/>
              </a:prstGeom>
              <a:blipFill>
                <a:blip r:embed="rId6"/>
                <a:stretch>
                  <a:fillRect l="-16209" t="-124615" b="-18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B1D5868-5A61-EC55-AA57-5BCF04712F7E}"/>
                  </a:ext>
                </a:extLst>
              </p:cNvPr>
              <p:cNvSpPr txBox="1"/>
              <p:nvPr/>
            </p:nvSpPr>
            <p:spPr>
              <a:xfrm>
                <a:off x="8740074" y="6023740"/>
                <a:ext cx="1233248" cy="61273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B1D5868-5A61-EC55-AA57-5BCF04712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074" y="6023740"/>
                <a:ext cx="1233248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FE02B7FE-AFF4-C5CD-1496-A76E82D9CE4E}"/>
              </a:ext>
            </a:extLst>
          </p:cNvPr>
          <p:cNvSpPr txBox="1"/>
          <p:nvPr/>
        </p:nvSpPr>
        <p:spPr>
          <a:xfrm>
            <a:off x="5503646" y="3740137"/>
            <a:ext cx="133882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4472C4"/>
                </a:solidFill>
              </a:rPr>
              <a:t>狄拉克括号</a:t>
            </a:r>
            <a:endParaRPr lang="en-US" altLang="zh-CN" dirty="0">
              <a:solidFill>
                <a:srgbClr val="4472C4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B7569BF-E1F7-5707-8250-9167ED6C6053}"/>
              </a:ext>
            </a:extLst>
          </p:cNvPr>
          <p:cNvSpPr/>
          <p:nvPr/>
        </p:nvSpPr>
        <p:spPr>
          <a:xfrm>
            <a:off x="5334298" y="5468645"/>
            <a:ext cx="871193" cy="353885"/>
          </a:xfrm>
          <a:prstGeom prst="rect">
            <a:avLst/>
          </a:prstGeom>
          <a:solidFill>
            <a:srgbClr val="00B050">
              <a:alpha val="25098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BFC7B6B-5C7C-45C7-9F35-305EB606CBE3}"/>
                  </a:ext>
                </a:extLst>
              </p:cNvPr>
              <p:cNvSpPr txBox="1"/>
              <p:nvPr/>
            </p:nvSpPr>
            <p:spPr>
              <a:xfrm>
                <a:off x="9807104" y="3490651"/>
                <a:ext cx="1975713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"/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zh-CN" sz="20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e>
                          </m:d>
                        </m:e>
                      </m:d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𝐆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BFC7B6B-5C7C-45C7-9F35-305EB606C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7104" y="3490651"/>
                <a:ext cx="1975713" cy="400110"/>
              </a:xfrm>
              <a:prstGeom prst="rect">
                <a:avLst/>
              </a:prstGeom>
              <a:blipFill>
                <a:blip r:embed="rId8"/>
                <a:stretch>
                  <a:fillRect l="-16049" t="-124615" b="-18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BFB5B71-BE9F-A473-6163-CD941C867874}"/>
                  </a:ext>
                </a:extLst>
              </p:cNvPr>
              <p:cNvSpPr txBox="1"/>
              <p:nvPr/>
            </p:nvSpPr>
            <p:spPr>
              <a:xfrm>
                <a:off x="9689894" y="2062779"/>
                <a:ext cx="2251671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"/>
                          <m:ctrlPr>
                            <a:rPr lang="en-US" altLang="zh-CN" sz="200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CN" sz="200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0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00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e>
                          </m:d>
                        </m:e>
                      </m:d>
                      <m:r>
                        <a:rPr lang="en-US" altLang="zh-CN" sz="20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000" b="1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b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𝐆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accent4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000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000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BFB5B71-BE9F-A473-6163-CD941C867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9894" y="2062779"/>
                <a:ext cx="2251671" cy="400110"/>
              </a:xfrm>
              <a:prstGeom prst="rect">
                <a:avLst/>
              </a:prstGeom>
              <a:blipFill>
                <a:blip r:embed="rId9"/>
                <a:stretch>
                  <a:fillRect l="-15447" t="-122727" b="-18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CE476AD-BA25-075E-E2EA-1E54D696FA0E}"/>
                  </a:ext>
                </a:extLst>
              </p:cNvPr>
              <p:cNvSpPr txBox="1"/>
              <p:nvPr/>
            </p:nvSpPr>
            <p:spPr>
              <a:xfrm>
                <a:off x="6711518" y="2062779"/>
                <a:ext cx="2251671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"/>
                          <m:ctrlPr>
                            <a:rPr lang="en-US" altLang="zh-CN" sz="2000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CN" sz="2000" b="0" i="0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0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00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e>
                          </m:d>
                        </m:e>
                      </m:d>
                      <m:r>
                        <a:rPr lang="en-US" altLang="zh-CN" sz="2000" b="0" i="1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000" b="1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b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4472C4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solidFill>
                                        <a:srgbClr val="4472C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solidFill>
                                        <a:srgbClr val="4472C4"/>
                                      </a:solidFill>
                                      <a:latin typeface="Cambria Math" panose="02040503050406030204" pitchFamily="18" charset="0"/>
                                    </a:rPr>
                                    <m:t>𝐆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4472C4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000" i="1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000" dirty="0">
                  <a:solidFill>
                    <a:srgbClr val="4472C4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CE476AD-BA25-075E-E2EA-1E54D696F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518" y="2062779"/>
                <a:ext cx="2251671" cy="400110"/>
              </a:xfrm>
              <a:prstGeom prst="rect">
                <a:avLst/>
              </a:prstGeom>
              <a:blipFill>
                <a:blip r:embed="rId10"/>
                <a:stretch>
                  <a:fillRect l="-8130" t="-122727" b="-18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D05DE3BE-0425-701B-2BFC-37AB147E6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60820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7900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8F0EC7DF-A72C-C65D-12D8-61911294F68C}"/>
              </a:ext>
            </a:extLst>
          </p:cNvPr>
          <p:cNvSpPr/>
          <p:nvPr/>
        </p:nvSpPr>
        <p:spPr>
          <a:xfrm>
            <a:off x="3346882" y="3187083"/>
            <a:ext cx="5468644" cy="523783"/>
          </a:xfrm>
          <a:prstGeom prst="roundRect">
            <a:avLst/>
          </a:prstGeom>
          <a:solidFill>
            <a:srgbClr val="FFC0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3CF1B0-6968-DF2A-DF84-88710F27D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微扰论 </a:t>
            </a:r>
            <a:r>
              <a:rPr lang="en-US" altLang="zh-CN" dirty="0"/>
              <a:t>(Perturbation theory)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B9FB64-9105-BCCD-1A09-9884C1227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对于一个比较复杂的量子系统，直接求解它的哈密顿量本征值是困难的</a:t>
            </a:r>
            <a:endParaRPr lang="en-US" altLang="zh-CN" dirty="0"/>
          </a:p>
          <a:p>
            <a:r>
              <a:rPr lang="zh-CN" altLang="en-US" dirty="0"/>
              <a:t>可以尝试将它的哈密顿量写为</a:t>
            </a:r>
            <a:endParaRPr lang="en-US" altLang="zh-CN" dirty="0"/>
          </a:p>
          <a:p>
            <a:pPr marL="0" indent="0" algn="ctr">
              <a:buNone/>
            </a:pPr>
            <a:r>
              <a:rPr lang="en-US" dirty="0"/>
              <a:t>“</a:t>
            </a:r>
            <a:r>
              <a:rPr lang="zh-CN" altLang="en-US" dirty="0"/>
              <a:t>简单系统的哈密顿量</a:t>
            </a:r>
            <a:r>
              <a:rPr lang="en-US" dirty="0"/>
              <a:t>” </a:t>
            </a:r>
            <a:r>
              <a:rPr lang="en-US" altLang="zh-CN" dirty="0"/>
              <a:t>+ “</a:t>
            </a:r>
            <a:r>
              <a:rPr lang="zh-CN" altLang="en-US" dirty="0"/>
              <a:t>扰动项</a:t>
            </a:r>
            <a:r>
              <a:rPr lang="en-US" altLang="zh-CN" dirty="0"/>
              <a:t>”</a:t>
            </a:r>
          </a:p>
          <a:p>
            <a:pPr marL="0" indent="0" algn="just">
              <a:buNone/>
            </a:pPr>
            <a:r>
              <a:rPr lang="zh-CN" altLang="en-US" dirty="0"/>
              <a:t>的形式</a:t>
            </a:r>
            <a:endParaRPr lang="en-US" altLang="zh-CN" dirty="0"/>
          </a:p>
          <a:p>
            <a:pPr algn="just"/>
            <a:r>
              <a:rPr lang="zh-CN" altLang="en-US" dirty="0">
                <a:solidFill>
                  <a:srgbClr val="4472C4"/>
                </a:solidFill>
              </a:rPr>
              <a:t>简单系统的哈密顿量是可以求解的</a:t>
            </a:r>
            <a:endParaRPr lang="en-US" altLang="zh-CN" dirty="0">
              <a:solidFill>
                <a:srgbClr val="4472C4"/>
              </a:solidFill>
            </a:endParaRPr>
          </a:p>
          <a:p>
            <a:pPr algn="just"/>
            <a:r>
              <a:rPr lang="zh-CN" altLang="en-US" dirty="0">
                <a:solidFill>
                  <a:srgbClr val="FF0000"/>
                </a:solidFill>
              </a:rPr>
              <a:t>当扰动项足够弱时，</a:t>
            </a:r>
            <a:r>
              <a:rPr lang="zh-CN" altLang="en-US" dirty="0"/>
              <a:t>复杂量子系统的许多物理性质可以表达为简单系统的物理性质 </a:t>
            </a:r>
            <a:r>
              <a:rPr lang="en-US" altLang="zh-CN" dirty="0">
                <a:solidFill>
                  <a:srgbClr val="FF0000"/>
                </a:solidFill>
              </a:rPr>
              <a:t>+ </a:t>
            </a:r>
            <a:r>
              <a:rPr lang="zh-CN" altLang="en-US" dirty="0">
                <a:solidFill>
                  <a:srgbClr val="FF0000"/>
                </a:solidFill>
              </a:rPr>
              <a:t>一些修正</a:t>
            </a:r>
            <a:endParaRPr lang="en-US" altLang="zh-CN" dirty="0">
              <a:solidFill>
                <a:srgbClr val="FF0000"/>
              </a:solidFill>
            </a:endParaRPr>
          </a:p>
          <a:p>
            <a:pPr algn="just"/>
            <a:r>
              <a:rPr lang="zh-CN" altLang="en-US" dirty="0">
                <a:solidFill>
                  <a:srgbClr val="00B050"/>
                </a:solidFill>
              </a:rPr>
              <a:t>研究简单系统所得到的知识，可以用于研究复杂系统</a:t>
            </a:r>
            <a:endParaRPr lang="en-US" dirty="0">
              <a:solidFill>
                <a:srgbClr val="00B050"/>
              </a:solidFill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261D4A0-8B18-FA9C-7116-19CEBF1D0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3348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3900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B45577-16FA-5C15-CD7E-38B8938D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不含时微扰论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C2409B-CE29-946C-75EA-9664495F0F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设简单系统的哈密顿量为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已知的本征值为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本征波函数为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zh-CN" altLang="en-US" dirty="0"/>
                  <a:t>，即定态方程为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|"/>
                          <m:endChr m:val="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bSup>
                      <m:d>
                        <m:dPr>
                          <m:begChr m:val="|"/>
                          <m:endChr m:val="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=1,2,3,…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现在，给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加入一个小的扰动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dirty="0"/>
                  <a:t>，扰动下的哈密顿量为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则扰动下的哈密顿量的本征值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本征波函数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dirty="0"/>
                  <a:t>可写为一系列修正项的和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由于</a:t>
                </a:r>
                <a:r>
                  <a:rPr lang="en-US" altLang="zh-CN" dirty="0"/>
                  <a:t>V</a:t>
                </a:r>
                <a:r>
                  <a:rPr lang="zh-CN" altLang="en-US" dirty="0"/>
                  <a:t>很小，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和</m:t>
                    </m:r>
                    <m:d>
                      <m:dPr>
                        <m:begChr m:val="|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dirty="0"/>
                  <a:t>应该不会与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和</m:t>
                    </m:r>
                    <m:d>
                      <m:dPr>
                        <m:begChr m:val="|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zh-CN" altLang="en-US" dirty="0"/>
                  <a:t>相差太多，高阶项应该会很快地变小。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dirty="0"/>
                  <a:t>最通常的情况，能量取到二阶修正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dirty="0"/>
                  <a:t>，波函数取到一阶修正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C2409B-CE29-946C-75EA-9664495F0F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5266" b="-17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6784AC6-40FD-B6E3-7E46-371C4420B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3348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252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22E02-39EE-6A6C-BE68-C0F1DD71A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非简并条件下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E0687D5-C753-51F3-2610-5704C31E81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p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⟨"/>
                                          <m:endChr m:val="⟩"/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e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num>
                            <m:den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bSup>
                            </m:den>
                          </m:f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E0687D5-C753-51F3-2610-5704C31E81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F50262F-373D-251E-0D04-BEFBCD44E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33484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036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BB7569BF-E1F7-5707-8250-9167ED6C6053}"/>
              </a:ext>
            </a:extLst>
          </p:cNvPr>
          <p:cNvSpPr/>
          <p:nvPr/>
        </p:nvSpPr>
        <p:spPr>
          <a:xfrm>
            <a:off x="7750206" y="3506680"/>
            <a:ext cx="3675355" cy="852256"/>
          </a:xfrm>
          <a:prstGeom prst="rect">
            <a:avLst/>
          </a:prstGeom>
          <a:solidFill>
            <a:srgbClr val="4472C4">
              <a:alpha val="25098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E4FC5D-535E-2652-4945-27C78F46FAE8}"/>
              </a:ext>
            </a:extLst>
          </p:cNvPr>
          <p:cNvSpPr/>
          <p:nvPr/>
        </p:nvSpPr>
        <p:spPr>
          <a:xfrm>
            <a:off x="2698812" y="5273336"/>
            <a:ext cx="3036163" cy="976544"/>
          </a:xfrm>
          <a:prstGeom prst="rect">
            <a:avLst/>
          </a:prstGeom>
          <a:solidFill>
            <a:srgbClr val="FF0000">
              <a:alpha val="25098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9F4706E7-9602-557B-B5F1-CB017B2B29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740" y="1424609"/>
                <a:ext cx="5468644" cy="521473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zh-CN" altLang="en-US" sz="2000" dirty="0"/>
                  <a:t>将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2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𝐫</m:t>
                        </m:r>
                      </m:e>
                    </m:d>
                  </m:oMath>
                </a14:m>
                <a:r>
                  <a:rPr lang="zh-CN" altLang="en-US" sz="2000" dirty="0"/>
                  <a:t>在平面波基底上做傅里叶变换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𝐆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p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d>
                                <m:dPr>
                                  <m:ctrlP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000" b="1" i="0" smtClean="0">
                                      <a:latin typeface="Cambria Math" panose="02040503050406030204" pitchFamily="18" charset="0"/>
                                    </a:rPr>
                                    <m:t>𝐆</m:t>
                                  </m:r>
                                </m:e>
                              </m:d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𝐫</m:t>
                              </m:r>
                            </m:sup>
                          </m:sSup>
                        </m:e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d>
                                <m:dPr>
                                  <m:ctrlP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2000" b="1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b="1" i="0" smtClean="0">
                                          <a:latin typeface="Cambria Math" panose="02040503050406030204" pitchFamily="18" charset="0"/>
                                        </a:rPr>
                                        <m:t>𝐆</m:t>
                                      </m:r>
                                    </m:e>
                                    <m:sup>
                                      <m:r>
                                        <a:rPr lang="en-US" altLang="zh-CN" sz="2000" b="1" i="0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𝐫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𝐫</m:t>
                          </m:r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CN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𝐫</m:t>
                              </m:r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d>
                                <m:dPr>
                                  <m:ctrlP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  <m:t>𝐆</m:t>
                                  </m:r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000" b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b="1">
                                          <a:latin typeface="Cambria Math" panose="02040503050406030204" pitchFamily="18" charset="0"/>
                                        </a:rPr>
                                        <m:t>𝐆</m:t>
                                      </m:r>
                                    </m:e>
                                    <m:sup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𝐫</m:t>
                              </m:r>
                            </m:sup>
                          </m:sSup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zh-CN" altLang="en-US" sz="2000" dirty="0"/>
                  <a:t>本征能量的</a:t>
                </a:r>
                <a:r>
                  <a:rPr lang="zh-CN" altLang="en-US" sz="2000" b="1" dirty="0"/>
                  <a:t>非简并</a:t>
                </a:r>
                <a:r>
                  <a:rPr lang="zh-CN" altLang="en-US" sz="2000" dirty="0"/>
                  <a:t>微扰展开（到二阶）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1"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000" b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⟨"/>
                        <m:endChr m:val="⟩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000" b="1">
                                <a:latin typeface="Cambria Math" panose="02040503050406030204" pitchFamily="18" charset="0"/>
                              </a:rPr>
                              <m:t>𝐤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e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e>
                        <m:sSubSup>
                          <m:sSubSup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000" b="1">
                                <a:latin typeface="Cambria Math" panose="02040503050406030204" pitchFamily="18" charset="0"/>
                              </a:rPr>
                              <m:t>𝐤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altLang="zh-CN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en-US" altLang="zh-CN" sz="2000" b="0" dirty="0"/>
                  <a:t>                         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zh-CN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  <m:r>
                                              <a:rPr lang="en-US" altLang="zh-CN" sz="2000" b="1">
                                                <a:latin typeface="Cambria Math" panose="02040503050406030204" pitchFamily="18" charset="0"/>
                                              </a:rPr>
                                              <m:t>𝐤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p>
                                        </m:sSubSup>
                                      </m:e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e>
                                        <m:sSubSup>
                                          <m:sSubSupPr>
                                            <m:ctrlP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zh-CN" alt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000" b="1">
                                                <a:latin typeface="Cambria Math" panose="02040503050406030204" pitchFamily="18" charset="0"/>
                                              </a:rPr>
                                              <m:t>𝐤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2000" b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>
                                        <a:latin typeface="Cambria Math" panose="02040503050406030204" pitchFamily="18" charset="0"/>
                                      </a:rPr>
                                      <m:t>𝐤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>
                                            <a:latin typeface="Cambria Math" panose="02040503050406030204" pitchFamily="18" charset="0"/>
                                          </a:rPr>
                                          <m:t>𝐆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2000" b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>
                                        <a:latin typeface="Cambria Math" panose="02040503050406030204" pitchFamily="18" charset="0"/>
                                      </a:rPr>
                                      <m:t>𝐤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>
                                            <a:latin typeface="Cambria Math" panose="02040503050406030204" pitchFamily="18" charset="0"/>
                                          </a:rPr>
                                          <m:t>𝐆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  <m:t>𝐆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>
                                              <a:latin typeface="Cambria Math" panose="02040503050406030204" pitchFamily="18" charset="0"/>
                                            </a:rPr>
                                            <m:t>𝑚𝑛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000" b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>
                                          <a:latin typeface="Cambria Math" panose="02040503050406030204" pitchFamily="18" charset="0"/>
                                        </a:rPr>
                                        <m:t>𝐤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000" b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>
                                          <a:latin typeface="Cambria Math" panose="02040503050406030204" pitchFamily="18" charset="0"/>
                                        </a:rPr>
                                        <m:t>𝐤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9F4706E7-9602-557B-B5F1-CB017B2B29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740" y="1424609"/>
                <a:ext cx="5468644" cy="5214730"/>
              </a:xfrm>
              <a:blipFill>
                <a:blip r:embed="rId3"/>
                <a:stretch>
                  <a:fillRect l="-1003" t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A6E82BEE-FDDF-8DD4-FBC4-882369D24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1188"/>
          </a:xfrm>
        </p:spPr>
        <p:txBody>
          <a:bodyPr/>
          <a:lstStyle/>
          <a:p>
            <a:r>
              <a:rPr lang="zh-CN" altLang="en-US" dirty="0"/>
              <a:t>近自由电子模型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5">
                <a:extLst>
                  <a:ext uri="{FF2B5EF4-FFF2-40B4-BE49-F238E27FC236}">
                    <a16:creationId xmlns:a16="http://schemas.microsoft.com/office/drawing/2014/main" id="{A87BE349-4127-5023-5A0E-E78B6B6B68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61102" y="1424609"/>
                <a:ext cx="5649157" cy="52147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zh-CN" altLang="en-US" sz="2000" dirty="0"/>
                  <a:t>本征波函数的</a:t>
                </a:r>
                <a:r>
                  <a:rPr lang="zh-CN" altLang="en-US" sz="2000" b="1" dirty="0"/>
                  <a:t>非简并</a:t>
                </a:r>
                <a:r>
                  <a:rPr lang="zh-CN" altLang="en-US" sz="2000" dirty="0"/>
                  <a:t>微扰展开（到一阶）</a:t>
                </a: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0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𝐤</m:t>
                            </m:r>
                          </m:e>
                        </m:d>
                      </m:e>
                    </m:d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000" b="1">
                                    <a:latin typeface="Cambria Math" panose="02040503050406030204" pitchFamily="18" charset="0"/>
                                  </a:rPr>
                                  <m:t>𝐤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</m:e>
                        </m:d>
                      </m:e>
                    </m:d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altLang="zh-CN" sz="2000" b="1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en-US" altLang="zh-CN" sz="2000" dirty="0"/>
                  <a:t>               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⟨"/>
                                <m:endChr m:val="⟩"/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sz="2000" b="1">
                                        <a:latin typeface="Cambria Math" panose="02040503050406030204" pitchFamily="18" charset="0"/>
                                      </a:rPr>
                                      <m:t>𝐤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000" b="1">
                                        <a:latin typeface="Cambria Math" panose="02040503050406030204" pitchFamily="18" charset="0"/>
                                      </a:rPr>
                                      <m:t>𝐤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2000" b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>
                                        <a:latin typeface="Cambria Math" panose="02040503050406030204" pitchFamily="18" charset="0"/>
                                      </a:rPr>
                                      <m:t>𝐤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>
                                            <a:latin typeface="Cambria Math" panose="02040503050406030204" pitchFamily="18" charset="0"/>
                                          </a:rPr>
                                          <m:t>𝐆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2000" b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>
                                        <a:latin typeface="Cambria Math" panose="02040503050406030204" pitchFamily="18" charset="0"/>
                                      </a:rPr>
                                      <m:t>𝐤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>
                                            <a:latin typeface="Cambria Math" panose="02040503050406030204" pitchFamily="18" charset="0"/>
                                          </a:rPr>
                                          <m:t>𝐆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d>
                      <m:dPr>
                        <m:begChr m:val="|"/>
                        <m:endChr m:val="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000" b="1">
                                    <a:latin typeface="Cambria Math" panose="02040503050406030204" pitchFamily="18" charset="0"/>
                                  </a:rPr>
                                  <m:t>𝐤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</m:e>
                        </m:d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endParaRPr lang="en-US" altLang="zh-CN" sz="20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d>
                        <m:dPr>
                          <m:begChr m:val="|"/>
                          <m:endChr m:val="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𝑚𝑛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000" b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>
                                          <a:latin typeface="Cambria Math" panose="02040503050406030204" pitchFamily="18" charset="0"/>
                                        </a:rPr>
                                        <m:t>𝐤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000" b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>
                                          <a:latin typeface="Cambria Math" panose="02040503050406030204" pitchFamily="18" charset="0"/>
                                        </a:rPr>
                                        <m:t>𝐤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d>
                        <m:dPr>
                          <m:begChr m:val="|"/>
                          <m:endChr m:val="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</m:sub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内容占位符 5">
                <a:extLst>
                  <a:ext uri="{FF2B5EF4-FFF2-40B4-BE49-F238E27FC236}">
                    <a16:creationId xmlns:a16="http://schemas.microsoft.com/office/drawing/2014/main" id="{A87BE349-4127-5023-5A0E-E78B6B6B6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102" y="1424609"/>
                <a:ext cx="5649157" cy="5214730"/>
              </a:xfrm>
              <a:prstGeom prst="rect">
                <a:avLst/>
              </a:prstGeom>
              <a:blipFill>
                <a:blip r:embed="rId4"/>
                <a:stretch>
                  <a:fillRect l="-2592" t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A7E3807-33F6-7A1C-F716-19C58EBD3762}"/>
                  </a:ext>
                </a:extLst>
              </p:cNvPr>
              <p:cNvSpPr txBox="1"/>
              <p:nvPr/>
            </p:nvSpPr>
            <p:spPr>
              <a:xfrm>
                <a:off x="0" y="6134147"/>
                <a:ext cx="6807322" cy="899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其中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，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𝑚𝑛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𝐫</m:t>
                          </m:r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CN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𝐫</m:t>
                              </m:r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d>
                                <m:d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>
                                          <a:latin typeface="Cambria Math" panose="02040503050406030204" pitchFamily="18" charset="0"/>
                                        </a:rPr>
                                        <m:t>𝐆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b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1">
                                          <a:latin typeface="Cambria Math" panose="02040503050406030204" pitchFamily="18" charset="0"/>
                                        </a:rPr>
                                        <m:t>𝐆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𝐫</m:t>
                              </m:r>
                            </m:sup>
                          </m:sSup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A7E3807-33F6-7A1C-F716-19C58EBD3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34147"/>
                <a:ext cx="6807322" cy="8996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CD4E9F2-F33E-ADA7-6D0D-0E7E4A8F1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60820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1356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433884B-F8EE-9278-777E-147286BF12C0}"/>
              </a:ext>
            </a:extLst>
          </p:cNvPr>
          <p:cNvSpPr/>
          <p:nvPr/>
        </p:nvSpPr>
        <p:spPr>
          <a:xfrm>
            <a:off x="1305338" y="3994952"/>
            <a:ext cx="2822778" cy="381741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EE3D058-0ECB-9B17-F4F9-64381D4F5590}"/>
              </a:ext>
            </a:extLst>
          </p:cNvPr>
          <p:cNvSpPr/>
          <p:nvPr/>
        </p:nvSpPr>
        <p:spPr>
          <a:xfrm>
            <a:off x="1305339" y="3187082"/>
            <a:ext cx="2822778" cy="381741"/>
          </a:xfrm>
          <a:prstGeom prst="round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BA550EC-7AB5-6352-A018-79F3B76B9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855" y="947530"/>
            <a:ext cx="4328214" cy="49629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9F4706E7-9602-557B-B5F1-CB017B2B29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4609"/>
                <a:ext cx="6911009" cy="521473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200" dirty="0"/>
                  <a:t>本征能量的</a:t>
                </a:r>
                <a:r>
                  <a:rPr lang="zh-CN" altLang="en-US" sz="2200" b="1" dirty="0"/>
                  <a:t>非简并 </a:t>
                </a:r>
                <a:r>
                  <a:rPr lang="en-US" altLang="zh-CN" sz="2200" b="1" dirty="0"/>
                  <a:t>(non-degenerate) </a:t>
                </a:r>
                <a:r>
                  <a:rPr lang="zh-CN" altLang="en-US" sz="2200" dirty="0"/>
                  <a:t>二阶修正</a:t>
                </a:r>
                <a:endParaRPr lang="en-US" altLang="zh-CN" sz="22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supHide m:val="on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𝑚𝑛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CN" sz="2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200" b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200" b="1">
                                          <a:latin typeface="Cambria Math" panose="02040503050406030204" pitchFamily="18" charset="0"/>
                                        </a:rPr>
                                        <m:t>𝐤</m:t>
                                      </m:r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200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200" b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200" b="1">
                                          <a:latin typeface="Cambria Math" panose="02040503050406030204" pitchFamily="18" charset="0"/>
                                        </a:rPr>
                                        <m:t>𝐤</m:t>
                                      </m:r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200" b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1">
                                              <a:latin typeface="Cambria Math" panose="02040503050406030204" pitchFamily="18" charset="0"/>
                                            </a:rPr>
                                            <m:t>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200" dirty="0"/>
                  <a:t>求和可以分为两种情况：</a:t>
                </a:r>
                <a:endParaRPr lang="en-US" altLang="zh-CN" sz="2200" dirty="0"/>
              </a:p>
              <a:p>
                <a:pPr marL="457200" indent="-45720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200" b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1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200" b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altLang="zh-CN" sz="2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200" b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1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200" b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200" dirty="0"/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200" dirty="0"/>
                  <a:t>零阶能量不同（</a:t>
                </a:r>
                <a:r>
                  <a:rPr lang="zh-CN" altLang="en-US" sz="2200" dirty="0">
                    <a:solidFill>
                      <a:srgbClr val="0070C0"/>
                    </a:solidFill>
                  </a:rPr>
                  <a:t>非简并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），能量修正可以直接计算</a:t>
                </a:r>
                <a:endParaRPr lang="en-US" altLang="zh-CN" sz="2200" dirty="0">
                  <a:solidFill>
                    <a:schemeClr val="tx1"/>
                  </a:solidFill>
                </a:endParaRPr>
              </a:p>
              <a:p>
                <a:pPr marL="457200" indent="-45720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200" b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1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200" b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200" b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1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200" b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200" dirty="0"/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200" dirty="0">
                    <a:solidFill>
                      <a:srgbClr val="FF0000"/>
                    </a:solidFill>
                  </a:rPr>
                  <a:t>零阶能量相同（简并），</a:t>
                </a:r>
                <a:r>
                  <a:rPr lang="zh-CN" altLang="en-US" sz="2200" dirty="0"/>
                  <a:t>此时分母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200" dirty="0"/>
                  <a:t>，若分子</a:t>
                </a:r>
                <a:endParaRPr lang="en-US" altLang="zh-CN" sz="2200" dirty="0"/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200" dirty="0">
                  <a:solidFill>
                    <a:schemeClr val="tx1"/>
                  </a:solidFill>
                </a:endParaRP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200" dirty="0"/>
                  <a:t>则直接计算修正项</a:t>
                </a:r>
                <a:r>
                  <a:rPr lang="zh-CN" altLang="en-US" sz="2200" dirty="0">
                    <a:solidFill>
                      <a:srgbClr val="FF0000"/>
                    </a:solidFill>
                  </a:rPr>
                  <a:t>发散</a:t>
                </a:r>
                <a:r>
                  <a:rPr lang="zh-CN" altLang="en-US" sz="2200" dirty="0"/>
                  <a:t>！</a:t>
                </a:r>
                <a:endParaRPr lang="en-US" altLang="zh-CN" sz="2200" dirty="0"/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200" dirty="0"/>
                  <a:t>此时需要</a:t>
                </a:r>
                <a:r>
                  <a:rPr lang="zh-CN" altLang="en-US" sz="2200" b="1" dirty="0">
                    <a:solidFill>
                      <a:srgbClr val="FF0000"/>
                    </a:solidFill>
                  </a:rPr>
                  <a:t>简并 </a:t>
                </a:r>
                <a:r>
                  <a:rPr lang="en-US" altLang="zh-CN" sz="2200" b="1" dirty="0">
                    <a:solidFill>
                      <a:srgbClr val="FF0000"/>
                    </a:solidFill>
                  </a:rPr>
                  <a:t>(degenerate) </a:t>
                </a:r>
                <a:r>
                  <a:rPr lang="zh-CN" altLang="en-US" sz="2200" b="1" dirty="0">
                    <a:solidFill>
                      <a:srgbClr val="FF0000"/>
                    </a:solidFill>
                  </a:rPr>
                  <a:t>微扰论</a:t>
                </a:r>
                <a:endParaRPr lang="en-US" altLang="zh-CN" sz="2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9F4706E7-9602-557B-B5F1-CB017B2B29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4609"/>
                <a:ext cx="6911009" cy="5214730"/>
              </a:xfrm>
              <a:blipFill>
                <a:blip r:embed="rId3"/>
                <a:stretch>
                  <a:fillRect l="-1147" t="-12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A6E82BEE-FDDF-8DD4-FBC4-882369D24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1188"/>
          </a:xfrm>
        </p:spPr>
        <p:txBody>
          <a:bodyPr/>
          <a:lstStyle/>
          <a:p>
            <a:r>
              <a:rPr lang="zh-CN" altLang="en-US" dirty="0"/>
              <a:t>近自由电子模型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52C8EAD-DDCD-ADB5-2DA1-FEB9737F9134}"/>
              </a:ext>
            </a:extLst>
          </p:cNvPr>
          <p:cNvSpPr/>
          <p:nvPr/>
        </p:nvSpPr>
        <p:spPr>
          <a:xfrm>
            <a:off x="9790044" y="4704522"/>
            <a:ext cx="225287" cy="2252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7C6AD23-EAA2-F080-6F7D-EE87CB64D717}"/>
              </a:ext>
            </a:extLst>
          </p:cNvPr>
          <p:cNvSpPr/>
          <p:nvPr/>
        </p:nvSpPr>
        <p:spPr>
          <a:xfrm>
            <a:off x="8656983" y="4704521"/>
            <a:ext cx="225287" cy="2252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13B8A60-5D51-3FDE-39F4-9641EC2367E1}"/>
              </a:ext>
            </a:extLst>
          </p:cNvPr>
          <p:cNvSpPr/>
          <p:nvPr/>
        </p:nvSpPr>
        <p:spPr>
          <a:xfrm>
            <a:off x="9221423" y="4081670"/>
            <a:ext cx="225287" cy="2252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8C44839-D1B8-5221-7295-072B77B1365C}"/>
              </a:ext>
            </a:extLst>
          </p:cNvPr>
          <p:cNvSpPr/>
          <p:nvPr/>
        </p:nvSpPr>
        <p:spPr>
          <a:xfrm>
            <a:off x="9790044" y="3028122"/>
            <a:ext cx="225287" cy="2252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C70A847-DE2B-7BD2-C966-4E6C144AA4BA}"/>
              </a:ext>
            </a:extLst>
          </p:cNvPr>
          <p:cNvSpPr/>
          <p:nvPr/>
        </p:nvSpPr>
        <p:spPr>
          <a:xfrm>
            <a:off x="8656983" y="3028121"/>
            <a:ext cx="225287" cy="2252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D5EB5337-CD12-CEFC-5693-6B8FB6BECB68}"/>
              </a:ext>
            </a:extLst>
          </p:cNvPr>
          <p:cNvSpPr/>
          <p:nvPr/>
        </p:nvSpPr>
        <p:spPr>
          <a:xfrm>
            <a:off x="9219634" y="1567622"/>
            <a:ext cx="225287" cy="2252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1A3E02E-1CC0-1D95-2CE4-E2B52D5C9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60820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6525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3B6C234D-C886-69A7-BAE5-5494EE4C7DB4}"/>
              </a:ext>
            </a:extLst>
          </p:cNvPr>
          <p:cNvSpPr/>
          <p:nvPr/>
        </p:nvSpPr>
        <p:spPr>
          <a:xfrm>
            <a:off x="2618913" y="1792909"/>
            <a:ext cx="3000652" cy="1460499"/>
          </a:xfrm>
          <a:prstGeom prst="roundRect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9F4706E7-9602-557B-B5F1-CB017B2B29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424609"/>
                <a:ext cx="6566187" cy="521473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zh-CN" altLang="en-US" sz="2000" dirty="0"/>
                  <a:t>近自由电子模型中的能量简并条件：</a:t>
                </a:r>
                <a:endParaRPr lang="en-US" altLang="zh-CN" sz="2000" dirty="0"/>
              </a:p>
              <a:p>
                <a:pPr marL="0" indent="0" algn="ctr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en-US" altLang="zh-CN" sz="2000" dirty="0"/>
                  <a:t>1.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b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000" b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b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000" b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000" dirty="0"/>
              </a:p>
              <a:p>
                <a:pPr marL="0" indent="0" algn="ctr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zh-CN" altLang="en-US" sz="2000" dirty="0"/>
                  <a:t>且</a:t>
                </a:r>
                <a:endParaRPr lang="en-US" altLang="zh-CN" sz="2000" dirty="0"/>
              </a:p>
              <a:p>
                <a:pPr marL="0" indent="0" algn="ctr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en-US" altLang="zh-CN" sz="2000" dirty="0"/>
                  <a:t>2.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</a:rPr>
                                  <m:t>𝑚𝑛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endParaRPr lang="en-US" altLang="zh-CN" sz="2200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zh-CN" altLang="en-US" sz="2000" dirty="0"/>
                  <a:t>在一维条件下，得到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en-US" altLang="zh-CN" sz="2000" b="0" dirty="0"/>
                  <a:t>                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zh-CN" altLang="en-US" sz="2000" b="1" dirty="0"/>
                  <a:t>在</a:t>
                </a:r>
                <a:r>
                  <a:rPr lang="zh-CN" altLang="en-US" sz="2000" b="1" dirty="0">
                    <a:solidFill>
                      <a:srgbClr val="FF0000"/>
                    </a:solidFill>
                  </a:rPr>
                  <a:t>布里渊区中心</a:t>
                </a:r>
                <a:r>
                  <a:rPr lang="zh-CN" altLang="en-US" sz="2000" b="1" dirty="0"/>
                  <a:t>及</a:t>
                </a:r>
                <a:r>
                  <a:rPr lang="zh-CN" altLang="en-US" sz="2000" b="1" dirty="0">
                    <a:solidFill>
                      <a:srgbClr val="FF0000"/>
                    </a:solidFill>
                  </a:rPr>
                  <a:t>布里渊区边界上</a:t>
                </a:r>
                <a:r>
                  <a:rPr lang="zh-CN" altLang="en-US" sz="2000" b="1" dirty="0"/>
                  <a:t>发生简并</a:t>
                </a:r>
                <a:endParaRPr lang="en-US" altLang="zh-CN" sz="2000" b="1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9F4706E7-9602-557B-B5F1-CB017B2B29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24609"/>
                <a:ext cx="6566187" cy="5214730"/>
              </a:xfrm>
              <a:blipFill>
                <a:blip r:embed="rId2"/>
                <a:stretch>
                  <a:fillRect l="-928" t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A6E82BEE-FDDF-8DD4-FBC4-882369D24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1188"/>
          </a:xfrm>
        </p:spPr>
        <p:txBody>
          <a:bodyPr/>
          <a:lstStyle/>
          <a:p>
            <a:r>
              <a:rPr lang="zh-CN" altLang="en-US" dirty="0"/>
              <a:t>近自由电子模型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BA550EC-7AB5-6352-A018-79F3B76B9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855" y="947530"/>
            <a:ext cx="4328214" cy="4962940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452C8EAD-DDCD-ADB5-2DA1-FEB9737F9134}"/>
              </a:ext>
            </a:extLst>
          </p:cNvPr>
          <p:cNvSpPr/>
          <p:nvPr/>
        </p:nvSpPr>
        <p:spPr>
          <a:xfrm>
            <a:off x="9790044" y="4704522"/>
            <a:ext cx="225287" cy="2252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7C6AD23-EAA2-F080-6F7D-EE87CB64D717}"/>
              </a:ext>
            </a:extLst>
          </p:cNvPr>
          <p:cNvSpPr/>
          <p:nvPr/>
        </p:nvSpPr>
        <p:spPr>
          <a:xfrm>
            <a:off x="8656983" y="4704521"/>
            <a:ext cx="225287" cy="2252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13B8A60-5D51-3FDE-39F4-9641EC2367E1}"/>
              </a:ext>
            </a:extLst>
          </p:cNvPr>
          <p:cNvSpPr/>
          <p:nvPr/>
        </p:nvSpPr>
        <p:spPr>
          <a:xfrm>
            <a:off x="9221423" y="4081670"/>
            <a:ext cx="225287" cy="2252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8C44839-D1B8-5221-7295-072B77B1365C}"/>
              </a:ext>
            </a:extLst>
          </p:cNvPr>
          <p:cNvSpPr/>
          <p:nvPr/>
        </p:nvSpPr>
        <p:spPr>
          <a:xfrm>
            <a:off x="9790044" y="3028122"/>
            <a:ext cx="225287" cy="2252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C70A847-DE2B-7BD2-C966-4E6C144AA4BA}"/>
              </a:ext>
            </a:extLst>
          </p:cNvPr>
          <p:cNvSpPr/>
          <p:nvPr/>
        </p:nvSpPr>
        <p:spPr>
          <a:xfrm>
            <a:off x="8656983" y="3028121"/>
            <a:ext cx="225287" cy="2252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D5EB5337-CD12-CEFC-5693-6B8FB6BECB68}"/>
              </a:ext>
            </a:extLst>
          </p:cNvPr>
          <p:cNvSpPr/>
          <p:nvPr/>
        </p:nvSpPr>
        <p:spPr>
          <a:xfrm>
            <a:off x="9219634" y="1567622"/>
            <a:ext cx="225287" cy="2252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40F65D5-0F0E-BDA6-5800-6981B37F551C}"/>
                  </a:ext>
                </a:extLst>
              </p:cNvPr>
              <p:cNvSpPr txBox="1"/>
              <p:nvPr/>
            </p:nvSpPr>
            <p:spPr>
              <a:xfrm>
                <a:off x="1923686" y="4853313"/>
                <a:ext cx="4838823" cy="1868162"/>
              </a:xfrm>
              <a:prstGeom prst="roundRect">
                <a:avLst>
                  <a:gd name="adj" fmla="val 11272"/>
                </a:avLst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zh-CN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证明：</m:t>
                      </m:r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</a:rPr>
                                    <m:t>𝐆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</a:rPr>
                                    <m:t>𝐆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1"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∵</m:t>
                      </m:r>
                      <m:sSub>
                        <m:sSubPr>
                          <m:ctrlPr>
                            <a:rPr lang="en-US" altLang="zh-CN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altLang="zh-CN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US" altLang="zh-CN" b="1"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40F65D5-0F0E-BDA6-5800-6981B37F5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3686" y="4853313"/>
                <a:ext cx="4838823" cy="1868162"/>
              </a:xfrm>
              <a:prstGeom prst="roundRect">
                <a:avLst>
                  <a:gd name="adj" fmla="val 11272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89CBE81-D525-438E-D86F-77F4415F7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60820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3463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06A91-8BCC-C455-761D-A45B34271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8949D1C0-C310-0536-B203-DDDDD4F21B75}"/>
              </a:ext>
            </a:extLst>
          </p:cNvPr>
          <p:cNvSpPr/>
          <p:nvPr/>
        </p:nvSpPr>
        <p:spPr>
          <a:xfrm>
            <a:off x="3498051" y="5548504"/>
            <a:ext cx="5184310" cy="754602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9B622237-1DB9-799B-83C8-E87F9EA1DF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424609"/>
                <a:ext cx="10515600" cy="521473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由简并微扰论，忽略一阶项，本征能量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000" dirty="0"/>
                  <a:t>由下述行列式解得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CN" sz="2000" b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>
                                            <a:latin typeface="Cambria Math" panose="02040503050406030204" pitchFamily="18" charset="0"/>
                                          </a:rPr>
                                          <m:t>𝐤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000" b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b="1">
                                                <a:latin typeface="Cambria Math" panose="02040503050406030204" pitchFamily="18" charset="0"/>
                                              </a:rPr>
                                              <m:t>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  <m:e>
                                <m:sSup>
                                  <m:sSupPr>
                                    <m:ctrlPr>
                                      <a:rPr lang="en-US" altLang="zh-CN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CN" sz="2000" b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>
                                            <a:latin typeface="Cambria Math" panose="02040503050406030204" pitchFamily="18" charset="0"/>
                                          </a:rPr>
                                          <m:t>𝐤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000" b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b="1">
                                                <a:latin typeface="Cambria Math" panose="02040503050406030204" pitchFamily="18" charset="0"/>
                                              </a:rPr>
                                              <m:t>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000" b="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/>
                  <a:t>记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b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000" b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000" dirty="0"/>
                  <a:t>，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b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000" b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000" dirty="0"/>
                  <a:t>，求解有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zh-CN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b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  <m:sup>
                                      <m:r>
                                        <a:rPr lang="en-US" altLang="zh-CN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zh-CN" sz="2000" b="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>
                    <a:solidFill>
                      <a:srgbClr val="4472C4"/>
                    </a:solidFill>
                  </a:rPr>
                  <a:t>在非简并处，</a:t>
                </a:r>
                <a:r>
                  <a:rPr lang="en-US" altLang="zh-CN" sz="2000" dirty="0">
                    <a:solidFill>
                      <a:srgbClr val="4472C4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sz="2000" i="1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en-US" sz="20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0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  <m:r>
                          <a:rPr lang="en-US" altLang="zh-CN" sz="2000" i="1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zh-CN" altLang="en-US" sz="20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0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altLang="zh-CN" sz="20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e>
                    </m:d>
                    <m:r>
                      <a:rPr lang="en-US" altLang="zh-CN" sz="2000" i="1">
                        <a:solidFill>
                          <a:srgbClr val="4472C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i="1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000" b="0" i="1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sSubSup>
                        <m:sSubSup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den>
                      </m:f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，</m:t>
                      </m:r>
                      <m:sSub>
                        <m:sSubPr>
                          <m:ctrlP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dirty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sSubSup>
                        <m:sSubSup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sz="2000" dirty="0">
                    <a:solidFill>
                      <a:srgbClr val="4472C4"/>
                    </a:solidFill>
                  </a:rPr>
                  <a:t>退化为非简并微扰的结论</a:t>
                </a:r>
                <a:endParaRPr lang="en-US" altLang="zh-CN" sz="2000" dirty="0">
                  <a:solidFill>
                    <a:srgbClr val="4472C4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在简并处，有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</a:rPr>
                  <a:t>，</a:t>
                </a:r>
                <a:r>
                  <a:rPr lang="zh-CN" altLang="en-US" sz="2000" dirty="0"/>
                  <a:t>微扰后简并被破坏，新的本征能量为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zh-CN" sz="2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，</m:t>
                      </m:r>
                      <m:sSub>
                        <m:sSubPr>
                          <m:ctrlPr>
                            <a:rPr lang="zh-CN" altLang="en-US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altLang="zh-CN" sz="2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对应的带隙为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b="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en-US" altLang="zh-CN" sz="200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9B622237-1DB9-799B-83C8-E87F9EA1DF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24609"/>
                <a:ext cx="10515600" cy="5214730"/>
              </a:xfrm>
              <a:blipFill>
                <a:blip r:embed="rId2"/>
                <a:stretch>
                  <a:fillRect l="-580" t="-1053" b="-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5AF56BB4-8AE4-FA26-0413-896E004DC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1188"/>
          </a:xfrm>
        </p:spPr>
        <p:txBody>
          <a:bodyPr/>
          <a:lstStyle/>
          <a:p>
            <a:r>
              <a:rPr lang="zh-CN" altLang="en-US" dirty="0"/>
              <a:t>近自由电子模型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C355A67-9C73-2F40-4583-33D690455C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924" t="-34" r="35653" b="34"/>
          <a:stretch/>
        </p:blipFill>
        <p:spPr>
          <a:xfrm>
            <a:off x="9003750" y="1672797"/>
            <a:ext cx="2350049" cy="43511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3E10041-41F4-8BEC-EF73-A641397A6A77}"/>
                  </a:ext>
                </a:extLst>
              </p:cNvPr>
              <p:cNvSpPr txBox="1"/>
              <p:nvPr/>
            </p:nvSpPr>
            <p:spPr>
              <a:xfrm>
                <a:off x="8314482" y="4827065"/>
                <a:ext cx="88127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0,+</m:t>
                              </m:r>
                              <m:r>
                                <a:rPr lang="en-US" altLang="zh-CN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3E10041-41F4-8BEC-EF73-A641397A6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4482" y="4827065"/>
                <a:ext cx="881270" cy="4049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AC7EB4D-3471-E382-EDEE-D17C69513406}"/>
                  </a:ext>
                </a:extLst>
              </p:cNvPr>
              <p:cNvSpPr txBox="1"/>
              <p:nvPr/>
            </p:nvSpPr>
            <p:spPr>
              <a:xfrm>
                <a:off x="11110917" y="4838903"/>
                <a:ext cx="88127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0,−</m:t>
                              </m:r>
                              <m:r>
                                <a:rPr lang="en-US" altLang="zh-CN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AC7EB4D-3471-E382-EDEE-D17C69513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0917" y="4838903"/>
                <a:ext cx="881270" cy="4049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7DD257F-5272-861B-5839-F00F115CFDF0}"/>
                  </a:ext>
                </a:extLst>
              </p:cNvPr>
              <p:cNvSpPr txBox="1"/>
              <p:nvPr/>
            </p:nvSpPr>
            <p:spPr>
              <a:xfrm>
                <a:off x="10143263" y="3130196"/>
                <a:ext cx="88127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CN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,−</m:t>
                              </m:r>
                              <m:r>
                                <a:rPr lang="en-US" altLang="zh-CN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7DD257F-5272-861B-5839-F00F115CF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3263" y="3130196"/>
                <a:ext cx="881270" cy="404983"/>
              </a:xfrm>
              <a:prstGeom prst="rect">
                <a:avLst/>
              </a:prstGeom>
              <a:blipFill>
                <a:blip r:embed="rId6"/>
                <a:stretch>
                  <a:fillRect r="-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1C56C447-9ABD-822F-9DCB-332B77C1A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60820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048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9922A-BC55-280F-0ABB-4E056ED80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近自由电子模型求解带隙的步骤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6583FAB-063B-C86C-33B8-BF4E1E5963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zh-CN" altLang="en-US" sz="2400" dirty="0"/>
                  <a:t>将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sz="24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𝐫</m:t>
                        </m:r>
                      </m:e>
                    </m:d>
                  </m:oMath>
                </a14:m>
                <a:r>
                  <a:rPr lang="zh-CN" altLang="en-US" sz="2400" dirty="0"/>
                  <a:t>在平面波基底上做傅里叶变换，找出所有不为零的系数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𝑚𝑛</m:t>
                        </m:r>
                      </m:sub>
                    </m:sSub>
                  </m:oMath>
                </a14:m>
                <a:endParaRPr lang="en-US" sz="2400" baseline="-25000" dirty="0"/>
              </a:p>
              <a:p>
                <a:pPr marL="457200" indent="-45720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zh-CN" altLang="en-US" sz="2400" dirty="0"/>
                  <a:t>每一个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𝑚𝑛</m:t>
                        </m:r>
                      </m:sub>
                    </m:sSub>
                  </m:oMath>
                </a14:m>
                <a:r>
                  <a:rPr lang="zh-CN" altLang="en-US" sz="2400" dirty="0"/>
                  <a:t>对应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一个</m:t>
                    </m:r>
                    <m:sSub>
                      <m:sSubPr>
                        <m:ctrlPr>
                          <a:rPr lang="en-US" altLang="zh-CN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</a:rPr>
                  <a:t>和一组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sz="24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zh-CN" altLang="en-US" sz="24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在</m:t>
                    </m:r>
                    <m:r>
                      <a:rPr lang="zh-CN" alt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第一布里渊区内</m:t>
                    </m:r>
                    <m:r>
                      <a:rPr lang="zh-CN" altLang="en-US" sz="24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计算所有可能的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𝐆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𝐆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/>
                  <a:t>，这样的波矢</a:t>
                </a:r>
                <a14:m>
                  <m:oMath xmlns:m="http://schemas.openxmlformats.org/officeDocument/2006/math">
                    <m:r>
                      <a:rPr lang="en-US" altLang="zh-CN" sz="2400" b="1">
                        <a:latin typeface="Cambria Math" panose="02040503050406030204" pitchFamily="18" charset="0"/>
                      </a:rPr>
                      <m:t>𝐤</m:t>
                    </m:r>
                  </m:oMath>
                </a14:m>
                <a:r>
                  <a:rPr lang="zh-CN" altLang="en-US" sz="2400" dirty="0"/>
                  <a:t>就是带隙打开的位置</a:t>
                </a:r>
                <a:endParaRPr lang="en-US" altLang="zh-CN" sz="2400" dirty="0"/>
              </a:p>
              <a:p>
                <a:pPr marL="457200" indent="-45720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zh-CN" altLang="en-US" sz="2400" dirty="0"/>
                  <a:t>带隙在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i="0" dirty="0"/>
                      <m:t>布洛赫态</m:t>
                    </m:r>
                    <m:d>
                      <m:dPr>
                        <m:begChr m:val="|"/>
                        <m:endChr m:val="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1"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"/>
                        <m:ctrlPr>
                          <a:rPr lang="en-US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400" b="1"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400" dirty="0"/>
                  <a:t>之间打开，带隙大小为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𝑚𝑛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6583FAB-063B-C86C-33B8-BF4E1E5963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541" r="-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328962D-060E-FE5F-07CD-00DC87AD0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60820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3101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D6DEC-D442-9177-9975-2C187B7A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3125B0F-2EC8-D1E7-9AEE-AA4FA1EE05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6700" y="596900"/>
                <a:ext cx="11684000" cy="558006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zh-CN" altLang="en-US" sz="2000" b="1" dirty="0">
                    <a:solidFill>
                      <a:srgbClr val="0070C0"/>
                    </a:solidFill>
                    <a:highlight>
                      <a:srgbClr val="FFFF00"/>
                    </a:highlight>
                  </a:rPr>
                  <a:t>重要：</a:t>
                </a:r>
                <a:r>
                  <a:rPr lang="zh-CN" altLang="en-US" sz="2000" dirty="0">
                    <a:solidFill>
                      <a:srgbClr val="0070C0"/>
                    </a:solidFill>
                  </a:rPr>
                  <a:t>非对角元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0070C0"/>
                    </a:solidFill>
                  </a:rPr>
                  <a:t>有三种等价的记法：</a:t>
                </a:r>
                <a:r>
                  <a:rPr lang="en-US" altLang="zh-CN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0070C0"/>
                    </a:solidFill>
                  </a:rPr>
                  <a:t>，</a:t>
                </a:r>
                <a:r>
                  <a:rPr lang="en-US" altLang="zh-CN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𝐆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000" b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𝐆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solidFill>
                      <a:srgbClr val="0070C0"/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𝑚𝑛</m:t>
                        </m:r>
                      </m:sub>
                    </m:sSub>
                  </m:oMath>
                </a14:m>
                <a:endParaRPr lang="en-US" altLang="zh-CN" sz="2000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0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CN" sz="2000" b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𝐤</m:t>
                                        </m:r>
                                        <m:r>
                                          <a:rPr lang="en-US" altLang="zh-CN" sz="2000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000" b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b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0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e>
                                <m:r>
                                  <a:rPr lang="en-US" altLang="zh-CN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d>
                                  <m:dPr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𝐆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𝐆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𝐆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𝐆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sSup>
                                  <m:sSupPr>
                                    <m:ctrlPr>
                                      <a:rPr lang="en-US" altLang="zh-CN" sz="20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CN" sz="2000" b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𝐤</m:t>
                                        </m:r>
                                        <m:r>
                                          <a:rPr lang="en-US" altLang="zh-CN" sz="2000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000" b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000" b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0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0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000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zh-CN" altLang="en-US" sz="2000" dirty="0">
                    <a:solidFill>
                      <a:srgbClr val="0070C0"/>
                    </a:solidFill>
                  </a:rPr>
                  <a:t>非对角元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zh-CN" altLang="en-US" sz="2000" dirty="0">
                    <a:solidFill>
                      <a:srgbClr val="0070C0"/>
                    </a:solidFill>
                  </a:rPr>
                  <a:t>一定是中心方程中某</a:t>
                </a:r>
                <a:r>
                  <a:rPr lang="en-US" altLang="zh-CN" sz="2000" dirty="0">
                    <a:solidFill>
                      <a:srgbClr val="0070C0"/>
                    </a:solidFill>
                  </a:rPr>
                  <a:t>2x2</a:t>
                </a:r>
                <a:r>
                  <a:rPr lang="zh-CN" altLang="en-US" sz="2000" dirty="0">
                    <a:solidFill>
                      <a:srgbClr val="0070C0"/>
                    </a:solidFill>
                  </a:rPr>
                  <a:t>块的非对角元，所以应该有两个下标，分别标记发生简并微扰的两个态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altLang="zh-C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0070C0"/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altLang="zh-C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altLang="zh-CN" sz="2000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zh-CN" altLang="en-US" sz="2000" dirty="0">
                    <a:solidFill>
                      <a:srgbClr val="0070C0"/>
                    </a:solidFill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zh-CN" altLang="en-US" sz="2000" dirty="0">
                    <a:solidFill>
                      <a:srgbClr val="0070C0"/>
                    </a:solidFill>
                  </a:rPr>
                  <a:t>只有一个下标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sub>
                    </m:sSub>
                    <m:r>
                      <a:rPr lang="en-US" altLang="zh-CN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solidFill>
                      <a:srgbClr val="0070C0"/>
                    </a:solidFill>
                  </a:rPr>
                  <a:t>，那么这个下标指代的是</a:t>
                </a:r>
                <a14:m>
                  <m:oMath xmlns:m="http://schemas.openxmlformats.org/officeDocument/2006/math">
                    <m:r>
                      <a:rPr lang="en-US" altLang="zh-CN" sz="2000" b="1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altLang="zh-CN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0070C0"/>
                    </a:solidFill>
                  </a:rPr>
                  <a:t>。</a:t>
                </a:r>
                <a:endParaRPr lang="en-US" altLang="zh-CN" sz="2000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zh-CN" altLang="en-US" sz="2000" dirty="0">
                    <a:solidFill>
                      <a:srgbClr val="0070C0"/>
                    </a:solidFill>
                  </a:rPr>
                  <a:t>例如，非对角元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d>
                          <m:dPr>
                            <m:ctrlPr>
                              <a:rPr lang="zh-CN" altLang="zh-CN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  <m:r>
                              <a:rPr lang="en-US" altLang="zh-CN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sub>
                    </m:sSub>
                    <m:r>
                      <a:rPr lang="en-US" altLang="zh-CN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0070C0"/>
                    </a:solidFill>
                  </a:rPr>
                  <a:t>，意思是，所有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0070C0"/>
                    </a:solidFill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0070C0"/>
                    </a:solidFill>
                  </a:rPr>
                  <a:t>相差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</m:oMath>
                </a14:m>
                <a:r>
                  <a:rPr lang="zh-CN" altLang="en-US" sz="2000" dirty="0">
                    <a:solidFill>
                      <a:srgbClr val="0070C0"/>
                    </a:solidFill>
                  </a:rPr>
                  <a:t>的两个态，它们的非对角元都是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2000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zh-CN" altLang="en-US" sz="2000" dirty="0">
                    <a:solidFill>
                      <a:srgbClr val="0070C0"/>
                    </a:solidFill>
                  </a:rPr>
                  <a:t>这不是单独一个态，这样的态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altLang="zh-C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0070C0"/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altLang="zh-CN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0070C0"/>
                    </a:solidFill>
                  </a:rPr>
                  <a:t>有无穷多组</a:t>
                </a:r>
                <a:endParaRPr lang="en-US" altLang="zh-CN" sz="2000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3125B0F-2EC8-D1E7-9AEE-AA4FA1EE05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0" y="596900"/>
                <a:ext cx="11684000" cy="5580063"/>
              </a:xfrm>
              <a:blipFill>
                <a:blip r:embed="rId2"/>
                <a:stretch>
                  <a:fillRect l="-574" t="-984" r="-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01D2F34-6390-90E4-38D0-FC651D4A50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491740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5839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99ACFDB-CCBD-3FB7-E3E9-D2C713FB4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266" y="441850"/>
            <a:ext cx="3021330" cy="9711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8D978F7-069C-2521-FFCD-BA6245323058}"/>
                  </a:ext>
                </a:extLst>
              </p:cNvPr>
              <p:cNvSpPr txBox="1"/>
              <p:nvPr/>
            </p:nvSpPr>
            <p:spPr>
              <a:xfrm>
                <a:off x="7431596" y="270318"/>
                <a:ext cx="3535274" cy="13142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0,−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,0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≠0,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altLang="zh-CN" sz="18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0,+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,0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altLang="zh-CN" sz="18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𝑜𝑡ℎ𝑒𝑟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𝑚𝑛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18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8D978F7-069C-2521-FFCD-BA6245323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596" y="270318"/>
                <a:ext cx="3535274" cy="13142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DF47269F-A256-F625-F348-CB0FF5ABE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81" y="1550042"/>
            <a:ext cx="11180308" cy="5307958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20ADF7C-BEF6-799E-762B-F7636C744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60820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9144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469B3DC1-F983-03C9-D18C-E3D7116D8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258" y="376231"/>
            <a:ext cx="4445483" cy="87460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84D4590-E394-C210-AF5E-776397BC2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62" y="1968973"/>
            <a:ext cx="10175890" cy="48592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04C86EB-60B1-F64B-746B-AA04B821E2F2}"/>
                  </a:ext>
                </a:extLst>
              </p:cNvPr>
              <p:cNvSpPr txBox="1"/>
              <p:nvPr/>
            </p:nvSpPr>
            <p:spPr>
              <a:xfrm>
                <a:off x="8318741" y="349042"/>
                <a:ext cx="3348540" cy="1307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,0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,0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18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𝑜𝑡ℎ𝑒𝑟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𝑚𝑛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18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04C86EB-60B1-F64B-746B-AA04B821E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8741" y="349042"/>
                <a:ext cx="3348540" cy="13072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962A1B8-498C-7882-7305-04341D0B3C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60820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5970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88EAB-3898-046E-2794-D6EDFE686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55A7758-5894-A664-CECD-657CBE035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998" y="424373"/>
            <a:ext cx="3856003" cy="107968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1C30D3E-C2B2-A3D4-1FAB-D209277E8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27" y="1623628"/>
            <a:ext cx="10764350" cy="52343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265F74C-EF57-3F1A-0180-9090FA3C5A5C}"/>
                  </a:ext>
                </a:extLst>
              </p:cNvPr>
              <p:cNvSpPr txBox="1"/>
              <p:nvPr/>
            </p:nvSpPr>
            <p:spPr>
              <a:xfrm>
                <a:off x="8103351" y="618359"/>
                <a:ext cx="3482008" cy="841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 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𝑤ℎ𝑒𝑛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18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f>
                        <m:fPr>
                          <m:ctrlPr>
                            <a:rPr lang="zh-CN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8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265F74C-EF57-3F1A-0180-9090FA3C5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3351" y="618359"/>
                <a:ext cx="3482008" cy="8417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B4FE580-FEF4-C8B9-FD44-F1FA86D1F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60820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0233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526EFA-2832-C395-5560-9FB7C0C8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A678146-C564-D14F-DA8C-23D1738975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zh-CN" altLang="zh-CN" dirty="0"/>
                  <a:t>晶格常数为</a:t>
                </a:r>
                <a:r>
                  <a:rPr lang="en-US" altLang="zh-CN" i="1" dirty="0"/>
                  <a:t>a</a:t>
                </a:r>
                <a:r>
                  <a:rPr lang="zh-CN" altLang="zh-CN" dirty="0"/>
                  <a:t>的二维正方晶格，其晶格势场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=−2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zh-CN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den>
                                  </m:f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zh-CN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都</a:t>
                </a:r>
                <a:r>
                  <a:rPr lang="zh-CN" altLang="zh-CN" dirty="0"/>
                  <a:t>已知。</a:t>
                </a: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）找出中心方程中所有的非零非对角元（位置，大小）</a:t>
                </a: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（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）根据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近自由电子近似，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电子能带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(i)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为何打开带隙？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(ii)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在何处打开带隙（写出波矢坐标与布洛赫态序号）？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(iii)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带隙大小是多少？</a:t>
                </a:r>
                <a:endParaRPr lang="zh-CN" altLang="zh-CN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A678146-C564-D14F-DA8C-23D1738975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3D6B875-5AA6-35AD-EE0D-E04524A19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96919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713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2C29696F-9E03-7831-780F-331C2338E2A1}"/>
              </a:ext>
            </a:extLst>
          </p:cNvPr>
          <p:cNvSpPr/>
          <p:nvPr/>
        </p:nvSpPr>
        <p:spPr>
          <a:xfrm>
            <a:off x="2775549" y="3024809"/>
            <a:ext cx="3893511" cy="808382"/>
          </a:xfrm>
          <a:prstGeom prst="round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472C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9F4706E7-9602-557B-B5F1-CB017B2B29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424609"/>
                <a:ext cx="6566187" cy="521473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zh-CN" altLang="en-US" sz="2000" b="0" dirty="0"/>
                  <a:t>来看波函数的微扰修正</a:t>
                </a:r>
                <a:endParaRPr lang="en-US" altLang="zh-CN" sz="2000" b="0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000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𝐤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000" b="1">
                                    <a:latin typeface="Cambria Math" panose="02040503050406030204" pitchFamily="18" charset="0"/>
                                  </a:rPr>
                                  <m:t>𝐤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</m:e>
                        </m:d>
                      </m:e>
                    </m:d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𝑚𝑛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2000" b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>
                                        <a:latin typeface="Cambria Math" panose="02040503050406030204" pitchFamily="18" charset="0"/>
                                      </a:rPr>
                                      <m:t>𝐤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>
                                            <a:latin typeface="Cambria Math" panose="02040503050406030204" pitchFamily="18" charset="0"/>
                                          </a:rPr>
                                          <m:t>𝐆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2000" b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>
                                        <a:latin typeface="Cambria Math" panose="02040503050406030204" pitchFamily="18" charset="0"/>
                                      </a:rPr>
                                      <m:t>𝐤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>
                                            <a:latin typeface="Cambria Math" panose="02040503050406030204" pitchFamily="18" charset="0"/>
                                          </a:rPr>
                                          <m:t>𝐆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d>
                      <m:dPr>
                        <m:begChr m:val="|"/>
                        <m:endChr m:val="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000" b="1">
                                    <a:latin typeface="Cambria Math" panose="02040503050406030204" pitchFamily="18" charset="0"/>
                                  </a:rPr>
                                  <m:t>𝐤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endParaRPr lang="en-US" altLang="zh-CN" sz="2000" b="0" dirty="0"/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en-US" altLang="zh-CN" sz="2000" b="1" dirty="0"/>
                  <a:t>           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altLang="zh-CN" sz="2000" b="1" i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0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000" b="1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0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0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𝐫</m:t>
                        </m:r>
                      </m:sup>
                    </m:sSup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</m:den>
                        </m:f>
                      </m:e>
                    </m:nary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altLang="zh-CN" sz="2000" b="1" i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0">
                                <a:latin typeface="Cambria Math" panose="02040503050406030204" pitchFamily="18" charset="0"/>
                              </a:rPr>
                              <m:t>𝐤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000" b="1" i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0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0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𝐫</m:t>
                        </m:r>
                      </m:sup>
                    </m:sSup>
                  </m:oMath>
                </a14:m>
                <a:endParaRPr lang="en-US" altLang="zh-CN" sz="2000" b="0" dirty="0"/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en-US" altLang="zh-CN" sz="2000" dirty="0"/>
                  <a:t>               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1" i="0"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US" altLang="zh-CN" sz="20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0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𝐫</m:t>
                        </m:r>
                      </m:sup>
                    </m:sSup>
                    <m:r>
                      <a:rPr lang="en-US" altLang="zh-CN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altLang="zh-CN" sz="2000" b="1" i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0">
                                <a:latin typeface="Cambria Math" panose="02040503050406030204" pitchFamily="18" charset="0"/>
                              </a:rPr>
                              <m:t>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0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𝐫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num>
                              <m:den>
                                <m:sSubSup>
                                  <m:sSubSup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2000" i="1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</m:den>
                            </m:f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d>
                                  <m:dPr>
                                    <m:ctrlPr>
                                      <a:rPr lang="en-US" altLang="zh-CN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000" b="1" i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0">
                                            <a:latin typeface="Cambria Math" panose="02040503050406030204" pitchFamily="18" charset="0"/>
                                          </a:rPr>
                                          <m:t>𝐆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1" i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0">
                                            <a:latin typeface="Cambria Math" panose="02040503050406030204" pitchFamily="18" charset="0"/>
                                          </a:rPr>
                                          <m:t>𝐆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altLang="zh-CN" sz="2000" b="1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𝐫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altLang="zh-CN" sz="2000" b="0" dirty="0"/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en-US" altLang="zh-CN" sz="2000" dirty="0"/>
                  <a:t>               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1" i="0"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US" altLang="zh-CN" sz="20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0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𝐫</m:t>
                        </m:r>
                      </m:sup>
                    </m:sSup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1" i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</m:oMath>
                </a14:m>
                <a:endParaRPr lang="en-US" altLang="zh-CN" sz="2000" b="0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endParaRPr lang="en-US" altLang="zh-CN" sz="2000" b="0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endParaRPr lang="en-US" altLang="zh-CN" sz="2000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endParaRPr lang="en-US" altLang="zh-CN" sz="200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9F4706E7-9602-557B-B5F1-CB017B2B29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24609"/>
                <a:ext cx="6566187" cy="5214730"/>
              </a:xfrm>
              <a:blipFill>
                <a:blip r:embed="rId3"/>
                <a:stretch>
                  <a:fillRect l="-742" t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>
            <a:extLst>
              <a:ext uri="{FF2B5EF4-FFF2-40B4-BE49-F238E27FC236}">
                <a16:creationId xmlns:a16="http://schemas.microsoft.com/office/drawing/2014/main" id="{A6E82BEE-FDDF-8DD4-FBC4-882369D24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1188"/>
          </a:xfrm>
        </p:spPr>
        <p:txBody>
          <a:bodyPr/>
          <a:lstStyle/>
          <a:p>
            <a:r>
              <a:rPr lang="zh-CN" altLang="en-US" dirty="0"/>
              <a:t>近自由电子模型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E308E31-DBA9-4DA9-3BE9-C9321CA5BC21}"/>
              </a:ext>
            </a:extLst>
          </p:cNvPr>
          <p:cNvCxnSpPr>
            <a:cxnSpLocks/>
          </p:cNvCxnSpPr>
          <p:nvPr/>
        </p:nvCxnSpPr>
        <p:spPr>
          <a:xfrm flipV="1">
            <a:off x="3627680" y="3796747"/>
            <a:ext cx="0" cy="7354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6EE8609-1EBF-EBF8-A8BF-06245C70BE09}"/>
                  </a:ext>
                </a:extLst>
              </p:cNvPr>
              <p:cNvSpPr txBox="1"/>
              <p:nvPr/>
            </p:nvSpPr>
            <p:spPr>
              <a:xfrm>
                <a:off x="2449772" y="4548089"/>
                <a:ext cx="2567947" cy="669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波矢为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的平面波</a:t>
                </a:r>
                <a:endParaRPr lang="en-US" altLang="zh-CN" dirty="0"/>
              </a:p>
              <a:p>
                <a:r>
                  <a:rPr lang="zh-CN" altLang="en-US" dirty="0"/>
                  <a:t>入射到晶格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6EE8609-1EBF-EBF8-A8BF-06245C70B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772" y="4548089"/>
                <a:ext cx="2567947" cy="669992"/>
              </a:xfrm>
              <a:prstGeom prst="rect">
                <a:avLst/>
              </a:prstGeom>
              <a:blipFill>
                <a:blip r:embed="rId4"/>
                <a:stretch>
                  <a:fillRect l="-2138" t="-7273"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C92919F-3CC2-D901-F7E5-93C0F8EE2F11}"/>
              </a:ext>
            </a:extLst>
          </p:cNvPr>
          <p:cNvCxnSpPr>
            <a:cxnSpLocks/>
          </p:cNvCxnSpPr>
          <p:nvPr/>
        </p:nvCxnSpPr>
        <p:spPr>
          <a:xfrm flipV="1">
            <a:off x="5370347" y="3833191"/>
            <a:ext cx="0" cy="7354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3D226502-62F7-3439-2A41-84FFC89859BA}"/>
              </a:ext>
            </a:extLst>
          </p:cNvPr>
          <p:cNvSpPr/>
          <p:nvPr/>
        </p:nvSpPr>
        <p:spPr>
          <a:xfrm>
            <a:off x="3442155" y="3024809"/>
            <a:ext cx="371051" cy="73549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4161B3B-F594-FF94-55B6-3F328E4BE27F}"/>
              </a:ext>
            </a:extLst>
          </p:cNvPr>
          <p:cNvSpPr/>
          <p:nvPr/>
        </p:nvSpPr>
        <p:spPr>
          <a:xfrm>
            <a:off x="3915899" y="3061252"/>
            <a:ext cx="2763100" cy="73549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0BF43AF-320D-446C-7081-61BA93B7AC32}"/>
              </a:ext>
            </a:extLst>
          </p:cNvPr>
          <p:cNvSpPr txBox="1"/>
          <p:nvPr/>
        </p:nvSpPr>
        <p:spPr>
          <a:xfrm>
            <a:off x="4970878" y="4548089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平面波被各种倒格矢</a:t>
            </a:r>
            <a:endParaRPr lang="en-US" altLang="zh-CN" dirty="0"/>
          </a:p>
          <a:p>
            <a:r>
              <a:rPr lang="zh-CN" altLang="en-US" dirty="0"/>
              <a:t>散射之后的样子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0A93FD4-74B9-3A48-012D-76AADEA8C90F}"/>
                  </a:ext>
                </a:extLst>
              </p:cNvPr>
              <p:cNvSpPr txBox="1"/>
              <p:nvPr/>
            </p:nvSpPr>
            <p:spPr>
              <a:xfrm>
                <a:off x="905581" y="5571240"/>
                <a:ext cx="7350652" cy="97719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sz="1800" b="0" i="0" dirty="0">
                    <a:solidFill>
                      <a:srgbClr val="000000"/>
                    </a:solidFill>
                    <a:effectLst/>
                    <a:latin typeface="FandolHei-Regular-Identity-H"/>
                  </a:rPr>
                  <a:t>微扰波函数图景：由原子排布形成的不同倒格矢所产生的散射波的相位各不相同，</a:t>
                </a:r>
                <a:r>
                  <a:rPr lang="zh-CN" altLang="en-US" sz="1800" b="0" i="0" dirty="0">
                    <a:solidFill>
                      <a:srgbClr val="FF0000"/>
                    </a:solidFill>
                    <a:effectLst/>
                    <a:latin typeface="FandolHei-Regular-Identity-H"/>
                  </a:rPr>
                  <a:t>一般情况下会彼此相消（第二项为零）</a:t>
                </a:r>
                <a:r>
                  <a:rPr lang="zh-CN" altLang="en-US" sz="1800" b="0" i="0" dirty="0">
                    <a:solidFill>
                      <a:srgbClr val="000000"/>
                    </a:solidFill>
                    <a:effectLst/>
                    <a:latin typeface="FandolHei-Regular-Identity-H"/>
                  </a:rPr>
                  <a:t>，故波函数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"/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zh-CN" sz="1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sup>
                    </m:sSup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zh-CN" altLang="en-US" dirty="0"/>
                  <a:t>约为平面波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0A93FD4-74B9-3A48-012D-76AADEA8C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581" y="5571240"/>
                <a:ext cx="7350652" cy="977191"/>
              </a:xfrm>
              <a:prstGeom prst="rect">
                <a:avLst/>
              </a:prstGeom>
              <a:blipFill>
                <a:blip r:embed="rId5"/>
                <a:stretch>
                  <a:fillRect l="-747" t="-36250" r="-5145" b="-6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41B4290E-62D5-5377-C826-13B678F2F43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924" t="-34" r="35653" b="34"/>
          <a:stretch/>
        </p:blipFill>
        <p:spPr>
          <a:xfrm>
            <a:off x="8686800" y="1504121"/>
            <a:ext cx="2350049" cy="4351187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832C23F-2A2D-A0CE-6B0E-1F0C7D842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60820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654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4706E7-9602-557B-B5F1-CB017B2B2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4609"/>
            <a:ext cx="9951070" cy="521473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000" b="0" dirty="0">
                <a:solidFill>
                  <a:srgbClr val="FF0000"/>
                </a:solidFill>
                <a:highlight>
                  <a:srgbClr val="FFFF00"/>
                </a:highlight>
              </a:rPr>
              <a:t>在发生简并时，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FandolHei-Regular-Identity-H"/>
              </a:rPr>
              <a:t>第二项发生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</a:rPr>
              <a:t>相位叠加，不再为零</a:t>
            </a:r>
            <a:r>
              <a:rPr lang="zh-CN" altLang="en-US" sz="2000" dirty="0"/>
              <a:t>，</a:t>
            </a:r>
            <a:r>
              <a:rPr lang="zh-CN" altLang="en-US" sz="2000" b="0" dirty="0"/>
              <a:t>得到的波函数为两个</a:t>
            </a:r>
            <a:r>
              <a:rPr lang="zh-CN" altLang="en-US" sz="2000" b="0" dirty="0">
                <a:solidFill>
                  <a:srgbClr val="FF0000"/>
                </a:solidFill>
              </a:rPr>
              <a:t>驻波</a:t>
            </a:r>
            <a:r>
              <a:rPr lang="zh-CN" altLang="en-US" sz="2000" b="0" dirty="0"/>
              <a:t>的叠加</a:t>
            </a:r>
            <a:endParaRPr lang="en-US" altLang="zh-CN" sz="2000" b="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zh-CN" sz="2000" b="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zh-CN" sz="2000" b="0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6E82BEE-FDDF-8DD4-FBC4-882369D24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1188"/>
          </a:xfrm>
        </p:spPr>
        <p:txBody>
          <a:bodyPr/>
          <a:lstStyle/>
          <a:p>
            <a:r>
              <a:rPr lang="zh-CN" altLang="en-US" dirty="0"/>
              <a:t>近自由电子模型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C091FF7-8C39-9518-A5E0-D6B8154E8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839" y="2217984"/>
            <a:ext cx="3461520" cy="498888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D4AB0EEC-4635-1C03-2799-F56A94F41835}"/>
              </a:ext>
            </a:extLst>
          </p:cNvPr>
          <p:cNvSpPr/>
          <p:nvPr/>
        </p:nvSpPr>
        <p:spPr>
          <a:xfrm>
            <a:off x="3574532" y="1996183"/>
            <a:ext cx="4523462" cy="939174"/>
          </a:xfrm>
          <a:prstGeom prst="roundRect">
            <a:avLst/>
          </a:prstGeom>
          <a:solidFill>
            <a:srgbClr val="4472C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472C4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4D1B44C-7E7E-E947-7941-10F2C249A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104" y="3017366"/>
            <a:ext cx="5941997" cy="3475508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FC7446A1-AF11-0CBE-50E2-7AAEEB7639C3}"/>
              </a:ext>
            </a:extLst>
          </p:cNvPr>
          <p:cNvSpPr txBox="1"/>
          <p:nvPr/>
        </p:nvSpPr>
        <p:spPr>
          <a:xfrm>
            <a:off x="8787206" y="4233062"/>
            <a:ext cx="33183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两个解波函数，</a:t>
            </a:r>
            <a:r>
              <a:rPr lang="zh-CN" altLang="en-US" dirty="0">
                <a:solidFill>
                  <a:srgbClr val="0070C0"/>
                </a:solidFill>
              </a:rPr>
              <a:t>一个倾向于聚集在离子实附近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一个倾向于分布在离子之间</a:t>
            </a:r>
            <a:r>
              <a:rPr lang="zh-CN" altLang="en-US" dirty="0"/>
              <a:t>，因此本征能量出现差距，能量差即为带隙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38A2E43-2C0E-E760-9B66-5668C7292F0D}"/>
              </a:ext>
            </a:extLst>
          </p:cNvPr>
          <p:cNvSpPr txBox="1"/>
          <p:nvPr/>
        </p:nvSpPr>
        <p:spPr>
          <a:xfrm>
            <a:off x="8610600" y="2027649"/>
            <a:ext cx="33183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驻波意味着</a:t>
            </a:r>
            <a:r>
              <a:rPr lang="zh-CN" altLang="en-US" dirty="0">
                <a:solidFill>
                  <a:srgbClr val="FF0000"/>
                </a:solidFill>
              </a:rPr>
              <a:t>电子群速度为零</a:t>
            </a:r>
            <a:r>
              <a:rPr lang="zh-CN" altLang="en-US" dirty="0"/>
              <a:t>，即</a:t>
            </a:r>
            <a:r>
              <a:rPr lang="zh-CN" altLang="en-US" dirty="0">
                <a:solidFill>
                  <a:srgbClr val="FF0000"/>
                </a:solidFill>
              </a:rPr>
              <a:t>在带隙处，色散关系斜率为零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264CDB8-47EF-C565-D241-AA8C8F2AC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60820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7667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EC6AE-D3A7-3445-16CA-1B3718A45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为何会产生驻波？布拉格方程</a:t>
            </a:r>
          </a:p>
        </p:txBody>
      </p:sp>
      <p:pic>
        <p:nvPicPr>
          <p:cNvPr id="5" name="electron_wave_laue.pdf" descr="electron_wave_laue.pdf">
            <a:extLst>
              <a:ext uri="{FF2B5EF4-FFF2-40B4-BE49-F238E27FC236}">
                <a16:creationId xmlns:a16="http://schemas.microsoft.com/office/drawing/2014/main" id="{D72BD616-D88C-1DDB-EF99-BB8F288E9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480" y="1918548"/>
            <a:ext cx="6276342" cy="384983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ages from lec2notes2.pdf" descr="Pages from lec2notes2.pdf">
            <a:extLst>
              <a:ext uri="{FF2B5EF4-FFF2-40B4-BE49-F238E27FC236}">
                <a16:creationId xmlns:a16="http://schemas.microsoft.com/office/drawing/2014/main" id="{0EEA9440-0685-1288-6224-D7A33F40D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660" y="2334759"/>
            <a:ext cx="1541860" cy="53372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asted271.pdf" descr="pasted271.pdf">
            <a:extLst>
              <a:ext uri="{FF2B5EF4-FFF2-40B4-BE49-F238E27FC236}">
                <a16:creationId xmlns:a16="http://schemas.microsoft.com/office/drawing/2014/main" id="{8BAA463E-9543-33BA-CD2D-DB600324E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044" y="5584230"/>
            <a:ext cx="294640" cy="3683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90BCCD12-C28A-E0D3-4738-0E5226E84842}"/>
              </a:ext>
            </a:extLst>
          </p:cNvPr>
          <p:cNvGrpSpPr/>
          <p:nvPr/>
        </p:nvGrpSpPr>
        <p:grpSpPr>
          <a:xfrm>
            <a:off x="7914231" y="3160685"/>
            <a:ext cx="3711822" cy="1175862"/>
            <a:chOff x="238466" y="-123251"/>
            <a:chExt cx="7306549" cy="2314632"/>
          </a:xfrm>
        </p:grpSpPr>
        <p:grpSp>
          <p:nvGrpSpPr>
            <p:cNvPr id="9" name="Group">
              <a:extLst>
                <a:ext uri="{FF2B5EF4-FFF2-40B4-BE49-F238E27FC236}">
                  <a16:creationId xmlns:a16="http://schemas.microsoft.com/office/drawing/2014/main" id="{EDC84A67-BC40-A1E2-3185-2609C7CA15E8}"/>
                </a:ext>
              </a:extLst>
            </p:cNvPr>
            <p:cNvGrpSpPr/>
            <p:nvPr/>
          </p:nvGrpSpPr>
          <p:grpSpPr>
            <a:xfrm>
              <a:off x="238466" y="-123251"/>
              <a:ext cx="6760684" cy="2314632"/>
              <a:chOff x="238466" y="-226262"/>
              <a:chExt cx="6760683" cy="2314628"/>
            </a:xfrm>
          </p:grpSpPr>
          <p:sp>
            <p:nvSpPr>
              <p:cNvPr id="11" name="Bragg condition">
                <a:extLst>
                  <a:ext uri="{FF2B5EF4-FFF2-40B4-BE49-F238E27FC236}">
                    <a16:creationId xmlns:a16="http://schemas.microsoft.com/office/drawing/2014/main" id="{19223D04-B35D-E339-0014-9BA00AB36C5F}"/>
                  </a:ext>
                </a:extLst>
              </p:cNvPr>
              <p:cNvSpPr/>
              <p:nvPr/>
            </p:nvSpPr>
            <p:spPr>
              <a:xfrm>
                <a:off x="238466" y="-226262"/>
                <a:ext cx="2726298" cy="11205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>
                  <a:lnSpc>
                    <a:spcPts val="4200"/>
                  </a:lnSpc>
                  <a:tabLst>
                    <a:tab pos="1066800" algn="l"/>
                  </a:tabLst>
                  <a:defRPr sz="3500"/>
                </a:lvl1pPr>
              </a:lstStyle>
              <a:p>
                <a:r>
                  <a:rPr lang="zh-CN" altLang="en-US" sz="2000" dirty="0"/>
                  <a:t>布拉格条件</a:t>
                </a:r>
                <a:endParaRPr sz="2000" dirty="0"/>
              </a:p>
            </p:txBody>
          </p:sp>
          <p:sp>
            <p:nvSpPr>
              <p:cNvPr id="12" name="with">
                <a:extLst>
                  <a:ext uri="{FF2B5EF4-FFF2-40B4-BE49-F238E27FC236}">
                    <a16:creationId xmlns:a16="http://schemas.microsoft.com/office/drawing/2014/main" id="{B674AC7E-B8E6-E7D0-9C02-3FC8E04CAE09}"/>
                  </a:ext>
                </a:extLst>
              </p:cNvPr>
              <p:cNvSpPr/>
              <p:nvPr/>
            </p:nvSpPr>
            <p:spPr>
              <a:xfrm>
                <a:off x="1753077" y="967809"/>
                <a:ext cx="1211687" cy="11205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>
                  <a:lnSpc>
                    <a:spcPts val="4200"/>
                  </a:lnSpc>
                  <a:tabLst>
                    <a:tab pos="1066800" algn="l"/>
                  </a:tabLst>
                  <a:defRPr sz="3500"/>
                </a:lvl1pPr>
              </a:lstStyle>
              <a:p>
                <a:r>
                  <a:rPr lang="zh-CN" altLang="en-US" sz="2000" dirty="0"/>
                  <a:t>其中</a:t>
                </a:r>
                <a:endParaRPr sz="2000" dirty="0"/>
              </a:p>
            </p:txBody>
          </p:sp>
          <p:pic>
            <p:nvPicPr>
              <p:cNvPr id="13" name="droppedImage.pdf" descr="droppedImage.pdf">
                <a:extLst>
                  <a:ext uri="{FF2B5EF4-FFF2-40B4-BE49-F238E27FC236}">
                    <a16:creationId xmlns:a16="http://schemas.microsoft.com/office/drawing/2014/main" id="{A499E10D-96E1-0265-411E-C57938E2F6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97147" y="1335732"/>
                <a:ext cx="3302002" cy="73377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10" name="droppedImage.pdf" descr="droppedImage.pdf">
              <a:extLst>
                <a:ext uri="{FF2B5EF4-FFF2-40B4-BE49-F238E27FC236}">
                  <a16:creationId xmlns:a16="http://schemas.microsoft.com/office/drawing/2014/main" id="{2206597A-BB51-98E2-E75F-CA0FB63AA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04814" y="120975"/>
              <a:ext cx="4140201" cy="939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4" name="Group">
            <a:extLst>
              <a:ext uri="{FF2B5EF4-FFF2-40B4-BE49-F238E27FC236}">
                <a16:creationId xmlns:a16="http://schemas.microsoft.com/office/drawing/2014/main" id="{1E254861-86EE-BE54-7825-1B616215A83A}"/>
              </a:ext>
            </a:extLst>
          </p:cNvPr>
          <p:cNvGrpSpPr/>
          <p:nvPr/>
        </p:nvGrpSpPr>
        <p:grpSpPr>
          <a:xfrm>
            <a:off x="7590736" y="4557123"/>
            <a:ext cx="3864082" cy="939804"/>
            <a:chOff x="257983" y="330200"/>
            <a:chExt cx="3864081" cy="939803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A0A8A953-1652-D298-9164-DA482240FD0F}"/>
                </a:ext>
              </a:extLst>
            </p:cNvPr>
            <p:cNvSpPr/>
            <p:nvPr/>
          </p:nvSpPr>
          <p:spPr>
            <a:xfrm>
              <a:off x="2523333" y="330200"/>
              <a:ext cx="1526698" cy="859181"/>
            </a:xfrm>
            <a:prstGeom prst="rect">
              <a:avLst/>
            </a:prstGeom>
            <a:solidFill>
              <a:srgbClr val="6EC5D0"/>
            </a:solidFill>
            <a:ln w="25400" cap="flat">
              <a:noFill/>
              <a:miter lim="400000"/>
            </a:ln>
            <a:effectLst>
              <a:outerShdw blurRad="127000" dist="76200" dir="2700000" rotWithShape="0">
                <a:srgbClr val="000000">
                  <a:alpha val="75000"/>
                </a:srgbClr>
              </a:outerShdw>
            </a:effectLst>
          </p:spPr>
          <p:txBody>
            <a:bodyPr wrap="square" lIns="38100" tIns="38100" rIns="38100" bIns="38100" numCol="1" anchor="ctr">
              <a:noAutofit/>
            </a:bodyPr>
            <a:lstStyle/>
            <a:p>
              <a:pPr algn="ctr">
                <a:lnSpc>
                  <a:spcPts val="4200"/>
                </a:lnSpc>
                <a:tabLst>
                  <a:tab pos="1066800" algn="l"/>
                </a:tabLst>
                <a:defRPr sz="3500"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6" name="this gives a Bragg condition for…">
              <a:extLst>
                <a:ext uri="{FF2B5EF4-FFF2-40B4-BE49-F238E27FC236}">
                  <a16:creationId xmlns:a16="http://schemas.microsoft.com/office/drawing/2014/main" id="{223A6076-0DE3-B546-736A-65BF47DF22B2}"/>
                </a:ext>
              </a:extLst>
            </p:cNvPr>
            <p:cNvSpPr/>
            <p:nvPr/>
          </p:nvSpPr>
          <p:spPr>
            <a:xfrm>
              <a:off x="257983" y="399633"/>
              <a:ext cx="2654853" cy="5692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/>
            <a:p>
              <a:pPr algn="ctr">
                <a:lnSpc>
                  <a:spcPts val="4200"/>
                </a:lnSpc>
                <a:tabLst>
                  <a:tab pos="1066800" algn="l"/>
                  <a:tab pos="8115300" algn="l"/>
                </a:tabLst>
                <a:defRPr sz="3500"/>
              </a:pPr>
              <a:r>
                <a:rPr lang="zh-CN" altLang="en-US" sz="2000" dirty="0"/>
                <a:t>解得驻波条件</a:t>
              </a:r>
              <a:endParaRPr sz="2000" dirty="0"/>
            </a:p>
          </p:txBody>
        </p:sp>
        <p:pic>
          <p:nvPicPr>
            <p:cNvPr id="17" name="pasted411.pdf" descr="pasted411.pdf">
              <a:extLst>
                <a:ext uri="{FF2B5EF4-FFF2-40B4-BE49-F238E27FC236}">
                  <a16:creationId xmlns:a16="http://schemas.microsoft.com/office/drawing/2014/main" id="{000A5FD9-92AF-A39F-68B4-63FA42E2A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51302" y="330200"/>
              <a:ext cx="1670762" cy="9398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7653D85-29BC-2D60-7E5F-D53103503B7E}"/>
              </a:ext>
            </a:extLst>
          </p:cNvPr>
          <p:cNvSpPr txBox="1"/>
          <p:nvPr/>
        </p:nvSpPr>
        <p:spPr>
          <a:xfrm>
            <a:off x="7823936" y="1792298"/>
            <a:ext cx="3892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一个波矢为</a:t>
            </a:r>
            <a:r>
              <a:rPr lang="en-US" altLang="zh-CN" sz="2000" dirty="0"/>
              <a:t>k</a:t>
            </a:r>
            <a:r>
              <a:rPr lang="zh-CN" altLang="en-US" sz="2000" dirty="0"/>
              <a:t>的平面波入射到晶格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CC643C9-FCAB-3735-FCF3-DACF0FC39552}"/>
              </a:ext>
            </a:extLst>
          </p:cNvPr>
          <p:cNvSpPr txBox="1"/>
          <p:nvPr/>
        </p:nvSpPr>
        <p:spPr>
          <a:xfrm>
            <a:off x="7914231" y="5719896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正好是布里渊区中心和边界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2799061-6DD5-DF4F-5C74-945EEAA07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60820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800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CE087-9B6C-3C8C-2600-AAD6FC9D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理解带隙的起源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BBFB35-AB78-C351-EEAB-4D78B69E1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dirty="0"/>
              <a:t>数学分析</a:t>
            </a:r>
            <a:endParaRPr lang="en-US" altLang="zh-CN" sz="2400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在布里渊区中心及边界处，势能的傅里叶展开系数不为零，导致微扰矩阵非对角元不为零，本征能量的简并度被破坏，打开带隙大小为两倍的势能的傅里叶展开系数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sz="2400" dirty="0"/>
              <a:t>物理图景</a:t>
            </a:r>
            <a:endParaRPr lang="en-US" altLang="zh-CN" sz="2400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电子波函数被晶格散射，在布里渊区中心及边界处，电子动量满足布拉格方程，从而形成驻波波函数，不同驻波解在实空间的分布不同，具有的势能也不同，原有的色散关系被破坏，打开带隙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endParaRPr lang="zh-CN" altLang="en-US" sz="24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9840309-EC2C-6EF9-EE0D-5CBE02BE8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60820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5491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14B04-20FD-8FBC-480F-9D25636F6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真实材料的势能</a:t>
            </a:r>
          </a:p>
        </p:txBody>
      </p:sp>
      <p:pic>
        <p:nvPicPr>
          <p:cNvPr id="6" name="screening_coulombonly.pdf" descr="screening_coulombonly.pdf">
            <a:extLst>
              <a:ext uri="{FF2B5EF4-FFF2-40B4-BE49-F238E27FC236}">
                <a16:creationId xmlns:a16="http://schemas.microsoft.com/office/drawing/2014/main" id="{32255157-22FB-4050-7A29-AA3E54F62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998" y="499581"/>
            <a:ext cx="6223001" cy="5694633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Untitled-4.pdf" descr="Untitled-4.pdf">
            <a:extLst>
              <a:ext uri="{FF2B5EF4-FFF2-40B4-BE49-F238E27FC236}">
                <a16:creationId xmlns:a16="http://schemas.microsoft.com/office/drawing/2014/main" id="{F55FDD4D-14BE-03BC-3243-E70E3707D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185" y="659285"/>
            <a:ext cx="5422902" cy="4599914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8" name="droppedImage.pdf" descr="droppedImage.pdf">
            <a:extLst>
              <a:ext uri="{FF2B5EF4-FFF2-40B4-BE49-F238E27FC236}">
                <a16:creationId xmlns:a16="http://schemas.microsoft.com/office/drawing/2014/main" id="{BFB31815-F1FD-40CF-A444-26BA82F1C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0" y="1826683"/>
            <a:ext cx="3585029" cy="14478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B153962D-435C-FC61-6EB2-4D0B8CF285C4}"/>
              </a:ext>
            </a:extLst>
          </p:cNvPr>
          <p:cNvGrpSpPr/>
          <p:nvPr/>
        </p:nvGrpSpPr>
        <p:grpSpPr>
          <a:xfrm>
            <a:off x="-682903" y="3912447"/>
            <a:ext cx="6896101" cy="1866901"/>
            <a:chOff x="0" y="0"/>
            <a:chExt cx="6896100" cy="1866900"/>
          </a:xfrm>
        </p:grpSpPr>
        <p:sp>
          <p:nvSpPr>
            <p:cNvPr id="10" name="positive point charge in a metal">
              <a:extLst>
                <a:ext uri="{FF2B5EF4-FFF2-40B4-BE49-F238E27FC236}">
                  <a16:creationId xmlns:a16="http://schemas.microsoft.com/office/drawing/2014/main" id="{422DD4E3-4366-F40C-B03B-E7CC5E415B00}"/>
                </a:ext>
              </a:extLst>
            </p:cNvPr>
            <p:cNvSpPr/>
            <p:nvPr/>
          </p:nvSpPr>
          <p:spPr>
            <a:xfrm>
              <a:off x="0" y="0"/>
              <a:ext cx="6896100" cy="635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ctr">
                <a:lnSpc>
                  <a:spcPts val="4200"/>
                </a:lnSpc>
                <a:tabLst>
                  <a:tab pos="1066800" algn="l"/>
                </a:tabLst>
                <a:defRPr sz="3500"/>
              </a:lvl1pPr>
            </a:lstStyle>
            <a:p>
              <a:r>
                <a:rPr lang="zh-CN" altLang="en-US" dirty="0"/>
                <a:t>金属中的正点电荷</a:t>
              </a:r>
              <a:endParaRPr dirty="0"/>
            </a:p>
          </p:txBody>
        </p:sp>
        <p:pic>
          <p:nvPicPr>
            <p:cNvPr id="11" name="droppedImage.pdf" descr="droppedImage.pdf">
              <a:extLst>
                <a:ext uri="{FF2B5EF4-FFF2-40B4-BE49-F238E27FC236}">
                  <a16:creationId xmlns:a16="http://schemas.microsoft.com/office/drawing/2014/main" id="{2C6DD07A-E9A8-4D5D-746B-55DA39C4F1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96299" y="812800"/>
              <a:ext cx="4307496" cy="10541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2702E94-05CA-21E7-D03B-D91335460D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60820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497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Band structures of real materials: Si and GaAs"/>
          <p:cNvSpPr txBox="1">
            <a:spLocks noGrp="1"/>
          </p:cNvSpPr>
          <p:nvPr>
            <p:ph type="title"/>
          </p:nvPr>
        </p:nvSpPr>
        <p:spPr>
          <a:xfrm>
            <a:off x="0" y="350596"/>
            <a:ext cx="11953875" cy="6161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6060"/>
                </a:solidFill>
              </a:defRPr>
            </a:lvl1pPr>
          </a:lstStyle>
          <a:p>
            <a:r>
              <a:rPr lang="zh-CN" altLang="en-US" dirty="0"/>
              <a:t>真实材料的能带结构</a:t>
            </a:r>
            <a:r>
              <a:rPr dirty="0"/>
              <a:t>: </a:t>
            </a:r>
            <a:r>
              <a:rPr lang="en-US" dirty="0"/>
              <a:t>GaAs</a:t>
            </a:r>
            <a:endParaRPr dirty="0"/>
          </a:p>
        </p:txBody>
      </p:sp>
      <p:grpSp>
        <p:nvGrpSpPr>
          <p:cNvPr id="1265" name="Group"/>
          <p:cNvGrpSpPr/>
          <p:nvPr/>
        </p:nvGrpSpPr>
        <p:grpSpPr>
          <a:xfrm>
            <a:off x="1542275" y="1530913"/>
            <a:ext cx="4732934" cy="4441667"/>
            <a:chOff x="0" y="0"/>
            <a:chExt cx="6731283" cy="6317037"/>
          </a:xfrm>
        </p:grpSpPr>
        <p:grpSp>
          <p:nvGrpSpPr>
            <p:cNvPr id="1262" name="Group"/>
            <p:cNvGrpSpPr/>
            <p:nvPr/>
          </p:nvGrpSpPr>
          <p:grpSpPr>
            <a:xfrm>
              <a:off x="0" y="0"/>
              <a:ext cx="6553200" cy="6317038"/>
              <a:chOff x="0" y="0"/>
              <a:chExt cx="6553200" cy="6317037"/>
            </a:xfrm>
          </p:grpSpPr>
          <p:sp>
            <p:nvSpPr>
              <p:cNvPr id="1260" name="Rectangle"/>
              <p:cNvSpPr/>
              <p:nvPr/>
            </p:nvSpPr>
            <p:spPr>
              <a:xfrm>
                <a:off x="0" y="0"/>
                <a:ext cx="6553200" cy="590550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noFill/>
                <a:miter lim="400000"/>
              </a:ln>
              <a:effectLst/>
            </p:spPr>
            <p:txBody>
              <a:bodyPr wrap="square" lIns="26789" tIns="26789" rIns="26789" bIns="26789" numCol="1" anchor="ctr">
                <a:noAutofit/>
              </a:bodyPr>
              <a:lstStyle/>
              <a:p>
                <a:pPr algn="ctr">
                  <a:lnSpc>
                    <a:spcPts val="2953"/>
                  </a:lnSpc>
                  <a:tabLst>
                    <a:tab pos="750067" algn="l"/>
                  </a:tabLst>
                  <a:defRPr sz="35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461"/>
              </a:p>
            </p:txBody>
          </p:sp>
          <p:pic>
            <p:nvPicPr>
              <p:cNvPr id="1261" name="band 3 band 2 band 1(d)first Brilloin zone -g g a-2p a2p0.pdf" descr="band 3 band 2 band 1(d)first Brilloin zone -g g a-2p a2p0.pdf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0900" y="710327"/>
                <a:ext cx="4864100" cy="560671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1263" name="Line"/>
            <p:cNvSpPr/>
            <p:nvPr/>
          </p:nvSpPr>
          <p:spPr>
            <a:xfrm flipH="1">
              <a:off x="3042518" y="2385729"/>
              <a:ext cx="3638721" cy="267666"/>
            </a:xfrm>
            <a:prstGeom prst="line">
              <a:avLst/>
            </a:prstGeom>
            <a:noFill/>
            <a:ln w="50800" cap="flat">
              <a:solidFill>
                <a:srgbClr val="387D8D"/>
              </a:solidFill>
              <a:prstDash val="solid"/>
              <a:miter lim="400000"/>
              <a:headEnd type="triangle" w="med" len="med"/>
            </a:ln>
            <a:effectLst>
              <a:outerShdw blurRad="127000" dist="76200" dir="2700000" rotWithShape="0">
                <a:srgbClr val="000000">
                  <a:alpha val="75000"/>
                </a:srgbClr>
              </a:outerShdw>
            </a:effectLst>
          </p:spPr>
          <p:txBody>
            <a:bodyPr wrap="square" lIns="35719" tIns="35719" rIns="35719" bIns="35719" numCol="1" anchor="ctr">
              <a:noAutofit/>
            </a:bodyPr>
            <a:lstStyle/>
            <a:p>
              <a:endParaRPr sz="1266"/>
            </a:p>
          </p:txBody>
        </p:sp>
        <p:sp>
          <p:nvSpPr>
            <p:cNvPr id="1264" name="Line"/>
            <p:cNvSpPr/>
            <p:nvPr/>
          </p:nvSpPr>
          <p:spPr>
            <a:xfrm flipH="1" flipV="1">
              <a:off x="4071218" y="4101194"/>
              <a:ext cx="2660066" cy="344231"/>
            </a:xfrm>
            <a:prstGeom prst="line">
              <a:avLst/>
            </a:prstGeom>
            <a:noFill/>
            <a:ln w="50800" cap="flat">
              <a:solidFill>
                <a:srgbClr val="387D8D"/>
              </a:solidFill>
              <a:prstDash val="solid"/>
              <a:miter lim="400000"/>
              <a:headEnd type="triangle" w="med" len="med"/>
            </a:ln>
            <a:effectLst>
              <a:outerShdw blurRad="127000" dist="76200" dir="2700000" rotWithShape="0">
                <a:srgbClr val="000000">
                  <a:alpha val="75000"/>
                </a:srgbClr>
              </a:outerShdw>
            </a:effectLst>
          </p:spPr>
          <p:txBody>
            <a:bodyPr wrap="square" lIns="35719" tIns="35719" rIns="35719" bIns="35719" numCol="1" anchor="ctr">
              <a:noAutofit/>
            </a:bodyPr>
            <a:lstStyle/>
            <a:p>
              <a:endParaRPr sz="1266"/>
            </a:p>
          </p:txBody>
        </p:sp>
      </p:grpSp>
      <p:pic>
        <p:nvPicPr>
          <p:cNvPr id="1266" name="k105-10-50KΓLWXΓGaAsenergy (eV).pdf" descr="k105-10-50KΓLWXΓGaAsenergy (eV)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210" y="1768113"/>
            <a:ext cx="4143375" cy="4320632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92348F7-4F7E-5AF7-E297-12A08762B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60820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Band structures of real materials: Si and GaAs"/>
          <p:cNvSpPr txBox="1">
            <a:spLocks noGrp="1"/>
          </p:cNvSpPr>
          <p:nvPr>
            <p:ph type="title"/>
          </p:nvPr>
        </p:nvSpPr>
        <p:spPr>
          <a:xfrm>
            <a:off x="0" y="292912"/>
            <a:ext cx="11953875" cy="6161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6060"/>
                </a:solidFill>
              </a:defRPr>
            </a:lvl1pPr>
          </a:lstStyle>
          <a:p>
            <a:r>
              <a:rPr lang="zh-CN" altLang="en-US" dirty="0"/>
              <a:t>真实材料的能带结构</a:t>
            </a:r>
            <a:r>
              <a:rPr dirty="0"/>
              <a:t>: GaAs</a:t>
            </a:r>
            <a:r>
              <a:rPr lang="en-US" dirty="0"/>
              <a:t> and Si</a:t>
            </a:r>
            <a:endParaRPr dirty="0"/>
          </a:p>
        </p:txBody>
      </p:sp>
      <p:pic>
        <p:nvPicPr>
          <p:cNvPr id="1272" name="k105-10-50KΓLWXΓGaAsenergy (eV).pdf" descr="k105-10-50KΓLWXΓGaAsenergy (eV)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015" y="1058979"/>
            <a:ext cx="4554141" cy="47489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3" name="KSikΓ105-10-50WLXΓ.pdf" descr="KSikΓ105-10-50WLXΓ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58" y="1093887"/>
            <a:ext cx="4208069" cy="4670227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6A3DAF6-2BD3-DD52-135D-9A4067A6E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60820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3347</TotalTime>
  <Words>2655</Words>
  <Application>Microsoft Office PowerPoint</Application>
  <PresentationFormat>宽屏</PresentationFormat>
  <Paragraphs>261</Paragraphs>
  <Slides>26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FandolHei-Regular-Identity-H</vt:lpstr>
      <vt:lpstr>Gill Sans</vt:lpstr>
      <vt:lpstr>微软雅黑</vt:lpstr>
      <vt:lpstr>Aptos</vt:lpstr>
      <vt:lpstr>Arial</vt:lpstr>
      <vt:lpstr>Calibri</vt:lpstr>
      <vt:lpstr>Cambria Math</vt:lpstr>
      <vt:lpstr>Office 2013 - 2022 主题</vt:lpstr>
      <vt:lpstr>固体物理（2班） Solid state physics</vt:lpstr>
      <vt:lpstr>回顾：布洛赫定理</vt:lpstr>
      <vt:lpstr>回顾：中心方程的求解</vt:lpstr>
      <vt:lpstr>回顾：一维空格子的色散关系</vt:lpstr>
      <vt:lpstr>第四章 能带理论</vt:lpstr>
      <vt:lpstr>近自由电子模型</vt:lpstr>
      <vt:lpstr>微扰论 (Perturbation theory)</vt:lpstr>
      <vt:lpstr>不含时微扰论</vt:lpstr>
      <vt:lpstr>非简并条件下</vt:lpstr>
      <vt:lpstr>近自由电子模型</vt:lpstr>
      <vt:lpstr>近自由电子模型</vt:lpstr>
      <vt:lpstr>近自由电子模型</vt:lpstr>
      <vt:lpstr>近自由电子模型</vt:lpstr>
      <vt:lpstr>近自由电子模型求解带隙的步骤</vt:lpstr>
      <vt:lpstr>PowerPoint 演示文稿</vt:lpstr>
      <vt:lpstr>PowerPoint 演示文稿</vt:lpstr>
      <vt:lpstr>PowerPoint 演示文稿</vt:lpstr>
      <vt:lpstr>PowerPoint 演示文稿</vt:lpstr>
      <vt:lpstr>作业</vt:lpstr>
      <vt:lpstr>近自由电子模型</vt:lpstr>
      <vt:lpstr>近自由电子模型</vt:lpstr>
      <vt:lpstr>为何会产生驻波？布拉格方程</vt:lpstr>
      <vt:lpstr>理解带隙的起源</vt:lpstr>
      <vt:lpstr>真实材料的势能</vt:lpstr>
      <vt:lpstr>真实材料的能带结构: GaAs</vt:lpstr>
      <vt:lpstr>真实材料的能带结构: GaAs and 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 Wang</dc:creator>
  <cp:lastModifiedBy>Zhi Wang</cp:lastModifiedBy>
  <cp:revision>2</cp:revision>
  <dcterms:created xsi:type="dcterms:W3CDTF">2024-09-10T08:37:43Z</dcterms:created>
  <dcterms:modified xsi:type="dcterms:W3CDTF">2026-10-13T11:34:44Z</dcterms:modified>
</cp:coreProperties>
</file>