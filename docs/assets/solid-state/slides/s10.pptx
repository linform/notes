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275" r:id="rId3"/>
    <p:sldId id="289" r:id="rId4"/>
    <p:sldId id="261" r:id="rId5"/>
    <p:sldId id="290" r:id="rId6"/>
    <p:sldId id="291" r:id="rId7"/>
    <p:sldId id="292" r:id="rId8"/>
    <p:sldId id="316" r:id="rId9"/>
    <p:sldId id="293" r:id="rId10"/>
    <p:sldId id="294" r:id="rId11"/>
    <p:sldId id="295" r:id="rId12"/>
    <p:sldId id="299" r:id="rId13"/>
    <p:sldId id="300" r:id="rId14"/>
    <p:sldId id="296" r:id="rId15"/>
    <p:sldId id="301" r:id="rId16"/>
    <p:sldId id="302" r:id="rId17"/>
    <p:sldId id="303" r:id="rId18"/>
    <p:sldId id="315" r:id="rId19"/>
    <p:sldId id="317" r:id="rId20"/>
    <p:sldId id="304" r:id="rId21"/>
    <p:sldId id="305" r:id="rId22"/>
    <p:sldId id="307" r:id="rId23"/>
    <p:sldId id="318" r:id="rId24"/>
    <p:sldId id="309" r:id="rId25"/>
    <p:sldId id="310" r:id="rId26"/>
    <p:sldId id="311" r:id="rId27"/>
    <p:sldId id="319" r:id="rId28"/>
    <p:sldId id="321" r:id="rId29"/>
    <p:sldId id="31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44C59-6F90-45CF-846F-12417EE851BF}" v="115" dt="2026-10-11T04:47:12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custSel modSld">
      <pc:chgData name="Zhi Wang" userId="7588ea56f58b19c7" providerId="LiveId" clId="{96B72205-E234-467C-A3DC-8BF4882781A8}" dt="2026-10-11T04:47:12.167" v="242"/>
      <pc:docMkLst>
        <pc:docMk/>
      </pc:docMkLst>
      <pc:sldChg chg="modSp mod">
        <pc:chgData name="Zhi Wang" userId="7588ea56f58b19c7" providerId="LiveId" clId="{96B72205-E234-467C-A3DC-8BF4882781A8}" dt="2026-10-11T04:23:08.443" v="0" actId="207"/>
        <pc:sldMkLst>
          <pc:docMk/>
          <pc:sldMk cId="431657256" sldId="257"/>
        </pc:sldMkLst>
        <pc:spChg chg="mod">
          <ac:chgData name="Zhi Wang" userId="7588ea56f58b19c7" providerId="LiveId" clId="{96B72205-E234-467C-A3DC-8BF4882781A8}" dt="2026-10-11T04:23:08.443" v="0" actId="207"/>
          <ac:spMkLst>
            <pc:docMk/>
            <pc:sldMk cId="431657256" sldId="257"/>
            <ac:spMk id="3" creationId="{0FBC71C4-AAF9-252F-52C3-C8A1AD8C5C53}"/>
          </ac:spMkLst>
        </pc:sp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413324664" sldId="261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413324664" sldId="261"/>
            <ac:graphicFrameMk id="3" creationId="{862EDB39-5DED-A9F1-358E-7606ED571EA2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675208892" sldId="275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675208892" sldId="275"/>
            <ac:graphicFrameMk id="14" creationId="{0256939D-64A1-9940-A94C-F32A71DD48F7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89573937" sldId="289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89573937" sldId="289"/>
            <ac:graphicFrameMk id="6" creationId="{6C4FCE30-18A3-1E65-CEFF-8264F0E2C0C7}"/>
          </ac:graphicFrameMkLst>
        </pc:graphicFrameChg>
      </pc:sldChg>
      <pc:sldChg chg="modSp mod">
        <pc:chgData name="Zhi Wang" userId="7588ea56f58b19c7" providerId="LiveId" clId="{96B72205-E234-467C-A3DC-8BF4882781A8}" dt="2026-10-11T04:47:12.167" v="242"/>
        <pc:sldMkLst>
          <pc:docMk/>
          <pc:sldMk cId="2876986941" sldId="290"/>
        </pc:sldMkLst>
        <pc:spChg chg="mod">
          <ac:chgData name="Zhi Wang" userId="7588ea56f58b19c7" providerId="LiveId" clId="{96B72205-E234-467C-A3DC-8BF4882781A8}" dt="2026-10-11T04:38:15.351" v="162" actId="20577"/>
          <ac:spMkLst>
            <pc:docMk/>
            <pc:sldMk cId="2876986941" sldId="290"/>
            <ac:spMk id="6" creationId="{9A5EEF37-0D33-5A36-E18C-01FFC57C9ADB}"/>
          </ac:spMkLst>
        </pc:spChg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876986941" sldId="290"/>
            <ac:graphicFrameMk id="2" creationId="{38103862-54AF-BDB6-2679-5B5D78F638AA}"/>
          </ac:graphicFrameMkLst>
        </pc:graphicFrameChg>
      </pc:sldChg>
      <pc:sldChg chg="modSp mod">
        <pc:chgData name="Zhi Wang" userId="7588ea56f58b19c7" providerId="LiveId" clId="{96B72205-E234-467C-A3DC-8BF4882781A8}" dt="2026-10-11T04:47:12.167" v="242"/>
        <pc:sldMkLst>
          <pc:docMk/>
          <pc:sldMk cId="604146996" sldId="291"/>
        </pc:sldMkLst>
        <pc:spChg chg="mod">
          <ac:chgData name="Zhi Wang" userId="7588ea56f58b19c7" providerId="LiveId" clId="{96B72205-E234-467C-A3DC-8BF4882781A8}" dt="2026-10-11T04:39:44.032" v="218" actId="27636"/>
          <ac:spMkLst>
            <pc:docMk/>
            <pc:sldMk cId="604146996" sldId="291"/>
            <ac:spMk id="3" creationId="{150FA7F3-64CB-2622-C99D-97C93BCB4305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11" creationId="{E7BE0DFD-AEAD-DFA9-67F5-153E662DE4D1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13" creationId="{13FDA907-4907-7A05-028C-418BA49BC0C1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14" creationId="{118C81FA-31B3-4873-DF64-482FDD425CE0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17" creationId="{C114049D-C884-8346-5D4E-81439529E88D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19" creationId="{7C985BB4-2B55-C545-0E29-3D1F7EC782AE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31" creationId="{5702FEF2-84EE-44FA-F81A-B9A164541C6E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32" creationId="{DFE02CD9-DDC5-CD4A-607B-6219B98DB479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34" creationId="{31E145D8-CA22-9F0E-027D-83C8E1A03345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36" creationId="{DC6654F1-C575-7F04-52D3-3F71333A5B39}"/>
          </ac:spMkLst>
        </pc:spChg>
        <pc:spChg chg="mod">
          <ac:chgData name="Zhi Wang" userId="7588ea56f58b19c7" providerId="LiveId" clId="{96B72205-E234-467C-A3DC-8BF4882781A8}" dt="2026-10-11T04:24:20.963" v="26" actId="20577"/>
          <ac:spMkLst>
            <pc:docMk/>
            <pc:sldMk cId="604146996" sldId="291"/>
            <ac:spMk id="39" creationId="{B7FF1EFF-CEAD-D0F8-DAD3-1F328330B394}"/>
          </ac:spMkLst>
        </pc:spChg>
        <pc:spChg chg="mod">
          <ac:chgData name="Zhi Wang" userId="7588ea56f58b19c7" providerId="LiveId" clId="{96B72205-E234-467C-A3DC-8BF4882781A8}" dt="2026-10-11T04:24:16.426" v="22"/>
          <ac:spMkLst>
            <pc:docMk/>
            <pc:sldMk cId="604146996" sldId="291"/>
            <ac:spMk id="40" creationId="{52F4FAA2-8910-7538-3674-64765CDCA335}"/>
          </ac:spMkLst>
        </pc:spChg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604146996" sldId="291"/>
            <ac:graphicFrameMk id="42" creationId="{36C122AD-DE02-DE26-F185-217B5EA262DF}"/>
          </ac:graphicFrameMkLst>
        </pc:graphicFrameChg>
      </pc:sldChg>
      <pc:sldChg chg="modSp mod">
        <pc:chgData name="Zhi Wang" userId="7588ea56f58b19c7" providerId="LiveId" clId="{96B72205-E234-467C-A3DC-8BF4882781A8}" dt="2026-10-11T04:47:12.167" v="242"/>
        <pc:sldMkLst>
          <pc:docMk/>
          <pc:sldMk cId="1583186674" sldId="292"/>
        </pc:sldMkLst>
        <pc:spChg chg="mod">
          <ac:chgData name="Zhi Wang" userId="7588ea56f58b19c7" providerId="LiveId" clId="{96B72205-E234-467C-A3DC-8BF4882781A8}" dt="2026-10-11T04:39:15.552" v="217"/>
          <ac:spMkLst>
            <pc:docMk/>
            <pc:sldMk cId="1583186674" sldId="292"/>
            <ac:spMk id="3" creationId="{150FA7F3-64CB-2622-C99D-97C93BCB4305}"/>
          </ac:spMkLst>
        </pc:spChg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1583186674" sldId="292"/>
            <ac:graphicFrameMk id="9" creationId="{60667529-0205-2A66-A252-B9B97C21BCB9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4132961070" sldId="293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4132961070" sldId="293"/>
            <ac:graphicFrameMk id="6" creationId="{1250DF53-DCD1-E40F-FDDB-2B5B11BB26F7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583407088" sldId="294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583407088" sldId="294"/>
            <ac:graphicFrameMk id="8" creationId="{AFB57B5D-E989-5DDE-4FA4-1ADFFA3A115F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900427032" sldId="295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900427032" sldId="295"/>
            <ac:graphicFrameMk id="16" creationId="{4DE47503-4C53-8154-8BBD-5F8DF165E9AD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3265287752" sldId="296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3265287752" sldId="296"/>
            <ac:graphicFrameMk id="5" creationId="{7DB2CEE1-795B-180B-1C3B-39FB3000FD3C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1598099080" sldId="299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1598099080" sldId="299"/>
            <ac:graphicFrameMk id="6" creationId="{41E16664-65A9-60F3-66B7-1E9061D5FC9D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165573302" sldId="300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165573302" sldId="300"/>
            <ac:graphicFrameMk id="3" creationId="{1F58A7AC-DFE8-6365-2B42-48654E4CDB95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1225190333" sldId="301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1225190333" sldId="301"/>
            <ac:graphicFrameMk id="9" creationId="{9C319A45-BE7A-5964-24B5-93144857CD3C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3424378993" sldId="302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3424378993" sldId="302"/>
            <ac:graphicFrameMk id="5" creationId="{FBCEBA06-960C-00ED-AD01-A0501680ED2D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487443762" sldId="303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487443762" sldId="303"/>
            <ac:graphicFrameMk id="6" creationId="{C7A082DA-F1DC-ABD8-9BC9-FB7AD01F7185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506350560" sldId="304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506350560" sldId="304"/>
            <ac:graphicFrameMk id="6" creationId="{8FD0B738-4B32-3905-6C93-366540122E64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3056436139" sldId="305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3056436139" sldId="305"/>
            <ac:graphicFrameMk id="9" creationId="{EEE78169-73AF-0E14-1C4C-C20B1C9CA2A7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716051948" sldId="307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716051948" sldId="307"/>
            <ac:graphicFrameMk id="5" creationId="{5B3A6B3A-BA43-2B05-3D50-41A8E4D21818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1057450203" sldId="309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1057450203" sldId="309"/>
            <ac:graphicFrameMk id="60" creationId="{5D50FF3A-762E-D6BA-3D6E-7170F85FE78F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3509027669" sldId="310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3509027669" sldId="310"/>
            <ac:graphicFrameMk id="8" creationId="{3FDF900B-5FF4-5282-B93A-E3E18D5137B3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50706275" sldId="311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50706275" sldId="311"/>
            <ac:graphicFrameMk id="5" creationId="{79E12511-BF59-B785-3537-C0A52AFC14A8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5543424" sldId="314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5543424" sldId="314"/>
            <ac:graphicFrameMk id="5" creationId="{C1C766ED-84DC-BF10-9FBD-B7BA6206FD21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487901191" sldId="315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487901191" sldId="315"/>
            <ac:graphicFrameMk id="3" creationId="{C1E1E463-31E8-CE16-AEF1-F29BBA5A618E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3569472407" sldId="316"/>
        </pc:sldMkLst>
        <pc:spChg chg="mod">
          <ac:chgData name="Zhi Wang" userId="7588ea56f58b19c7" providerId="LiveId" clId="{96B72205-E234-467C-A3DC-8BF4882781A8}" dt="2026-10-11T04:41:41.653" v="241" actId="20577"/>
          <ac:spMkLst>
            <pc:docMk/>
            <pc:sldMk cId="3569472407" sldId="316"/>
            <ac:spMk id="3" creationId="{EA3DA720-6A15-2159-02B8-5EDB1A1859C1}"/>
          </ac:spMkLst>
        </pc:spChg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3569472407" sldId="316"/>
            <ac:graphicFrameMk id="4" creationId="{FA376824-A436-47A3-1EE9-13B5A0BC56AD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864659155" sldId="317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864659155" sldId="317"/>
            <ac:graphicFrameMk id="6" creationId="{0B986037-846B-05F7-DE49-DA46CCA83009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2956217404" sldId="318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2956217404" sldId="318"/>
            <ac:graphicFrameMk id="51" creationId="{7099F1CC-3E86-AD16-18E7-AD6B5668A064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4080248542" sldId="319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4080248542" sldId="319"/>
            <ac:graphicFrameMk id="4" creationId="{57D3A2A2-5B8A-61FA-5DB7-9C08E742A0A2}"/>
          </ac:graphicFrameMkLst>
        </pc:graphicFrameChg>
      </pc:sldChg>
      <pc:sldChg chg="modSp">
        <pc:chgData name="Zhi Wang" userId="7588ea56f58b19c7" providerId="LiveId" clId="{96B72205-E234-467C-A3DC-8BF4882781A8}" dt="2026-10-11T04:47:12.167" v="242"/>
        <pc:sldMkLst>
          <pc:docMk/>
          <pc:sldMk cId="3683805243" sldId="321"/>
        </pc:sldMkLst>
        <pc:graphicFrameChg chg="mod">
          <ac:chgData name="Zhi Wang" userId="7588ea56f58b19c7" providerId="LiveId" clId="{96B72205-E234-467C-A3DC-8BF4882781A8}" dt="2026-10-11T04:47:12.167" v="242"/>
          <ac:graphicFrameMkLst>
            <pc:docMk/>
            <pc:sldMk cId="3683805243" sldId="321"/>
            <ac:graphicFrameMk id="5" creationId="{AB2F3F01-ADC0-B8A6-88EA-991BD1B31D1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2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863F0-5C63-4453-B132-1867A4FB0A16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2444D-0CC7-4091-ACF1-1AFBAE4BA703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686D-14EC-48BF-83D1-A5A0560D6996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0F995-D465-4538-9DB9-1CFB1541707B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6BBE1-0928-4D65-A167-873C39382BD1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CD98-F054-4FB8-8738-E9EFA9FB20B2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C124-19BD-4036-9B77-B9FF9A5D0C07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466B1-6947-4670-8FFF-8534D1E17AD1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6542-754C-41B7-9486-D4B97FA63CF4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A81B-568C-447F-BD0D-AE0AC4501CFE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91DCB-EAED-4827-9866-1A4FDDADAB98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EABE2-A488-454F-8D94-3AFCF0829EA5}" type="datetime1">
              <a:rPr lang="en-US" altLang="zh-CN" smtClean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王峙，魏大海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B800662-3A62-EF4C-BD25-99A74BF0FBE4}"/>
              </a:ext>
            </a:extLst>
          </p:cNvPr>
          <p:cNvSpPr/>
          <p:nvPr/>
        </p:nvSpPr>
        <p:spPr>
          <a:xfrm>
            <a:off x="4687956" y="5531748"/>
            <a:ext cx="2816087" cy="458236"/>
          </a:xfrm>
          <a:prstGeom prst="rect">
            <a:avLst/>
          </a:prstGeom>
          <a:solidFill>
            <a:srgbClr val="92D05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AC3544-3EE8-CB1D-9CFA-DC2380175483}"/>
              </a:ext>
            </a:extLst>
          </p:cNvPr>
          <p:cNvSpPr/>
          <p:nvPr/>
        </p:nvSpPr>
        <p:spPr>
          <a:xfrm>
            <a:off x="3538330" y="4485861"/>
            <a:ext cx="2816087" cy="1007165"/>
          </a:xfrm>
          <a:prstGeom prst="rect">
            <a:avLst/>
          </a:prstGeom>
          <a:solidFill>
            <a:srgbClr val="FFFF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89EC0-7C6B-C437-5FBC-0805D2C47C62}"/>
              </a:ext>
            </a:extLst>
          </p:cNvPr>
          <p:cNvSpPr/>
          <p:nvPr/>
        </p:nvSpPr>
        <p:spPr>
          <a:xfrm>
            <a:off x="6354417" y="4485861"/>
            <a:ext cx="828262" cy="1007165"/>
          </a:xfrm>
          <a:prstGeom prst="rect">
            <a:avLst/>
          </a:prstGeom>
          <a:solidFill>
            <a:srgbClr val="FF00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BFC917-10EA-04B4-13BF-4748EA670C43}"/>
              </a:ext>
            </a:extLst>
          </p:cNvPr>
          <p:cNvSpPr/>
          <p:nvPr/>
        </p:nvSpPr>
        <p:spPr>
          <a:xfrm>
            <a:off x="7586870" y="4485861"/>
            <a:ext cx="238539" cy="1007165"/>
          </a:xfrm>
          <a:prstGeom prst="rect">
            <a:avLst/>
          </a:prstGeom>
          <a:solidFill>
            <a:srgbClr val="4472C4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5A9AE7-DA47-1B60-1312-4C38BB5B12FA}"/>
              </a:ext>
            </a:extLst>
          </p:cNvPr>
          <p:cNvSpPr/>
          <p:nvPr/>
        </p:nvSpPr>
        <p:spPr>
          <a:xfrm>
            <a:off x="7825409" y="4485860"/>
            <a:ext cx="808384" cy="1007165"/>
          </a:xfrm>
          <a:prstGeom prst="rect">
            <a:avLst/>
          </a:prstGeom>
          <a:solidFill>
            <a:srgbClr val="FF00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0592640-1D36-D52A-1D49-EAE32B15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回顾：能带论中的三大近似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A4E8F0-46EA-15E0-7B52-961E6DF93B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玻恩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奥本海默近似</a:t>
                </a:r>
                <a:r>
                  <a:rPr lang="zh-CN" altLang="en-US" dirty="0"/>
                  <a:t>：电子和原子核波函数变量分离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平均场近似</a:t>
                </a:r>
                <a:r>
                  <a:rPr lang="zh-CN" altLang="en-US" dirty="0"/>
                  <a:t>：多电子问题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</a:t>
                </a:r>
                <a:r>
                  <a:rPr lang="zh-CN" altLang="en-US" dirty="0">
                    <a:sym typeface="Wingdings" panose="05000000000000000000" pitchFamily="2" charset="2"/>
                  </a:rPr>
                  <a:t>单电子问题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周期场近似</a:t>
                </a:r>
                <a:r>
                  <a:rPr lang="zh-CN" altLang="en-US" dirty="0"/>
                  <a:t>：平均势场具有和晶格相同的周期性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            ↓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单电子定态方程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A4E8F0-46EA-15E0-7B52-961E6DF93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4B0B05B-6E4D-AE23-F891-AFF17F7B9FB9}"/>
              </a:ext>
            </a:extLst>
          </p:cNvPr>
          <p:cNvSpPr txBox="1"/>
          <p:nvPr/>
        </p:nvSpPr>
        <p:spPr>
          <a:xfrm>
            <a:off x="4392375" y="385090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单电子</a:t>
            </a:r>
            <a:endParaRPr lang="en-US" altLang="zh-CN" dirty="0"/>
          </a:p>
          <a:p>
            <a:pPr algn="ctr"/>
            <a:r>
              <a:rPr lang="zh-CN" altLang="en-US" dirty="0"/>
              <a:t>哈密顿量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572F5D-8038-E3AB-9C17-B58B70F966A0}"/>
              </a:ext>
            </a:extLst>
          </p:cNvPr>
          <p:cNvSpPr txBox="1"/>
          <p:nvPr/>
        </p:nvSpPr>
        <p:spPr>
          <a:xfrm>
            <a:off x="6329459" y="384788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单电子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波函数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2141F0-BFB1-E2D7-438B-8242D4F6FF38}"/>
              </a:ext>
            </a:extLst>
          </p:cNvPr>
          <p:cNvSpPr txBox="1"/>
          <p:nvPr/>
        </p:nvSpPr>
        <p:spPr>
          <a:xfrm>
            <a:off x="7275839" y="384788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4472C4"/>
                </a:solidFill>
              </a:rPr>
              <a:t>单电子</a:t>
            </a:r>
            <a:endParaRPr lang="en-US" altLang="zh-CN" dirty="0">
              <a:solidFill>
                <a:srgbClr val="4472C4"/>
              </a:solidFill>
            </a:endParaRPr>
          </a:p>
          <a:p>
            <a:pPr algn="ctr"/>
            <a:r>
              <a:rPr lang="zh-CN" altLang="en-US" dirty="0">
                <a:solidFill>
                  <a:srgbClr val="4472C4"/>
                </a:solidFill>
              </a:rPr>
              <a:t>能量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795624-A6C9-4B6E-01E9-0A655D7FF3C8}"/>
              </a:ext>
            </a:extLst>
          </p:cNvPr>
          <p:cNvSpPr txBox="1"/>
          <p:nvPr/>
        </p:nvSpPr>
        <p:spPr>
          <a:xfrm>
            <a:off x="3931253" y="601165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其中，单电子感受到的平均场为周期性的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256939D-64A1-9940-A94C-F32A71DD4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18531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20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9852084-A685-1F48-035B-F49CC55000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当势场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形式简单时，我们能得到解</a:t>
                </a:r>
                <a:endParaRPr 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9852084-A685-1F48-035B-F49CC55000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8A876AF5-B885-139B-DB72-B7540F054C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58191601"/>
                  </p:ext>
                </p:extLst>
              </p:nvPr>
            </p:nvGraphicFramePr>
            <p:xfrm>
              <a:off x="291548" y="1569662"/>
              <a:ext cx="11700000" cy="4256786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728000">
                      <a:extLst>
                        <a:ext uri="{9D8B030D-6E8A-4147-A177-3AD203B41FA5}">
                          <a16:colId xmlns:a16="http://schemas.microsoft.com/office/drawing/2014/main" val="21848301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815092949"/>
                        </a:ext>
                      </a:extLst>
                    </a:gridCol>
                    <a:gridCol w="3060000">
                      <a:extLst>
                        <a:ext uri="{9D8B030D-6E8A-4147-A177-3AD203B41FA5}">
                          <a16:colId xmlns:a16="http://schemas.microsoft.com/office/drawing/2014/main" val="34516816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447402443"/>
                        </a:ext>
                      </a:extLst>
                    </a:gridCol>
                    <a:gridCol w="3672000">
                      <a:extLst>
                        <a:ext uri="{9D8B030D-6E8A-4147-A177-3AD203B41FA5}">
                          <a16:colId xmlns:a16="http://schemas.microsoft.com/office/drawing/2014/main" val="19063552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一维问题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势场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oMath>
                          </a14:m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波函数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色散关系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能量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340792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自由电子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≡0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平面波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二次型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oMath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连续取值</a:t>
                          </a:r>
                          <a:endParaRPr lang="en-US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4496009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盒中粒子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无限深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高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方势阱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势垒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阱内驻波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阱外为零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二次型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oMath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离散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zh-CN" altLang="en-US" sz="2400" b="0" dirty="0"/>
                            <a:t>基态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zh-CN" altLang="en-US" sz="2400" b="0" dirty="0"/>
                            <a:t>，能级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8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673183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有限深势阱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有限深势阱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阱内正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余弦函数叠加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阱外指数衰减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二次型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oMath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离散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zh-CN" altLang="en-US" sz="2400" b="0" dirty="0"/>
                            <a:t>与势阱有关，但至少存在一个束缚态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en-US" sz="2400" b="0" dirty="0"/>
                            <a:t>（</a:t>
                          </a:r>
                          <a:r>
                            <a:rPr lang="zh-CN" altLang="en-US" sz="2400" b="0" dirty="0"/>
                            <a:t>作图法求解</a:t>
                          </a:r>
                          <a:r>
                            <a:rPr lang="en-US" sz="2400" b="0" dirty="0"/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253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8A876AF5-B885-139B-DB72-B7540F054C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58191601"/>
                  </p:ext>
                </p:extLst>
              </p:nvPr>
            </p:nvGraphicFramePr>
            <p:xfrm>
              <a:off x="291548" y="1569662"/>
              <a:ext cx="11700000" cy="4256786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728000">
                      <a:extLst>
                        <a:ext uri="{9D8B030D-6E8A-4147-A177-3AD203B41FA5}">
                          <a16:colId xmlns:a16="http://schemas.microsoft.com/office/drawing/2014/main" val="21848301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815092949"/>
                        </a:ext>
                      </a:extLst>
                    </a:gridCol>
                    <a:gridCol w="3060000">
                      <a:extLst>
                        <a:ext uri="{9D8B030D-6E8A-4147-A177-3AD203B41FA5}">
                          <a16:colId xmlns:a16="http://schemas.microsoft.com/office/drawing/2014/main" val="34516816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447402443"/>
                        </a:ext>
                      </a:extLst>
                    </a:gridCol>
                    <a:gridCol w="3672000">
                      <a:extLst>
                        <a:ext uri="{9D8B030D-6E8A-4147-A177-3AD203B41FA5}">
                          <a16:colId xmlns:a16="http://schemas.microsoft.com/office/drawing/2014/main" val="190635526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一维问题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271" t="-16000" r="-455254" b="-85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波函数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色散关系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能量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3340792"/>
                      </a:ext>
                    </a:extLst>
                  </a:tr>
                  <a:tr h="11225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自由电子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271" t="-47283" r="-455254" b="-249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平面波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8475" t="-47283" r="-255932" b="-2494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连续取值</a:t>
                          </a:r>
                          <a:endParaRPr lang="en-US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4496009"/>
                      </a:ext>
                    </a:extLst>
                  </a:tr>
                  <a:tr h="11225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盒中粒子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无限深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高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方势阱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势垒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阱内驻波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阱外为零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8475" t="-146486" r="-255932" b="-1481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8574" t="-146486" r="-166" b="-1481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673183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有限深势阱</a:t>
                          </a:r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有限深势阱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阱内正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</a:rPr>
                            <a:t>/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余弦函数叠加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</a:rPr>
                            <a:t>阱外指数衰减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58475" t="-178824" r="-255932" b="-7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0" dirty="0"/>
                            <a:t>离散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zh-CN" altLang="en-US" sz="2400" b="0" dirty="0"/>
                            <a:t>与势阱有关，但至少存在一个束缚态</a:t>
                          </a:r>
                          <a:endParaRPr lang="en-US" altLang="zh-CN" sz="2400" b="0" dirty="0"/>
                        </a:p>
                        <a:p>
                          <a:pPr algn="ctr"/>
                          <a:r>
                            <a:rPr lang="en-US" sz="2400" b="0" dirty="0"/>
                            <a:t>（</a:t>
                          </a:r>
                          <a:r>
                            <a:rPr lang="zh-CN" altLang="en-US" sz="2400" b="0" dirty="0"/>
                            <a:t>作图法求解</a:t>
                          </a:r>
                          <a:r>
                            <a:rPr lang="en-US" sz="2400" b="0" dirty="0"/>
                            <a:t>）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25308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92AD8CD-3AE0-3938-A84C-448CA92628C2}"/>
                  </a:ext>
                </a:extLst>
              </p:cNvPr>
              <p:cNvSpPr txBox="1"/>
              <p:nvPr/>
            </p:nvSpPr>
            <p:spPr>
              <a:xfrm>
                <a:off x="885814" y="6094740"/>
                <a:ext cx="105114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</a:rPr>
                  <a:t>对于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周期性</m:t>
                    </m:r>
                    <m:r>
                      <a:rPr lang="zh-CN" alt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势场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FF0000"/>
                    </a:solidFill>
                  </a:rPr>
                  <a:t>，电子波函数和能量如何求解？</a:t>
                </a:r>
                <a:endParaRPr lang="en-US" altLang="zh-C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92AD8CD-3AE0-3938-A84C-448CA9262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14" y="6094740"/>
                <a:ext cx="10511467" cy="523220"/>
              </a:xfrm>
              <a:prstGeom prst="rect">
                <a:avLst/>
              </a:prstGeom>
              <a:blipFill>
                <a:blip r:embed="rId4"/>
                <a:stretch>
                  <a:fillRect l="-1159" t="-17442" r="-174" b="-26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C4FCE30-18A3-1E65-CEFF-8264F0E2C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7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第四章 能带理论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布洛赫定理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2EDB39-5DED-A9F1-358E-7606ED571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619DFB8-2ACF-65D4-B5B3-0FB75D8A1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周期性势场中的电子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A5EEF37-0D33-5A36-E18C-01FFC57C9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02128"/>
                <a:ext cx="10515600" cy="137483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因为晶体具有周期性，可以采用</a:t>
                </a:r>
                <a:r>
                  <a:rPr lang="en-US" altLang="zh-CN" dirty="0" err="1"/>
                  <a:t>BvK</a:t>
                </a:r>
                <a:r>
                  <a:rPr lang="zh-CN" altLang="en-US" dirty="0"/>
                  <a:t>周期性边界条件，将无限大的晶体空间化为有限大 “首尾相接”的空间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A5EEF37-0D33-5A36-E18C-01FFC57C9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02128"/>
                <a:ext cx="10515600" cy="1374835"/>
              </a:xfrm>
              <a:blipFill>
                <a:blip r:embed="rId2"/>
                <a:stretch>
                  <a:fillRect l="-928" t="-5333" r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3F82C784-FF34-03CF-936E-A6F3D83E41EC}"/>
              </a:ext>
            </a:extLst>
          </p:cNvPr>
          <p:cNvSpPr/>
          <p:nvPr/>
        </p:nvSpPr>
        <p:spPr>
          <a:xfrm>
            <a:off x="2085077" y="2457139"/>
            <a:ext cx="2842592" cy="4892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: 空心 7">
            <a:extLst>
              <a:ext uri="{FF2B5EF4-FFF2-40B4-BE49-F238E27FC236}">
                <a16:creationId xmlns:a16="http://schemas.microsoft.com/office/drawing/2014/main" id="{9CD5090B-51F9-A63A-F01F-6AECC38A3756}"/>
              </a:ext>
            </a:extLst>
          </p:cNvPr>
          <p:cNvSpPr/>
          <p:nvPr/>
        </p:nvSpPr>
        <p:spPr>
          <a:xfrm>
            <a:off x="7313061" y="1472648"/>
            <a:ext cx="2458278" cy="2458278"/>
          </a:xfrm>
          <a:prstGeom prst="donu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D654372-38B4-F6D8-E530-CE99CFC82941}"/>
              </a:ext>
            </a:extLst>
          </p:cNvPr>
          <p:cNvSpPr/>
          <p:nvPr/>
        </p:nvSpPr>
        <p:spPr>
          <a:xfrm>
            <a:off x="5570399" y="2393932"/>
            <a:ext cx="1243033" cy="6157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E73E663-128F-9ABD-95D5-161B080CA703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8542200" y="1472648"/>
            <a:ext cx="0" cy="6195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26782AB-C3EB-738C-74F8-86174E33C8D0}"/>
              </a:ext>
            </a:extLst>
          </p:cNvPr>
          <p:cNvCxnSpPr/>
          <p:nvPr/>
        </p:nvCxnSpPr>
        <p:spPr>
          <a:xfrm>
            <a:off x="2085077" y="3364395"/>
            <a:ext cx="284259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0FB5F90-0F71-F439-B451-09CBE5BC4436}"/>
              </a:ext>
            </a:extLst>
          </p:cNvPr>
          <p:cNvSpPr txBox="1"/>
          <p:nvPr/>
        </p:nvSpPr>
        <p:spPr>
          <a:xfrm>
            <a:off x="3029319" y="351454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</a:rPr>
              <a:t>无限长</a:t>
            </a: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CDD07176-E6F1-E949-B59E-288E73BD565D}"/>
              </a:ext>
            </a:extLst>
          </p:cNvPr>
          <p:cNvSpPr/>
          <p:nvPr/>
        </p:nvSpPr>
        <p:spPr>
          <a:xfrm>
            <a:off x="7102200" y="1261786"/>
            <a:ext cx="2880000" cy="2880000"/>
          </a:xfrm>
          <a:prstGeom prst="arc">
            <a:avLst>
              <a:gd name="adj1" fmla="val 16547816"/>
              <a:gd name="adj2" fmla="val 15796384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8E361E-EC65-327E-306B-EB9001C0AA36}"/>
              </a:ext>
            </a:extLst>
          </p:cNvPr>
          <p:cNvSpPr txBox="1"/>
          <p:nvPr/>
        </p:nvSpPr>
        <p:spPr>
          <a:xfrm>
            <a:off x="7498484" y="4191158"/>
            <a:ext cx="2087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有限长，长度为</a:t>
            </a:r>
            <a:r>
              <a:rPr lang="en-US" altLang="zh-CN" sz="2000" dirty="0">
                <a:solidFill>
                  <a:srgbClr val="FF0000"/>
                </a:solidFill>
              </a:rPr>
              <a:t>L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103862-54AF-BDB6-2679-5B5D78F6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98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391F0-085F-0356-BACF-0855CDC3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猜想：波函数也要满足周期性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FA7F3-64CB-2622-C99D-97C93BCB4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257800" cy="478168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/>
                  <a:t>简单猜想：</a:t>
                </a:r>
                <a:r>
                  <a:rPr kumimoji="0" lang="en-US" altLang="zh-CN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l-GR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altLang="zh-CN" sz="2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lang="el-GR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/>
                  <a:t>例如，自由电子波函数为平面波</a:t>
                </a:r>
                <a14:m>
                  <m:oMath xmlns:m="http://schemas.openxmlformats.org/officeDocument/2006/math">
                    <m:r>
                      <a:rPr lang="el-GR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</m:oMath>
                </a14:m>
                <a:r>
                  <a:rPr lang="zh-CN" altLang="en-US" sz="2800" b="0" dirty="0">
                    <a:latin typeface="+mn-ea"/>
                  </a:rPr>
                  <a:t>，色散关系为抛物线型</a:t>
                </a:r>
                <a:endParaRPr lang="en-US" altLang="zh-CN" sz="2800" b="0" dirty="0">
                  <a:latin typeface="+mn-ea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带入</a:t>
                </a:r>
                <a14:m>
                  <m:oMath xmlns:m="http://schemas.openxmlformats.org/officeDocument/2006/math">
                    <m:r>
                      <a:rPr lang="el-GR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得到自由电子解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FA7F3-64CB-2622-C99D-97C93BCB4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257800" cy="4781687"/>
              </a:xfrm>
              <a:blipFill>
                <a:blip r:embed="rId2"/>
                <a:stretch>
                  <a:fillRect l="-1856" t="-2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EAF365E9-0706-2C0D-F854-23DB3771EC2C}"/>
              </a:ext>
            </a:extLst>
          </p:cNvPr>
          <p:cNvGrpSpPr/>
          <p:nvPr/>
        </p:nvGrpSpPr>
        <p:grpSpPr>
          <a:xfrm>
            <a:off x="6169152" y="1542288"/>
            <a:ext cx="5870448" cy="5065023"/>
            <a:chOff x="6169152" y="1542288"/>
            <a:chExt cx="5870448" cy="5065023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16ACB162-B3C6-96C6-A5E2-9F70380778CA}"/>
                </a:ext>
              </a:extLst>
            </p:cNvPr>
            <p:cNvSpPr/>
            <p:nvPr/>
          </p:nvSpPr>
          <p:spPr>
            <a:xfrm>
              <a:off x="6169152" y="1542288"/>
              <a:ext cx="5870448" cy="5065023"/>
            </a:xfrm>
            <a:prstGeom prst="roundRect">
              <a:avLst>
                <a:gd name="adj" fmla="val 4811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7BE0DFD-AEAD-DFA9-67F5-153E662DE4D1}"/>
                    </a:ext>
                  </a:extLst>
                </p:cNvPr>
                <p:cNvSpPr txBox="1"/>
                <p:nvPr/>
              </p:nvSpPr>
              <p:spPr>
                <a:xfrm>
                  <a:off x="9936305" y="2519691"/>
                  <a:ext cx="1683224" cy="5107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altLang="zh-CN" sz="1600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ℕ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lang="zh-CN" altLang="en-US" sz="1600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7BE0DFD-AEAD-DFA9-67F5-153E662DE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6305" y="2519691"/>
                  <a:ext cx="1683224" cy="510781"/>
                </a:xfrm>
                <a:prstGeom prst="rect">
                  <a:avLst/>
                </a:prstGeom>
                <a:blipFill>
                  <a:blip r:embed="rId3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D6207AD-85E4-1351-5663-E6935F003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13" r="72189" b="16454"/>
            <a:stretch>
              <a:fillRect/>
            </a:stretch>
          </p:blipFill>
          <p:spPr>
            <a:xfrm>
              <a:off x="6414200" y="3060777"/>
              <a:ext cx="3047852" cy="2994991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925EEAE-3D0C-484C-9D56-63E665B6A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452" t="11197" r="72189" b="16454"/>
            <a:stretch>
              <a:fillRect/>
            </a:stretch>
          </p:blipFill>
          <p:spPr>
            <a:xfrm>
              <a:off x="10137814" y="3358407"/>
              <a:ext cx="1683224" cy="26973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B3CF43B-FF3C-7180-1B42-0BD46474F183}"/>
                    </a:ext>
                  </a:extLst>
                </p:cNvPr>
                <p:cNvSpPr txBox="1"/>
                <p:nvPr/>
              </p:nvSpPr>
              <p:spPr>
                <a:xfrm>
                  <a:off x="8397600" y="5983627"/>
                  <a:ext cx="433773" cy="4956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B3CF43B-FF3C-7180-1B42-0BD46474F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7600" y="5983627"/>
                  <a:ext cx="433773" cy="495649"/>
                </a:xfrm>
                <a:prstGeom prst="rect">
                  <a:avLst/>
                </a:prstGeom>
                <a:blipFill>
                  <a:blip r:embed="rId5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3FDA907-4907-7A05-028C-418BA49BC0C1}"/>
                    </a:ext>
                  </a:extLst>
                </p:cNvPr>
                <p:cNvSpPr txBox="1"/>
                <p:nvPr/>
              </p:nvSpPr>
              <p:spPr>
                <a:xfrm>
                  <a:off x="7677584" y="6120433"/>
                  <a:ext cx="32412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3FDA907-4907-7A05-028C-418BA49BC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7584" y="6120433"/>
                  <a:ext cx="32412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8C81FA-31B3-4873-DF64-482FDD425CE0}"/>
                    </a:ext>
                  </a:extLst>
                </p:cNvPr>
                <p:cNvSpPr txBox="1"/>
                <p:nvPr/>
              </p:nvSpPr>
              <p:spPr>
                <a:xfrm>
                  <a:off x="6657507" y="5985531"/>
                  <a:ext cx="598369" cy="4956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8C81FA-31B3-4873-DF64-482FDD425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7507" y="5985531"/>
                  <a:ext cx="598369" cy="495649"/>
                </a:xfrm>
                <a:prstGeom prst="rect">
                  <a:avLst/>
                </a:prstGeom>
                <a:blipFill>
                  <a:blip r:embed="rId7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C114049D-C884-8346-5D4E-81439529E88D}"/>
                </a:ext>
              </a:extLst>
            </p:cNvPr>
            <p:cNvSpPr/>
            <p:nvPr/>
          </p:nvSpPr>
          <p:spPr>
            <a:xfrm>
              <a:off x="7760137" y="5889324"/>
              <a:ext cx="145770" cy="14577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C985BB4-2B55-C545-0E29-3D1F7EC782AE}"/>
                </a:ext>
              </a:extLst>
            </p:cNvPr>
            <p:cNvSpPr/>
            <p:nvPr/>
          </p:nvSpPr>
          <p:spPr>
            <a:xfrm>
              <a:off x="8541602" y="5123180"/>
              <a:ext cx="145770" cy="14577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0721651-EF28-3230-9EC3-FC5A24B5E382}"/>
                </a:ext>
              </a:extLst>
            </p:cNvPr>
            <p:cNvSpPr/>
            <p:nvPr/>
          </p:nvSpPr>
          <p:spPr>
            <a:xfrm>
              <a:off x="6966575" y="5123180"/>
              <a:ext cx="145770" cy="14577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2CEFDB1-D52E-616A-B70E-7092D4A814A6}"/>
                    </a:ext>
                  </a:extLst>
                </p:cNvPr>
                <p:cNvSpPr txBox="1"/>
                <p:nvPr/>
              </p:nvSpPr>
              <p:spPr>
                <a:xfrm>
                  <a:off x="6918622" y="2459932"/>
                  <a:ext cx="1842052" cy="6303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oMath>
                    </m:oMathPara>
                  </a14:m>
                  <a:endParaRPr lang="en-US" altLang="zh-CN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2CEFDB1-D52E-616A-B70E-7092D4A81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8622" y="2459932"/>
                  <a:ext cx="1842052" cy="63030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B6C5850-C84D-6DEC-8393-4F69AD3AEF7C}"/>
                    </a:ext>
                  </a:extLst>
                </p:cNvPr>
                <p:cNvSpPr txBox="1"/>
                <p:nvPr/>
              </p:nvSpPr>
              <p:spPr>
                <a:xfrm>
                  <a:off x="10413800" y="6000473"/>
                  <a:ext cx="334387" cy="4583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zh-CN" altLang="en-US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B6C5850-C84D-6DEC-8393-4F69AD3AE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800" y="6000473"/>
                  <a:ext cx="334387" cy="45839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702FEF2-84EE-44FA-F81A-B9A164541C6E}"/>
                    </a:ext>
                  </a:extLst>
                </p:cNvPr>
                <p:cNvSpPr txBox="1"/>
                <p:nvPr/>
              </p:nvSpPr>
              <p:spPr>
                <a:xfrm>
                  <a:off x="10764640" y="5963219"/>
                  <a:ext cx="433773" cy="4956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702FEF2-84EE-44FA-F81A-B9A164541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4640" y="5963219"/>
                  <a:ext cx="433773" cy="495649"/>
                </a:xfrm>
                <a:prstGeom prst="rect">
                  <a:avLst/>
                </a:prstGeom>
                <a:blipFill>
                  <a:blip r:embed="rId10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FE02CD9-DDC5-CD4A-607B-6219B98DB479}"/>
                    </a:ext>
                  </a:extLst>
                </p:cNvPr>
                <p:cNvSpPr txBox="1"/>
                <p:nvPr/>
              </p:nvSpPr>
              <p:spPr>
                <a:xfrm>
                  <a:off x="11179970" y="5965344"/>
                  <a:ext cx="433773" cy="4956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14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CN" altLang="en-US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14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FE02CD9-DDC5-CD4A-607B-6219B98DB4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9970" y="5965344"/>
                  <a:ext cx="433773" cy="495649"/>
                </a:xfrm>
                <a:prstGeom prst="rect">
                  <a:avLst/>
                </a:prstGeom>
                <a:blipFill>
                  <a:blip r:embed="rId11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31E145D8-CA22-9F0E-027D-83C8E1A03345}"/>
                </a:ext>
              </a:extLst>
            </p:cNvPr>
            <p:cNvSpPr/>
            <p:nvPr/>
          </p:nvSpPr>
          <p:spPr>
            <a:xfrm>
              <a:off x="10508109" y="5697828"/>
              <a:ext cx="145770" cy="145770"/>
            </a:xfrm>
            <a:prstGeom prst="ellipse">
              <a:avLst/>
            </a:prstGeom>
            <a:noFill/>
            <a:ln w="28575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C6654F1-C575-7F04-52D3-3F71333A5B39}"/>
                </a:ext>
              </a:extLst>
            </p:cNvPr>
            <p:cNvSpPr/>
            <p:nvPr/>
          </p:nvSpPr>
          <p:spPr>
            <a:xfrm>
              <a:off x="10906541" y="5103797"/>
              <a:ext cx="145770" cy="145770"/>
            </a:xfrm>
            <a:prstGeom prst="ellipse">
              <a:avLst/>
            </a:prstGeom>
            <a:noFill/>
            <a:ln w="28575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F4D42DCC-C24A-F442-99D8-4B9486D4F91E}"/>
                </a:ext>
              </a:extLst>
            </p:cNvPr>
            <p:cNvSpPr/>
            <p:nvPr/>
          </p:nvSpPr>
          <p:spPr>
            <a:xfrm>
              <a:off x="11298656" y="4123480"/>
              <a:ext cx="145770" cy="145770"/>
            </a:xfrm>
            <a:prstGeom prst="ellipse">
              <a:avLst/>
            </a:prstGeom>
            <a:noFill/>
            <a:ln w="28575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7FF1EFF-CEAD-D0F8-DAD3-1F328330B394}"/>
                </a:ext>
              </a:extLst>
            </p:cNvPr>
            <p:cNvSpPr txBox="1"/>
            <p:nvPr/>
          </p:nvSpPr>
          <p:spPr>
            <a:xfrm>
              <a:off x="6843803" y="1768282"/>
              <a:ext cx="1916871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一维</a:t>
              </a:r>
              <a:r>
                <a:rPr lang="en-US" altLang="zh-CN" dirty="0" err="1">
                  <a:solidFill>
                    <a:srgbClr val="FF0000"/>
                  </a:solidFill>
                </a:rPr>
                <a:t>BvK</a:t>
              </a:r>
              <a:r>
                <a:rPr lang="zh-CN" altLang="en-US" dirty="0">
                  <a:solidFill>
                    <a:srgbClr val="FF0000"/>
                  </a:solidFill>
                </a:rPr>
                <a:t>自由电子</a:t>
              </a:r>
              <a:endParaRPr lang="en-US" altLang="zh-CN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dirty="0">
                  <a:solidFill>
                    <a:srgbClr val="FF0000"/>
                  </a:solidFill>
                </a:rPr>
                <a:t>（空间长度为</a:t>
              </a:r>
              <a:r>
                <a:rPr lang="en-US" altLang="zh-CN" dirty="0">
                  <a:solidFill>
                    <a:srgbClr val="FF0000"/>
                  </a:solidFill>
                </a:rPr>
                <a:t>L</a:t>
              </a:r>
              <a:r>
                <a:rPr lang="zh-CN" altLang="en-US" dirty="0">
                  <a:solidFill>
                    <a:srgbClr val="FF0000"/>
                  </a:solidFill>
                </a:rPr>
                <a:t>）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2F4FAA2-8910-7538-3674-64765CDCA335}"/>
                </a:ext>
              </a:extLst>
            </p:cNvPr>
            <p:cNvSpPr txBox="1"/>
            <p:nvPr/>
          </p:nvSpPr>
          <p:spPr>
            <a:xfrm>
              <a:off x="9640477" y="1766472"/>
              <a:ext cx="2129109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4472C4"/>
                  </a:solidFill>
                </a:rPr>
                <a:t>一维盒中电子</a:t>
              </a:r>
              <a:endParaRPr lang="en-US" altLang="zh-CN" dirty="0">
                <a:solidFill>
                  <a:srgbClr val="4472C4"/>
                </a:solidFill>
              </a:endParaRPr>
            </a:p>
            <a:p>
              <a:pPr algn="ctr"/>
              <a:r>
                <a:rPr lang="zh-CN" altLang="en-US" dirty="0">
                  <a:solidFill>
                    <a:srgbClr val="4472C4"/>
                  </a:solidFill>
                </a:rPr>
                <a:t>（方势阱长度为</a:t>
              </a:r>
              <a:r>
                <a:rPr lang="en-US" altLang="zh-CN" dirty="0">
                  <a:solidFill>
                    <a:srgbClr val="4472C4"/>
                  </a:solidFill>
                </a:rPr>
                <a:t>L</a:t>
              </a:r>
              <a:r>
                <a:rPr lang="zh-CN" altLang="en-US" dirty="0">
                  <a:solidFill>
                    <a:srgbClr val="4472C4"/>
                  </a:solidFill>
                </a:rPr>
                <a:t>）</a:t>
              </a:r>
            </a:p>
          </p:txBody>
        </p:sp>
      </p:grp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36C122AD-DE02-DE26-F185-217B5EA26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14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391F0-085F-0356-BACF-0855CDC3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与实验结果不符！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FA7F3-64CB-2622-C99D-97C93BCB4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168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/>
                  <a:t>若仅考虑满足</a:t>
                </a:r>
                <a14:m>
                  <m:oMath xmlns:m="http://schemas.openxmlformats.org/officeDocument/2006/math">
                    <m:r>
                      <a:rPr lang="el-GR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zh-CN" altLang="en-US" dirty="0"/>
                  <a:t>的电子波函数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，则晶体中电子能量为一系列分立能级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与电子能量相关的所有实验</a:t>
                </a:r>
                <a:r>
                  <a:rPr lang="zh-CN" altLang="en-US" dirty="0"/>
                  <a:t>结果也应是分立的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/>
                  <a:t>吸收谱、发射谱看上去会像是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原子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分子气体谱线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金属的电导率会为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0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等等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……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与实验结果对不上！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问题出在哪？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0FA7F3-64CB-2622-C99D-97C93BCB4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1687"/>
              </a:xfrm>
              <a:blipFill>
                <a:blip r:embed="rId2"/>
                <a:stretch>
                  <a:fillRect l="-1043" t="-1529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0667529-0205-2A66-A252-B9B97C21B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18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B506-D1B1-B5AC-12C5-BA7D3A80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CBC90-6799-570B-E5E4-D2930352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周期性波函数的真实形式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3DA720-6A15-2159-02B8-5EDB1A1859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168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l-GR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可以证明，这样的波函数的确是周期性势场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zh-CN" altLang="en-US" dirty="0"/>
                  <a:t>的解</a:t>
                </a:r>
                <a:endParaRPr lang="en-US" altLang="zh-CN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b="1" dirty="0"/>
                  <a:t>直观理解：</a:t>
                </a:r>
                <a:r>
                  <a:rPr lang="zh-CN" altLang="en-US" dirty="0"/>
                  <a:t>周期性势场并不强迫波函数具有严格周期性，而是</a:t>
                </a:r>
                <a:r>
                  <a:rPr lang="zh-CN" altLang="en-US" b="1" dirty="0"/>
                  <a:t>在晶格平移下只差一个相位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这个相位具体长什么样子？如何求解？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3DA720-6A15-2159-02B8-5EDB1A1859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1687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A376824-A436-47A3-1EE9-13B5A0BC5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47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3006B-A30A-A394-630F-E14AB6F9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布洛赫定理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42895B-5E3C-D033-9562-78153BB5B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577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+mn-ea"/>
              </a:rPr>
              <a:t>“当我开始思考这个问题时，我感到主要的问题在于，如何解释电子能够穿过金属中的所有离子，而不使其平均自由程与原子间距同量级。这种距离（指原子间距）太短，无法解释所观察到的电阻；（所观察到的）电阻甚至要求随着温度的降低，平均自由程变得越来越长。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+mn-ea"/>
              </a:rPr>
              <a:t>“通过直接的傅里叶分析，我惊喜地发现，（固体中的电子）波与自由电子的平面波只差一个周期性调制。这么简单的东西，我没觉得这会是多大的发现，但当我把它展示给海森堡时，他立刻说：</a:t>
            </a:r>
            <a:r>
              <a:rPr lang="en-US" altLang="zh-CN" sz="2400" dirty="0"/>
              <a:t>‘That’s it!’ </a:t>
            </a:r>
            <a:r>
              <a:rPr lang="zh-CN" altLang="en-US" sz="2400" dirty="0">
                <a:latin typeface="+mn-ea"/>
              </a:rPr>
              <a:t>不过，当时我尚未完全搞清楚，我的计算直到夏天才完成，那时我写了我的论文</a:t>
            </a:r>
            <a:r>
              <a:rPr lang="en-US" altLang="zh-CN" sz="2400" dirty="0">
                <a:latin typeface="+mn-ea"/>
              </a:rPr>
              <a:t>《</a:t>
            </a:r>
            <a:r>
              <a:rPr lang="zh-CN" altLang="en-US" sz="2400" dirty="0">
                <a:latin typeface="+mn-ea"/>
              </a:rPr>
              <a:t>晶格中电子的量子力学</a:t>
            </a:r>
            <a:r>
              <a:rPr lang="en-US" altLang="zh-CN" sz="2400" dirty="0">
                <a:latin typeface="+mn-ea"/>
              </a:rPr>
              <a:t>》</a:t>
            </a:r>
            <a:r>
              <a:rPr lang="zh-CN" altLang="en-US" sz="2400" dirty="0">
                <a:latin typeface="+mn-ea"/>
              </a:rPr>
              <a:t>。”</a:t>
            </a:r>
            <a:endParaRPr lang="en-US" altLang="zh-CN" sz="2400" dirty="0">
              <a:latin typeface="+mn-ea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—— Felix Bloch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00598F-813E-7C2B-E65E-607F5B91B5CF}"/>
              </a:ext>
            </a:extLst>
          </p:cNvPr>
          <p:cNvSpPr txBox="1"/>
          <p:nvPr/>
        </p:nvSpPr>
        <p:spPr>
          <a:xfrm>
            <a:off x="1073426" y="6123543"/>
            <a:ext cx="744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布洛赫是海森堡的第一任研究生，他于</a:t>
            </a:r>
            <a:r>
              <a:rPr lang="en-US" altLang="zh-CN" dirty="0"/>
              <a:t>1928</a:t>
            </a:r>
            <a:r>
              <a:rPr lang="zh-CN" altLang="en-US" dirty="0"/>
              <a:t>年获博士学位，时年</a:t>
            </a:r>
            <a:r>
              <a:rPr lang="en-US" altLang="zh-CN" dirty="0"/>
              <a:t>23</a:t>
            </a:r>
            <a:r>
              <a:rPr lang="zh-CN" altLang="en-US" dirty="0"/>
              <a:t>岁</a:t>
            </a:r>
          </a:p>
        </p:txBody>
      </p:sp>
      <p:pic>
        <p:nvPicPr>
          <p:cNvPr id="9" name="图片 8" descr="穿着西装笔挺的男子黑白照&#10;&#10;描述已自动生成">
            <a:extLst>
              <a:ext uri="{FF2B5EF4-FFF2-40B4-BE49-F238E27FC236}">
                <a16:creationId xmlns:a16="http://schemas.microsoft.com/office/drawing/2014/main" id="{436B9659-320C-B265-76D5-FEA141C6B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799" y="437496"/>
            <a:ext cx="1113181" cy="166977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250DF53-DCD1-E40F-FDDB-2B5B11BB2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96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54AC17-42A4-0F6A-4191-47760A4F12C2}"/>
              </a:ext>
            </a:extLst>
          </p:cNvPr>
          <p:cNvSpPr/>
          <p:nvPr/>
        </p:nvSpPr>
        <p:spPr>
          <a:xfrm>
            <a:off x="689113" y="1690687"/>
            <a:ext cx="10893287" cy="4670355"/>
          </a:xfrm>
          <a:prstGeom prst="roundRect">
            <a:avLst>
              <a:gd name="adj" fmla="val 6524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901514-4CCB-BDD9-F2C5-6A319D9B2B22}"/>
              </a:ext>
            </a:extLst>
          </p:cNvPr>
          <p:cNvSpPr/>
          <p:nvPr/>
        </p:nvSpPr>
        <p:spPr>
          <a:xfrm>
            <a:off x="7050157" y="3531704"/>
            <a:ext cx="854765" cy="483705"/>
          </a:xfrm>
          <a:prstGeom prst="rect">
            <a:avLst/>
          </a:prstGeom>
          <a:solidFill>
            <a:srgbClr val="FFFF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307BEB3-F6A4-E266-D28A-CCF677A1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布洛赫定理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Bloch’s theorem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D7680-5D76-6334-A786-5809391F5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周期性势场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中的波函数具有如下形式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l-GR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𝒓</m:t>
                          </m:r>
                        </m:e>
                      </m:d>
                      <m:r>
                        <a:rPr kumimoji="0" lang="en-US" altLang="zh-CN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或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l-GR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𝒓</m:t>
                          </m:r>
                          <m: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lang="el-GR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其中，</a:t>
                </a:r>
                <a:r>
                  <a:rPr kumimoji="0" lang="en-US" altLang="zh-CN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𝑢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 是和势场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 具有同周期的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周期性函数</a:t>
                </a:r>
                <a:r>
                  <a:rPr lang="zh-CN" altLang="en-US" dirty="0"/>
                  <a:t>，即 </a:t>
                </a:r>
                <a:br>
                  <a:rPr lang="zh-CN" altLang="en-US" dirty="0"/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这样的波函数</a:t>
                </a:r>
                <a14:m>
                  <m:oMath xmlns:m="http://schemas.openxmlformats.org/officeDocument/2006/math">
                    <m:r>
                      <a:rPr lang="el-GR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布洛赫函数（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Bloch function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dirty="0"/>
                  <a:t>或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布洛赫态（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Bloch state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dirty="0"/>
                  <a:t>，布洛赫态描述的电子称为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布洛赫电子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D7680-5D76-6334-A786-5809391F5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9B538F7E-58A2-B3F2-6F6E-775BEE6F19F6}"/>
              </a:ext>
            </a:extLst>
          </p:cNvPr>
          <p:cNvSpPr txBox="1"/>
          <p:nvPr/>
        </p:nvSpPr>
        <p:spPr>
          <a:xfrm>
            <a:off x="7154373" y="316237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相位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FB57B5D-E989-5DDE-4FA4-1ADFFA3A1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0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F3CBD-12BB-2EEF-53E7-5F1F1727C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布洛赫定理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52903-EF5C-D8EE-CA4B-8C2C1C8A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FandolHei-Regular-Identity-H"/>
              </a:rPr>
              <a:t>布洛赫定理表明，不管周期性势场的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FandolHei-Regular-Identity-H"/>
              </a:rPr>
              <a:t>具体形式如何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FandolHei-Regular-Identity-H"/>
              </a:rPr>
              <a:t>，在周期性势场中运动的单电子波函数不再是平面波，而是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FandolHei-Regular-Identity-H"/>
              </a:rPr>
              <a:t>调幅平面波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FandolHei-Regular-Identity-H"/>
              </a:rPr>
              <a:t>，其振幅不再是常数，而是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FandolHei-Regular-Identity-H"/>
              </a:rPr>
              <a:t>按照晶格的周期而变化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FandolHei-Regular-Identity-H"/>
              </a:rPr>
              <a:t>。</a:t>
            </a:r>
            <a:r>
              <a:rPr lang="zh-CN" altLang="en-US" sz="2400" dirty="0"/>
              <a:t> </a:t>
            </a:r>
            <a:br>
              <a:rPr lang="zh-CN" altLang="en-US" sz="2400" dirty="0"/>
            </a:br>
            <a:endParaRPr lang="zh-CN" altLang="en-US" sz="2400" dirty="0"/>
          </a:p>
        </p:txBody>
      </p:sp>
      <p:pic>
        <p:nvPicPr>
          <p:cNvPr id="6" name="图片 5" descr="图表, 折线图&#10;&#10;描述已自动生成">
            <a:extLst>
              <a:ext uri="{FF2B5EF4-FFF2-40B4-BE49-F238E27FC236}">
                <a16:creationId xmlns:a16="http://schemas.microsoft.com/office/drawing/2014/main" id="{FCEDA5F3-1861-0B95-C396-2988E361F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47058"/>
            <a:ext cx="4916660" cy="2288138"/>
          </a:xfrm>
          <a:prstGeom prst="rect">
            <a:avLst/>
          </a:prstGeom>
        </p:spPr>
      </p:pic>
      <p:pic>
        <p:nvPicPr>
          <p:cNvPr id="8" name="图片 7" descr="图示&#10;&#10;描述已自动生成">
            <a:extLst>
              <a:ext uri="{FF2B5EF4-FFF2-40B4-BE49-F238E27FC236}">
                <a16:creationId xmlns:a16="http://schemas.microsoft.com/office/drawing/2014/main" id="{FE135DF5-26ED-94A6-6AA4-5231273B8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142" y="3146162"/>
            <a:ext cx="4485844" cy="354726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FB4DB3F-59F8-FCFE-2C0D-25994B7B76D3}"/>
              </a:ext>
            </a:extLst>
          </p:cNvPr>
          <p:cNvSpPr txBox="1"/>
          <p:nvPr/>
        </p:nvSpPr>
        <p:spPr>
          <a:xfrm>
            <a:off x="1536023" y="3231970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平面波波长大于晶格常数时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8D7760-60AE-8F5E-A544-76D4860CEA37}"/>
              </a:ext>
            </a:extLst>
          </p:cNvPr>
          <p:cNvSpPr txBox="1"/>
          <p:nvPr/>
        </p:nvSpPr>
        <p:spPr>
          <a:xfrm>
            <a:off x="7084114" y="2776830"/>
            <a:ext cx="319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平面波波长与晶格常数相近时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B2317BF-DC51-E7AD-35E0-2C62AC7FCD6F}"/>
                  </a:ext>
                </a:extLst>
              </p:cNvPr>
              <p:cNvSpPr txBox="1"/>
              <p:nvPr/>
            </p:nvSpPr>
            <p:spPr>
              <a:xfrm>
                <a:off x="2219739" y="713605"/>
                <a:ext cx="6096000" cy="539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0" lang="el-GR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kumimoji="0" lang="en-US" altLang="zh-CN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sSup>
                        <m:sSup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B2317BF-DC51-E7AD-35E0-2C62AC7FC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739" y="713605"/>
                <a:ext cx="6096000" cy="539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40F2395-757F-6D91-4229-B807002C3119}"/>
              </a:ext>
            </a:extLst>
          </p:cNvPr>
          <p:cNvSpPr txBox="1"/>
          <p:nvPr/>
        </p:nvSpPr>
        <p:spPr>
          <a:xfrm>
            <a:off x="341873" y="362603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红色：周期性部分（调幅）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绿色：平面波部分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0007C0-8ABD-44D7-FDE5-362452E8A063}"/>
              </a:ext>
            </a:extLst>
          </p:cNvPr>
          <p:cNvSpPr txBox="1"/>
          <p:nvPr/>
        </p:nvSpPr>
        <p:spPr>
          <a:xfrm>
            <a:off x="6251187" y="4486859"/>
            <a:ext cx="1563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周期性部分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zh-CN" altLang="en-US" dirty="0">
                <a:solidFill>
                  <a:srgbClr val="7030A0"/>
                </a:solidFill>
              </a:rPr>
              <a:t>实部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B050"/>
                </a:solidFill>
              </a:rPr>
              <a:t>虚部</a:t>
            </a:r>
            <a:r>
              <a:rPr lang="zh-CN" altLang="en-US" dirty="0"/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4A1C62-7BF0-BD2D-C3D4-9BA860A3C11D}"/>
              </a:ext>
            </a:extLst>
          </p:cNvPr>
          <p:cNvSpPr txBox="1"/>
          <p:nvPr/>
        </p:nvSpPr>
        <p:spPr>
          <a:xfrm>
            <a:off x="9866243" y="4486859"/>
            <a:ext cx="1673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平面波部分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zh-CN" altLang="en-US" dirty="0">
                <a:solidFill>
                  <a:srgbClr val="7030A0"/>
                </a:solidFill>
              </a:rPr>
              <a:t>实部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B050"/>
                </a:solidFill>
              </a:rPr>
              <a:t>虚部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DE47503-4C53-8154-8BBD-5F8DF165E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42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099DDD-D6AB-0950-17A9-0660CA138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dirty="0"/>
                  <a:t>注意到：布洛赫波函数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由周期函数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唯一确定，而求解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只需要在原胞中进行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6099DDD-D6AB-0950-17A9-0660CA138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8345A0E-8176-F895-1C82-958F4666C4FF}"/>
              </a:ext>
            </a:extLst>
          </p:cNvPr>
          <p:cNvSpPr/>
          <p:nvPr/>
        </p:nvSpPr>
        <p:spPr>
          <a:xfrm>
            <a:off x="6539484" y="3145769"/>
            <a:ext cx="4155019" cy="3120887"/>
          </a:xfrm>
          <a:prstGeom prst="roundRect">
            <a:avLst/>
          </a:prstGeom>
          <a:solidFill>
            <a:srgbClr val="4472C4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DA2873F-3C69-8C2B-D1E8-B399FAC03BE4}"/>
              </a:ext>
            </a:extLst>
          </p:cNvPr>
          <p:cNvSpPr/>
          <p:nvPr/>
        </p:nvSpPr>
        <p:spPr>
          <a:xfrm>
            <a:off x="925728" y="3145769"/>
            <a:ext cx="4155019" cy="3120887"/>
          </a:xfrm>
          <a:prstGeom prst="roundRect">
            <a:avLst/>
          </a:prstGeom>
          <a:solidFill>
            <a:srgbClr val="4472C4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整个晶体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(~10</a:t>
            </a:r>
            <a:r>
              <a:rPr lang="en-US" altLang="zh-CN" sz="2800" baseline="30000" dirty="0">
                <a:solidFill>
                  <a:schemeClr val="tx1"/>
                </a:solidFill>
              </a:rPr>
              <a:t>23</a:t>
            </a:r>
            <a:r>
              <a:rPr lang="zh-CN" altLang="en-US" sz="2800" dirty="0">
                <a:solidFill>
                  <a:schemeClr val="tx1"/>
                </a:solidFill>
              </a:rPr>
              <a:t>原子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B08D90-15D8-2009-EC1E-35764C10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FBB68F-96E4-315B-2C78-B81FF25692B3}"/>
                  </a:ext>
                </a:extLst>
              </p:cNvPr>
              <p:cNvSpPr txBox="1"/>
              <p:nvPr/>
            </p:nvSpPr>
            <p:spPr>
              <a:xfrm>
                <a:off x="2335490" y="4511943"/>
                <a:ext cx="13354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9FBB68F-96E4-315B-2C78-B81FF2569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490" y="4511943"/>
                <a:ext cx="133549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箭头: 右 8">
            <a:extLst>
              <a:ext uri="{FF2B5EF4-FFF2-40B4-BE49-F238E27FC236}">
                <a16:creationId xmlns:a16="http://schemas.microsoft.com/office/drawing/2014/main" id="{E5845106-BBC0-087F-1B8E-58602AFF5E85}"/>
              </a:ext>
            </a:extLst>
          </p:cNvPr>
          <p:cNvSpPr/>
          <p:nvPr/>
        </p:nvSpPr>
        <p:spPr>
          <a:xfrm>
            <a:off x="5215192" y="4408038"/>
            <a:ext cx="1203948" cy="596348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4574554-1C67-5864-B90E-EE464147F9B7}"/>
              </a:ext>
            </a:extLst>
          </p:cNvPr>
          <p:cNvSpPr/>
          <p:nvPr/>
        </p:nvSpPr>
        <p:spPr>
          <a:xfrm>
            <a:off x="6605671" y="3444409"/>
            <a:ext cx="1313806" cy="11230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原胞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(10</a:t>
            </a:r>
            <a:r>
              <a:rPr lang="en-US" altLang="zh-CN" baseline="30000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原子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8C2C4B3-2B3E-2D3C-C61F-2E400F7CF504}"/>
                  </a:ext>
                </a:extLst>
              </p:cNvPr>
              <p:cNvSpPr txBox="1"/>
              <p:nvPr/>
            </p:nvSpPr>
            <p:spPr>
              <a:xfrm>
                <a:off x="6624622" y="4142611"/>
                <a:ext cx="13119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8C2C4B3-2B3E-2D3C-C61F-2E400F7C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22" y="4142611"/>
                <a:ext cx="1311965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DA5389C-F248-D2AB-7418-A8952489405A}"/>
              </a:ext>
            </a:extLst>
          </p:cNvPr>
          <p:cNvSpPr/>
          <p:nvPr/>
        </p:nvSpPr>
        <p:spPr>
          <a:xfrm>
            <a:off x="7953697" y="3444409"/>
            <a:ext cx="1313806" cy="11230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361B7CC-6234-1836-7AE8-4D39FC503B7E}"/>
              </a:ext>
            </a:extLst>
          </p:cNvPr>
          <p:cNvSpPr/>
          <p:nvPr/>
        </p:nvSpPr>
        <p:spPr>
          <a:xfrm>
            <a:off x="9301723" y="3456797"/>
            <a:ext cx="1313806" cy="11230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0631B94-5EF0-A914-72FE-2A33AB2A96D4}"/>
              </a:ext>
            </a:extLst>
          </p:cNvPr>
          <p:cNvSpPr/>
          <p:nvPr/>
        </p:nvSpPr>
        <p:spPr>
          <a:xfrm>
            <a:off x="6605671" y="4878490"/>
            <a:ext cx="1313806" cy="11230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97EFC1F-5D49-14DA-D905-E027234C2BAA}"/>
              </a:ext>
            </a:extLst>
          </p:cNvPr>
          <p:cNvSpPr/>
          <p:nvPr/>
        </p:nvSpPr>
        <p:spPr>
          <a:xfrm>
            <a:off x="7953697" y="4878490"/>
            <a:ext cx="1313806" cy="11230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9C6A951-4A32-D3A0-CA12-B928E2E2CCD7}"/>
              </a:ext>
            </a:extLst>
          </p:cNvPr>
          <p:cNvSpPr/>
          <p:nvPr/>
        </p:nvSpPr>
        <p:spPr>
          <a:xfrm>
            <a:off x="9301723" y="4890878"/>
            <a:ext cx="1313806" cy="11230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1E16664-65A9-60F3-66B7-1E9061D5F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09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73823-6475-BE7F-97D6-0A3C4BF6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布洛赫定理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E285FCB-B177-DF42-47D9-DB7B88AE3B28}"/>
              </a:ext>
            </a:extLst>
          </p:cNvPr>
          <p:cNvGrpSpPr/>
          <p:nvPr/>
        </p:nvGrpSpPr>
        <p:grpSpPr>
          <a:xfrm>
            <a:off x="1497492" y="2174913"/>
            <a:ext cx="5519531" cy="1124879"/>
            <a:chOff x="1338469" y="1744217"/>
            <a:chExt cx="5519531" cy="112487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AD5305AD-5754-ACA8-9592-2329E262ED07}"/>
                </a:ext>
              </a:extLst>
            </p:cNvPr>
            <p:cNvSpPr/>
            <p:nvPr/>
          </p:nvSpPr>
          <p:spPr>
            <a:xfrm>
              <a:off x="1338469" y="1744217"/>
              <a:ext cx="5519531" cy="1124879"/>
            </a:xfrm>
            <a:prstGeom prst="roundRect">
              <a:avLst/>
            </a:prstGeom>
            <a:solidFill>
              <a:srgbClr val="4472C4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C96A8A8-ED76-E625-CC65-40AFC600363F}"/>
                    </a:ext>
                  </a:extLst>
                </p:cNvPr>
                <p:cNvSpPr txBox="1"/>
                <p:nvPr/>
              </p:nvSpPr>
              <p:spPr>
                <a:xfrm>
                  <a:off x="1338470" y="1851144"/>
                  <a:ext cx="5453269" cy="9257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ℏ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oMath>
                    </m:oMathPara>
                  </a14:m>
                  <a:endParaRPr lang="en-US" altLang="zh-CN" sz="2400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0C96A8A8-ED76-E625-CC65-40AFC6003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470" y="1851144"/>
                  <a:ext cx="5453269" cy="92570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6C687EE-28DD-371F-0F87-909AB9533DE2}"/>
              </a:ext>
            </a:extLst>
          </p:cNvPr>
          <p:cNvGrpSpPr/>
          <p:nvPr/>
        </p:nvGrpSpPr>
        <p:grpSpPr>
          <a:xfrm>
            <a:off x="1197660" y="4588063"/>
            <a:ext cx="6119191" cy="1124879"/>
            <a:chOff x="1038638" y="3057746"/>
            <a:chExt cx="6119191" cy="112487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ABDF4B7-807B-FABE-AB24-5B408440E116}"/>
                </a:ext>
              </a:extLst>
            </p:cNvPr>
            <p:cNvSpPr/>
            <p:nvPr/>
          </p:nvSpPr>
          <p:spPr>
            <a:xfrm>
              <a:off x="1059344" y="3057746"/>
              <a:ext cx="6077777" cy="1124879"/>
            </a:xfrm>
            <a:prstGeom prst="roundRect">
              <a:avLst/>
            </a:prstGeom>
            <a:solidFill>
              <a:srgbClr val="FF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0149F38-6C41-2524-CF49-F39C959BEEC4}"/>
                    </a:ext>
                  </a:extLst>
                </p:cNvPr>
                <p:cNvSpPr txBox="1"/>
                <p:nvPr/>
              </p:nvSpPr>
              <p:spPr>
                <a:xfrm>
                  <a:off x="1038638" y="3157335"/>
                  <a:ext cx="6119191" cy="9257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ℏ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oMath>
                    </m:oMathPara>
                  </a14:m>
                  <a:endParaRPr lang="en-US" altLang="zh-CN" sz="2400" b="1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50149F38-6C41-2524-CF49-F39C959BE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638" y="3157335"/>
                  <a:ext cx="6119191" cy="92570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箭头: 下 11">
            <a:extLst>
              <a:ext uri="{FF2B5EF4-FFF2-40B4-BE49-F238E27FC236}">
                <a16:creationId xmlns:a16="http://schemas.microsoft.com/office/drawing/2014/main" id="{C02F7FBF-5CA9-9C5C-7BC3-0A5CE1B95666}"/>
              </a:ext>
            </a:extLst>
          </p:cNvPr>
          <p:cNvSpPr/>
          <p:nvPr/>
        </p:nvSpPr>
        <p:spPr>
          <a:xfrm>
            <a:off x="3816622" y="3597965"/>
            <a:ext cx="881269" cy="691925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B28B9CC-336F-585F-9C7E-60E9A00CD678}"/>
                  </a:ext>
                </a:extLst>
              </p:cNvPr>
              <p:cNvSpPr txBox="1"/>
              <p:nvPr/>
            </p:nvSpPr>
            <p:spPr>
              <a:xfrm>
                <a:off x="5191545" y="3343763"/>
                <a:ext cx="649687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sz="2400" b="0" i="0" dirty="0">
                    <a:solidFill>
                      <a:srgbClr val="FF0000"/>
                    </a:solidFill>
                    <a:effectLst/>
                    <a:latin typeface="CMR8"/>
                  </a:rPr>
                  <a:t>要考虑整个晶体中</a:t>
                </a:r>
                <a:r>
                  <a:rPr lang="en-US" altLang="zh-CN" sz="2400" b="0" i="0" dirty="0">
                    <a:solidFill>
                      <a:srgbClr val="FF0000"/>
                    </a:solidFill>
                    <a:effectLst/>
                    <a:latin typeface="CMR8"/>
                  </a:rPr>
                  <a:t>10</a:t>
                </a:r>
                <a:r>
                  <a:rPr lang="en-US" altLang="zh-CN" sz="2400" b="0" i="0" baseline="30000" dirty="0">
                    <a:solidFill>
                      <a:srgbClr val="FF0000"/>
                    </a:solidFill>
                    <a:effectLst/>
                    <a:latin typeface="CMR8"/>
                  </a:rPr>
                  <a:t>23</a:t>
                </a:r>
                <a:r>
                  <a:rPr lang="zh-CN" altLang="en-US" sz="2400" b="0" i="0" dirty="0">
                    <a:solidFill>
                      <a:srgbClr val="FF0000"/>
                    </a:solidFill>
                    <a:effectLst/>
                    <a:latin typeface="FandolHei-Regular-Identity-H"/>
                  </a:rPr>
                  <a:t>个原子和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CMR8"/>
                  </a:rPr>
                  <a:t>10</a:t>
                </a:r>
                <a:r>
                  <a:rPr lang="en-US" altLang="zh-CN" sz="2400" baseline="30000" dirty="0">
                    <a:solidFill>
                      <a:srgbClr val="FF0000"/>
                    </a:solidFill>
                    <a:latin typeface="CMR8"/>
                  </a:rPr>
                  <a:t>23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FandolHei-Regular-Identity-H"/>
                  </a:rPr>
                  <a:t>个电子</a:t>
                </a:r>
                <a:endParaRPr lang="en-US" altLang="zh-CN" sz="2400" dirty="0">
                  <a:solidFill>
                    <a:srgbClr val="FF0000"/>
                  </a:solidFill>
                  <a:latin typeface="FandolHei-Regular-Identity-H"/>
                </a:endParaRPr>
              </a:p>
              <a:p>
                <a:r>
                  <a:rPr lang="zh-CN" altLang="en-US" sz="2400" b="0" i="0" dirty="0">
                    <a:solidFill>
                      <a:srgbClr val="000000"/>
                    </a:solidFill>
                    <a:effectLst/>
                    <a:latin typeface="FandolHei-Regular-Identity-H"/>
                  </a:rPr>
                  <a:t>↓</a:t>
                </a:r>
                <a:endParaRPr lang="en-US" altLang="zh-CN" sz="2400" b="0" i="0" dirty="0">
                  <a:solidFill>
                    <a:srgbClr val="000000"/>
                  </a:solidFill>
                  <a:effectLst/>
                  <a:latin typeface="FandolHei-Regular-Identity-H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sz="2400" b="0" i="0" dirty="0">
                    <a:solidFill>
                      <a:srgbClr val="FF0000"/>
                    </a:solidFill>
                    <a:effectLst/>
                    <a:latin typeface="FandolHei-Regular-Identity-H"/>
                  </a:rPr>
                  <a:t>只需考虑原胞内的原子和电子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B28B9CC-336F-585F-9C7E-60E9A00C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545" y="3343763"/>
                <a:ext cx="6496871" cy="1200329"/>
              </a:xfrm>
              <a:prstGeom prst="rect">
                <a:avLst/>
              </a:prstGeom>
              <a:blipFill>
                <a:blip r:embed="rId4"/>
                <a:stretch>
                  <a:fillRect l="-1502" t="-6122" b="-9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F58A7AC-DFE8-6365-2B42-48654E4CD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7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7512A-6C0A-0E32-AC17-F33D9EBE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/>
          <a:lstStyle/>
          <a:p>
            <a:r>
              <a:rPr lang="zh-CN" altLang="en-US" dirty="0"/>
              <a:t>布洛赫函数的性质（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46CC5E-F95E-2E72-7901-B14C742708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1787"/>
                <a:ext cx="10515600" cy="5434422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b="1" dirty="0"/>
                  <a:t>1.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布洛赫函数是单电子定态方程的解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b="1" dirty="0"/>
                  <a:t>2. </a:t>
                </a:r>
                <a:r>
                  <a:rPr lang="zh-CN" altLang="en-US" dirty="0"/>
                  <a:t>对于每个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，存在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多个布洛赫函数</a:t>
                </a:r>
                <a:r>
                  <a:rPr lang="zh-CN" altLang="en-US" dirty="0"/>
                  <a:t>，它们之间的不同在于周期函数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𝑢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的不同，用下标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标记不同的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以及对应的布洛赫函数、本征值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altLang="zh-CN" b="1" dirty="0"/>
                  <a:t>3. </a:t>
                </a:r>
                <a:r>
                  <a:rPr lang="zh-CN" altLang="en-US" dirty="0"/>
                  <a:t>同一个哈密顿量的不同的布洛赫函数是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正交归一的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全空间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积分</m:t>
                          </m:r>
                        </m:lim>
                      </m:limLow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zh-CN" altLang="en-US" dirty="0"/>
                  <a:t>周期函数也是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正交归一的（归一化系数可根据不同情况做不同选取）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原胞内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积分</m:t>
                          </m:r>
                        </m:lim>
                      </m:limLow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𝑜𝑟</m:t>
                      </m:r>
                      <m:limLow>
                        <m:limLow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原胞内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积分</m:t>
                          </m:r>
                        </m:lim>
                      </m:limLow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𝑛𝑚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为原胞体积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46CC5E-F95E-2E72-7901-B14C742708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1787"/>
                <a:ext cx="10515600" cy="5434422"/>
              </a:xfrm>
              <a:blipFill>
                <a:blip r:embed="rId2"/>
                <a:stretch>
                  <a:fillRect l="-638" t="-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EA594AE8-DA1A-EE60-9552-C442196E4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949" y="1137285"/>
            <a:ext cx="4293655" cy="1372400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B2CEE1-795B-180B-1C3B-39FB3000F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287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F711DC1-73EA-70C8-DAE7-5A314696A04E}"/>
              </a:ext>
            </a:extLst>
          </p:cNvPr>
          <p:cNvSpPr/>
          <p:nvPr/>
        </p:nvSpPr>
        <p:spPr>
          <a:xfrm>
            <a:off x="460513" y="2922104"/>
            <a:ext cx="11221278" cy="3014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4A496FE-7703-5FCC-ACC1-36671EBE8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/>
          <a:lstStyle/>
          <a:p>
            <a:r>
              <a:rPr lang="zh-CN" altLang="en-US" dirty="0"/>
              <a:t>布洛赫函数的性质（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4DEB81-FA6F-8986-91E5-89C5834EFCD7}"/>
              </a:ext>
            </a:extLst>
          </p:cNvPr>
          <p:cNvSpPr txBox="1"/>
          <p:nvPr/>
        </p:nvSpPr>
        <p:spPr>
          <a:xfrm>
            <a:off x="7282069" y="5121965"/>
            <a:ext cx="3140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称为周期规范 </a:t>
            </a:r>
            <a:r>
              <a:rPr lang="en-US" altLang="zh-CN" dirty="0">
                <a:highlight>
                  <a:srgbClr val="FFFF00"/>
                </a:highlight>
              </a:rPr>
              <a:t>(periodic gauge)</a:t>
            </a:r>
            <a:endParaRPr lang="zh-CN" alt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C48380D-635E-7F68-B8F8-A69D679E2CFF}"/>
                  </a:ext>
                </a:extLst>
              </p:cNvPr>
              <p:cNvSpPr txBox="1"/>
              <p:nvPr/>
            </p:nvSpPr>
            <p:spPr>
              <a:xfrm>
                <a:off x="460513" y="921028"/>
                <a:ext cx="11270974" cy="5985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布洛赫函数对应的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电子密度是周期性的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在适当规范下，布洛赫波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是倒空间的周期性函数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dirty="0"/>
                  <a:t>布洛赫波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d>
                      <m:dPr>
                        <m:ctrlPr>
                          <a:rPr lang="en-US" altLang="zh-CN" b="1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周期性部分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d>
                      <m:dPr>
                        <m:ctrlPr>
                          <a:rPr lang="en-US" altLang="zh-CN" b="1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dirty="0"/>
                  <a:t>可以继续用平面波展开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1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其中</a:t>
                </a:r>
                <a:r>
                  <a:rPr lang="en-US" altLang="zh-CN" b="1" dirty="0"/>
                  <a:t>G</a:t>
                </a:r>
                <a:r>
                  <a:rPr lang="zh-CN" altLang="en-US" dirty="0"/>
                  <a:t>为倒格子格矢，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b="1" i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1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zh-CN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1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zh-CN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b="1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zh-CN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。对布洛赫波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d>
                      <m:dPr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dirty="0"/>
                  <a:t>做如下变换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𝐆</m:t>
                          </m:r>
                          <m:r>
                            <a:rPr lang="en-US" altLang="zh-CN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C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𝐆</m:t>
                              </m:r>
                            </m:e>
                          </m:d>
                          <m:r>
                            <a:rPr lang="en-US" altLang="zh-C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可见，当取如下规范时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𝐆</m:t>
                          </m:r>
                          <m:r>
                            <a:rPr lang="en-US" altLang="zh-CN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CN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𝐆</m:t>
                              </m:r>
                            </m:e>
                          </m:d>
                          <m:r>
                            <a:rPr lang="en-US" altLang="zh-C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 marL="285750" indent="-285750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布洛赫函数中的平面波因子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zh-CN" altLang="en-US" dirty="0"/>
                  <a:t>表明布洛赫电子不是局域在某个原子周围，而是分布在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整个晶体</a:t>
                </a:r>
                <a:r>
                  <a:rPr lang="zh-CN" altLang="en-US" dirty="0"/>
                  <a:t>中，为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所有的原子所共有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C48380D-635E-7F68-B8F8-A69D679E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" y="921028"/>
                <a:ext cx="11270974" cy="5985100"/>
              </a:xfrm>
              <a:prstGeom prst="rect">
                <a:avLst/>
              </a:prstGeom>
              <a:blipFill>
                <a:blip r:embed="rId2"/>
                <a:stretch>
                  <a:fillRect l="-487" t="-305" b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872545E-8CDF-06EF-E29D-D6DE2526E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262" y="1289651"/>
            <a:ext cx="4764205" cy="663297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C319A45-BE7A-5964-24B5-93144857C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190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DFFF9-B63B-E020-A37B-FA51227A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布洛赫函数的性质（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D23C45-2183-6845-D97A-608CC68E6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dirty="0"/>
                  <a:t>与声子相同，电子波矢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的取值也限制在第一布里渊区内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𝐵𝑍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dirty="0"/>
                  <a:t>对于自由电子，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/>
                  <a:t>就是电子动量；然而布洛赫波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dirty="0"/>
                  <a:t>是不同平面波的叠加，并不是动量算符的本征函数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zh-CN" altLang="en-US" dirty="0"/>
                  <a:t>所以，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并不是布洛赫电子的真实动量，称为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“准动量”（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quasimomentum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 </a:t>
                </a:r>
                <a:r>
                  <a:rPr lang="zh-CN" altLang="en-US" dirty="0"/>
                  <a:t>或者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“晶格动量”（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crystal momentum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D23C45-2183-6845-D97A-608CC68E6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681" r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BCEBA06-960C-00ED-AD01-A0501680E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378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65844715-A37C-C878-0AE0-5E6671072D5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561117"/>
                  </p:ext>
                </p:extLst>
              </p:nvPr>
            </p:nvGraphicFramePr>
            <p:xfrm>
              <a:off x="1938000" y="582375"/>
              <a:ext cx="8316000" cy="496824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224000">
                      <a:extLst>
                        <a:ext uri="{9D8B030D-6E8A-4147-A177-3AD203B41FA5}">
                          <a16:colId xmlns:a16="http://schemas.microsoft.com/office/drawing/2014/main" val="218483018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345168169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360157300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447402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solidFill>
                                <a:srgbClr val="FF0000"/>
                              </a:solidFill>
                            </a:rPr>
                            <a:t>自由电子</a:t>
                          </a:r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布洛赫电子</a:t>
                          </a:r>
                          <a:endParaRPr lang="en-US" sz="20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solidFill>
                                <a:schemeClr val="accent1"/>
                              </a:solidFill>
                            </a:rPr>
                            <a:t>阱中电子</a:t>
                          </a:r>
                          <a:endParaRPr lang="en-US" sz="200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334079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/>
                            <a:t>量子数</a:t>
                          </a:r>
                          <a:endParaRPr lang="en-US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无</a:t>
                          </a:r>
                          <a:endParaRPr lang="en-US" altLang="zh-CN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：能级</a:t>
                          </a:r>
                          <a:r>
                            <a:rPr lang="en-US" altLang="zh-CN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/Bloch</a:t>
                          </a: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序号</a:t>
                          </a:r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：能级</a:t>
                          </a:r>
                          <a:endParaRPr lang="en-US"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9449600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量子数取值范围</a:t>
                          </a:r>
                          <a:endParaRPr lang="en-US" altLang="zh-CN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无</a:t>
                          </a:r>
                          <a:endParaRPr lang="en-US" altLang="zh-CN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20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ℕ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ℕ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9401343"/>
                      </a:ext>
                    </a:extLst>
                  </a:tr>
                  <a:tr h="104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波矢</a:t>
                          </a:r>
                          <a:endParaRPr lang="en-US" altLang="zh-CN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波矢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连续取值</a:t>
                          </a:r>
                          <a:endParaRPr lang="en-US" altLang="zh-CN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CN" altLang="en-US" sz="2000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波矢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连续取值</a:t>
                          </a:r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20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20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𝑠𝑡</m:t>
                                    </m:r>
                                  </m:sup>
                                </m:sSup>
                                <m:r>
                                  <a:rPr lang="en-US" altLang="zh-CN" sz="20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𝐵𝑍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CN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n</a:t>
                          </a: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与</a:t>
                          </a:r>
                          <a:r>
                            <a:rPr lang="en-US" altLang="zh-CN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k</a:t>
                          </a: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没有固定关系</a:t>
                          </a:r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z="20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波矢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由</a:t>
                          </a:r>
                          <a:r>
                            <a:rPr lang="en-US" altLang="zh-CN" sz="2000" b="0" dirty="0">
                              <a:solidFill>
                                <a:schemeClr val="accent1"/>
                              </a:solidFill>
                            </a:rPr>
                            <a:t>n</a:t>
                          </a:r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决定</a:t>
                          </a:r>
                          <a:endParaRPr lang="en-US" altLang="zh-CN"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584881"/>
                      </a:ext>
                    </a:extLst>
                  </a:tr>
                  <a:tr h="104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/>
                            <a:t>色散关系</a:t>
                          </a:r>
                          <a:endParaRPr lang="en-US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抛物线型</a:t>
                          </a:r>
                          <a:endParaRPr lang="en-US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不固定</a:t>
                          </a:r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由第一布里渊区里的色散关系决定</a:t>
                          </a:r>
                          <a:endParaRPr lang="en-US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抛物线型</a:t>
                          </a:r>
                          <a:endParaRPr lang="en-US" altLang="zh-CN"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7673183"/>
                      </a:ext>
                    </a:extLst>
                  </a:tr>
                  <a:tr h="104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/>
                            <a:t>波函数</a:t>
                          </a:r>
                          <a:endParaRPr lang="en-US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平面波</a:t>
                          </a:r>
                          <a:endParaRPr lang="en-US" altLang="zh-CN" sz="2000" b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布洛赫波</a:t>
                          </a:r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2000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2000" b="1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束缚态</a:t>
                          </a:r>
                          <a:endParaRPr lang="en-US" altLang="zh-CN" sz="2000" b="0" dirty="0">
                            <a:solidFill>
                              <a:schemeClr val="accent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  <m:r>
                                  <a:rPr lang="en-US" altLang="zh-CN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accent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zh-CN" sz="2000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</m:d>
                            </m:oMath>
                          </a14:m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为阱内驻波</a:t>
                          </a:r>
                          <a:endParaRPr lang="en-US"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253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65844715-A37C-C878-0AE0-5E6671072D5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561117"/>
                  </p:ext>
                </p:extLst>
              </p:nvPr>
            </p:nvGraphicFramePr>
            <p:xfrm>
              <a:off x="1938000" y="582375"/>
              <a:ext cx="8316000" cy="496824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224000">
                      <a:extLst>
                        <a:ext uri="{9D8B030D-6E8A-4147-A177-3AD203B41FA5}">
                          <a16:colId xmlns:a16="http://schemas.microsoft.com/office/drawing/2014/main" val="218483018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345168169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3601573003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44740244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solidFill>
                                <a:srgbClr val="FF0000"/>
                              </a:solidFill>
                            </a:rPr>
                            <a:t>自由电子</a:t>
                          </a:r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布洛赫电子</a:t>
                          </a:r>
                          <a:endParaRPr lang="en-US" sz="2000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>
                              <a:solidFill>
                                <a:schemeClr val="accent1"/>
                              </a:solidFill>
                            </a:rPr>
                            <a:t>阱中电子</a:t>
                          </a:r>
                          <a:endParaRPr lang="en-US" sz="2000" b="1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334079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/>
                            <a:t>量子数</a:t>
                          </a:r>
                          <a:endParaRPr lang="en-US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无</a:t>
                          </a:r>
                          <a:endParaRPr lang="en-US" altLang="zh-CN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898" t="-61864" r="-93679" b="-545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952" t="-61864" r="-242" b="-5457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9600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量子数取值范围</a:t>
                          </a:r>
                          <a:endParaRPr lang="en-US" altLang="zh-CN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无</a:t>
                          </a:r>
                          <a:endParaRPr lang="en-US" altLang="zh-CN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898" t="-160504" r="-93679" b="-44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952" t="-160504" r="-242" b="-44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9401343"/>
                      </a:ext>
                    </a:extLst>
                  </a:tr>
                  <a:tr h="104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dirty="0"/>
                            <a:t>波矢</a:t>
                          </a:r>
                          <a:endParaRPr lang="en-US" altLang="zh-CN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60" t="-181287" r="-278571" b="-2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898" t="-181287" r="-93679" b="-2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952" t="-181287" r="-242" b="-20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84881"/>
                      </a:ext>
                    </a:extLst>
                  </a:tr>
                  <a:tr h="104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/>
                            <a:t>色散关系</a:t>
                          </a:r>
                          <a:endParaRPr lang="en-US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rgbClr val="FF0000"/>
                              </a:solidFill>
                            </a:rPr>
                            <a:t>抛物线型</a:t>
                          </a:r>
                          <a:endParaRPr lang="en-US" sz="2000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不固定</a:t>
                          </a:r>
                          <a:endParaRPr lang="en-US" altLang="zh-CN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由第一布里渊区里的色散关系决定</a:t>
                          </a:r>
                          <a:endParaRPr lang="en-US" sz="2000" b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0" dirty="0">
                              <a:solidFill>
                                <a:schemeClr val="accent1"/>
                              </a:solidFill>
                            </a:rPr>
                            <a:t>抛物线型</a:t>
                          </a:r>
                          <a:endParaRPr lang="en-US" altLang="zh-CN" sz="2000" b="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7673183"/>
                      </a:ext>
                    </a:extLst>
                  </a:tr>
                  <a:tr h="104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dirty="0"/>
                            <a:t>波函数</a:t>
                          </a:r>
                          <a:endParaRPr lang="en-US" sz="2000" b="1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65260" t="-381871" r="-278571" b="-6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14898" t="-381871" r="-93679" b="-6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29952" t="-381871" r="-242" b="-6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2530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D868078-8C0E-8D67-8CD5-E45126D6228C}"/>
              </a:ext>
            </a:extLst>
          </p:cNvPr>
          <p:cNvSpPr txBox="1"/>
          <p:nvPr/>
        </p:nvSpPr>
        <p:spPr>
          <a:xfrm>
            <a:off x="3048000" y="565277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B050"/>
                </a:solidFill>
                <a:effectLst/>
                <a:latin typeface="FandolHei-Regular-Identity-H"/>
              </a:rPr>
              <a:t>布洛赫电子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FandolHei-Regular-Identity-H"/>
              </a:rPr>
              <a:t>的波函数介于</a:t>
            </a:r>
            <a:r>
              <a:rPr lang="zh-CN" altLang="en-US" sz="2000" b="0" i="0" dirty="0">
                <a:solidFill>
                  <a:srgbClr val="FF0000"/>
                </a:solidFill>
                <a:effectLst/>
                <a:latin typeface="FandolHei-Regular-Identity-H"/>
              </a:rPr>
              <a:t>自由电子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FandolHei-Regular-Identity-H"/>
              </a:rPr>
              <a:t>和</a:t>
            </a:r>
            <a:r>
              <a:rPr lang="zh-CN" altLang="en-US" sz="2000" b="0" i="0" dirty="0">
                <a:solidFill>
                  <a:srgbClr val="4472C4"/>
                </a:solidFill>
                <a:effectLst/>
                <a:latin typeface="FandolHei-Regular-Identity-H"/>
              </a:rPr>
              <a:t>束缚电子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FandolHei-Regular-Identity-H"/>
              </a:rPr>
              <a:t>之间，是两者的组合，周期函数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LMRoman8-Italic-Identity-H"/>
              </a:rPr>
              <a:t>u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MR8"/>
              </a:rPr>
              <a:t>(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LMRomanDemi10-Regular-Identity-H"/>
              </a:rPr>
              <a:t>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MR8"/>
              </a:rPr>
              <a:t>)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FandolHei-Regular-Identity-H"/>
              </a:rPr>
              <a:t>的性质就反映了电子与晶格相互作用的强弱。</a:t>
            </a:r>
            <a:r>
              <a:rPr lang="zh-CN" altLang="en-US" sz="2000" dirty="0"/>
              <a:t>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7A082DA-F1DC-ABD8-9BC9-FB7AD01F7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443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第四章 能带理论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中心方程，布洛赫波的色散关系（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1E1E463-31E8-CE16-AEF1-F29BBA5A6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901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4F9765-A406-56DE-3AA8-7818CCEE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布洛赫函数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0E54B33E-16F8-A163-573A-BD43EE785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p>
                    </m:sSup>
                  </m:oMath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r>
                  <a:rPr lang="zh-CN" altLang="en-US" dirty="0"/>
                  <a:t>量子数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从哪里来的？</a:t>
                </a:r>
                <a:endParaRPr lang="en-US" altLang="zh-CN" dirty="0"/>
              </a:p>
              <a:p>
                <a:r>
                  <a:rPr lang="zh-CN" altLang="en-US" dirty="0"/>
                  <a:t>布洛赫函数的色散关系是什么样的？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0E54B33E-16F8-A163-573A-BD43EE785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B986037-846B-05F7-DE49-DA46CCA83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659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91FC6D12-6770-8B19-0967-D80E3D67D59C}"/>
              </a:ext>
            </a:extLst>
          </p:cNvPr>
          <p:cNvSpPr/>
          <p:nvPr/>
        </p:nvSpPr>
        <p:spPr>
          <a:xfrm>
            <a:off x="838200" y="1209263"/>
            <a:ext cx="10515600" cy="3097694"/>
          </a:xfrm>
          <a:prstGeom prst="roundRect">
            <a:avLst>
              <a:gd name="adj" fmla="val 556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B423A8-F0DB-BC6A-E4BD-CAAAB176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4136"/>
          </a:xfrm>
        </p:spPr>
        <p:txBody>
          <a:bodyPr/>
          <a:lstStyle/>
          <a:p>
            <a:r>
              <a:rPr lang="zh-CN" altLang="en-US" dirty="0"/>
              <a:t>求解布洛赫函数：中心方程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A72946-807A-6A2F-C750-6871BEB3C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2208"/>
                <a:ext cx="10515600" cy="5466521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400" dirty="0"/>
                  <a:t>将布洛赫函数展开到平面波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1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1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400" b="1" i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0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altLang="zh-CN" sz="2400" b="1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b="1" i="0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400" dirty="0"/>
                  <a:t>其中</a:t>
                </a:r>
                <a:r>
                  <a:rPr lang="en-US" altLang="zh-CN" sz="2400" b="1" dirty="0"/>
                  <a:t>G</a:t>
                </a:r>
                <a:r>
                  <a:rPr lang="zh-CN" altLang="en-US" sz="2400" dirty="0"/>
                  <a:t>为倒格子格矢，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400" b="1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2400" b="1" i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400" dirty="0"/>
                  <a:t>代入定态方程，得到平面波基底下的定态方程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p>
                              <m:r>
                                <a:rPr lang="en-US" altLang="zh-CN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4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4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b="1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1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𝐆</m:t>
                                  </m:r>
                                  <m:sSup>
                                    <m:sSupPr>
                                      <m:ctrlPr>
                                        <a:rPr lang="en-US" altLang="zh-CN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2400" b="1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  <m:r>
                                    <a:rPr lang="en-US" altLang="zh-CN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  <m:r>
                                <a:rPr lang="en-US" altLang="zh-CN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sz="2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</m:oMath>
                  </m:oMathPara>
                </a14:m>
                <a:endParaRPr lang="en-US" altLang="zh-CN" sz="24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</a:rPr>
                  <a:t>称为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</a:rPr>
                  <a:t>中心方程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</a:rPr>
                  <a:t>，其中耦合项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p>
                              <m:r>
                                <a:rPr lang="en-US" altLang="zh-CN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0" smtClean="0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  <m:r>
                                    <a:rPr lang="en-US" altLang="zh-CN" sz="2400" b="1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4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傅里叶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展开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中</m:t>
                      </m:r>
                      <m:r>
                        <a:rPr lang="en-US" altLang="zh-CN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altLang="zh-CN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p>
                          <m: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项的系数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A72946-807A-6A2F-C750-6871BEB3C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2208"/>
                <a:ext cx="10515600" cy="5466521"/>
              </a:xfrm>
              <a:blipFill>
                <a:blip r:embed="rId2"/>
                <a:stretch>
                  <a:fillRect l="-580" t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FD0B738-4B32-3905-6C93-366540122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350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C115B09F-EB93-0D68-B59D-B7957A929B16}"/>
              </a:ext>
            </a:extLst>
          </p:cNvPr>
          <p:cNvSpPr/>
          <p:nvPr/>
        </p:nvSpPr>
        <p:spPr>
          <a:xfrm>
            <a:off x="1802295" y="2895600"/>
            <a:ext cx="8620540" cy="214022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A33823-E012-27E2-E6A2-D1D7328F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440"/>
          </a:xfrm>
        </p:spPr>
        <p:txBody>
          <a:bodyPr/>
          <a:lstStyle/>
          <a:p>
            <a:r>
              <a:rPr lang="zh-CN" altLang="en-US" dirty="0"/>
              <a:t>中心方程的求解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E7DED6-D683-8BBB-FB30-1DF86B60F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3791"/>
                <a:ext cx="10515600" cy="570768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𝐆</m:t>
                                  </m:r>
                                  <m:sSup>
                                    <m:sSupPr>
                                      <m:ctrlP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写为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矩阵形式</a:t>
                </a:r>
                <a:r>
                  <a:rPr lang="zh-CN" altLang="en-US" dirty="0"/>
                  <a:t>（采用原子单位制，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，并取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𝐆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𝐆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sub>
                    </m:sSub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傅里叶展开中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zh-CN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项的系数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求解矩阵，得到展开系数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</m:oMath>
                </a14:m>
                <a:r>
                  <a:rPr lang="zh-CN" altLang="en-US" dirty="0"/>
                  <a:t>，然后构建布洛赫波函数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1">
                            <a:latin typeface="Cambria Math" panose="02040503050406030204" pitchFamily="18" charset="0"/>
                          </a:rPr>
                          <m:t>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𝐫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E7DED6-D683-8BBB-FB30-1DF86B60F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3791"/>
                <a:ext cx="10515600" cy="5707683"/>
              </a:xfrm>
              <a:blipFill>
                <a:blip r:embed="rId2"/>
                <a:stretch>
                  <a:fillRect l="-696" b="-9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EE78169-73AF-0E14-1C4C-C20B1C9CA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43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9DF84-3D9C-9975-674B-A9FF4E5A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 err="1"/>
              <a:t>BvK</a:t>
            </a:r>
            <a:r>
              <a:rPr lang="zh-CN" altLang="en-US" dirty="0"/>
              <a:t>条件下的一维自由电子 </a:t>
            </a:r>
            <a:r>
              <a:rPr lang="en-US" altLang="zh-CN" dirty="0">
                <a:solidFill>
                  <a:srgbClr val="FF0000"/>
                </a:solidFill>
              </a:rPr>
              <a:t>(“</a:t>
            </a:r>
            <a:r>
              <a:rPr lang="zh-CN" altLang="en-US" dirty="0">
                <a:solidFill>
                  <a:srgbClr val="FF0000"/>
                </a:solidFill>
              </a:rPr>
              <a:t>空格子</a:t>
            </a:r>
            <a:r>
              <a:rPr lang="en-US" altLang="zh-CN" dirty="0">
                <a:solidFill>
                  <a:srgbClr val="FF0000"/>
                </a:solidFill>
              </a:rPr>
              <a:t>”)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CD17C7-6F6E-A310-55F8-FB0B06DAD4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4486"/>
                <a:ext cx="10515600" cy="524786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，于是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  <m: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G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  <m: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latin typeface="Cambria Math" panose="02040503050406030204" pitchFamily="18" charset="0"/>
                                                </a:rPr>
                                                <m:t>G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G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G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G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G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仅有对角元，故可直接写成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为晶格常数。有平凡解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最终得到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d>
                        <m:d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CD17C7-6F6E-A310-55F8-FB0B06DAD4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4486"/>
                <a:ext cx="10515600" cy="5247861"/>
              </a:xfrm>
              <a:blipFill>
                <a:blip r:embed="rId2"/>
                <a:stretch>
                  <a:fillRect l="-638" t="-1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B3A6B3A-BA43-2B05-3D50-41A8E4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51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A2910-06B3-61A0-6D21-FEC9396A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72229-D0FD-0C94-A8D1-D510F0D7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</a:t>
            </a:r>
            <a:r>
              <a:rPr lang="en-US" altLang="zh-CN" dirty="0"/>
              <a:t>”</a:t>
            </a:r>
            <a:r>
              <a:rPr lang="zh-CN" altLang="en-US" dirty="0"/>
              <a:t>空格子</a:t>
            </a:r>
            <a:r>
              <a:rPr lang="en-US" altLang="zh-CN" dirty="0"/>
              <a:t>”</a:t>
            </a:r>
            <a:r>
              <a:rPr lang="zh-CN" altLang="en-US" dirty="0"/>
              <a:t>的布洛赫电子的色散关系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2B52AD9-6C2D-CCB2-5DB9-4E47302970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6764"/>
                <a:ext cx="4787348" cy="4790661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>
                    <a:latin typeface="Cambria Math" panose="02040503050406030204" pitchFamily="18" charset="0"/>
                  </a:rPr>
                  <a:t>在每一个波矢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k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上，都有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一系列波函数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，由量子数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标识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d>
                        <m:dPr>
                          <m:ctrl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其能量也是量子化的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2B52AD9-6C2D-CCB2-5DB9-4E4730297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6764"/>
                <a:ext cx="4787348" cy="4790661"/>
              </a:xfrm>
              <a:blipFill>
                <a:blip r:embed="rId2"/>
                <a:stretch>
                  <a:fillRect l="-2675" t="-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组合 48">
            <a:extLst>
              <a:ext uri="{FF2B5EF4-FFF2-40B4-BE49-F238E27FC236}">
                <a16:creationId xmlns:a16="http://schemas.microsoft.com/office/drawing/2014/main" id="{E09B6FD9-24FC-01FE-11DF-3D315A873947}"/>
              </a:ext>
            </a:extLst>
          </p:cNvPr>
          <p:cNvGrpSpPr/>
          <p:nvPr/>
        </p:nvGrpSpPr>
        <p:grpSpPr>
          <a:xfrm>
            <a:off x="6143196" y="1765164"/>
            <a:ext cx="5031726" cy="4379134"/>
            <a:chOff x="5618079" y="1616764"/>
            <a:chExt cx="5031726" cy="437913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8AF1CCF-8586-DD39-1D96-20562F958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1706" b="8990"/>
            <a:stretch>
              <a:fillRect/>
            </a:stretch>
          </p:blipFill>
          <p:spPr>
            <a:xfrm>
              <a:off x="6440558" y="1616764"/>
              <a:ext cx="4002009" cy="437913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3F2BBDF-9760-2808-2DD9-3F8B2DAD0AFD}"/>
                </a:ext>
              </a:extLst>
            </p:cNvPr>
            <p:cNvSpPr/>
            <p:nvPr/>
          </p:nvSpPr>
          <p:spPr>
            <a:xfrm>
              <a:off x="8565625" y="5294243"/>
              <a:ext cx="159026" cy="15902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93843ECF-616A-93B1-BF64-E97A4C78AC59}"/>
                </a:ext>
              </a:extLst>
            </p:cNvPr>
            <p:cNvSpPr/>
            <p:nvPr/>
          </p:nvSpPr>
          <p:spPr>
            <a:xfrm>
              <a:off x="8565955" y="3536254"/>
              <a:ext cx="159026" cy="15902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ECA6C13-0D50-B180-8F5B-0453847EA729}"/>
                </a:ext>
              </a:extLst>
            </p:cNvPr>
            <p:cNvSpPr/>
            <p:nvPr/>
          </p:nvSpPr>
          <p:spPr>
            <a:xfrm>
              <a:off x="8567253" y="5022432"/>
              <a:ext cx="159026" cy="15902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0349485-40EF-B1BA-DDE0-37601378FF8F}"/>
                </a:ext>
              </a:extLst>
            </p:cNvPr>
            <p:cNvCxnSpPr/>
            <p:nvPr/>
          </p:nvCxnSpPr>
          <p:spPr>
            <a:xfrm>
              <a:off x="8647043" y="2504661"/>
              <a:ext cx="0" cy="3014869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DF36E5B-02CA-C782-69C2-A36D1B538E15}"/>
                </a:ext>
              </a:extLst>
            </p:cNvPr>
            <p:cNvCxnSpPr>
              <a:cxnSpLocks/>
            </p:cNvCxnSpPr>
            <p:nvPr/>
          </p:nvCxnSpPr>
          <p:spPr>
            <a:xfrm>
              <a:off x="9660834" y="3615767"/>
              <a:ext cx="0" cy="1956772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05DCFA3-283F-96F7-9703-866381AE5C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3373" y="5101945"/>
              <a:ext cx="5715" cy="417585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0BDA9F3-8819-EA16-1D1B-1A3AF6583AFE}"/>
                </a:ext>
              </a:extLst>
            </p:cNvPr>
            <p:cNvCxnSpPr>
              <a:cxnSpLocks/>
            </p:cNvCxnSpPr>
            <p:nvPr/>
          </p:nvCxnSpPr>
          <p:spPr>
            <a:xfrm>
              <a:off x="6592956" y="2817294"/>
              <a:ext cx="0" cy="2702236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F3892CF-F3FC-4665-9D34-5A26B3E68404}"/>
                </a:ext>
              </a:extLst>
            </p:cNvPr>
            <p:cNvSpPr/>
            <p:nvPr/>
          </p:nvSpPr>
          <p:spPr>
            <a:xfrm>
              <a:off x="8566692" y="2742609"/>
              <a:ext cx="159026" cy="15902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C156F6A-E17E-4093-1961-6E016ED550B1}"/>
                    </a:ext>
                  </a:extLst>
                </p:cNvPr>
                <p:cNvSpPr txBox="1"/>
                <p:nvPr/>
              </p:nvSpPr>
              <p:spPr>
                <a:xfrm>
                  <a:off x="8391918" y="5519530"/>
                  <a:ext cx="3709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C156F6A-E17E-4093-1961-6E016ED55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918" y="5519530"/>
                  <a:ext cx="37093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6DB107-4618-66D5-ECA6-74176FB0207E}"/>
                    </a:ext>
                  </a:extLst>
                </p:cNvPr>
                <p:cNvSpPr txBox="1"/>
                <p:nvPr/>
              </p:nvSpPr>
              <p:spPr>
                <a:xfrm>
                  <a:off x="9733721" y="4732062"/>
                  <a:ext cx="916084" cy="6127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6DB107-4618-66D5-ECA6-74176FB02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3721" y="4732062"/>
                  <a:ext cx="916084" cy="6127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256AC3E-7DEB-1851-CA5A-D7999960D7E8}"/>
                    </a:ext>
                  </a:extLst>
                </p:cNvPr>
                <p:cNvSpPr txBox="1"/>
                <p:nvPr/>
              </p:nvSpPr>
              <p:spPr>
                <a:xfrm>
                  <a:off x="6679094" y="4761024"/>
                  <a:ext cx="916084" cy="6127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256AC3E-7DEB-1851-CA5A-D7999960D7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9094" y="4761024"/>
                  <a:ext cx="916084" cy="6127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435AEEC-D44A-2BC3-28EF-C0D37AD2A985}"/>
                    </a:ext>
                  </a:extLst>
                </p:cNvPr>
                <p:cNvSpPr txBox="1"/>
                <p:nvPr/>
              </p:nvSpPr>
              <p:spPr>
                <a:xfrm>
                  <a:off x="5618079" y="2817294"/>
                  <a:ext cx="916085" cy="611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zh-CN" altLang="en-US" dirty="0">
                    <a:solidFill>
                      <a:srgbClr val="4472C4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435AEEC-D44A-2BC3-28EF-C0D37AD2A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8079" y="2817294"/>
                  <a:ext cx="916085" cy="61170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40AD30A-77EA-8E02-42C6-6FD4EBDDF975}"/>
                </a:ext>
              </a:extLst>
            </p:cNvPr>
            <p:cNvSpPr txBox="1"/>
            <p:nvPr/>
          </p:nvSpPr>
          <p:spPr>
            <a:xfrm>
              <a:off x="8691705" y="5181458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n=0</a:t>
              </a:r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74F8668-B68B-E3F7-897D-060842B9A044}"/>
                </a:ext>
              </a:extLst>
            </p:cNvPr>
            <p:cNvSpPr txBox="1"/>
            <p:nvPr/>
          </p:nvSpPr>
          <p:spPr>
            <a:xfrm>
              <a:off x="8713551" y="3564132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n=1</a:t>
              </a:r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E115E8B-7824-0F79-3A8F-59D93D03DBA5}"/>
                </a:ext>
              </a:extLst>
            </p:cNvPr>
            <p:cNvSpPr txBox="1"/>
            <p:nvPr/>
          </p:nvSpPr>
          <p:spPr>
            <a:xfrm>
              <a:off x="8691705" y="488601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n=-1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E83D3E8-0391-7804-1A8B-F900C1CEC554}"/>
                </a:ext>
              </a:extLst>
            </p:cNvPr>
            <p:cNvSpPr txBox="1"/>
            <p:nvPr/>
          </p:nvSpPr>
          <p:spPr>
            <a:xfrm>
              <a:off x="8701980" y="2632628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n=-2</a:t>
              </a:r>
              <a:endParaRPr lang="zh-CN" altLang="en-US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8B10456-FC22-7C4E-AEA0-8DA6AA447189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7619088" y="5101945"/>
              <a:ext cx="948165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22D36C0-0CA6-D291-C9C0-85BB27F9B8C8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>
              <a:off x="8724981" y="3615767"/>
              <a:ext cx="924423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881CF07-4620-F824-6D67-F6607BBDF3B4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>
              <a:off x="6592956" y="2822122"/>
              <a:ext cx="1973736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1B13F7E-E05F-AC2D-4372-29B4BDA680E1}"/>
              </a:ext>
            </a:extLst>
          </p:cNvPr>
          <p:cNvSpPr/>
          <p:nvPr/>
        </p:nvSpPr>
        <p:spPr>
          <a:xfrm>
            <a:off x="6057900" y="1690688"/>
            <a:ext cx="5440017" cy="4865137"/>
          </a:xfrm>
          <a:prstGeom prst="roundRect">
            <a:avLst>
              <a:gd name="adj" fmla="val 4811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7099F1CC-3E86-AD16-18E7-AD6B5668A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217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5A59C-99ED-5C0C-ACF7-0F392805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</a:t>
            </a:r>
            <a:r>
              <a:rPr lang="en-US" altLang="zh-CN" dirty="0"/>
              <a:t>”</a:t>
            </a:r>
            <a:r>
              <a:rPr lang="zh-CN" altLang="en-US" dirty="0"/>
              <a:t>空格子</a:t>
            </a:r>
            <a:r>
              <a:rPr lang="en-US" altLang="zh-CN" dirty="0"/>
              <a:t>”</a:t>
            </a:r>
            <a:r>
              <a:rPr lang="zh-CN" altLang="en-US" dirty="0"/>
              <a:t>的布洛赫电子的色散关系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153F75-0213-702C-FF79-BC32C401A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74" y="1564896"/>
            <a:ext cx="10959252" cy="37282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465B325-71AE-1733-3858-92DE381518E8}"/>
              </a:ext>
            </a:extLst>
          </p:cNvPr>
          <p:cNvSpPr txBox="1"/>
          <p:nvPr/>
        </p:nvSpPr>
        <p:spPr>
          <a:xfrm>
            <a:off x="1057082" y="51914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扩展布里渊区图像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EF0F49-FE2A-A5AC-2749-DEAA3AA0E03A}"/>
              </a:ext>
            </a:extLst>
          </p:cNvPr>
          <p:cNvSpPr txBox="1"/>
          <p:nvPr/>
        </p:nvSpPr>
        <p:spPr>
          <a:xfrm>
            <a:off x="5080337" y="51914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周期布里渊区图像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44605D-2BDD-BE6D-12A0-0619ADA55318}"/>
              </a:ext>
            </a:extLst>
          </p:cNvPr>
          <p:cNvSpPr txBox="1"/>
          <p:nvPr/>
        </p:nvSpPr>
        <p:spPr>
          <a:xfrm>
            <a:off x="8966537" y="51840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简约布里渊区图像</a:t>
            </a:r>
          </a:p>
        </p:txBody>
      </p:sp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39D02438-EEF5-D34F-6BA2-2184422F254E}"/>
              </a:ext>
            </a:extLst>
          </p:cNvPr>
          <p:cNvSpPr/>
          <p:nvPr/>
        </p:nvSpPr>
        <p:spPr>
          <a:xfrm>
            <a:off x="7568459" y="3096757"/>
            <a:ext cx="936413" cy="555414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88F61D-E21F-0168-C451-8AE0EBF9169B}"/>
              </a:ext>
            </a:extLst>
          </p:cNvPr>
          <p:cNvSpPr txBox="1"/>
          <p:nvPr/>
        </p:nvSpPr>
        <p:spPr>
          <a:xfrm>
            <a:off x="7713499" y="26599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481F4092-8C30-97DA-C92E-3FFC699D3BEA}"/>
              </a:ext>
            </a:extLst>
          </p:cNvPr>
          <p:cNvSpPr/>
          <p:nvPr/>
        </p:nvSpPr>
        <p:spPr>
          <a:xfrm>
            <a:off x="3460285" y="3096757"/>
            <a:ext cx="936413" cy="555414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386CD2-DF1C-79EB-C750-11AC70065C96}"/>
              </a:ext>
            </a:extLst>
          </p:cNvPr>
          <p:cNvSpPr txBox="1"/>
          <p:nvPr/>
        </p:nvSpPr>
        <p:spPr>
          <a:xfrm>
            <a:off x="3605325" y="26599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FBE1AC-A5FE-864D-DA69-3552858D25D4}"/>
              </a:ext>
            </a:extLst>
          </p:cNvPr>
          <p:cNvSpPr txBox="1"/>
          <p:nvPr/>
        </p:nvSpPr>
        <p:spPr>
          <a:xfrm>
            <a:off x="8036664" y="5721359"/>
            <a:ext cx="4023347" cy="44267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/>
              <a:t>能带折叠 </a:t>
            </a:r>
            <a:r>
              <a:rPr lang="en-US" altLang="zh-CN" sz="2000" dirty="0"/>
              <a:t>(band folding mechanism)</a:t>
            </a:r>
            <a:endParaRPr lang="zh-CN" altLang="en-US" sz="2000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B49CFFB-5EB8-B8BE-30DE-3BB28C274E40}"/>
              </a:ext>
            </a:extLst>
          </p:cNvPr>
          <p:cNvCxnSpPr/>
          <p:nvPr/>
        </p:nvCxnSpPr>
        <p:spPr>
          <a:xfrm>
            <a:off x="2331844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6CA4C40-607F-F200-E3E2-9076FA8B2675}"/>
              </a:ext>
            </a:extLst>
          </p:cNvPr>
          <p:cNvGrpSpPr/>
          <p:nvPr/>
        </p:nvGrpSpPr>
        <p:grpSpPr>
          <a:xfrm>
            <a:off x="6242886" y="2263885"/>
            <a:ext cx="102716" cy="2330229"/>
            <a:chOff x="6242886" y="2263885"/>
            <a:chExt cx="102716" cy="2330229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7006C50-8267-AA41-7C34-A2DDED664BA8}"/>
                </a:ext>
              </a:extLst>
            </p:cNvPr>
            <p:cNvCxnSpPr/>
            <p:nvPr/>
          </p:nvCxnSpPr>
          <p:spPr>
            <a:xfrm>
              <a:off x="6294244" y="2263885"/>
              <a:ext cx="0" cy="2330229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6F7DF1E-272B-EEB6-75EB-691A352E5725}"/>
                </a:ext>
              </a:extLst>
            </p:cNvPr>
            <p:cNvSpPr/>
            <p:nvPr/>
          </p:nvSpPr>
          <p:spPr>
            <a:xfrm>
              <a:off x="6242886" y="445785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A30E4AF-4817-C7BD-05C7-C4E363D4B26D}"/>
                </a:ext>
              </a:extLst>
            </p:cNvPr>
            <p:cNvSpPr/>
            <p:nvPr/>
          </p:nvSpPr>
          <p:spPr>
            <a:xfrm>
              <a:off x="6242886" y="432159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1EEB83A-8BB1-2877-FD15-51BC4D503AA1}"/>
                </a:ext>
              </a:extLst>
            </p:cNvPr>
            <p:cNvSpPr/>
            <p:nvPr/>
          </p:nvSpPr>
          <p:spPr>
            <a:xfrm>
              <a:off x="6242886" y="3389180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60BEF98-4D5B-2AEC-89CA-04BEB1A39341}"/>
                </a:ext>
              </a:extLst>
            </p:cNvPr>
            <p:cNvSpPr/>
            <p:nvPr/>
          </p:nvSpPr>
          <p:spPr>
            <a:xfrm>
              <a:off x="6242886" y="2999866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CF27A03-D9EA-672C-CF2D-0BACECE8AD3C}"/>
              </a:ext>
            </a:extLst>
          </p:cNvPr>
          <p:cNvCxnSpPr/>
          <p:nvPr/>
        </p:nvCxnSpPr>
        <p:spPr>
          <a:xfrm>
            <a:off x="3101120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8BC3A80-8FFE-9639-563A-1449F64669A0}"/>
              </a:ext>
            </a:extLst>
          </p:cNvPr>
          <p:cNvCxnSpPr/>
          <p:nvPr/>
        </p:nvCxnSpPr>
        <p:spPr>
          <a:xfrm>
            <a:off x="1530738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BA80C1F-8029-2CD5-D69B-B60397333774}"/>
              </a:ext>
            </a:extLst>
          </p:cNvPr>
          <p:cNvCxnSpPr/>
          <p:nvPr/>
        </p:nvCxnSpPr>
        <p:spPr>
          <a:xfrm>
            <a:off x="742234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6B1384D-69F2-A47C-9B0D-38BC92EF2452}"/>
                  </a:ext>
                </a:extLst>
              </p:cNvPr>
              <p:cNvSpPr txBox="1"/>
              <p:nvPr/>
            </p:nvSpPr>
            <p:spPr>
              <a:xfrm>
                <a:off x="2203502" y="1855517"/>
                <a:ext cx="8976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6B1384D-69F2-A47C-9B0D-38BC92EF2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02" y="1855517"/>
                <a:ext cx="897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>
            <a:extLst>
              <a:ext uri="{FF2B5EF4-FFF2-40B4-BE49-F238E27FC236}">
                <a16:creationId xmlns:a16="http://schemas.microsoft.com/office/drawing/2014/main" id="{0F797DA5-F78B-63EF-73BD-D84234814DBA}"/>
              </a:ext>
            </a:extLst>
          </p:cNvPr>
          <p:cNvGrpSpPr/>
          <p:nvPr/>
        </p:nvGrpSpPr>
        <p:grpSpPr>
          <a:xfrm>
            <a:off x="10205286" y="2253916"/>
            <a:ext cx="102716" cy="2330229"/>
            <a:chOff x="6242886" y="2263885"/>
            <a:chExt cx="102716" cy="2330229"/>
          </a:xfrm>
        </p:grpSpPr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47E182C-CFA5-CDD5-AF67-FB566E955F70}"/>
                </a:ext>
              </a:extLst>
            </p:cNvPr>
            <p:cNvCxnSpPr/>
            <p:nvPr/>
          </p:nvCxnSpPr>
          <p:spPr>
            <a:xfrm>
              <a:off x="6294244" y="2263885"/>
              <a:ext cx="0" cy="2330229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7D730B4D-2441-DD2A-794C-9CB8D4FA7E76}"/>
                </a:ext>
              </a:extLst>
            </p:cNvPr>
            <p:cNvSpPr/>
            <p:nvPr/>
          </p:nvSpPr>
          <p:spPr>
            <a:xfrm>
              <a:off x="6242886" y="445785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CE3860B-04FE-3454-C562-3B366EA4F3CF}"/>
                </a:ext>
              </a:extLst>
            </p:cNvPr>
            <p:cNvSpPr/>
            <p:nvPr/>
          </p:nvSpPr>
          <p:spPr>
            <a:xfrm>
              <a:off x="6242886" y="432159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572346F8-3786-AD1C-21B1-8CC1ABB88285}"/>
                </a:ext>
              </a:extLst>
            </p:cNvPr>
            <p:cNvSpPr/>
            <p:nvPr/>
          </p:nvSpPr>
          <p:spPr>
            <a:xfrm>
              <a:off x="6242886" y="3389180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865293DD-6DA8-7B04-6C25-3F26F0F15970}"/>
                </a:ext>
              </a:extLst>
            </p:cNvPr>
            <p:cNvSpPr/>
            <p:nvPr/>
          </p:nvSpPr>
          <p:spPr>
            <a:xfrm>
              <a:off x="6242886" y="2999866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5D50FF3A-762E-D6BA-3D6E-7170F85FE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450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D17C7-6F6E-A310-55F8-FB0B06DAD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3"/>
            <a:ext cx="10515600" cy="5302320"/>
          </a:xfrm>
        </p:spPr>
        <p:txBody>
          <a:bodyPr/>
          <a:lstStyle/>
          <a:p>
            <a:r>
              <a:rPr lang="zh-CN" altLang="en-US" dirty="0"/>
              <a:t>三维空格子模型：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FD91E0-DC7E-6867-5B39-B3544EBA5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958" y="1394782"/>
            <a:ext cx="8071283" cy="10761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3D4C05-DEAA-7A1F-A174-82C271376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67" y="2661807"/>
            <a:ext cx="9523306" cy="4059668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FDF900B-5FF4-5282-B93A-E3E18D513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027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530C7-B332-7494-1F38-2D5CA1E9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7E6391-646D-4DA8-8567-35E109ED0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B38C24-F3F2-4A80-C257-9E8515E65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6919"/>
            <a:ext cx="10064845" cy="639108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E12511-BF59-B785-3537-C0A52AFC1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06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9185D-32D5-31B8-73AC-ED403D09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能带理论因此得名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66EAA-A100-5786-933E-498E2A977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周期势场中的布洛赫电子，其能量状态（色散关系）将不再是分立的能级，而是形成一条条“带”</a:t>
            </a:r>
            <a:r>
              <a:rPr lang="en-US" altLang="zh-CN" dirty="0"/>
              <a:t>(band)</a:t>
            </a:r>
            <a:r>
              <a:rPr lang="zh-CN" altLang="en-US" dirty="0"/>
              <a:t>，称为能带。这一理论框架称之为能带理论。</a:t>
            </a:r>
            <a:endParaRPr lang="en-US" altLang="zh-CN" dirty="0"/>
          </a:p>
          <a:p>
            <a:r>
              <a:rPr lang="zh-CN" altLang="en-US" dirty="0"/>
              <a:t>狭义的能带理论，仅指基于周期势场中的单电子近似（</a:t>
            </a:r>
            <a:r>
              <a:rPr lang="en-US" altLang="zh-CN" dirty="0"/>
              <a:t>BO + MFA + Periodic Potential Field</a:t>
            </a:r>
            <a:r>
              <a:rPr lang="zh-CN" altLang="en-US" dirty="0"/>
              <a:t>），或在此基础上加入高阶修正，这一套理论方法。</a:t>
            </a:r>
            <a:endParaRPr lang="en-US" altLang="zh-CN" dirty="0"/>
          </a:p>
          <a:p>
            <a:r>
              <a:rPr lang="zh-CN" altLang="en-US" dirty="0"/>
              <a:t>广义而言，凡是在晶格（或近似周期的背景）上去讨论𝑘</a:t>
            </a:r>
            <a:r>
              <a:rPr lang="en-US" altLang="zh-CN" dirty="0"/>
              <a:t>-</a:t>
            </a:r>
            <a:r>
              <a:rPr lang="zh-CN" altLang="en-US" dirty="0"/>
              <a:t>分辨的粒子（或准粒子）谱函数、并以此解释单粒子性质或多体效应的，都可以看作“广义的能带理论”</a:t>
            </a:r>
            <a:br>
              <a:rPr lang="zh-CN" altLang="en-US" dirty="0"/>
            </a:b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7D3A2A2-5B8A-61FA-5DB7-9C08E742A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96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24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064F-3FDD-969C-6A4F-5EEC74BC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C8ECE-5E7D-5D29-D701-EEB6185B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：一维余弦型势阱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ED4E5E-AC9F-5786-F2C0-1D9124EF17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4486"/>
                <a:ext cx="10515600" cy="5247861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dirty="0"/>
                  <a:t>，写出中心方程？</a:t>
                </a:r>
                <a:endParaRPr lang="en-US" altLang="zh-CN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做变换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可见，其傅里叶展开系数有且仅有两项不为零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中心方程为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4472C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  <m: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solidFill>
                                                <a:srgbClr val="4472C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4472C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solidFill>
                                                <a:srgbClr val="4472C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solidFill>
                                                <a:srgbClr val="4472C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  <m:r>
                                                <a:rPr lang="en-US" altLang="zh-CN" b="0" i="1">
                                                  <a:solidFill>
                                                    <a:srgbClr val="4472C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zh-CN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a:rPr lang="zh-CN" altLang="en-US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𝜋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US" altLang="zh-CN" i="1">
                                                      <a:solidFill>
                                                        <a:srgbClr val="4472C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b="0" i="1">
                                              <a:solidFill>
                                                <a:srgbClr val="4472C4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altLang="zh-CN" b="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ED4E5E-AC9F-5786-F2C0-1D9124EF17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4486"/>
                <a:ext cx="10515600" cy="5247861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B2F3F01-ADC0-B8A6-88EA-991BD1B31D1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3FBBC9BA-B7A4-C7A4-6800-4F9A07659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70" y="689883"/>
            <a:ext cx="4379843" cy="119200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3165229-1A2D-C437-D177-DCA13333ABF7}"/>
              </a:ext>
            </a:extLst>
          </p:cNvPr>
          <p:cNvCxnSpPr>
            <a:stCxn id="6" idx="0"/>
          </p:cNvCxnSpPr>
          <p:nvPr/>
        </p:nvCxnSpPr>
        <p:spPr>
          <a:xfrm>
            <a:off x="9014792" y="689883"/>
            <a:ext cx="14411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B2945A3-C015-DC53-CF94-A2F989363406}"/>
              </a:ext>
            </a:extLst>
          </p:cNvPr>
          <p:cNvSpPr txBox="1"/>
          <p:nvPr/>
        </p:nvSpPr>
        <p:spPr>
          <a:xfrm>
            <a:off x="9583734" y="36512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</a:t>
            </a:r>
            <a:endParaRPr lang="zh-CN" altLang="en-US" i="1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293EF66-01F9-AA9A-257F-5C5E8DBCD557}"/>
              </a:ext>
            </a:extLst>
          </p:cNvPr>
          <p:cNvCxnSpPr/>
          <p:nvPr/>
        </p:nvCxnSpPr>
        <p:spPr>
          <a:xfrm>
            <a:off x="8289235" y="907774"/>
            <a:ext cx="0" cy="8415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02C1521-D3BB-FE09-4F1B-6E312DCAF5BA}"/>
              </a:ext>
            </a:extLst>
          </p:cNvPr>
          <p:cNvSpPr txBox="1"/>
          <p:nvPr/>
        </p:nvSpPr>
        <p:spPr>
          <a:xfrm>
            <a:off x="8209723" y="991464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2U</a:t>
            </a:r>
            <a:r>
              <a:rPr lang="en-US" altLang="zh-CN" i="1" baseline="-25000" dirty="0"/>
              <a:t>0</a:t>
            </a:r>
            <a:endParaRPr lang="zh-CN" altLang="en-US" i="1" baseline="-250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52F0B58-393E-7570-6253-75711B1C56FD}"/>
              </a:ext>
            </a:extLst>
          </p:cNvPr>
          <p:cNvSpPr/>
          <p:nvPr/>
        </p:nvSpPr>
        <p:spPr>
          <a:xfrm>
            <a:off x="6581362" y="438359"/>
            <a:ext cx="4888396" cy="1595598"/>
          </a:xfrm>
          <a:prstGeom prst="roundRect">
            <a:avLst>
              <a:gd name="adj" fmla="val 4811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B5378C-0997-1B19-74E4-8867ECD88F9F}"/>
              </a:ext>
            </a:extLst>
          </p:cNvPr>
          <p:cNvSpPr/>
          <p:nvPr/>
        </p:nvSpPr>
        <p:spPr>
          <a:xfrm>
            <a:off x="9409043" y="4219780"/>
            <a:ext cx="2199861" cy="219986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BCFBB57-F208-4A9C-F8C8-B37F56EF94C8}"/>
              </a:ext>
            </a:extLst>
          </p:cNvPr>
          <p:cNvSpPr/>
          <p:nvPr/>
        </p:nvSpPr>
        <p:spPr>
          <a:xfrm rot="2700000">
            <a:off x="9094336" y="5257737"/>
            <a:ext cx="2835172" cy="1260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B5D4281-70DA-CBBC-AD64-8009EC5C5E26}"/>
              </a:ext>
            </a:extLst>
          </p:cNvPr>
          <p:cNvSpPr/>
          <p:nvPr/>
        </p:nvSpPr>
        <p:spPr>
          <a:xfrm rot="2700000">
            <a:off x="9558082" y="5064476"/>
            <a:ext cx="2245906" cy="14625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1C9CB76-FEC7-F030-165C-0AE1748C0D59}"/>
              </a:ext>
            </a:extLst>
          </p:cNvPr>
          <p:cNvSpPr/>
          <p:nvPr/>
        </p:nvSpPr>
        <p:spPr>
          <a:xfrm rot="2700000">
            <a:off x="9202875" y="5422065"/>
            <a:ext cx="2245906" cy="14625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3589F5-DF8F-E31D-B118-DC23BE54B69D}"/>
              </a:ext>
            </a:extLst>
          </p:cNvPr>
          <p:cNvSpPr txBox="1"/>
          <p:nvPr/>
        </p:nvSpPr>
        <p:spPr>
          <a:xfrm>
            <a:off x="10972426" y="44647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928846-578A-2B4B-4DB6-094FC323F8ED}"/>
              </a:ext>
            </a:extLst>
          </p:cNvPr>
          <p:cNvSpPr txBox="1"/>
          <p:nvPr/>
        </p:nvSpPr>
        <p:spPr>
          <a:xfrm>
            <a:off x="9684436" y="57503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D75DC9B-82DF-F26E-B792-4822514FEF19}"/>
                  </a:ext>
                </a:extLst>
              </p:cNvPr>
              <p:cNvSpPr txBox="1"/>
              <p:nvPr/>
            </p:nvSpPr>
            <p:spPr>
              <a:xfrm>
                <a:off x="10491682" y="4522567"/>
                <a:ext cx="430696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D75DC9B-82DF-F26E-B792-4822514F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1682" y="4522567"/>
                <a:ext cx="430696" cy="494238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368CB6E-5BB8-200F-5070-780BF32BE687}"/>
                  </a:ext>
                </a:extLst>
              </p:cNvPr>
              <p:cNvSpPr txBox="1"/>
              <p:nvPr/>
            </p:nvSpPr>
            <p:spPr>
              <a:xfrm>
                <a:off x="10170234" y="5775813"/>
                <a:ext cx="430696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368CB6E-5BB8-200F-5070-780BF32BE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234" y="5775813"/>
                <a:ext cx="430696" cy="494238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9231AA5C-25E1-3DCE-50E4-E63848EFD1E8}"/>
              </a:ext>
            </a:extLst>
          </p:cNvPr>
          <p:cNvSpPr txBox="1"/>
          <p:nvPr/>
        </p:nvSpPr>
        <p:spPr>
          <a:xfrm>
            <a:off x="8923814" y="389173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</a:rPr>
              <a:t>主对角线：动能项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142594-6151-AF1D-E63B-2EC200B86F6E}"/>
              </a:ext>
            </a:extLst>
          </p:cNvPr>
          <p:cNvSpPr txBox="1"/>
          <p:nvPr/>
        </p:nvSpPr>
        <p:spPr>
          <a:xfrm>
            <a:off x="10491682" y="3891735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次对角线：势能项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EAAE8C-8D8A-568A-475A-380CB861D26E}"/>
              </a:ext>
            </a:extLst>
          </p:cNvPr>
          <p:cNvSpPr txBox="1"/>
          <p:nvPr/>
        </p:nvSpPr>
        <p:spPr>
          <a:xfrm>
            <a:off x="9865517" y="6440271"/>
            <a:ext cx="1683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Toeplitz </a:t>
            </a:r>
            <a:r>
              <a:rPr lang="zh-CN" altLang="en-US" dirty="0"/>
              <a:t>矩阵</a:t>
            </a:r>
          </a:p>
        </p:txBody>
      </p:sp>
    </p:spTree>
    <p:extLst>
      <p:ext uri="{BB962C8B-B14F-4D97-AF65-F5344CB8AC3E}">
        <p14:creationId xmlns:p14="http://schemas.microsoft.com/office/powerpoint/2010/main" val="368380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1" grpId="0"/>
      <p:bldP spid="22" grpId="0"/>
      <p:bldP spid="23" grpId="0"/>
      <p:bldP spid="24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05A5A-7DF1-C409-44D4-B109C56C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0B00F3-00AD-EB84-CA75-2CD6C90899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zh-CN" dirty="0">
                    <a:solidFill>
                      <a:schemeClr val="tx1"/>
                    </a:solidFill>
                  </a:rPr>
                  <a:t>晶格常数为</a:t>
                </a:r>
                <a:r>
                  <a:rPr lang="en-US" altLang="zh-CN" i="1" dirty="0">
                    <a:solidFill>
                      <a:schemeClr val="tx1"/>
                    </a:solidFill>
                  </a:rPr>
                  <a:t>a</a:t>
                </a:r>
                <a:r>
                  <a:rPr lang="zh-CN" altLang="zh-CN" dirty="0">
                    <a:solidFill>
                      <a:schemeClr val="tx1"/>
                    </a:solidFill>
                  </a:rPr>
                  <a:t>的二维正方晶格，其晶格势场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zh-CN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都</a:t>
                </a:r>
                <a:r>
                  <a:rPr lang="zh-CN" altLang="zh-CN" dirty="0">
                    <a:solidFill>
                      <a:schemeClr val="tx1"/>
                    </a:solidFill>
                  </a:rPr>
                  <a:t>已知。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）找出中心方程中所有的非零非对角元（位置，大小）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）根据</a:t>
                </a:r>
                <a:r>
                  <a:rPr lang="zh-CN" altLang="zh-CN" dirty="0">
                    <a:solidFill>
                      <a:schemeClr val="tx1"/>
                    </a:solidFill>
                  </a:rPr>
                  <a:t>近自由电子近似，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电子能带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(i)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为何打开带隙？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(ii)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在何处打开带隙（写出波矢坐标与布洛赫态序号）？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(iii)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带隙大小是多少？</a:t>
                </a:r>
                <a:endParaRPr lang="zh-CN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0B00F3-00AD-EB84-CA75-2CD6C90899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C766ED-84DC-BF10-9FBD-B7BA6206FD21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3312</TotalTime>
  <Words>3513</Words>
  <Application>Microsoft Office PowerPoint</Application>
  <PresentationFormat>宽屏</PresentationFormat>
  <Paragraphs>363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CMR8</vt:lpstr>
      <vt:lpstr>FandolHei-Regular-Identity-H</vt:lpstr>
      <vt:lpstr>LMRoman8-Italic-Identity-H</vt:lpstr>
      <vt:lpstr>LMRomanDemi10-Regular-Identity-H</vt:lpstr>
      <vt:lpstr>黑体</vt:lpstr>
      <vt:lpstr>微软雅黑</vt:lpstr>
      <vt:lpstr>Aptos</vt:lpstr>
      <vt:lpstr>Arial</vt:lpstr>
      <vt:lpstr>Calibri</vt:lpstr>
      <vt:lpstr>Cambria Math</vt:lpstr>
      <vt:lpstr>Wingdings</vt:lpstr>
      <vt:lpstr>Office 2013 - 2022 主题</vt:lpstr>
      <vt:lpstr>固体物理（2班） Solid state physics</vt:lpstr>
      <vt:lpstr>回顾：能带论中的三大近似</vt:lpstr>
      <vt:lpstr>当势场V(r)形式简单时，我们能得到解</vt:lpstr>
      <vt:lpstr>第四章 能带理论</vt:lpstr>
      <vt:lpstr>周期性势场中的电子</vt:lpstr>
      <vt:lpstr>猜想：波函数也要满足周期性</vt:lpstr>
      <vt:lpstr>与实验结果不符！</vt:lpstr>
      <vt:lpstr>周期性波函数的真实形式</vt:lpstr>
      <vt:lpstr>布洛赫定理</vt:lpstr>
      <vt:lpstr>布洛赫定理 (Bloch’s theorem)</vt:lpstr>
      <vt:lpstr>布洛赫定理</vt:lpstr>
      <vt:lpstr>布洛赫定理</vt:lpstr>
      <vt:lpstr>布洛赫定理</vt:lpstr>
      <vt:lpstr>布洛赫函数的性质（1）</vt:lpstr>
      <vt:lpstr>布洛赫函数的性质（2）</vt:lpstr>
      <vt:lpstr>布洛赫函数的性质（3）</vt:lpstr>
      <vt:lpstr>PowerPoint 演示文稿</vt:lpstr>
      <vt:lpstr>第四章 能带理论</vt:lpstr>
      <vt:lpstr>布洛赫函数</vt:lpstr>
      <vt:lpstr>求解布洛赫函数：中心方程</vt:lpstr>
      <vt:lpstr>中心方程的求解</vt:lpstr>
      <vt:lpstr>例1：BvK条件下的一维自由电子 (“空格子”)</vt:lpstr>
      <vt:lpstr>一维”空格子”的布洛赫电子的色散关系</vt:lpstr>
      <vt:lpstr>一维”空格子”的布洛赫电子的色散关系</vt:lpstr>
      <vt:lpstr>PowerPoint 演示文稿</vt:lpstr>
      <vt:lpstr>PowerPoint 演示文稿</vt:lpstr>
      <vt:lpstr>能带理论因此得名</vt:lpstr>
      <vt:lpstr>例2：一维余弦型势阱</vt:lpstr>
      <vt:lpstr>作业：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2</cp:revision>
  <dcterms:created xsi:type="dcterms:W3CDTF">2024-09-10T08:37:43Z</dcterms:created>
  <dcterms:modified xsi:type="dcterms:W3CDTF">2026-10-11T04:47:17Z</dcterms:modified>
</cp:coreProperties>
</file>