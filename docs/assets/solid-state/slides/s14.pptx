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7" r:id="rId2"/>
    <p:sldId id="261" r:id="rId3"/>
    <p:sldId id="265" r:id="rId4"/>
    <p:sldId id="266" r:id="rId5"/>
    <p:sldId id="262" r:id="rId6"/>
    <p:sldId id="268" r:id="rId7"/>
    <p:sldId id="264" r:id="rId8"/>
    <p:sldId id="263" r:id="rId9"/>
    <p:sldId id="269" r:id="rId10"/>
    <p:sldId id="270" r:id="rId11"/>
    <p:sldId id="272" r:id="rId12"/>
    <p:sldId id="273" r:id="rId13"/>
    <p:sldId id="275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9" r:id="rId23"/>
    <p:sldId id="283" r:id="rId24"/>
    <p:sldId id="284" r:id="rId25"/>
    <p:sldId id="285" r:id="rId26"/>
    <p:sldId id="286" r:id="rId27"/>
    <p:sldId id="287" r:id="rId28"/>
    <p:sldId id="288" r:id="rId29"/>
    <p:sldId id="258" r:id="rId30"/>
    <p:sldId id="259" r:id="rId31"/>
    <p:sldId id="260" r:id="rId32"/>
    <p:sldId id="1944" r:id="rId33"/>
    <p:sldId id="194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  <a:srgbClr val="4B7430"/>
    <a:srgbClr val="04B7BC"/>
    <a:srgbClr val="000000"/>
    <a:srgbClr val="00B050"/>
    <a:srgbClr val="F4BA3B"/>
    <a:srgbClr val="EC6909"/>
    <a:srgbClr val="016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4A50F-C41C-4262-900B-C282D9A0941B}" v="3" dt="2026-10-13T11:40:28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8" autoAdjust="0"/>
    <p:restoredTop sz="93594" autoAdjust="0"/>
  </p:normalViewPr>
  <p:slideViewPr>
    <p:cSldViewPr snapToGrid="0">
      <p:cViewPr varScale="1">
        <p:scale>
          <a:sx n="148" d="100"/>
          <a:sy n="148" d="100"/>
        </p:scale>
        <p:origin x="58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delSld modSld">
      <pc:chgData name="Zhi Wang" userId="7588ea56f58b19c7" providerId="LiveId" clId="{96B72205-E234-467C-A3DC-8BF4882781A8}" dt="2026-10-13T11:43:51.754" v="25" actId="47"/>
      <pc:docMkLst>
        <pc:docMk/>
      </pc:docMkLst>
      <pc:sldChg chg="modSp mod">
        <pc:chgData name="Zhi Wang" userId="7588ea56f58b19c7" providerId="LiveId" clId="{96B72205-E234-467C-A3DC-8BF4882781A8}" dt="2026-10-13T11:37:08.334" v="0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10-13T11:37:08.334" v="0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551518161" sldId="258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551518161" sldId="258"/>
            <ac:graphicFrameMk id="2" creationId="{269358CB-F112-157B-E36C-28839F092A5D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173430620" sldId="259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173430620" sldId="259"/>
            <ac:graphicFrameMk id="2" creationId="{582C757F-49DD-0D52-9DAC-2D5F1EA50E0B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44826664" sldId="260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44826664" sldId="260"/>
            <ac:graphicFrameMk id="2" creationId="{868669E9-7794-C627-16F1-E94CC380262A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413324664" sldId="261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413324664" sldId="261"/>
            <ac:graphicFrameMk id="3" creationId="{65F2D75C-1517-2DDE-8494-8147A86DAF46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781408444" sldId="262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781408444" sldId="262"/>
            <ac:graphicFrameMk id="2" creationId="{D344A170-4313-0F49-C6DC-895A64E713AA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401448666" sldId="263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401448666" sldId="263"/>
            <ac:graphicFrameMk id="4" creationId="{718E67B5-0E11-09D4-4695-127B9F977C8A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619965445" sldId="264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619965445" sldId="264"/>
            <ac:graphicFrameMk id="2" creationId="{69E33180-E655-51CC-2F5A-62EDC757AE2F}"/>
          </ac:graphicFrameMkLst>
        </pc:graphicFrameChg>
      </pc:sldChg>
      <pc:sldChg chg="modSp mod">
        <pc:chgData name="Zhi Wang" userId="7588ea56f58b19c7" providerId="LiveId" clId="{96B72205-E234-467C-A3DC-8BF4882781A8}" dt="2026-10-13T11:39:00.046" v="17" actId="20577"/>
        <pc:sldMkLst>
          <pc:docMk/>
          <pc:sldMk cId="2153707528" sldId="265"/>
        </pc:sldMkLst>
        <pc:spChg chg="mod">
          <ac:chgData name="Zhi Wang" userId="7588ea56f58b19c7" providerId="LiveId" clId="{96B72205-E234-467C-A3DC-8BF4882781A8}" dt="2026-10-13T11:39:00.046" v="17" actId="20577"/>
          <ac:spMkLst>
            <pc:docMk/>
            <pc:sldMk cId="2153707528" sldId="265"/>
            <ac:spMk id="2" creationId="{DB49E45C-9AC9-3E80-F27B-AD32B2837FE4}"/>
          </ac:spMkLst>
        </pc:spChg>
        <pc:spChg chg="mod">
          <ac:chgData name="Zhi Wang" userId="7588ea56f58b19c7" providerId="LiveId" clId="{96B72205-E234-467C-A3DC-8BF4882781A8}" dt="2026-10-13T11:38:32.184" v="10" actId="20577"/>
          <ac:spMkLst>
            <pc:docMk/>
            <pc:sldMk cId="2153707528" sldId="265"/>
            <ac:spMk id="15" creationId="{AA90CEE7-41E4-F792-8D20-340CDE9CFD00}"/>
          </ac:spMkLst>
        </pc:spChg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153707528" sldId="265"/>
            <ac:graphicFrameMk id="3" creationId="{8FD0E0AD-CD30-8742-C13D-BA4C66A4CBF9}"/>
          </ac:graphicFrameMkLst>
        </pc:graphicFrameChg>
      </pc:sldChg>
      <pc:sldChg chg="modSp mod">
        <pc:chgData name="Zhi Wang" userId="7588ea56f58b19c7" providerId="LiveId" clId="{96B72205-E234-467C-A3DC-8BF4882781A8}" dt="2026-10-13T11:43:04.594" v="23"/>
        <pc:sldMkLst>
          <pc:docMk/>
          <pc:sldMk cId="1000952103" sldId="266"/>
        </pc:sldMkLst>
        <pc:spChg chg="mod">
          <ac:chgData name="Zhi Wang" userId="7588ea56f58b19c7" providerId="LiveId" clId="{96B72205-E234-467C-A3DC-8BF4882781A8}" dt="2026-10-13T11:42:07.918" v="22"/>
          <ac:spMkLst>
            <pc:docMk/>
            <pc:sldMk cId="1000952103" sldId="266"/>
            <ac:spMk id="3" creationId="{37ED427E-6099-C15D-8A36-1F4AD896BC59}"/>
          </ac:spMkLst>
        </pc:spChg>
        <pc:spChg chg="mod">
          <ac:chgData name="Zhi Wang" userId="7588ea56f58b19c7" providerId="LiveId" clId="{96B72205-E234-467C-A3DC-8BF4882781A8}" dt="2026-10-13T11:40:28.834" v="21"/>
          <ac:spMkLst>
            <pc:docMk/>
            <pc:sldMk cId="1000952103" sldId="266"/>
            <ac:spMk id="5" creationId="{E910F209-9079-EA9E-82B8-0BAB91C90D88}"/>
          </ac:spMkLst>
        </pc:spChg>
        <pc:spChg chg="mod">
          <ac:chgData name="Zhi Wang" userId="7588ea56f58b19c7" providerId="LiveId" clId="{96B72205-E234-467C-A3DC-8BF4882781A8}" dt="2026-10-13T11:40:03.654" v="19"/>
          <ac:spMkLst>
            <pc:docMk/>
            <pc:sldMk cId="1000952103" sldId="266"/>
            <ac:spMk id="7" creationId="{B98FE350-5EEB-704C-638B-527A19D3278B}"/>
          </ac:spMkLst>
        </pc:spChg>
        <pc:spChg chg="mod">
          <ac:chgData name="Zhi Wang" userId="7588ea56f58b19c7" providerId="LiveId" clId="{96B72205-E234-467C-A3DC-8BF4882781A8}" dt="2026-10-13T11:39:26.354" v="18"/>
          <ac:spMkLst>
            <pc:docMk/>
            <pc:sldMk cId="1000952103" sldId="266"/>
            <ac:spMk id="8" creationId="{81B2E3A3-F877-80DF-19F1-172BC9FE416C}"/>
          </ac:spMkLst>
        </pc:spChg>
        <pc:spChg chg="mod">
          <ac:chgData name="Zhi Wang" userId="7588ea56f58b19c7" providerId="LiveId" clId="{96B72205-E234-467C-A3DC-8BF4882781A8}" dt="2026-10-13T11:43:04.594" v="23"/>
          <ac:spMkLst>
            <pc:docMk/>
            <pc:sldMk cId="1000952103" sldId="266"/>
            <ac:spMk id="10" creationId="{80F9CDBC-58D0-830D-06D9-CD99F1599E0C}"/>
          </ac:spMkLst>
        </pc:spChg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000952103" sldId="266"/>
            <ac:graphicFrameMk id="4" creationId="{098F67E9-5401-36B4-9BE2-E06C4B0478B8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657387672" sldId="268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657387672" sldId="268"/>
            <ac:graphicFrameMk id="4" creationId="{F4BE02A5-2A4A-DCF0-A994-2436EC8918A7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62646509" sldId="269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62646509" sldId="269"/>
            <ac:graphicFrameMk id="4" creationId="{18630E3E-DD3D-3D45-79D5-5AA722F2D7FC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653009301" sldId="270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653009301" sldId="270"/>
            <ac:graphicFrameMk id="4" creationId="{BD26079F-8F42-5E3D-3815-7740FA84A69D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676250821" sldId="272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676250821" sldId="272"/>
            <ac:graphicFrameMk id="2" creationId="{4E0188ED-D489-4616-3AB5-03DF187205BC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797398947" sldId="273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797398947" sldId="273"/>
            <ac:graphicFrameMk id="2" creationId="{E13EF553-ECB3-A260-9E5C-D1A43F146D8D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205927574" sldId="274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205927574" sldId="274"/>
            <ac:graphicFrameMk id="4" creationId="{328D9203-92BA-7060-502E-6CD05B925C5A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775234748" sldId="275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775234748" sldId="275"/>
            <ac:graphicFrameMk id="2" creationId="{3691BC22-2595-8D9A-198E-ADD87CF1906F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489120725" sldId="276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489120725" sldId="276"/>
            <ac:graphicFrameMk id="4" creationId="{ED4D3093-E241-477C-98A7-4ED2D4360B4E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890274510" sldId="277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890274510" sldId="277"/>
            <ac:graphicFrameMk id="3" creationId="{B2C1C4FA-A0F1-C837-B9AC-17D93D0AB3CD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671788143" sldId="278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671788143" sldId="278"/>
            <ac:graphicFrameMk id="3" creationId="{43F0F0DA-C8EC-0591-B192-ED3A4AC803B7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135514833" sldId="279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135514833" sldId="279"/>
            <ac:graphicFrameMk id="3" creationId="{C8939DB4-B2DC-FB10-9774-BE041CF01774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500265576" sldId="280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500265576" sldId="280"/>
            <ac:graphicFrameMk id="3" creationId="{5AE71D37-4422-303A-1D50-FD17E3C6968C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212289083" sldId="281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212289083" sldId="281"/>
            <ac:graphicFrameMk id="4" creationId="{A7057851-FF0F-4692-66BF-9C0E68490B2A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384359311" sldId="282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384359311" sldId="282"/>
            <ac:graphicFrameMk id="4" creationId="{23166887-13CF-3A4E-F836-0ADA1415AA13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2041363710" sldId="283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2041363710" sldId="283"/>
            <ac:graphicFrameMk id="3" creationId="{6B830882-C51D-1E12-56DC-60A69727A0F8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330856784" sldId="284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330856784" sldId="284"/>
            <ac:graphicFrameMk id="4" creationId="{BF914D52-42CA-7F6F-6200-2FAF272B5EF2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609032541" sldId="285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609032541" sldId="285"/>
            <ac:graphicFrameMk id="4" creationId="{0068663C-F2CE-94E9-124A-5FCEA5382F7B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000572515" sldId="286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000572515" sldId="286"/>
            <ac:graphicFrameMk id="4" creationId="{BF575FCD-8848-5C4E-CA07-96DFEF3561D7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4099060163" sldId="287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4099060163" sldId="287"/>
            <ac:graphicFrameMk id="4" creationId="{35D42C83-E9D4-F7DE-AE46-5C6BDBCE7E2D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1725970438" sldId="288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1725970438" sldId="288"/>
            <ac:graphicFrameMk id="4" creationId="{82C7A225-08D9-5B44-2D0D-F89425B76826}"/>
          </ac:graphicFrameMkLst>
        </pc:graphicFrameChg>
      </pc:sldChg>
      <pc:sldChg chg="modSp">
        <pc:chgData name="Zhi Wang" userId="7588ea56f58b19c7" providerId="LiveId" clId="{96B72205-E234-467C-A3DC-8BF4882781A8}" dt="2026-10-13T11:37:29.034" v="1"/>
        <pc:sldMkLst>
          <pc:docMk/>
          <pc:sldMk cId="3713814321" sldId="289"/>
        </pc:sldMkLst>
        <pc:graphicFrameChg chg="mod">
          <ac:chgData name="Zhi Wang" userId="7588ea56f58b19c7" providerId="LiveId" clId="{96B72205-E234-467C-A3DC-8BF4882781A8}" dt="2026-10-13T11:37:29.034" v="1"/>
          <ac:graphicFrameMkLst>
            <pc:docMk/>
            <pc:sldMk cId="3713814321" sldId="289"/>
            <ac:graphicFrameMk id="2" creationId="{98CB753F-5A6E-6ECE-BAD8-B2D1DE7D885A}"/>
          </ac:graphicFrameMkLst>
        </pc:graphicFrameChg>
      </pc:sldChg>
      <pc:sldChg chg="del">
        <pc:chgData name="Zhi Wang" userId="7588ea56f58b19c7" providerId="LiveId" clId="{96B72205-E234-467C-A3DC-8BF4882781A8}" dt="2026-10-13T11:43:51.754" v="24" actId="47"/>
        <pc:sldMkLst>
          <pc:docMk/>
          <pc:sldMk cId="1418090165" sldId="292"/>
        </pc:sldMkLst>
      </pc:sldChg>
      <pc:sldChg chg="del">
        <pc:chgData name="Zhi Wang" userId="7588ea56f58b19c7" providerId="LiveId" clId="{96B72205-E234-467C-A3DC-8BF4882781A8}" dt="2026-10-13T11:43:51.754" v="25" actId="47"/>
        <pc:sldMkLst>
          <pc:docMk/>
          <pc:sldMk cId="857959756" sldId="19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E3CFFC-A22C-4D2E-A466-2E40D61E3C58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28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064D-39AC-45B3-8539-6E1BF640C9F2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7277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941" y="1058449"/>
            <a:ext cx="11793255" cy="5386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2941" y="6526060"/>
            <a:ext cx="2743200" cy="270571"/>
          </a:xfrm>
        </p:spPr>
        <p:txBody>
          <a:bodyPr/>
          <a:lstStyle/>
          <a:p>
            <a:fld id="{76C2F0B8-B3DB-4CBF-AA9F-FAB870CB2C5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21058"/>
            <a:ext cx="4114800" cy="27057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62996" y="6521058"/>
            <a:ext cx="2743200" cy="270571"/>
          </a:xfrm>
        </p:spPr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133B5D-F471-E288-8ABA-E191DCB71073}"/>
              </a:ext>
            </a:extLst>
          </p:cNvPr>
          <p:cNvSpPr txBox="1">
            <a:spLocks/>
          </p:cNvSpPr>
          <p:nvPr userDrawn="1"/>
        </p:nvSpPr>
        <p:spPr>
          <a:xfrm>
            <a:off x="212941" y="6526060"/>
            <a:ext cx="2743200" cy="2705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DB6C02-C197-42E5-91C2-B4E336CF322A}" type="datetime1">
              <a:rPr lang="en-US" smtClean="0"/>
              <a:pPr/>
              <a:t>10/13/2026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F5AC-C292-4C81-9AD2-2370C58A58E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4B3A-00A4-4A0F-B87B-6ECDD9CD8C05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D24D-E555-42DC-BA6F-976F91CC67C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F958-9FFA-4966-B4D5-792CBEF3723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C466A-D902-4704-9BAB-41F42002B55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C7F8-7BCE-4319-A455-F7711E773B5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59F7-2DF1-453A-BDE7-1751F33330F9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A2B2-2F27-4039-A523-D0CA596BA2B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416" y="136526"/>
            <a:ext cx="11761940" cy="64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416" y="926926"/>
            <a:ext cx="11761940" cy="549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0416" y="6538586"/>
            <a:ext cx="2743200" cy="251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1F910-8B3D-4590-8563-BDF99118905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38586"/>
            <a:ext cx="4114800" cy="251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156" y="6537977"/>
            <a:ext cx="2743200" cy="251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540.png"/><Relationship Id="rId18" Type="http://schemas.openxmlformats.org/officeDocument/2006/relationships/image" Target="../media/image59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17" Type="http://schemas.openxmlformats.org/officeDocument/2006/relationships/image" Target="../media/image580.png"/><Relationship Id="rId2" Type="http://schemas.openxmlformats.org/officeDocument/2006/relationships/image" Target="../media/image430.png"/><Relationship Id="rId16" Type="http://schemas.openxmlformats.org/officeDocument/2006/relationships/image" Target="../media/image5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image" Target="../media/image460.png"/><Relationship Id="rId15" Type="http://schemas.openxmlformats.org/officeDocument/2006/relationships/image" Target="../media/image560.png"/><Relationship Id="rId10" Type="http://schemas.openxmlformats.org/officeDocument/2006/relationships/image" Target="../media/image510.png"/><Relationship Id="rId19" Type="http://schemas.openxmlformats.org/officeDocument/2006/relationships/image" Target="../media/image71.png"/><Relationship Id="rId4" Type="http://schemas.openxmlformats.org/officeDocument/2006/relationships/image" Target="../media/image450.png"/><Relationship Id="rId9" Type="http://schemas.openxmlformats.org/officeDocument/2006/relationships/image" Target="../media/image500.png"/><Relationship Id="rId14" Type="http://schemas.openxmlformats.org/officeDocument/2006/relationships/image" Target="../media/image5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Solid-State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5400" dirty="0"/>
              <a:t>密度泛函理论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固体物理 第四章 能带理论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5F2D75C-1517-2DDE-8494-8147A86DA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46947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D257906-B348-02E3-9138-DE095571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18983"/>
          </a:xfrm>
        </p:spPr>
        <p:txBody>
          <a:bodyPr/>
          <a:lstStyle/>
          <a:p>
            <a:r>
              <a:rPr lang="zh-CN" altLang="en-US" dirty="0"/>
              <a:t>预测电子结构的强力工具</a:t>
            </a:r>
            <a:r>
              <a:rPr lang="en-US" altLang="zh-CN" dirty="0"/>
              <a:t>——</a:t>
            </a:r>
            <a:r>
              <a:rPr lang="zh-CN" altLang="en-US" dirty="0"/>
              <a:t>密度泛函理论 </a:t>
            </a:r>
            <a:r>
              <a:rPr lang="en-US" altLang="zh-CN" dirty="0"/>
              <a:t>(DFT)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EF41DC-40D2-BE13-4161-048038D2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995" y="1592067"/>
            <a:ext cx="3407904" cy="46262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A79B9D-4ED4-3A46-01A5-89DE3B4F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23" y="1592067"/>
            <a:ext cx="778879" cy="7277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E4C8020-CF3F-A817-7501-CCB3BC982B52}"/>
              </a:ext>
            </a:extLst>
          </p:cNvPr>
          <p:cNvSpPr txBox="1"/>
          <p:nvPr/>
        </p:nvSpPr>
        <p:spPr>
          <a:xfrm>
            <a:off x="1124802" y="6259810"/>
            <a:ext cx="1936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Interview by R. Van Norden</a:t>
            </a:r>
          </a:p>
          <a:p>
            <a:r>
              <a:rPr lang="en-US" altLang="zh-CN" sz="1200" b="1" dirty="0"/>
              <a:t>Nature 514, 550 (2014)</a:t>
            </a:r>
            <a:endParaRPr lang="zh-CN" altLang="en-US" sz="12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BADEE5E-306F-57F6-C104-6A257C6FA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566" y="3678442"/>
            <a:ext cx="6905625" cy="1924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F445471-6694-BA0A-BC87-0785EA79085D}"/>
              </a:ext>
            </a:extLst>
          </p:cNvPr>
          <p:cNvSpPr txBox="1"/>
          <p:nvPr/>
        </p:nvSpPr>
        <p:spPr>
          <a:xfrm>
            <a:off x="4641092" y="2144803"/>
            <a:ext cx="4060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有史以来被引用率最高的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10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篇论文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90CEE7-41E4-F792-8D20-340CDE9CFD00}"/>
              </a:ext>
            </a:extLst>
          </p:cNvPr>
          <p:cNvSpPr txBox="1"/>
          <p:nvPr/>
        </p:nvSpPr>
        <p:spPr>
          <a:xfrm>
            <a:off x="5499418" y="3228945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现在：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120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,750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5998FE-C9A5-FBB9-4E37-48FC86D6828A}"/>
              </a:ext>
            </a:extLst>
          </p:cNvPr>
          <p:cNvSpPr/>
          <p:nvPr/>
        </p:nvSpPr>
        <p:spPr>
          <a:xfrm>
            <a:off x="3183467" y="4483947"/>
            <a:ext cx="1117600" cy="3183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1DCC6AA-59D8-88E4-D71C-730231794283}"/>
              </a:ext>
            </a:extLst>
          </p:cNvPr>
          <p:cNvCxnSpPr/>
          <p:nvPr/>
        </p:nvCxnSpPr>
        <p:spPr>
          <a:xfrm flipV="1">
            <a:off x="4301067" y="3678442"/>
            <a:ext cx="492499" cy="8055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75ACB1-8F83-8B98-16E8-29F61751B790}"/>
              </a:ext>
            </a:extLst>
          </p:cNvPr>
          <p:cNvCxnSpPr>
            <a:cxnSpLocks/>
          </p:cNvCxnSpPr>
          <p:nvPr/>
        </p:nvCxnSpPr>
        <p:spPr>
          <a:xfrm>
            <a:off x="4301067" y="4802293"/>
            <a:ext cx="492499" cy="8001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B49E45C-9AC9-3E80-F27B-AD32B2837FE4}"/>
              </a:ext>
            </a:extLst>
          </p:cNvPr>
          <p:cNvSpPr txBox="1"/>
          <p:nvPr/>
        </p:nvSpPr>
        <p:spPr>
          <a:xfrm>
            <a:off x="5499418" y="5661665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现在：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127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,850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FD0E0AD-CD30-8742-C13D-BA4C66A4C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70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A9A68-6499-586D-6207-5744864B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57182"/>
          </a:xfrm>
        </p:spPr>
        <p:txBody>
          <a:bodyPr/>
          <a:lstStyle/>
          <a:p>
            <a:r>
              <a:rPr lang="en-US" altLang="zh-CN" dirty="0"/>
              <a:t>DFT</a:t>
            </a:r>
            <a:r>
              <a:rPr lang="zh-CN" altLang="en-US" dirty="0"/>
              <a:t>是一个非常活跃的研究领域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CC3AC9-7F19-A949-9EAD-D4F2A322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79" y="1099931"/>
            <a:ext cx="8359251" cy="38497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E937704-5932-589C-C4C1-7EF1AB5BEB37}"/>
              </a:ext>
            </a:extLst>
          </p:cNvPr>
          <p:cNvSpPr txBox="1"/>
          <p:nvPr/>
        </p:nvSpPr>
        <p:spPr>
          <a:xfrm>
            <a:off x="2980266" y="5043730"/>
            <a:ext cx="69421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HK 1964		Hohenberg, Kohn, Phys. Rev. 136, B864 (1964)</a:t>
            </a:r>
          </a:p>
          <a:p>
            <a:r>
              <a:rPr lang="en-US" altLang="zh-CN" dirty="0"/>
              <a:t>KS 1965		Kohn, Sham, Phys. Rev. 140, A1133 (1965)</a:t>
            </a:r>
          </a:p>
          <a:p>
            <a:r>
              <a:rPr lang="en-US" altLang="zh-CN" dirty="0"/>
              <a:t>CA 1980		</a:t>
            </a:r>
            <a:r>
              <a:rPr lang="en-US" altLang="zh-CN" dirty="0" err="1"/>
              <a:t>Ceperley</a:t>
            </a:r>
            <a:r>
              <a:rPr lang="en-US" altLang="zh-CN" dirty="0"/>
              <a:t>, Alder, Phys. Rev. Lett. 45, 566 (1980)</a:t>
            </a:r>
          </a:p>
          <a:p>
            <a:r>
              <a:rPr lang="en-US" altLang="zh-CN" dirty="0"/>
              <a:t>PZ 1981		Perdew, Zunger, Phys. Rev. B 23, 5048 (1981)</a:t>
            </a:r>
          </a:p>
          <a:p>
            <a:r>
              <a:rPr lang="en-US" altLang="zh-CN" dirty="0"/>
              <a:t>PBE 1996		Perdew, Burke, Ernzerhof, Phys. Rev. Lett. 77, 3865 (1996)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F9CDBC-58D0-830D-06D9-CD99F1599E0C}"/>
              </a:ext>
            </a:extLst>
          </p:cNvPr>
          <p:cNvSpPr txBox="1"/>
          <p:nvPr/>
        </p:nvSpPr>
        <p:spPr>
          <a:xfrm>
            <a:off x="9791366" y="6151726"/>
            <a:ext cx="168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>
                <a:solidFill>
                  <a:srgbClr val="FF0000"/>
                </a:solidFill>
              </a:rPr>
              <a:t>: 251386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ED427E-6099-C15D-8A36-1F4AD896BC59}"/>
              </a:ext>
            </a:extLst>
          </p:cNvPr>
          <p:cNvSpPr txBox="1"/>
          <p:nvPr/>
        </p:nvSpPr>
        <p:spPr>
          <a:xfrm>
            <a:off x="9791366" y="5873018"/>
            <a:ext cx="168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>
                <a:solidFill>
                  <a:srgbClr val="FF0000"/>
                </a:solidFill>
              </a:rPr>
              <a:t>: 27191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10F209-9079-EA9E-82B8-0BAB91C90D88}"/>
              </a:ext>
            </a:extLst>
          </p:cNvPr>
          <p:cNvSpPr txBox="1"/>
          <p:nvPr/>
        </p:nvSpPr>
        <p:spPr>
          <a:xfrm>
            <a:off x="9791366" y="5602447"/>
            <a:ext cx="168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>
                <a:solidFill>
                  <a:srgbClr val="FF0000"/>
                </a:solidFill>
              </a:rPr>
              <a:t>: 19959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8FE350-5EEB-704C-638B-527A19D3278B}"/>
              </a:ext>
            </a:extLst>
          </p:cNvPr>
          <p:cNvSpPr txBox="1"/>
          <p:nvPr/>
        </p:nvSpPr>
        <p:spPr>
          <a:xfrm>
            <a:off x="9791366" y="5327808"/>
            <a:ext cx="168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>
                <a:solidFill>
                  <a:srgbClr val="FF0000"/>
                </a:solidFill>
              </a:rPr>
              <a:t>: 88589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B2E3A3-F877-80DF-19F1-172BC9FE416C}"/>
              </a:ext>
            </a:extLst>
          </p:cNvPr>
          <p:cNvSpPr txBox="1"/>
          <p:nvPr/>
        </p:nvSpPr>
        <p:spPr>
          <a:xfrm>
            <a:off x="9791366" y="5053169"/>
            <a:ext cx="168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>
                <a:solidFill>
                  <a:srgbClr val="FF0000"/>
                </a:solidFill>
              </a:rPr>
              <a:t>: 77087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98F67E9-5401-36B4-9BE2-E06C4B047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95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34D315E-2299-E29F-1BFD-BD900EC6AD03}"/>
              </a:ext>
            </a:extLst>
          </p:cNvPr>
          <p:cNvSpPr/>
          <p:nvPr/>
        </p:nvSpPr>
        <p:spPr>
          <a:xfrm>
            <a:off x="5623572" y="895974"/>
            <a:ext cx="1563756" cy="223243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BF5FA3-F004-BD14-20D6-ADD9FBA99DE1}"/>
              </a:ext>
            </a:extLst>
          </p:cNvPr>
          <p:cNvSpPr/>
          <p:nvPr/>
        </p:nvSpPr>
        <p:spPr>
          <a:xfrm>
            <a:off x="3834527" y="895974"/>
            <a:ext cx="1583636" cy="2232434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3064523-966A-C567-7E68-ED8A3F39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856651"/>
          </a:xfrm>
        </p:spPr>
        <p:txBody>
          <a:bodyPr>
            <a:normAutofit/>
          </a:bodyPr>
          <a:lstStyle/>
          <a:p>
            <a:r>
              <a:rPr lang="en-US" altLang="zh-CN" dirty="0"/>
              <a:t>Independent-electron approximation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/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/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/>
                  <a:t>电子动能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blipFill>
                <a:blip r:embed="rId3"/>
                <a:stretch>
                  <a:fillRect t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/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核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blipFill>
                <a:blip r:embed="rId4"/>
                <a:stretch>
                  <a:fillRect l="-3226" t="-5298" r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/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电子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blipFill>
                <a:blip r:embed="rId5"/>
                <a:stretch>
                  <a:fillRect t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2777A62-E17A-CE0C-10E5-5DAEAA3B7E17}"/>
              </a:ext>
            </a:extLst>
          </p:cNvPr>
          <p:cNvSpPr txBox="1"/>
          <p:nvPr/>
        </p:nvSpPr>
        <p:spPr>
          <a:xfrm>
            <a:off x="8462333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-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核势能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6A9A3D-795A-EAB4-9A3B-661261E2A6F4}"/>
              </a:ext>
            </a:extLst>
          </p:cNvPr>
          <p:cNvSpPr txBox="1"/>
          <p:nvPr/>
        </p:nvSpPr>
        <p:spPr>
          <a:xfrm>
            <a:off x="7392737" y="263846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*</a:t>
            </a:r>
            <a:r>
              <a:rPr lang="zh-CN" altLang="en-US" sz="1400" dirty="0"/>
              <a:t>原子单位制，以下物理量均为</a:t>
            </a:r>
            <a:r>
              <a:rPr lang="en-US" altLang="zh-CN" sz="1400" dirty="0"/>
              <a:t>1</a:t>
            </a:r>
          </a:p>
          <a:p>
            <a:r>
              <a:rPr lang="zh-CN" altLang="en-US" sz="1400" dirty="0"/>
              <a:t>电子质量、电子电荷、约化普朗克常数、库伦常数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D6118B-0ECF-AD8C-0C7A-E8887C3D7C89}"/>
              </a:ext>
            </a:extLst>
          </p:cNvPr>
          <p:cNvSpPr txBox="1"/>
          <p:nvPr/>
        </p:nvSpPr>
        <p:spPr>
          <a:xfrm>
            <a:off x="6981636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核动能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48E79BF-BAB6-4C34-6518-2C4DC9A69CC4}"/>
                  </a:ext>
                </a:extLst>
              </p:cNvPr>
              <p:cNvSpPr txBox="1"/>
              <p:nvPr/>
            </p:nvSpPr>
            <p:spPr>
              <a:xfrm>
                <a:off x="178136" y="4070715"/>
                <a:ext cx="5931432" cy="22229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若忽略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𝑒𝑒</m:t>
                        </m:r>
                      </m:sub>
                    </m:sSub>
                  </m:oMath>
                </a14:m>
                <a:r>
                  <a:rPr lang="zh-CN" altLang="en-US" dirty="0"/>
                  <a:t>项，即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电子“感受”不到彼此的存在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800" b="0" dirty="0"/>
                  <a:t>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𝛻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nary>
                  </m:oMath>
                </a14:m>
                <a:endParaRPr lang="zh-CN" altLang="en-US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此时多电子定态方程可写为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彼此独立的单电子方程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800" b="0" dirty="0"/>
                  <a:t>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                       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⟹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48E79BF-BAB6-4C34-6518-2C4DC9A69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36" y="4070715"/>
                <a:ext cx="5931432" cy="22229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A3D1C090-1CDC-881F-4776-ECC97A003AB2}"/>
              </a:ext>
            </a:extLst>
          </p:cNvPr>
          <p:cNvSpPr txBox="1"/>
          <p:nvPr/>
        </p:nvSpPr>
        <p:spPr>
          <a:xfrm>
            <a:off x="289773" y="3429000"/>
            <a:ext cx="1756886" cy="442674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独立电子近似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945540-43A8-20BE-5AA2-625844525DD9}"/>
                  </a:ext>
                </a:extLst>
              </p:cNvPr>
              <p:cNvSpPr txBox="1"/>
              <p:nvPr/>
            </p:nvSpPr>
            <p:spPr>
              <a:xfrm>
                <a:off x="6177170" y="4070715"/>
                <a:ext cx="5922064" cy="160178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其中多电子波函数是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个彼此独立的单电子波函数乘积</a:t>
                </a:r>
                <a:endParaRPr lang="en-US" altLang="zh-CN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总能是单电子能量相加</a:t>
                </a:r>
                <a:endParaRPr lang="en-US" altLang="zh-CN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800" b="0" dirty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0945540-43A8-20BE-5AA2-62584452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170" y="4070715"/>
                <a:ext cx="5922064" cy="16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0D62BAF-7B17-ED90-41E2-D6B9B0ECE0C7}"/>
              </a:ext>
            </a:extLst>
          </p:cNvPr>
          <p:cNvSpPr/>
          <p:nvPr/>
        </p:nvSpPr>
        <p:spPr>
          <a:xfrm>
            <a:off x="2098493" y="5864823"/>
            <a:ext cx="2089194" cy="493565"/>
          </a:xfrm>
          <a:prstGeom prst="roundRect">
            <a:avLst/>
          </a:prstGeom>
          <a:solidFill>
            <a:srgbClr val="FF0000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03A7891-019D-0F7E-EA7A-275FD9F6BBFE}"/>
              </a:ext>
            </a:extLst>
          </p:cNvPr>
          <p:cNvSpPr/>
          <p:nvPr/>
        </p:nvSpPr>
        <p:spPr>
          <a:xfrm>
            <a:off x="2425148" y="4521944"/>
            <a:ext cx="1451113" cy="493565"/>
          </a:xfrm>
          <a:prstGeom prst="roundRect">
            <a:avLst/>
          </a:prstGeom>
          <a:solidFill>
            <a:srgbClr val="FF0000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44A170-4313-0F49-C6DC-895A64E71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40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0" grpId="0" animBg="1"/>
      <p:bldP spid="12" grpId="0"/>
      <p:bldP spid="13" grpId="0"/>
      <p:bldP spid="14" grpId="0"/>
      <p:bldP spid="15" grpId="0"/>
      <p:bldP spid="19" grpId="0"/>
      <p:bldP spid="20" grpId="0"/>
      <p:bldP spid="22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34D315E-2299-E29F-1BFD-BD900EC6AD03}"/>
              </a:ext>
            </a:extLst>
          </p:cNvPr>
          <p:cNvSpPr/>
          <p:nvPr/>
        </p:nvSpPr>
        <p:spPr>
          <a:xfrm>
            <a:off x="5623572" y="895974"/>
            <a:ext cx="1563756" cy="223243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BF5FA3-F004-BD14-20D6-ADD9FBA99DE1}"/>
              </a:ext>
            </a:extLst>
          </p:cNvPr>
          <p:cNvSpPr/>
          <p:nvPr/>
        </p:nvSpPr>
        <p:spPr>
          <a:xfrm>
            <a:off x="3834527" y="895974"/>
            <a:ext cx="1583636" cy="2232434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14F5A148-B52D-811E-91C9-1FE9ECE7F3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2535904"/>
                  </p:ext>
                </p:extLst>
              </p:nvPr>
            </p:nvGraphicFramePr>
            <p:xfrm>
              <a:off x="476668" y="3570899"/>
              <a:ext cx="11125610" cy="3192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6992">
                      <a:extLst>
                        <a:ext uri="{9D8B030D-6E8A-4147-A177-3AD203B41FA5}">
                          <a16:colId xmlns:a16="http://schemas.microsoft.com/office/drawing/2014/main" val="339412274"/>
                        </a:ext>
                      </a:extLst>
                    </a:gridCol>
                    <a:gridCol w="8638618">
                      <a:extLst>
                        <a:ext uri="{9D8B030D-6E8A-4147-A177-3AD203B41FA5}">
                          <a16:colId xmlns:a16="http://schemas.microsoft.com/office/drawing/2014/main" val="1665877062"/>
                        </a:ext>
                      </a:extLst>
                    </a:gridCol>
                  </a:tblGrid>
                  <a:tr h="221510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36460"/>
                      </a:ext>
                    </a:extLst>
                  </a:tr>
                  <a:tr h="157753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核</a:t>
                          </a:r>
                          <a:r>
                            <a:rPr lang="en-US" altLang="zh-CN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-</a:t>
                          </a:r>
                          <a:r>
                            <a:rPr lang="zh-CN" altLang="en-US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电子相互作用</a:t>
                          </a:r>
                          <a:r>
                            <a:rPr lang="en-US" altLang="zh-CN" b="0" i="1" baseline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𝑛𝑒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>
                            <a:solidFill>
                              <a:srgbClr val="4472C4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152247"/>
                      </a:ext>
                    </a:extLst>
                  </a:tr>
                  <a:tr h="125233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电子</a:t>
                          </a:r>
                          <a:r>
                            <a:rPr lang="en-US" altLang="zh-CN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-</a:t>
                          </a:r>
                          <a:r>
                            <a:rPr lang="zh-CN" altLang="en-US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电子相互作用</a:t>
                          </a:r>
                          <a:r>
                            <a:rPr lang="en-US" altLang="zh-CN" b="0" i="1" baseline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𝑒𝑒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797676"/>
                      </a:ext>
                    </a:extLst>
                  </a:tr>
                  <a:tr h="140729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750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14F5A148-B52D-811E-91C9-1FE9ECE7F3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2535904"/>
                  </p:ext>
                </p:extLst>
              </p:nvPr>
            </p:nvGraphicFramePr>
            <p:xfrm>
              <a:off x="476668" y="3570899"/>
              <a:ext cx="11125610" cy="3192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6992">
                      <a:extLst>
                        <a:ext uri="{9D8B030D-6E8A-4147-A177-3AD203B41FA5}">
                          <a16:colId xmlns:a16="http://schemas.microsoft.com/office/drawing/2014/main" val="339412274"/>
                        </a:ext>
                      </a:extLst>
                    </a:gridCol>
                    <a:gridCol w="8638618">
                      <a:extLst>
                        <a:ext uri="{9D8B030D-6E8A-4147-A177-3AD203B41FA5}">
                          <a16:colId xmlns:a16="http://schemas.microsoft.com/office/drawing/2014/main" val="1665877062"/>
                        </a:ext>
                      </a:extLst>
                    </a:gridCol>
                  </a:tblGrid>
                  <a:tr h="221510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36460"/>
                      </a:ext>
                    </a:extLst>
                  </a:tr>
                  <a:tr h="15775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" t="-14231" r="-348039" b="-88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152247"/>
                      </a:ext>
                    </a:extLst>
                  </a:tr>
                  <a:tr h="125233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" t="-144175" r="-348039" b="-12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797676"/>
                      </a:ext>
                    </a:extLst>
                  </a:tr>
                  <a:tr h="140729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7506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53064523-966A-C567-7E68-ED8A3F39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856651"/>
          </a:xfrm>
        </p:spPr>
        <p:txBody>
          <a:bodyPr>
            <a:normAutofit/>
          </a:bodyPr>
          <a:lstStyle/>
          <a:p>
            <a:r>
              <a:rPr lang="en-US" altLang="zh-CN" dirty="0"/>
              <a:t>Independent-electron approximation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C395101-7C65-E2B3-7EB2-B469B8519AAB}"/>
              </a:ext>
            </a:extLst>
          </p:cNvPr>
          <p:cNvSpPr/>
          <p:nvPr/>
        </p:nvSpPr>
        <p:spPr>
          <a:xfrm>
            <a:off x="3089413" y="3923621"/>
            <a:ext cx="1946413" cy="1334059"/>
          </a:xfrm>
          <a:prstGeom prst="roundRect">
            <a:avLst/>
          </a:prstGeom>
          <a:solidFill>
            <a:srgbClr val="EC6909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1928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近自由电子模型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Arnold Sommerfeld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F1D62E5-B244-AEF8-EF5F-342CC37C42FD}"/>
              </a:ext>
            </a:extLst>
          </p:cNvPr>
          <p:cNvSpPr/>
          <p:nvPr/>
        </p:nvSpPr>
        <p:spPr>
          <a:xfrm>
            <a:off x="5224721" y="3923621"/>
            <a:ext cx="1533888" cy="1334059"/>
          </a:xfrm>
          <a:prstGeom prst="roundRect">
            <a:avLst/>
          </a:prstGeom>
          <a:solidFill>
            <a:srgbClr val="F4BA3B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1930s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布洛赫定理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紧束缚模型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Bloch, Slater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/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/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/>
                  <a:t>电子动能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blipFill>
                <a:blip r:embed="rId4"/>
                <a:stretch>
                  <a:fillRect t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/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核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blipFill>
                <a:blip r:embed="rId5"/>
                <a:stretch>
                  <a:fillRect l="-3226" t="-5298" r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/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电子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blipFill>
                <a:blip r:embed="rId6"/>
                <a:stretch>
                  <a:fillRect t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2777A62-E17A-CE0C-10E5-5DAEAA3B7E17}"/>
              </a:ext>
            </a:extLst>
          </p:cNvPr>
          <p:cNvSpPr txBox="1"/>
          <p:nvPr/>
        </p:nvSpPr>
        <p:spPr>
          <a:xfrm>
            <a:off x="8462333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-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核势能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D6118B-0ECF-AD8C-0C7A-E8887C3D7C89}"/>
              </a:ext>
            </a:extLst>
          </p:cNvPr>
          <p:cNvSpPr txBox="1"/>
          <p:nvPr/>
        </p:nvSpPr>
        <p:spPr>
          <a:xfrm>
            <a:off x="6981636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核动能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F95F76AC-B335-FA0E-C8C9-06FFE5DBC14A}"/>
              </a:ext>
            </a:extLst>
          </p:cNvPr>
          <p:cNvSpPr/>
          <p:nvPr/>
        </p:nvSpPr>
        <p:spPr>
          <a:xfrm>
            <a:off x="3089413" y="3313148"/>
            <a:ext cx="8460159" cy="416446"/>
          </a:xfrm>
          <a:prstGeom prst="rightArrow">
            <a:avLst>
              <a:gd name="adj1" fmla="val 34088"/>
              <a:gd name="adj2" fmla="val 99324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时间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16B5EA-9578-C6E5-171F-8817C4729A4B}"/>
              </a:ext>
            </a:extLst>
          </p:cNvPr>
          <p:cNvSpPr txBox="1"/>
          <p:nvPr/>
        </p:nvSpPr>
        <p:spPr>
          <a:xfrm>
            <a:off x="7392737" y="263846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*</a:t>
            </a:r>
            <a:r>
              <a:rPr lang="zh-CN" altLang="en-US" sz="1400" dirty="0"/>
              <a:t>原子单位制，以下物理量均为</a:t>
            </a:r>
            <a:r>
              <a:rPr lang="en-US" altLang="zh-CN" sz="1400" dirty="0"/>
              <a:t>1</a:t>
            </a:r>
          </a:p>
          <a:p>
            <a:r>
              <a:rPr lang="zh-CN" altLang="en-US" sz="1400" dirty="0"/>
              <a:t>电子质量、电子电荷、约化普朗克常数、库伦常数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BE02A5-2A4A-DCF0-A994-2436EC891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3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34D315E-2299-E29F-1BFD-BD900EC6AD03}"/>
              </a:ext>
            </a:extLst>
          </p:cNvPr>
          <p:cNvSpPr/>
          <p:nvPr/>
        </p:nvSpPr>
        <p:spPr>
          <a:xfrm>
            <a:off x="5623572" y="895974"/>
            <a:ext cx="1563756" cy="223243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BF5FA3-F004-BD14-20D6-ADD9FBA99DE1}"/>
              </a:ext>
            </a:extLst>
          </p:cNvPr>
          <p:cNvSpPr/>
          <p:nvPr/>
        </p:nvSpPr>
        <p:spPr>
          <a:xfrm>
            <a:off x="3834527" y="895974"/>
            <a:ext cx="1583636" cy="2232434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3064523-966A-C567-7E68-ED8A3F39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856651"/>
          </a:xfrm>
        </p:spPr>
        <p:txBody>
          <a:bodyPr>
            <a:normAutofit/>
          </a:bodyPr>
          <a:lstStyle/>
          <a:p>
            <a:r>
              <a:rPr lang="en-US" altLang="zh-CN" dirty="0"/>
              <a:t>Independent-electron approximation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/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/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/>
                  <a:t>电子动能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blipFill>
                <a:blip r:embed="rId3"/>
                <a:stretch>
                  <a:fillRect t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/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核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blipFill>
                <a:blip r:embed="rId4"/>
                <a:stretch>
                  <a:fillRect l="-3226" t="-5298" r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/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电子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blipFill>
                <a:blip r:embed="rId5"/>
                <a:stretch>
                  <a:fillRect t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2777A62-E17A-CE0C-10E5-5DAEAA3B7E17}"/>
              </a:ext>
            </a:extLst>
          </p:cNvPr>
          <p:cNvSpPr txBox="1"/>
          <p:nvPr/>
        </p:nvSpPr>
        <p:spPr>
          <a:xfrm>
            <a:off x="8462333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-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核势能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6A9A3D-795A-EAB4-9A3B-661261E2A6F4}"/>
              </a:ext>
            </a:extLst>
          </p:cNvPr>
          <p:cNvSpPr txBox="1"/>
          <p:nvPr/>
        </p:nvSpPr>
        <p:spPr>
          <a:xfrm>
            <a:off x="7392737" y="263846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*</a:t>
            </a:r>
            <a:r>
              <a:rPr lang="zh-CN" altLang="en-US" sz="1400" dirty="0"/>
              <a:t>原子单位制，以下物理量均为</a:t>
            </a:r>
            <a:r>
              <a:rPr lang="en-US" altLang="zh-CN" sz="1400" dirty="0"/>
              <a:t>1</a:t>
            </a:r>
          </a:p>
          <a:p>
            <a:r>
              <a:rPr lang="zh-CN" altLang="en-US" sz="1400" dirty="0"/>
              <a:t>电子质量、电子电荷、约化普朗克常数、库伦常数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D6118B-0ECF-AD8C-0C7A-E8887C3D7C89}"/>
              </a:ext>
            </a:extLst>
          </p:cNvPr>
          <p:cNvSpPr txBox="1"/>
          <p:nvPr/>
        </p:nvSpPr>
        <p:spPr>
          <a:xfrm>
            <a:off x="6981636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核动能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8E79BF-BAB6-4C34-6518-2C4DC9A69CC4}"/>
              </a:ext>
            </a:extLst>
          </p:cNvPr>
          <p:cNvSpPr txBox="1"/>
          <p:nvPr/>
        </p:nvSpPr>
        <p:spPr>
          <a:xfrm>
            <a:off x="1936765" y="3894475"/>
            <a:ext cx="3725700" cy="280076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b="1" dirty="0"/>
              <a:t>忽略电子相互作用带来的问题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zh-CN" altLang="en-US" dirty="0"/>
              <a:t>无法描述凝聚态</a:t>
            </a:r>
            <a:endParaRPr lang="en-US" altLang="zh-CN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zh-CN" altLang="en-US" dirty="0"/>
              <a:t>无法解释磁性</a:t>
            </a:r>
            <a:endParaRPr lang="en-US" altLang="zh-CN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zh-CN" altLang="en-US" dirty="0"/>
              <a:t>无法预测体系能量</a:t>
            </a:r>
            <a:endParaRPr lang="en-US" altLang="zh-CN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zh-CN" altLang="en-US" dirty="0"/>
              <a:t>对缺陷</a:t>
            </a:r>
            <a:r>
              <a:rPr lang="en-US" altLang="zh-CN" dirty="0"/>
              <a:t>/</a:t>
            </a:r>
            <a:r>
              <a:rPr lang="zh-CN" altLang="en-US" dirty="0"/>
              <a:t>掺杂性质的错误预测</a:t>
            </a:r>
            <a:endParaRPr lang="en-US" altLang="zh-CN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zh-CN" altLang="en-US" dirty="0"/>
              <a:t>对光学性质的错误预测</a:t>
            </a:r>
            <a:endParaRPr lang="en-US" altLang="zh-CN" dirty="0"/>
          </a:p>
          <a:p>
            <a:pPr>
              <a:spcAft>
                <a:spcPts val="1000"/>
              </a:spcAft>
            </a:pPr>
            <a:r>
              <a:rPr lang="zh-CN" altLang="en-US" dirty="0"/>
              <a:t>。。。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3D1C090-1CDC-881F-4776-ECC97A003AB2}"/>
              </a:ext>
            </a:extLst>
          </p:cNvPr>
          <p:cNvSpPr txBox="1"/>
          <p:nvPr/>
        </p:nvSpPr>
        <p:spPr>
          <a:xfrm>
            <a:off x="6528416" y="4145891"/>
            <a:ext cx="2855369" cy="442674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电子</a:t>
            </a:r>
            <a:r>
              <a:rPr lang="en-US" altLang="zh-CN" sz="2000" dirty="0"/>
              <a:t>-</a:t>
            </a:r>
            <a:r>
              <a:rPr lang="zh-CN" altLang="en-US" sz="2000" dirty="0"/>
              <a:t>电子作用不可忽略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02B4C45-5896-3BA7-8FE4-EB650C7E055F}"/>
                  </a:ext>
                </a:extLst>
              </p:cNvPr>
              <p:cNvSpPr txBox="1"/>
              <p:nvPr/>
            </p:nvSpPr>
            <p:spPr>
              <a:xfrm>
                <a:off x="6349437" y="4734443"/>
                <a:ext cx="3213329" cy="135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02B4C45-5896-3BA7-8FE4-EB650C7E0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437" y="4734443"/>
                <a:ext cx="3213329" cy="13526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9E33180-E655-51CC-2F5A-62EDC757A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96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FCDA4DA-C220-A1BA-DE5D-99B8E9E343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4895"/>
                  </p:ext>
                </p:extLst>
              </p:nvPr>
            </p:nvGraphicFramePr>
            <p:xfrm>
              <a:off x="476668" y="3570899"/>
              <a:ext cx="11125610" cy="3192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6992">
                      <a:extLst>
                        <a:ext uri="{9D8B030D-6E8A-4147-A177-3AD203B41FA5}">
                          <a16:colId xmlns:a16="http://schemas.microsoft.com/office/drawing/2014/main" val="339412274"/>
                        </a:ext>
                      </a:extLst>
                    </a:gridCol>
                    <a:gridCol w="8638618">
                      <a:extLst>
                        <a:ext uri="{9D8B030D-6E8A-4147-A177-3AD203B41FA5}">
                          <a16:colId xmlns:a16="http://schemas.microsoft.com/office/drawing/2014/main" val="1665877062"/>
                        </a:ext>
                      </a:extLst>
                    </a:gridCol>
                  </a:tblGrid>
                  <a:tr h="221510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36460"/>
                      </a:ext>
                    </a:extLst>
                  </a:tr>
                  <a:tr h="157753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核</a:t>
                          </a:r>
                          <a:r>
                            <a:rPr lang="en-US" altLang="zh-CN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-</a:t>
                          </a:r>
                          <a:r>
                            <a:rPr lang="zh-CN" altLang="en-US" b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电子相互作用</a:t>
                          </a:r>
                          <a:r>
                            <a:rPr lang="en-US" altLang="zh-CN" b="0" i="1" baseline="0" dirty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𝑛𝑒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>
                            <a:solidFill>
                              <a:srgbClr val="4472C4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152247"/>
                      </a:ext>
                    </a:extLst>
                  </a:tr>
                  <a:tr h="125233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电子</a:t>
                          </a:r>
                          <a:r>
                            <a:rPr lang="en-US" altLang="zh-CN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-</a:t>
                          </a:r>
                          <a:r>
                            <a:rPr lang="zh-CN" altLang="en-US" b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电子相互作用</a:t>
                          </a:r>
                          <a:r>
                            <a:rPr lang="en-US" altLang="zh-CN" b="0" i="1" baseline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𝑒𝑒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797676"/>
                      </a:ext>
                    </a:extLst>
                  </a:tr>
                  <a:tr h="140729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750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FCDA4DA-C220-A1BA-DE5D-99B8E9E343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4895"/>
                  </p:ext>
                </p:extLst>
              </p:nvPr>
            </p:nvGraphicFramePr>
            <p:xfrm>
              <a:off x="476668" y="3570899"/>
              <a:ext cx="11125610" cy="3192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6992">
                      <a:extLst>
                        <a:ext uri="{9D8B030D-6E8A-4147-A177-3AD203B41FA5}">
                          <a16:colId xmlns:a16="http://schemas.microsoft.com/office/drawing/2014/main" val="339412274"/>
                        </a:ext>
                      </a:extLst>
                    </a:gridCol>
                    <a:gridCol w="8638618">
                      <a:extLst>
                        <a:ext uri="{9D8B030D-6E8A-4147-A177-3AD203B41FA5}">
                          <a16:colId xmlns:a16="http://schemas.microsoft.com/office/drawing/2014/main" val="1665877062"/>
                        </a:ext>
                      </a:extLst>
                    </a:gridCol>
                  </a:tblGrid>
                  <a:tr h="221510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36460"/>
                      </a:ext>
                    </a:extLst>
                  </a:tr>
                  <a:tr h="15775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" t="-14231" r="-348039" b="-88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9152247"/>
                      </a:ext>
                    </a:extLst>
                  </a:tr>
                  <a:tr h="125233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" t="-144175" r="-348039" b="-12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797676"/>
                      </a:ext>
                    </a:extLst>
                  </a:tr>
                  <a:tr h="140729"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7506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34D315E-2299-E29F-1BFD-BD900EC6AD03}"/>
              </a:ext>
            </a:extLst>
          </p:cNvPr>
          <p:cNvSpPr/>
          <p:nvPr/>
        </p:nvSpPr>
        <p:spPr>
          <a:xfrm>
            <a:off x="5623572" y="895974"/>
            <a:ext cx="1563756" cy="223243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BF5FA3-F004-BD14-20D6-ADD9FBA99DE1}"/>
              </a:ext>
            </a:extLst>
          </p:cNvPr>
          <p:cNvSpPr/>
          <p:nvPr/>
        </p:nvSpPr>
        <p:spPr>
          <a:xfrm>
            <a:off x="3834527" y="895974"/>
            <a:ext cx="1583636" cy="2232434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3064523-966A-C567-7E68-ED8A3F39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856651"/>
          </a:xfrm>
        </p:spPr>
        <p:txBody>
          <a:bodyPr>
            <a:normAutofit/>
          </a:bodyPr>
          <a:lstStyle/>
          <a:p>
            <a:r>
              <a:rPr lang="en-US" altLang="zh-CN" dirty="0"/>
              <a:t>Independent-electron approximation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C395101-7C65-E2B3-7EB2-B469B8519AAB}"/>
              </a:ext>
            </a:extLst>
          </p:cNvPr>
          <p:cNvSpPr/>
          <p:nvPr/>
        </p:nvSpPr>
        <p:spPr>
          <a:xfrm>
            <a:off x="3089413" y="3907640"/>
            <a:ext cx="1946413" cy="1334059"/>
          </a:xfrm>
          <a:prstGeom prst="roundRect">
            <a:avLst/>
          </a:prstGeom>
          <a:solidFill>
            <a:srgbClr val="EC6909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1928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近自由电子模型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Arnold Sommerfeld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F1D62E5-B244-AEF8-EF5F-342CC37C42FD}"/>
              </a:ext>
            </a:extLst>
          </p:cNvPr>
          <p:cNvSpPr/>
          <p:nvPr/>
        </p:nvSpPr>
        <p:spPr>
          <a:xfrm>
            <a:off x="5224721" y="3907640"/>
            <a:ext cx="1533888" cy="1334059"/>
          </a:xfrm>
          <a:prstGeom prst="roundRect">
            <a:avLst/>
          </a:prstGeom>
          <a:solidFill>
            <a:srgbClr val="F4BA3B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1930s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布洛赫定理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紧束缚模型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Bloch, Slater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3334BB-712A-B8D0-D853-C4346A1E7A57}"/>
              </a:ext>
            </a:extLst>
          </p:cNvPr>
          <p:cNvSpPr/>
          <p:nvPr/>
        </p:nvSpPr>
        <p:spPr>
          <a:xfrm>
            <a:off x="8462333" y="3907640"/>
            <a:ext cx="2040015" cy="2536809"/>
          </a:xfrm>
          <a:prstGeom prst="roundRect">
            <a:avLst/>
          </a:prstGeom>
          <a:solidFill>
            <a:srgbClr val="00B050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1964-1965</a:t>
            </a:r>
          </a:p>
          <a:p>
            <a:pPr algn="ctr"/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密度泛函理论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Walter Kohn, Pierre Hohenberg,</a:t>
            </a:r>
            <a:r>
              <a:rPr lang="zh-CN" altLang="en-US" i="1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tx1"/>
                </a:solidFill>
              </a:rPr>
              <a:t>Lu Sham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21DBF75-B416-A2F8-0ADA-663A4DDAF3F7}"/>
              </a:ext>
            </a:extLst>
          </p:cNvPr>
          <p:cNvSpPr/>
          <p:nvPr/>
        </p:nvSpPr>
        <p:spPr>
          <a:xfrm>
            <a:off x="6919599" y="3907640"/>
            <a:ext cx="1381744" cy="1999473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1930s</a:t>
            </a:r>
          </a:p>
          <a:p>
            <a:pPr algn="ctr"/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哈特里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福克方法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Hartree, Fock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/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5B58F37-A319-E842-7638-0AD0F1C2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65" y="993176"/>
                <a:ext cx="8345606" cy="112491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/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/>
                  <a:t>电子动能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86BD35-C30A-E710-CDA1-EB081FD80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918" y="2168718"/>
                <a:ext cx="1323560" cy="646331"/>
              </a:xfrm>
              <a:prstGeom prst="rect">
                <a:avLst/>
              </a:prstGeom>
              <a:blipFill>
                <a:blip r:embed="rId4"/>
                <a:stretch>
                  <a:fillRect t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/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核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F9DC83-1FE3-90A0-9508-4A94B1F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030" y="2168718"/>
                <a:ext cx="1136629" cy="923330"/>
              </a:xfrm>
              <a:prstGeom prst="rect">
                <a:avLst/>
              </a:prstGeom>
              <a:blipFill>
                <a:blip r:embed="rId5"/>
                <a:stretch>
                  <a:fillRect l="-3226" t="-5298" r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/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0" dirty="0">
                    <a:latin typeface="Cambria Math" panose="02040503050406030204" pitchFamily="18" charset="0"/>
                  </a:rPr>
                  <a:t>电子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b="0" dirty="0">
                    <a:latin typeface="Cambria Math" panose="02040503050406030204" pitchFamily="18" charset="0"/>
                  </a:rPr>
                  <a:t>电子相互作用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9F16D5-91B0-5E95-D906-EAC3E641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670" y="2168718"/>
                <a:ext cx="1323560" cy="923330"/>
              </a:xfrm>
              <a:prstGeom prst="rect">
                <a:avLst/>
              </a:prstGeom>
              <a:blipFill>
                <a:blip r:embed="rId6"/>
                <a:stretch>
                  <a:fillRect t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2777A62-E17A-CE0C-10E5-5DAEAA3B7E17}"/>
              </a:ext>
            </a:extLst>
          </p:cNvPr>
          <p:cNvSpPr txBox="1"/>
          <p:nvPr/>
        </p:nvSpPr>
        <p:spPr>
          <a:xfrm>
            <a:off x="8462333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-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核势能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6A9A3D-795A-EAB4-9A3B-661261E2A6F4}"/>
              </a:ext>
            </a:extLst>
          </p:cNvPr>
          <p:cNvSpPr txBox="1"/>
          <p:nvPr/>
        </p:nvSpPr>
        <p:spPr>
          <a:xfrm>
            <a:off x="7415107" y="2595899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*</a:t>
            </a:r>
            <a:r>
              <a:rPr lang="zh-CN" altLang="en-US" sz="1400" dirty="0"/>
              <a:t>原子单位制，以下物理量均为</a:t>
            </a:r>
            <a:r>
              <a:rPr lang="en-US" altLang="zh-CN" sz="1400" dirty="0"/>
              <a:t>1</a:t>
            </a:r>
          </a:p>
          <a:p>
            <a:r>
              <a:rPr lang="zh-CN" altLang="en-US" sz="1400" dirty="0"/>
              <a:t>电子质量、电子电荷、约化普朗克常数、库伦常数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D6118B-0ECF-AD8C-0C7A-E8887C3D7C89}"/>
              </a:ext>
            </a:extLst>
          </p:cNvPr>
          <p:cNvSpPr txBox="1"/>
          <p:nvPr/>
        </p:nvSpPr>
        <p:spPr>
          <a:xfrm>
            <a:off x="6981636" y="2168718"/>
            <a:ext cx="185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latin typeface="Cambria Math" panose="02040503050406030204" pitchFamily="18" charset="0"/>
              </a:rPr>
              <a:t>核动能</a:t>
            </a:r>
            <a:endParaRPr lang="en-US" altLang="zh-CN" b="0" dirty="0">
              <a:solidFill>
                <a:schemeClr val="bg1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E3E597B-AD19-AE16-74F7-A5F7B0BA7ADE}"/>
              </a:ext>
            </a:extLst>
          </p:cNvPr>
          <p:cNvSpPr/>
          <p:nvPr/>
        </p:nvSpPr>
        <p:spPr>
          <a:xfrm>
            <a:off x="3089413" y="3313148"/>
            <a:ext cx="8460159" cy="416446"/>
          </a:xfrm>
          <a:prstGeom prst="rightArrow">
            <a:avLst>
              <a:gd name="adj1" fmla="val 34088"/>
              <a:gd name="adj2" fmla="val 99324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时间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ACA034-F29A-B060-CAEB-F0B03290C5B5}"/>
              </a:ext>
            </a:extLst>
          </p:cNvPr>
          <p:cNvSpPr/>
          <p:nvPr/>
        </p:nvSpPr>
        <p:spPr>
          <a:xfrm>
            <a:off x="10634597" y="3907640"/>
            <a:ext cx="1371600" cy="2536809"/>
          </a:xfrm>
          <a:prstGeom prst="roundRect">
            <a:avLst/>
          </a:prstGeom>
          <a:gradFill flip="none" rotWithShape="1">
            <a:gsLst>
              <a:gs pos="0">
                <a:srgbClr val="4B7430">
                  <a:alpha val="50000"/>
                </a:srgbClr>
              </a:gs>
              <a:gs pos="18000">
                <a:schemeClr val="accent6">
                  <a:lumMod val="97000"/>
                  <a:lumOff val="3000"/>
                  <a:alpha val="50000"/>
                </a:schemeClr>
              </a:gs>
              <a:gs pos="64000">
                <a:schemeClr val="bg1">
                  <a:alpha val="5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i="1" dirty="0">
              <a:solidFill>
                <a:schemeClr val="tx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8E67B5-0E11-09D4-4695-127B9F977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44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7859B-E2ED-3831-35E4-0151B3C1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23315"/>
          </a:xfrm>
        </p:spPr>
        <p:txBody>
          <a:bodyPr/>
          <a:lstStyle/>
          <a:p>
            <a:r>
              <a:rPr lang="zh-CN" altLang="en-US" dirty="0"/>
              <a:t>电子</a:t>
            </a:r>
            <a:r>
              <a:rPr lang="en-US" altLang="zh-CN" dirty="0"/>
              <a:t>-</a:t>
            </a:r>
            <a:r>
              <a:rPr lang="zh-CN" altLang="en-US" dirty="0"/>
              <a:t>电子作用的复杂性：</a:t>
            </a:r>
            <a:r>
              <a:rPr lang="zh-CN" altLang="en-US" dirty="0">
                <a:solidFill>
                  <a:srgbClr val="FF0000"/>
                </a:solidFill>
              </a:rPr>
              <a:t>指数灾难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858015-DF32-56E1-B9C1-BD29D40A25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942" y="1058449"/>
                <a:ext cx="7155268" cy="5386192"/>
              </a:xfrm>
            </p:spPr>
            <p:txBody>
              <a:bodyPr/>
              <a:lstStyle/>
              <a:p>
                <a:r>
                  <a:rPr lang="en-US" altLang="zh-CN" i="1" dirty="0"/>
                  <a:t>Take a guess</a:t>
                </a:r>
                <a:r>
                  <a:rPr lang="zh-CN" altLang="en-US" i="1" dirty="0"/>
                  <a:t>！</a:t>
                </a:r>
                <a:endParaRPr lang="en-US" altLang="zh-CN" i="1" dirty="0"/>
              </a:p>
              <a:p>
                <a:pPr lvl="1"/>
                <a:r>
                  <a:rPr lang="zh-CN" altLang="en-US" dirty="0"/>
                  <a:t>要存储晶体硅中的波函数，需要多少存储空间？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至少需要存储原胞中的波函数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假设空间格点划分 </a:t>
                </a:r>
                <a:r>
                  <a:rPr lang="el-GR" altLang="zh-CN" dirty="0"/>
                  <a:t>Δ</a:t>
                </a:r>
                <a:r>
                  <a:rPr lang="en-US" altLang="zh-CN" dirty="0"/>
                  <a:t>x = 0.01 nm</a:t>
                </a:r>
              </a:p>
              <a:p>
                <a:pPr lvl="1"/>
                <a:r>
                  <a:rPr lang="zh-CN" altLang="en-US" dirty="0"/>
                  <a:t>晶格常数 </a:t>
                </a:r>
                <a:r>
                  <a:rPr lang="en-US" altLang="zh-CN" dirty="0"/>
                  <a:t>a = 0.543 nm</a:t>
                </a:r>
              </a:p>
              <a:p>
                <a:pPr lvl="1"/>
                <a:r>
                  <a:rPr lang="zh-CN" altLang="en-US" dirty="0"/>
                  <a:t>格点数 </a:t>
                </a:r>
                <a:r>
                  <a:rPr lang="en-US" altLang="zh-CN" dirty="0"/>
                  <a:t>N = (0.543)</a:t>
                </a:r>
                <a:r>
                  <a:rPr lang="en-US" altLang="zh-CN" baseline="30000" dirty="0"/>
                  <a:t>3</a:t>
                </a:r>
                <a:r>
                  <a:rPr lang="en-US" altLang="zh-CN" dirty="0"/>
                  <a:t> / 4 / (</a:t>
                </a:r>
                <a:r>
                  <a:rPr lang="el-GR" altLang="zh-CN" dirty="0"/>
                  <a:t>Δ</a:t>
                </a:r>
                <a:r>
                  <a:rPr lang="en-US" altLang="zh-CN" dirty="0"/>
                  <a:t>x)</a:t>
                </a:r>
                <a:r>
                  <a:rPr lang="en-US" altLang="zh-CN" baseline="30000" dirty="0"/>
                  <a:t>3</a:t>
                </a:r>
                <a:r>
                  <a:rPr lang="en-US" altLang="zh-CN" dirty="0"/>
                  <a:t> ~ 40,000</a:t>
                </a:r>
              </a:p>
              <a:p>
                <a:pPr lvl="1"/>
                <a:r>
                  <a:rPr lang="zh-CN" altLang="en-US" dirty="0"/>
                  <a:t>电子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电子作用不可忽略，则波函数无法分离，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每个电子坐标都有</a:t>
                </a:r>
                <a:r>
                  <a:rPr lang="en-US" altLang="zh-CN" dirty="0"/>
                  <a:t>40,000</a:t>
                </a:r>
                <a:r>
                  <a:rPr lang="zh-CN" altLang="en-US" dirty="0"/>
                  <a:t>种取值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每个原胞有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个硅原子，共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个电子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40,000</a:t>
                </a:r>
                <a:r>
                  <a:rPr lang="en-US" altLang="zh-CN" baseline="30000" dirty="0">
                    <a:solidFill>
                      <a:srgbClr val="FF0000"/>
                    </a:solidFill>
                  </a:rPr>
                  <a:t>8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个复数</a:t>
                </a:r>
                <a:endParaRPr lang="en-US" altLang="zh-CN" baseline="30000" dirty="0">
                  <a:solidFill>
                    <a:srgbClr val="FF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858015-DF32-56E1-B9C1-BD29D40A25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942" y="1058449"/>
                <a:ext cx="7155268" cy="5386192"/>
              </a:xfrm>
              <a:blipFill>
                <a:blip r:embed="rId2"/>
                <a:stretch>
                  <a:fillRect l="-1193" t="-1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92BFE94D-ED5B-0E8B-C401-3CE4F79C7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22" y="1766415"/>
            <a:ext cx="4072195" cy="33251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A9AE017-9CF0-6462-75A6-FBFCABA08686}"/>
              </a:ext>
            </a:extLst>
          </p:cNvPr>
          <p:cNvSpPr txBox="1"/>
          <p:nvPr/>
        </p:nvSpPr>
        <p:spPr>
          <a:xfrm>
            <a:off x="6390709" y="1442922"/>
            <a:ext cx="1955001" cy="646986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约 </a:t>
            </a:r>
            <a:r>
              <a:rPr lang="en-US" altLang="zh-CN" sz="3200" dirty="0"/>
              <a:t>10</a:t>
            </a:r>
            <a:r>
              <a:rPr lang="en-US" altLang="zh-CN" sz="3200" baseline="30000" dirty="0"/>
              <a:t>26</a:t>
            </a:r>
            <a:r>
              <a:rPr lang="en-US" altLang="zh-CN" sz="3200" dirty="0"/>
              <a:t> TB</a:t>
            </a:r>
            <a:endParaRPr lang="zh-CN" altLang="en-US" sz="3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8630E3E-DD3D-3D45-79D5-5AA722F2D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4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EB4CF-66EF-6F3E-582A-998DD25E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46389"/>
          </a:xfrm>
        </p:spPr>
        <p:txBody>
          <a:bodyPr/>
          <a:lstStyle/>
          <a:p>
            <a:r>
              <a:rPr lang="en-US" altLang="zh-CN" dirty="0"/>
              <a:t>Hartree</a:t>
            </a:r>
            <a:r>
              <a:rPr lang="zh-CN" altLang="en-US" dirty="0"/>
              <a:t>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D8AAAA-0929-ECD9-A4C3-78908FD2E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独立电子近似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(Hartree term)</a:t>
                </a:r>
                <a:endParaRPr lang="en-US" altLang="zh-CN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dirty="0"/>
                  <a:t>是电子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电子作用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𝑒𝑒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的平均场近似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单电子定态方程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电子电荷密度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D8AAAA-0929-ECD9-A4C3-78908FD2E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F2290A-7612-7A40-CE68-B44CD9058EDB}"/>
              </a:ext>
            </a:extLst>
          </p:cNvPr>
          <p:cNvSpPr/>
          <p:nvPr/>
        </p:nvSpPr>
        <p:spPr>
          <a:xfrm>
            <a:off x="6738731" y="2226417"/>
            <a:ext cx="1702589" cy="1052096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757776-85BF-4F66-0E63-95F011B486A6}"/>
              </a:ext>
            </a:extLst>
          </p:cNvPr>
          <p:cNvSpPr/>
          <p:nvPr/>
        </p:nvSpPr>
        <p:spPr>
          <a:xfrm>
            <a:off x="4812770" y="2480547"/>
            <a:ext cx="986972" cy="508756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B1F857C-110D-A8CB-8FB6-EAB05D6CC512}"/>
              </a:ext>
            </a:extLst>
          </p:cNvPr>
          <p:cNvSpPr/>
          <p:nvPr/>
        </p:nvSpPr>
        <p:spPr>
          <a:xfrm>
            <a:off x="5552977" y="4095830"/>
            <a:ext cx="821319" cy="508756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6EBBA90-CBEB-227D-0267-879032877284}"/>
              </a:ext>
            </a:extLst>
          </p:cNvPr>
          <p:cNvSpPr/>
          <p:nvPr/>
        </p:nvSpPr>
        <p:spPr>
          <a:xfrm>
            <a:off x="6460751" y="4095830"/>
            <a:ext cx="821319" cy="508756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1D2D9B-53EE-955F-C4E8-784B128A5515}"/>
              </a:ext>
            </a:extLst>
          </p:cNvPr>
          <p:cNvSpPr/>
          <p:nvPr/>
        </p:nvSpPr>
        <p:spPr>
          <a:xfrm>
            <a:off x="6328070" y="5545173"/>
            <a:ext cx="821319" cy="508756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538A434-86F1-88AA-0354-DDCA8C624757}"/>
              </a:ext>
            </a:extLst>
          </p:cNvPr>
          <p:cNvSpPr/>
          <p:nvPr/>
        </p:nvSpPr>
        <p:spPr>
          <a:xfrm>
            <a:off x="4731658" y="5545173"/>
            <a:ext cx="821319" cy="508756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94F361-C53E-074A-5218-A3F9EBCD92DC}"/>
              </a:ext>
            </a:extLst>
          </p:cNvPr>
          <p:cNvSpPr/>
          <p:nvPr/>
        </p:nvSpPr>
        <p:spPr>
          <a:xfrm>
            <a:off x="7500574" y="2274253"/>
            <a:ext cx="821319" cy="460672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CFE4B74E-74CB-8714-347D-CC0755B71BB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16200000" flipH="1">
            <a:off x="5081683" y="3213875"/>
            <a:ext cx="1106527" cy="657381"/>
          </a:xfrm>
          <a:prstGeom prst="bentConnector3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3ECB5F1-60C5-0875-4023-87D8ED3FEE4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6334778" y="5008539"/>
            <a:ext cx="940587" cy="13268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9ABC701A-EC54-74DF-A2A6-784FBDAEBE6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 flipH="1" flipV="1">
            <a:off x="4636938" y="2779633"/>
            <a:ext cx="3779676" cy="2768916"/>
          </a:xfrm>
          <a:prstGeom prst="bentConnector5">
            <a:avLst>
              <a:gd name="adj1" fmla="val -10707"/>
              <a:gd name="adj2" fmla="val 176469"/>
              <a:gd name="adj3" fmla="val 109632"/>
            </a:avLst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9695998-6F31-EE9A-C428-19CCA616D21C}"/>
              </a:ext>
            </a:extLst>
          </p:cNvPr>
          <p:cNvSpPr txBox="1"/>
          <p:nvPr/>
        </p:nvSpPr>
        <p:spPr>
          <a:xfrm>
            <a:off x="7473206" y="5765544"/>
            <a:ext cx="2533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highlight>
                  <a:srgbClr val="FFFF00"/>
                </a:highlight>
              </a:rPr>
              <a:t>自洽迭代求解</a:t>
            </a:r>
            <a:endParaRPr lang="en-US" altLang="zh-CN" dirty="0">
              <a:highlight>
                <a:srgbClr val="FFFF00"/>
              </a:highlight>
            </a:endParaRPr>
          </a:p>
          <a:p>
            <a:pPr algn="ctr"/>
            <a:r>
              <a:rPr lang="en-US" altLang="zh-CN" dirty="0">
                <a:highlight>
                  <a:srgbClr val="FFFF00"/>
                </a:highlight>
              </a:rPr>
              <a:t>(self-consistent iteration)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D544A06-D1CB-BF29-B80A-3C9F96F3243A}"/>
              </a:ext>
            </a:extLst>
          </p:cNvPr>
          <p:cNvSpPr/>
          <p:nvPr/>
        </p:nvSpPr>
        <p:spPr>
          <a:xfrm>
            <a:off x="3595916" y="441321"/>
            <a:ext cx="5000167" cy="667545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Hartree </a:t>
            </a:r>
            <a:r>
              <a:rPr lang="zh-CN" altLang="en-US" sz="2800" dirty="0">
                <a:solidFill>
                  <a:schemeClr val="tx1"/>
                </a:solidFill>
              </a:rPr>
              <a:t>自洽平均场近似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</a:rPr>
              <a:t>1928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C81EC80-CBEA-03E7-4D07-227E5D189234}"/>
              </a:ext>
            </a:extLst>
          </p:cNvPr>
          <p:cNvSpPr txBox="1"/>
          <p:nvPr/>
        </p:nvSpPr>
        <p:spPr>
          <a:xfrm>
            <a:off x="10283504" y="255241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①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24F6FB4-3C3A-6A16-4EA8-DB1040F1BDDA}"/>
              </a:ext>
            </a:extLst>
          </p:cNvPr>
          <p:cNvSpPr txBox="1"/>
          <p:nvPr/>
        </p:nvSpPr>
        <p:spPr>
          <a:xfrm>
            <a:off x="10281900" y="4150153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②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92C69E-20D8-100D-5BAB-5E11B6084937}"/>
              </a:ext>
            </a:extLst>
          </p:cNvPr>
          <p:cNvSpPr txBox="1"/>
          <p:nvPr/>
        </p:nvSpPr>
        <p:spPr>
          <a:xfrm>
            <a:off x="10281900" y="5599496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③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D26079F-8F42-5E3D-3815-7740FA84A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00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32" grpId="0"/>
      <p:bldP spid="41" grpId="0" animBg="1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D8AAAA-0929-ECD9-A4C3-78908FD2E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将电子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电子相互作用近似为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Hartree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势能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自洽求解单电子波函数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D8AAAA-0929-ECD9-A4C3-78908FD2E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31D11C4-15C0-0919-5138-CCB18912880A}"/>
              </a:ext>
            </a:extLst>
          </p:cNvPr>
          <p:cNvSpPr/>
          <p:nvPr/>
        </p:nvSpPr>
        <p:spPr>
          <a:xfrm>
            <a:off x="3483872" y="468971"/>
            <a:ext cx="5000167" cy="667545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Hartree </a:t>
            </a:r>
            <a:r>
              <a:rPr lang="zh-CN" altLang="en-US" sz="2800" dirty="0">
                <a:solidFill>
                  <a:schemeClr val="tx1"/>
                </a:solidFill>
              </a:rPr>
              <a:t>自洽平均场近似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</a:rPr>
              <a:t>1928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CAC41F-B231-CFC8-2EE5-12BE661235C4}"/>
              </a:ext>
            </a:extLst>
          </p:cNvPr>
          <p:cNvSpPr txBox="1"/>
          <p:nvPr/>
        </p:nvSpPr>
        <p:spPr>
          <a:xfrm>
            <a:off x="9329807" y="16559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0CAFE8-F836-2178-6124-55B8440A57BB}"/>
              </a:ext>
            </a:extLst>
          </p:cNvPr>
          <p:cNvSpPr txBox="1"/>
          <p:nvPr/>
        </p:nvSpPr>
        <p:spPr>
          <a:xfrm>
            <a:off x="9328203" y="2753477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C9B916-9140-AA3D-8167-96EBE140EFB3}"/>
              </a:ext>
            </a:extLst>
          </p:cNvPr>
          <p:cNvSpPr txBox="1"/>
          <p:nvPr/>
        </p:nvSpPr>
        <p:spPr>
          <a:xfrm>
            <a:off x="9328203" y="3551490"/>
            <a:ext cx="442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③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E0188ED-D489-4616-3AB5-03DF18720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25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4DC4B8-6FC6-6DFB-85B4-0BECCCC0A5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电子作为全同费米子，其波函数具有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交换反对称性</a:t>
                </a:r>
                <a:r>
                  <a:rPr lang="zh-CN" altLang="en-US" dirty="0"/>
                  <a:t>，即，交换两个电子的位置，波函数反号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这同时也是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泡利不相容原理</a:t>
                </a:r>
                <a:r>
                  <a:rPr lang="zh-CN" altLang="en-US" dirty="0"/>
                  <a:t>的要求</a:t>
                </a:r>
                <a:endParaRPr lang="en-US" altLang="zh-CN" dirty="0"/>
              </a:p>
              <a:p>
                <a:r>
                  <a:rPr lang="en-US" altLang="zh-CN" dirty="0"/>
                  <a:t>Hartree</a:t>
                </a:r>
                <a:r>
                  <a:rPr lang="zh-CN" altLang="en-US" dirty="0"/>
                  <a:t>方法并没有考虑这一对称性</a:t>
                </a:r>
                <a:endParaRPr lang="en-US" altLang="zh-CN" dirty="0"/>
              </a:p>
              <a:p>
                <a:r>
                  <a:rPr lang="zh-CN" altLang="en-US" dirty="0"/>
                  <a:t>要使</a:t>
                </a:r>
                <a:r>
                  <a:rPr lang="en-US" altLang="zh-CN" dirty="0"/>
                  <a:t>Hartree</a:t>
                </a:r>
                <a:r>
                  <a:rPr lang="zh-CN" altLang="en-US" dirty="0"/>
                  <a:t>方程满足这个对称性，需要加入一项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CN" i="1" dirty="0"/>
                  <a:t> </a:t>
                </a:r>
                <a:r>
                  <a:rPr lang="zh-CN" altLang="en-US" dirty="0"/>
                  <a:t>，称为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Fock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交换项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(Fock’s 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e</a:t>
                </a:r>
                <a:r>
                  <a:rPr lang="en-US" altLang="zh-CN" u="sng" dirty="0" err="1">
                    <a:solidFill>
                      <a:srgbClr val="FF0000"/>
                    </a:solidFill>
                  </a:rPr>
                  <a:t>X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change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4DC4B8-6FC6-6DFB-85B4-0BECCCC0A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33" r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BB4B0707-DE8B-94BC-31FF-14B831B8BB8F}"/>
              </a:ext>
            </a:extLst>
          </p:cNvPr>
          <p:cNvSpPr/>
          <p:nvPr/>
        </p:nvSpPr>
        <p:spPr>
          <a:xfrm>
            <a:off x="3609484" y="413359"/>
            <a:ext cx="5000167" cy="667545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Hartree-Fock </a:t>
            </a:r>
            <a:r>
              <a:rPr lang="zh-CN" altLang="en-US" sz="2800" dirty="0">
                <a:solidFill>
                  <a:schemeClr val="tx1"/>
                </a:solidFill>
              </a:rPr>
              <a:t>近似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</a:rPr>
              <a:t>1930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3EF553-ECB3-A260-9E5C-D1A43F146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3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4DC4B8-6FC6-6DFB-85B4-0BECCCC0A5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941" y="1058449"/>
                <a:ext cx="8788819" cy="5386192"/>
              </a:xfrm>
            </p:spPr>
            <p:txBody>
              <a:bodyPr/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HF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定态方程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/>
                  <a:t>满足交换反对称性的</a:t>
                </a:r>
                <a:r>
                  <a:rPr lang="en-US" altLang="zh-CN" dirty="0"/>
                  <a:t>HF</a:t>
                </a:r>
                <a:r>
                  <a:rPr lang="zh-CN" altLang="en-US" dirty="0"/>
                  <a:t>波函数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𝐻𝐹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</a:rPr>
                  <a:t>这种表达式称之为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Slater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行列式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4DC4B8-6FC6-6DFB-85B4-0BECCCC0A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941" y="1058449"/>
                <a:ext cx="8788819" cy="5386192"/>
              </a:xfrm>
              <a:blipFill>
                <a:blip r:embed="rId2"/>
                <a:stretch>
                  <a:fillRect l="-971" t="-1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BB4B0707-DE8B-94BC-31FF-14B831B8BB8F}"/>
              </a:ext>
            </a:extLst>
          </p:cNvPr>
          <p:cNvSpPr/>
          <p:nvPr/>
        </p:nvSpPr>
        <p:spPr>
          <a:xfrm>
            <a:off x="3595916" y="498531"/>
            <a:ext cx="5000167" cy="667545"/>
          </a:xfrm>
          <a:prstGeom prst="roundRect">
            <a:avLst/>
          </a:prstGeom>
          <a:solidFill>
            <a:srgbClr val="04B7BC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Hartree-Fock </a:t>
            </a:r>
            <a:r>
              <a:rPr lang="zh-CN" altLang="en-US" sz="2800" dirty="0">
                <a:solidFill>
                  <a:schemeClr val="tx1"/>
                </a:solidFill>
              </a:rPr>
              <a:t>近似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</a:rPr>
              <a:t>1930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zh-CN" altLang="en-US" sz="2800" i="1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51A440-398A-E94E-6231-DCADCADBB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360" y="3584142"/>
            <a:ext cx="4507836" cy="2215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BD07244-4608-AA16-ADC7-8886F7958A10}"/>
              </a:ext>
            </a:extLst>
          </p:cNvPr>
          <p:cNvSpPr/>
          <p:nvPr/>
        </p:nvSpPr>
        <p:spPr>
          <a:xfrm>
            <a:off x="2950102" y="5040867"/>
            <a:ext cx="1662537" cy="508756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691BC22-2595-8D9A-198E-ADD87CF19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3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37BD5-FE3D-CEFA-7CCD-3CB1334B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77502"/>
          </a:xfrm>
        </p:spPr>
        <p:txBody>
          <a:bodyPr/>
          <a:lstStyle/>
          <a:p>
            <a:r>
              <a:rPr lang="en-US" altLang="zh-CN" dirty="0"/>
              <a:t>Hartree</a:t>
            </a:r>
            <a:r>
              <a:rPr lang="zh-CN" altLang="en-US" dirty="0"/>
              <a:t>项、交换项、还有什么？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AEA185-C248-3A2A-9232-476EAEA11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到此为止，我们都假设电子是独立的，或者说无关联的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发现一个电子的概率，不影响在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发现另一个电子的概率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但实际上，电子之间既有库仑斥力，也必须满足泡利不相容原理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HF</a:t>
                </a:r>
                <a:r>
                  <a:rPr lang="zh-CN" altLang="en-US" dirty="0"/>
                  <a:t>近似中，我们用一个</a:t>
                </a:r>
                <a:r>
                  <a:rPr lang="en-US" altLang="zh-CN" dirty="0"/>
                  <a:t>Slater</a:t>
                </a:r>
                <a:r>
                  <a:rPr lang="zh-CN" altLang="en-US" dirty="0"/>
                  <a:t>行列式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来描述体系，这已经包含了由于反对称性产生的</a:t>
                </a:r>
                <a:r>
                  <a:rPr lang="zh-CN" altLang="en-US" b="1" dirty="0"/>
                  <a:t>交换效应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但真实的多体基态波函数一般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不能</a:t>
                </a:r>
                <a:r>
                  <a:rPr lang="zh-CN" altLang="en-US" dirty="0"/>
                  <a:t>精确写成单个</a:t>
                </a:r>
                <a:r>
                  <a:rPr lang="en-US" altLang="zh-CN" dirty="0"/>
                  <a:t>Slater</a:t>
                </a:r>
                <a:r>
                  <a:rPr lang="zh-CN" altLang="en-US" dirty="0"/>
                  <a:t>行列式</a:t>
                </a:r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exa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ct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这意味着在电子相互作用中，还存在超出</a:t>
                </a:r>
                <a:r>
                  <a:rPr lang="en-US" altLang="zh-CN" dirty="0"/>
                  <a:t>HF</a:t>
                </a:r>
                <a:r>
                  <a:rPr lang="zh-CN" altLang="en-US" dirty="0"/>
                  <a:t>的额外多体</a:t>
                </a:r>
                <a:r>
                  <a:rPr lang="en-US" altLang="zh-CN" dirty="0"/>
                  <a:t>“</a:t>
                </a:r>
                <a:r>
                  <a:rPr lang="zh-CN" altLang="en-US" dirty="0"/>
                  <a:t>纠缠</a:t>
                </a:r>
                <a:r>
                  <a:rPr lang="en-US" altLang="zh-CN" dirty="0"/>
                  <a:t>”</a:t>
                </a:r>
                <a:r>
                  <a:rPr lang="zh-CN" altLang="en-US" dirty="0"/>
                  <a:t>，称之为关联项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(correlation)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𝑒𝑒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AEA185-C248-3A2A-9232-476EAEA11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4FBF252B-10A7-E063-F818-0B24A514D666}"/>
              </a:ext>
            </a:extLst>
          </p:cNvPr>
          <p:cNvSpPr/>
          <p:nvPr/>
        </p:nvSpPr>
        <p:spPr>
          <a:xfrm>
            <a:off x="4416698" y="1409699"/>
            <a:ext cx="1150500" cy="411883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557DE5-0C7E-2F56-59A6-0430C33DBAAF}"/>
              </a:ext>
            </a:extLst>
          </p:cNvPr>
          <p:cNvSpPr/>
          <p:nvPr/>
        </p:nvSpPr>
        <p:spPr>
          <a:xfrm>
            <a:off x="5837403" y="1409698"/>
            <a:ext cx="1947697" cy="411883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679BBB-B4E1-543B-AF52-99A44CAC0D24}"/>
              </a:ext>
            </a:extLst>
          </p:cNvPr>
          <p:cNvSpPr/>
          <p:nvPr/>
        </p:nvSpPr>
        <p:spPr>
          <a:xfrm>
            <a:off x="5996136" y="4445000"/>
            <a:ext cx="226864" cy="293562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5E1E5EB-0BAA-AE9D-0F5A-B49D73919F28}"/>
              </a:ext>
            </a:extLst>
          </p:cNvPr>
          <p:cNvSpPr/>
          <p:nvPr/>
        </p:nvSpPr>
        <p:spPr>
          <a:xfrm>
            <a:off x="7207250" y="4927600"/>
            <a:ext cx="686232" cy="324042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8D9203-92BA-7060-502E-6CD05B925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9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38C10-7946-1AF0-B426-D7E5C84F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204595"/>
          </a:xfrm>
        </p:spPr>
        <p:txBody>
          <a:bodyPr/>
          <a:lstStyle/>
          <a:p>
            <a:r>
              <a:rPr lang="en-US" altLang="zh-CN" dirty="0"/>
              <a:t>Kohn-Sham</a:t>
            </a:r>
            <a:r>
              <a:rPr lang="zh-CN" altLang="en-US" dirty="0"/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57BF410-F758-C770-0B6F-93759BBF0148}"/>
                  </a:ext>
                </a:extLst>
              </p:cNvPr>
              <p:cNvSpPr txBox="1"/>
              <p:nvPr/>
            </p:nvSpPr>
            <p:spPr>
              <a:xfrm>
                <a:off x="2538729" y="2112832"/>
                <a:ext cx="7114541" cy="1485017"/>
              </a:xfrm>
              <a:prstGeom prst="roundRect">
                <a:avLst/>
              </a:prstGeom>
              <a:solidFill>
                <a:srgbClr val="FFFF00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p>
                                  <m:r>
                                    <a:rPr lang="en-US" altLang="zh-CN" sz="3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3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𝑋𝐶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3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3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57BF410-F758-C770-0B6F-93759BBF0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729" y="2112832"/>
                <a:ext cx="7114541" cy="148501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7B3C278-0599-6D0F-DDCA-258E22CABE8F}"/>
              </a:ext>
            </a:extLst>
          </p:cNvPr>
          <p:cNvCxnSpPr>
            <a:cxnSpLocks/>
          </p:cNvCxnSpPr>
          <p:nvPr/>
        </p:nvCxnSpPr>
        <p:spPr>
          <a:xfrm flipV="1">
            <a:off x="6969760" y="3244427"/>
            <a:ext cx="0" cy="107696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59E641F-0937-D5E4-8586-859162DD0A52}"/>
              </a:ext>
            </a:extLst>
          </p:cNvPr>
          <p:cNvSpPr txBox="1"/>
          <p:nvPr/>
        </p:nvSpPr>
        <p:spPr>
          <a:xfrm>
            <a:off x="6095999" y="4321387"/>
            <a:ext cx="181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交换</a:t>
            </a:r>
            <a:r>
              <a:rPr lang="en-US" altLang="zh-CN" sz="2400" dirty="0"/>
              <a:t>-</a:t>
            </a:r>
            <a:r>
              <a:rPr lang="zh-CN" altLang="en-US" sz="2400" dirty="0"/>
              <a:t>关联项</a:t>
            </a:r>
            <a:endParaRPr lang="en-US" altLang="zh-CN" sz="2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A0A9E4D-433D-B8EB-38A4-16201BD30FBC}"/>
              </a:ext>
            </a:extLst>
          </p:cNvPr>
          <p:cNvCxnSpPr>
            <a:cxnSpLocks/>
          </p:cNvCxnSpPr>
          <p:nvPr/>
        </p:nvCxnSpPr>
        <p:spPr>
          <a:xfrm>
            <a:off x="5826760" y="1905000"/>
            <a:ext cx="0" cy="691727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7BFE11A-3F16-AD94-0EC4-841B5AB7D8EB}"/>
              </a:ext>
            </a:extLst>
          </p:cNvPr>
          <p:cNvSpPr txBox="1"/>
          <p:nvPr/>
        </p:nvSpPr>
        <p:spPr>
          <a:xfrm>
            <a:off x="4638389" y="1420334"/>
            <a:ext cx="2376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平均场</a:t>
            </a:r>
            <a:r>
              <a:rPr lang="en-US" altLang="zh-CN" sz="2400" dirty="0"/>
              <a:t>Hartree</a:t>
            </a:r>
            <a:r>
              <a:rPr lang="zh-CN" altLang="en-US" sz="2400" dirty="0"/>
              <a:t>项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D4D3093-E241-477C-98A7-4ED2D4360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120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C6924-B9E1-29DC-29D7-D1137A12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82068"/>
          </a:xfrm>
        </p:spPr>
        <p:txBody>
          <a:bodyPr/>
          <a:lstStyle/>
          <a:p>
            <a:r>
              <a:rPr lang="zh-CN" altLang="en-US" dirty="0"/>
              <a:t>密度泛函理论 </a:t>
            </a:r>
            <a:r>
              <a:rPr lang="en-US" altLang="zh-CN" dirty="0"/>
              <a:t>(density functional theory)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6F6B97-88A5-B549-7331-FCCEAC127DA2}"/>
              </a:ext>
            </a:extLst>
          </p:cNvPr>
          <p:cNvSpPr/>
          <p:nvPr/>
        </p:nvSpPr>
        <p:spPr>
          <a:xfrm>
            <a:off x="1668458" y="2069698"/>
            <a:ext cx="1131147" cy="57888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Number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F75ED85-9677-CF7F-105E-514F49B24315}"/>
              </a:ext>
            </a:extLst>
          </p:cNvPr>
          <p:cNvSpPr/>
          <p:nvPr/>
        </p:nvSpPr>
        <p:spPr>
          <a:xfrm>
            <a:off x="3802020" y="2069698"/>
            <a:ext cx="1131147" cy="57888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Number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3DF2B1-9573-DA36-CF07-819D0E46B6C6}"/>
              </a:ext>
            </a:extLst>
          </p:cNvPr>
          <p:cNvSpPr txBox="1"/>
          <p:nvPr/>
        </p:nvSpPr>
        <p:spPr>
          <a:xfrm>
            <a:off x="2198409" y="1318593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函数 </a:t>
            </a:r>
            <a:r>
              <a:rPr lang="en-US" altLang="zh-CN" sz="2400" dirty="0"/>
              <a:t>(function)</a:t>
            </a:r>
            <a:r>
              <a:rPr lang="zh-CN" altLang="en-US" sz="2400" dirty="0"/>
              <a:t> 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513A67E-74F0-9E70-5FC8-567E35C4317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99605" y="2359139"/>
            <a:ext cx="1002415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633E901-0452-69DF-36E3-1970B6E4D492}"/>
              </a:ext>
            </a:extLst>
          </p:cNvPr>
          <p:cNvSpPr txBox="1"/>
          <p:nvPr/>
        </p:nvSpPr>
        <p:spPr>
          <a:xfrm>
            <a:off x="6866959" y="1318593"/>
            <a:ext cx="2387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泛函 </a:t>
            </a:r>
            <a:r>
              <a:rPr lang="en-US" altLang="zh-CN" sz="2400" dirty="0"/>
              <a:t>(functional)</a:t>
            </a:r>
            <a:r>
              <a:rPr lang="zh-CN" altLang="en-US" sz="2400" dirty="0"/>
              <a:t> 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896E768-B6A3-69B8-F02D-EFF380B7E337}"/>
              </a:ext>
            </a:extLst>
          </p:cNvPr>
          <p:cNvSpPr/>
          <p:nvPr/>
        </p:nvSpPr>
        <p:spPr>
          <a:xfrm>
            <a:off x="6472343" y="2069698"/>
            <a:ext cx="1209040" cy="57888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Function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D675D57-DECB-9E36-4CF7-A36C30C27AFE}"/>
              </a:ext>
            </a:extLst>
          </p:cNvPr>
          <p:cNvSpPr/>
          <p:nvPr/>
        </p:nvSpPr>
        <p:spPr>
          <a:xfrm>
            <a:off x="8683797" y="2069698"/>
            <a:ext cx="1131147" cy="57888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Number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2C964DD-675F-C027-6286-5D4F921985A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681383" y="2359139"/>
            <a:ext cx="1002414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9B7504F-4A57-AB46-C844-39476CEC2C39}"/>
                  </a:ext>
                </a:extLst>
              </p:cNvPr>
              <p:cNvSpPr txBox="1"/>
              <p:nvPr/>
            </p:nvSpPr>
            <p:spPr>
              <a:xfrm>
                <a:off x="2686524" y="2844270"/>
                <a:ext cx="1192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9B7504F-4A57-AB46-C844-39476CEC2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524" y="2844270"/>
                <a:ext cx="1192954" cy="276999"/>
              </a:xfrm>
              <a:prstGeom prst="rect">
                <a:avLst/>
              </a:prstGeom>
              <a:blipFill>
                <a:blip r:embed="rId2"/>
                <a:stretch>
                  <a:fillRect l="-4615" t="-4444" r="-1538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A7C0942-3B91-D7D8-9600-1D3B0EE4291D}"/>
                  </a:ext>
                </a:extLst>
              </p:cNvPr>
              <p:cNvSpPr txBox="1"/>
              <p:nvPr/>
            </p:nvSpPr>
            <p:spPr>
              <a:xfrm>
                <a:off x="1949363" y="3409944"/>
                <a:ext cx="2983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           →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A7C0942-3B91-D7D8-9600-1D3B0EE42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363" y="3409944"/>
                <a:ext cx="2983766" cy="276999"/>
              </a:xfrm>
              <a:prstGeom prst="rect">
                <a:avLst/>
              </a:prstGeom>
              <a:blipFill>
                <a:blip r:embed="rId3"/>
                <a:stretch>
                  <a:fillRect l="-613" r="-1431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3D0583D-5D37-B0E1-98C8-847C221C6039}"/>
                  </a:ext>
                </a:extLst>
              </p:cNvPr>
              <p:cNvSpPr txBox="1"/>
              <p:nvPr/>
            </p:nvSpPr>
            <p:spPr>
              <a:xfrm>
                <a:off x="7273334" y="2671369"/>
                <a:ext cx="1818511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3D0583D-5D37-B0E1-98C8-847C221C6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34" y="2671369"/>
                <a:ext cx="1818511" cy="622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92D34BA-1F67-B92C-AF2B-AA514C859717}"/>
                  </a:ext>
                </a:extLst>
              </p:cNvPr>
              <p:cNvSpPr txBox="1"/>
              <p:nvPr/>
            </p:nvSpPr>
            <p:spPr>
              <a:xfrm>
                <a:off x="6480637" y="3409943"/>
                <a:ext cx="33248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92D34BA-1F67-B92C-AF2B-AA514C85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637" y="3409943"/>
                <a:ext cx="3324820" cy="276999"/>
              </a:xfrm>
              <a:prstGeom prst="rect">
                <a:avLst/>
              </a:prstGeom>
              <a:blipFill>
                <a:blip r:embed="rId5"/>
                <a:stretch>
                  <a:fillRect l="-1282" t="-4348" r="-1282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417164A2-8D43-4C0F-2DA2-AD8859722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762" y="3882633"/>
            <a:ext cx="3086100" cy="263842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854067C-5981-FF74-9A70-5D8E75760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716" y="3854058"/>
            <a:ext cx="3190875" cy="266700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2C1C4FA-A0F1-C837-B9AC-17D93D0A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27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76BA9A0-D5A4-5A61-BAC1-7B527AAC83FE}"/>
              </a:ext>
            </a:extLst>
          </p:cNvPr>
          <p:cNvGrpSpPr/>
          <p:nvPr/>
        </p:nvGrpSpPr>
        <p:grpSpPr>
          <a:xfrm>
            <a:off x="801404" y="2284578"/>
            <a:ext cx="5417066" cy="1123712"/>
            <a:chOff x="795293" y="1625600"/>
            <a:chExt cx="5417066" cy="112371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9BCF690-D5DC-1BAD-82B1-6E01B1C3DDB1}"/>
                </a:ext>
              </a:extLst>
            </p:cNvPr>
            <p:cNvSpPr txBox="1"/>
            <p:nvPr/>
          </p:nvSpPr>
          <p:spPr>
            <a:xfrm>
              <a:off x="795293" y="1625600"/>
              <a:ext cx="5417066" cy="520065"/>
            </a:xfrm>
            <a:prstGeom prst="roundRect">
              <a:avLst>
                <a:gd name="adj" fmla="val 40068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20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5FD9E1E-5282-EA16-0425-F827CE6CC353}"/>
                </a:ext>
              </a:extLst>
            </p:cNvPr>
            <p:cNvSpPr txBox="1"/>
            <p:nvPr/>
          </p:nvSpPr>
          <p:spPr>
            <a:xfrm>
              <a:off x="795293" y="1625600"/>
              <a:ext cx="5417066" cy="1123712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Hohenberg-Kohn</a:t>
              </a:r>
              <a:r>
                <a:rPr lang="zh-CN" altLang="en-US" sz="2000" dirty="0">
                  <a:solidFill>
                    <a:schemeClr val="bg1"/>
                  </a:solidFill>
                </a:rPr>
                <a:t>第一定理</a:t>
              </a:r>
              <a:endParaRPr lang="en-US" altLang="zh-CN" sz="2000" dirty="0">
                <a:solidFill>
                  <a:schemeClr val="bg1"/>
                </a:solidFill>
              </a:endParaRPr>
            </a:p>
            <a:p>
              <a:endParaRPr lang="en-US" altLang="zh-CN" sz="2000" dirty="0"/>
            </a:p>
            <a:p>
              <a:r>
                <a:rPr lang="zh-CN" altLang="en-US" sz="2000" dirty="0"/>
                <a:t>基态的</a:t>
              </a:r>
              <a:r>
                <a:rPr lang="zh-CN" altLang="en-US" sz="2000" dirty="0">
                  <a:solidFill>
                    <a:srgbClr val="FF0000"/>
                  </a:solidFill>
                </a:rPr>
                <a:t>所有性质</a:t>
              </a:r>
              <a:r>
                <a:rPr lang="zh-CN" altLang="en-US" sz="2000" dirty="0"/>
                <a:t>由基态电子电荷密度唯一确定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FDC6924-B9E1-29DC-29D7-D1137A12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207952"/>
          </a:xfrm>
        </p:spPr>
        <p:txBody>
          <a:bodyPr/>
          <a:lstStyle/>
          <a:p>
            <a:r>
              <a:rPr lang="zh-CN" altLang="en-US" dirty="0"/>
              <a:t>密度泛函理论 </a:t>
            </a:r>
            <a:r>
              <a:rPr lang="en-US" altLang="zh-CN" dirty="0"/>
              <a:t>(density functional theory)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863D47B-A1BD-B5A7-4A95-1409021A71F8}"/>
              </a:ext>
            </a:extLst>
          </p:cNvPr>
          <p:cNvGrpSpPr/>
          <p:nvPr/>
        </p:nvGrpSpPr>
        <p:grpSpPr>
          <a:xfrm>
            <a:off x="1164121" y="3813932"/>
            <a:ext cx="4691632" cy="1123712"/>
            <a:chOff x="795293" y="1625600"/>
            <a:chExt cx="4691632" cy="112371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EBD6793-E9E1-CA87-5809-DAD95C4CD2A4}"/>
                </a:ext>
              </a:extLst>
            </p:cNvPr>
            <p:cNvSpPr txBox="1"/>
            <p:nvPr/>
          </p:nvSpPr>
          <p:spPr>
            <a:xfrm>
              <a:off x="795293" y="1625600"/>
              <a:ext cx="4691632" cy="520065"/>
            </a:xfrm>
            <a:prstGeom prst="roundRect">
              <a:avLst>
                <a:gd name="adj" fmla="val 40068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289905F2-7F05-2E31-CCEA-299CEDAD5C86}"/>
                    </a:ext>
                  </a:extLst>
                </p:cNvPr>
                <p:cNvSpPr txBox="1"/>
                <p:nvPr/>
              </p:nvSpPr>
              <p:spPr>
                <a:xfrm>
                  <a:off x="795293" y="1625600"/>
                  <a:ext cx="4691632" cy="1123712"/>
                </a:xfrm>
                <a:prstGeom prst="roundRect">
                  <a:avLst/>
                </a:prstGeom>
                <a:noFill/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</a:rPr>
                    <a:t>Hohenberg-Kohn</a:t>
                  </a:r>
                  <a:r>
                    <a:rPr lang="zh-CN" altLang="en-US" sz="2000" dirty="0">
                      <a:solidFill>
                        <a:schemeClr val="bg1"/>
                      </a:solidFill>
                    </a:rPr>
                    <a:t>第二定理</a:t>
                  </a:r>
                  <a:endParaRPr lang="en-US" altLang="zh-CN" sz="2000" dirty="0">
                    <a:solidFill>
                      <a:schemeClr val="bg1"/>
                    </a:solidFill>
                  </a:endParaRPr>
                </a:p>
                <a:p>
                  <a:endParaRPr lang="en-US" altLang="zh-CN" sz="2000" dirty="0"/>
                </a:p>
                <a:p>
                  <a:r>
                    <a:rPr lang="zh-CN" altLang="en-US" sz="2000" dirty="0"/>
                    <a:t>任何</a:t>
                  </a:r>
                  <a14:m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a14:m>
                  <a:r>
                    <a:rPr lang="zh-CN" altLang="en-US" sz="2000" dirty="0"/>
                    <a:t>，</a:t>
                  </a:r>
                  <a:r>
                    <a:rPr lang="en-US" altLang="zh-CN" sz="20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289905F2-7F05-2E31-CCEA-299CEDAD5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293" y="1625600"/>
                  <a:ext cx="4691632" cy="1123712"/>
                </a:xfrm>
                <a:prstGeom prst="roundRect">
                  <a:avLst/>
                </a:prstGeom>
                <a:blipFill>
                  <a:blip r:embed="rId2"/>
                  <a:stretch>
                    <a:fillRect b="-1053"/>
                  </a:stretch>
                </a:blipFill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0" name="图片 59">
            <a:extLst>
              <a:ext uri="{FF2B5EF4-FFF2-40B4-BE49-F238E27FC236}">
                <a16:creationId xmlns:a16="http://schemas.microsoft.com/office/drawing/2014/main" id="{D9C2B722-9DCA-4219-937F-D7047A3CE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693" y="1147564"/>
            <a:ext cx="4084321" cy="53327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9C9FDE-FECD-4DDC-260A-5A5E38E6FC15}"/>
                  </a:ext>
                </a:extLst>
              </p:cNvPr>
              <p:cNvSpPr txBox="1"/>
              <p:nvPr/>
            </p:nvSpPr>
            <p:spPr>
              <a:xfrm>
                <a:off x="6184444" y="3287946"/>
                <a:ext cx="19732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的泛函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zh-CN" altLang="en-US" dirty="0"/>
                  <a:t>也是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的泛函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29C9FDE-FECD-4DDC-260A-5A5E38E6F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444" y="3287946"/>
                <a:ext cx="1973262" cy="646331"/>
              </a:xfrm>
              <a:prstGeom prst="rect">
                <a:avLst/>
              </a:prstGeom>
              <a:blipFill>
                <a:blip r:embed="rId4"/>
                <a:stretch>
                  <a:fillRect t="-7547" r="-1238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9C5E33-35B3-2B21-98B6-AF2759FCF4FE}"/>
                  </a:ext>
                </a:extLst>
              </p:cNvPr>
              <p:cNvSpPr txBox="1"/>
              <p:nvPr/>
            </p:nvSpPr>
            <p:spPr>
              <a:xfrm>
                <a:off x="4740613" y="4973954"/>
                <a:ext cx="28876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基态密度由能量最小化决定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9C5E33-35B3-2B21-98B6-AF2759FCF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613" y="4973954"/>
                <a:ext cx="2887662" cy="369332"/>
              </a:xfrm>
              <a:prstGeom prst="rect">
                <a:avLst/>
              </a:prstGeom>
              <a:blipFill>
                <a:blip r:embed="rId5"/>
                <a:stretch>
                  <a:fillRect l="-846" r="-2537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3F0F0DA-C8EC-0591-B192-ED3A4AC80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88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04F11CB-2BE9-603E-A4BD-0BBCCEE02815}"/>
              </a:ext>
            </a:extLst>
          </p:cNvPr>
          <p:cNvSpPr/>
          <p:nvPr/>
        </p:nvSpPr>
        <p:spPr>
          <a:xfrm>
            <a:off x="2607731" y="1283360"/>
            <a:ext cx="2904394" cy="2145640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9E89D5A-2844-1CA6-3B47-A1516AFAE25C}"/>
              </a:ext>
            </a:extLst>
          </p:cNvPr>
          <p:cNvSpPr/>
          <p:nvPr/>
        </p:nvSpPr>
        <p:spPr>
          <a:xfrm>
            <a:off x="6358602" y="1283360"/>
            <a:ext cx="2904394" cy="2145640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70DD6F-1342-1378-113F-227020DB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350547"/>
          </a:xfrm>
        </p:spPr>
        <p:txBody>
          <a:bodyPr/>
          <a:lstStyle/>
          <a:p>
            <a:r>
              <a:rPr lang="zh-CN" altLang="en-US" dirty="0"/>
              <a:t>具体的泛函形式？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B0E7F60-1934-A6F9-B962-27B950ED416E}"/>
                  </a:ext>
                </a:extLst>
              </p:cNvPr>
              <p:cNvSpPr txBox="1"/>
              <p:nvPr/>
            </p:nvSpPr>
            <p:spPr>
              <a:xfrm>
                <a:off x="2440091" y="2008201"/>
                <a:ext cx="3127587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B0E7F60-1934-A6F9-B962-27B950ED4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091" y="2008201"/>
                <a:ext cx="3127587" cy="8996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7CA9A11-7BC2-9F60-7F8E-290B3DEB7A41}"/>
              </a:ext>
            </a:extLst>
          </p:cNvPr>
          <p:cNvSpPr txBox="1"/>
          <p:nvPr/>
        </p:nvSpPr>
        <p:spPr>
          <a:xfrm>
            <a:off x="3049844" y="1443622"/>
            <a:ext cx="202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Hartree</a:t>
            </a:r>
            <a:r>
              <a:rPr lang="zh-CN" altLang="en-US" sz="2800" dirty="0"/>
              <a:t>近似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719E87-2163-307E-788B-CA60F0349009}"/>
              </a:ext>
            </a:extLst>
          </p:cNvPr>
          <p:cNvSpPr txBox="1"/>
          <p:nvPr/>
        </p:nvSpPr>
        <p:spPr>
          <a:xfrm>
            <a:off x="2988221" y="293218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形式已知但不精确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F29B25-6E93-D894-2026-C710C4E6EFC6}"/>
              </a:ext>
            </a:extLst>
          </p:cNvPr>
          <p:cNvSpPr txBox="1"/>
          <p:nvPr/>
        </p:nvSpPr>
        <p:spPr>
          <a:xfrm>
            <a:off x="6641250" y="144362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密度泛函理论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9528E2D-3368-B378-79B3-A1F66674516D}"/>
                  </a:ext>
                </a:extLst>
              </p:cNvPr>
              <p:cNvSpPr txBox="1"/>
              <p:nvPr/>
            </p:nvSpPr>
            <p:spPr>
              <a:xfrm>
                <a:off x="6247005" y="2104093"/>
                <a:ext cx="312758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9528E2D-3368-B378-79B3-A1F666745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005" y="2104093"/>
                <a:ext cx="312758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9734F082-F4D2-2770-D856-D710FEF4A2CD}"/>
              </a:ext>
            </a:extLst>
          </p:cNvPr>
          <p:cNvSpPr txBox="1"/>
          <p:nvPr/>
        </p:nvSpPr>
        <p:spPr>
          <a:xfrm>
            <a:off x="6910553" y="293218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精确但形式未知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87C82E9-DA66-7370-5361-48F66C919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338" y="3728604"/>
            <a:ext cx="2268472" cy="2817296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8939DB4-B2DC-FB10-9774-BE041CF0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514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D43EE-E348-56F3-DF28-14C9D9FD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387475"/>
          </a:xfrm>
        </p:spPr>
        <p:txBody>
          <a:bodyPr/>
          <a:lstStyle/>
          <a:p>
            <a:r>
              <a:rPr lang="zh-CN" altLang="en-US" dirty="0"/>
              <a:t>能量的泛函形式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998669-7D6F-5DAE-C857-627D3F8FC8FB}"/>
                  </a:ext>
                </a:extLst>
              </p:cNvPr>
              <p:cNvSpPr txBox="1"/>
              <p:nvPr/>
            </p:nvSpPr>
            <p:spPr>
              <a:xfrm>
                <a:off x="185804" y="1646607"/>
                <a:ext cx="18829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998669-7D6F-5DAE-C857-627D3F8F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04" y="1646607"/>
                <a:ext cx="188298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CB83BF5-3524-A794-1E7B-F64DBF7B960B}"/>
                  </a:ext>
                </a:extLst>
              </p:cNvPr>
              <p:cNvSpPr txBox="1"/>
              <p:nvPr/>
            </p:nvSpPr>
            <p:spPr>
              <a:xfrm>
                <a:off x="1758980" y="1394327"/>
                <a:ext cx="2765212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CB83BF5-3524-A794-1E7B-F64DBF7B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80" y="1394327"/>
                <a:ext cx="2765212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A740144-959D-4C01-6BB6-CA19E8784F5A}"/>
              </a:ext>
            </a:extLst>
          </p:cNvPr>
          <p:cNvSpPr txBox="1"/>
          <p:nvPr/>
        </p:nvSpPr>
        <p:spPr>
          <a:xfrm>
            <a:off x="2186861" y="2454162"/>
            <a:ext cx="2374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核势能（外部势）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FF5B9E-392D-7C5A-F0C8-8C980D14A29C}"/>
                  </a:ext>
                </a:extLst>
              </p:cNvPr>
              <p:cNvSpPr txBox="1"/>
              <p:nvPr/>
            </p:nvSpPr>
            <p:spPr>
              <a:xfrm>
                <a:off x="4134956" y="1393715"/>
                <a:ext cx="3639820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FF5B9E-392D-7C5A-F0C8-8C980D14A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956" y="1393715"/>
                <a:ext cx="3639820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781F97C-83C3-B39C-B936-55947A095EEC}"/>
              </a:ext>
            </a:extLst>
          </p:cNvPr>
          <p:cNvSpPr txBox="1"/>
          <p:nvPr/>
        </p:nvSpPr>
        <p:spPr>
          <a:xfrm>
            <a:off x="5403889" y="2454162"/>
            <a:ext cx="1843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Hartree</a:t>
            </a:r>
            <a:r>
              <a:rPr lang="zh-CN" altLang="en-US" sz="2000" dirty="0"/>
              <a:t>能量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AF67395-8FBA-6B7C-DE4A-7DE362119702}"/>
                  </a:ext>
                </a:extLst>
              </p:cNvPr>
              <p:cNvSpPr txBox="1"/>
              <p:nvPr/>
            </p:nvSpPr>
            <p:spPr>
              <a:xfrm>
                <a:off x="8908243" y="1646603"/>
                <a:ext cx="28638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𝐸𝑣𝑒𝑟𝑦𝑡ℎ𝑖𝑛𝑔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AF67395-8FBA-6B7C-DE4A-7DE362119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243" y="1646603"/>
                <a:ext cx="2863811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B0A753A-F0D1-E284-C1B2-9025CFE16DAB}"/>
                  </a:ext>
                </a:extLst>
              </p:cNvPr>
              <p:cNvSpPr txBox="1"/>
              <p:nvPr/>
            </p:nvSpPr>
            <p:spPr>
              <a:xfrm>
                <a:off x="7438813" y="1646604"/>
                <a:ext cx="16577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B0A753A-F0D1-E284-C1B2-9025CFE16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813" y="1646604"/>
                <a:ext cx="16577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FA65D37E-8381-33C5-8D21-74DAB251BBF5}"/>
              </a:ext>
            </a:extLst>
          </p:cNvPr>
          <p:cNvSpPr txBox="1"/>
          <p:nvPr/>
        </p:nvSpPr>
        <p:spPr>
          <a:xfrm>
            <a:off x="7774776" y="2450087"/>
            <a:ext cx="1327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电子动能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B2F2948-88C3-A2AE-0A8F-280D1F7806B5}"/>
                  </a:ext>
                </a:extLst>
              </p:cNvPr>
              <p:cNvSpPr txBox="1"/>
              <p:nvPr/>
            </p:nvSpPr>
            <p:spPr>
              <a:xfrm>
                <a:off x="3043262" y="3117855"/>
                <a:ext cx="6132612" cy="3524369"/>
              </a:xfrm>
              <a:prstGeom prst="roundRect">
                <a:avLst/>
              </a:prstGeom>
              <a:solidFill>
                <a:srgbClr val="FFFF00">
                  <a:alpha val="50196"/>
                </a:srgbClr>
              </a:solidFill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Kohn and Sham (1965)</a:t>
                </a:r>
                <a:r>
                  <a:rPr lang="zh-CN" altLang="en-US" sz="2000" dirty="0"/>
                  <a:t>：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(1) </a:t>
                </a:r>
                <a:r>
                  <a:rPr lang="zh-CN" altLang="en-US" sz="2000" dirty="0"/>
                  <a:t>电荷密度是单体波函数模方的叠加</a:t>
                </a:r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r>
                  <a:rPr lang="en-US" altLang="zh-CN" sz="2000" dirty="0"/>
                  <a:t>(2) </a:t>
                </a:r>
                <a:r>
                  <a:rPr lang="zh-CN" altLang="en-US" sz="2000" dirty="0"/>
                  <a:t>动能项写成单体波函数的泛函</a:t>
                </a:r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剩下的所有不能写成单体的项统一写成一项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𝑋𝐶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B2F2948-88C3-A2AE-0A8F-280D1F780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262" y="3117855"/>
                <a:ext cx="6132612" cy="352436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AE71D37-4422-303A-1D50-FD17E3C69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26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5" grpId="0"/>
      <p:bldP spid="1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38C10-7946-1AF0-B426-D7E5C84F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272421"/>
          </a:xfrm>
        </p:spPr>
        <p:txBody>
          <a:bodyPr/>
          <a:lstStyle/>
          <a:p>
            <a:r>
              <a:rPr lang="en-US" altLang="zh-CN" dirty="0"/>
              <a:t>Kohn-Sham</a:t>
            </a:r>
            <a:r>
              <a:rPr lang="zh-CN" altLang="en-US" dirty="0"/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57BF410-F758-C770-0B6F-93759BBF0148}"/>
                  </a:ext>
                </a:extLst>
              </p:cNvPr>
              <p:cNvSpPr txBox="1"/>
              <p:nvPr/>
            </p:nvSpPr>
            <p:spPr>
              <a:xfrm>
                <a:off x="3251199" y="1119329"/>
                <a:ext cx="5689602" cy="1177699"/>
              </a:xfrm>
              <a:prstGeom prst="roundRect">
                <a:avLst/>
              </a:prstGeom>
              <a:solidFill>
                <a:srgbClr val="FFFF00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p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𝑋𝐶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57BF410-F758-C770-0B6F-93759BBF0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9" y="1119329"/>
                <a:ext cx="5689602" cy="117769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4449CE0-47B6-E16E-DBFE-B1500542014D}"/>
                  </a:ext>
                </a:extLst>
              </p:cNvPr>
              <p:cNvSpPr txBox="1"/>
              <p:nvPr/>
            </p:nvSpPr>
            <p:spPr>
              <a:xfrm>
                <a:off x="1808478" y="2455714"/>
                <a:ext cx="8575044" cy="1352569"/>
              </a:xfrm>
              <a:prstGeom prst="round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𝐻𝑎𝑟𝑡𝑟𝑒𝑒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4449CE0-47B6-E16E-DBFE-B15005420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478" y="2455714"/>
                <a:ext cx="8575044" cy="13525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8B3E47-7E01-E1BB-BE33-764E5DC5A678}"/>
                  </a:ext>
                </a:extLst>
              </p:cNvPr>
              <p:cNvSpPr txBox="1"/>
              <p:nvPr/>
            </p:nvSpPr>
            <p:spPr>
              <a:xfrm>
                <a:off x="8484063" y="3654722"/>
                <a:ext cx="241808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所有未知多体效应的求解简化为对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𝑋𝐶</m:t>
                        </m:r>
                      </m:sub>
                    </m:sSub>
                  </m:oMath>
                </a14:m>
                <a:r>
                  <a:rPr lang="zh-CN" altLang="en-US" sz="2400" dirty="0"/>
                  <a:t>的近似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8B3E47-7E01-E1BB-BE33-764E5DC5A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63" y="3654722"/>
                <a:ext cx="2418080" cy="1200329"/>
              </a:xfrm>
              <a:prstGeom prst="rect">
                <a:avLst/>
              </a:prstGeom>
              <a:blipFill>
                <a:blip r:embed="rId4"/>
                <a:stretch>
                  <a:fillRect l="-4040" t="-4082" b="-9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057851-FF0F-4692-66BF-9C0E68490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289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7E9F4-72DF-526B-9695-1834BD00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213978"/>
          </a:xfrm>
        </p:spPr>
        <p:txBody>
          <a:bodyPr/>
          <a:lstStyle/>
          <a:p>
            <a:r>
              <a:rPr lang="zh-CN" altLang="en-US" dirty="0"/>
              <a:t>交换关联函数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D164C3-0108-30F3-BCDF-1A3F4BBD0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局域密度近似 </a:t>
            </a:r>
            <a:r>
              <a:rPr lang="en-US" altLang="zh-CN" dirty="0"/>
              <a:t>(Local Density Approximation, LDA)</a:t>
            </a:r>
          </a:p>
          <a:p>
            <a:pPr lvl="1"/>
            <a:r>
              <a:rPr lang="zh-CN" altLang="en-US" dirty="0"/>
              <a:t>交换关联项只和该处的电荷密度有关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F26898-0C42-CBFE-83FD-1D43AACD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54" y="2104152"/>
            <a:ext cx="8947362" cy="4340489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3166887-13CF-3A4E-F836-0ADA1415A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359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4A86D74-CEB2-D7A6-4DF3-5E4F457C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9" y="612245"/>
            <a:ext cx="9667875" cy="59721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03A1EA9-25AC-5683-7BF5-64BC3D7CD944}"/>
              </a:ext>
            </a:extLst>
          </p:cNvPr>
          <p:cNvSpPr txBox="1"/>
          <p:nvPr/>
        </p:nvSpPr>
        <p:spPr>
          <a:xfrm>
            <a:off x="8059034" y="1299703"/>
            <a:ext cx="3858044" cy="193899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LDA</a:t>
            </a:r>
            <a:r>
              <a:rPr lang="zh-CN" altLang="en-US" sz="2400" dirty="0">
                <a:solidFill>
                  <a:srgbClr val="FF0000"/>
                </a:solidFill>
              </a:rPr>
              <a:t>效果出乎意料地好！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其他</a:t>
            </a:r>
            <a:r>
              <a:rPr lang="en-US" altLang="zh-CN" sz="2400" dirty="0"/>
              <a:t>XC functional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GGA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meta-GGA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Hybrid (PBE0, B3LYP, …)</a:t>
            </a:r>
            <a:endParaRPr lang="zh-CN" altLang="en-US" sz="24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8CB753F-5A6E-6ECE-BAD8-B2D1DE7D8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814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B7646-D1CA-9661-65FC-6B8C543B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31858"/>
          </a:xfrm>
        </p:spPr>
        <p:txBody>
          <a:bodyPr/>
          <a:lstStyle/>
          <a:p>
            <a:r>
              <a:rPr lang="en-US" altLang="zh-CN" dirty="0"/>
              <a:t>KS</a:t>
            </a:r>
            <a:r>
              <a:rPr lang="zh-CN" altLang="en-US" dirty="0"/>
              <a:t>方程的自洽求解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流程图: 过程 4">
                <a:extLst>
                  <a:ext uri="{FF2B5EF4-FFF2-40B4-BE49-F238E27FC236}">
                    <a16:creationId xmlns:a16="http://schemas.microsoft.com/office/drawing/2014/main" id="{6A358B62-6EB6-0FBB-C939-240D6DA37979}"/>
                  </a:ext>
                </a:extLst>
              </p:cNvPr>
              <p:cNvSpPr/>
              <p:nvPr/>
            </p:nvSpPr>
            <p:spPr>
              <a:xfrm>
                <a:off x="2506134" y="1098332"/>
                <a:ext cx="2641600" cy="860213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流程图: 过程 4">
                <a:extLst>
                  <a:ext uri="{FF2B5EF4-FFF2-40B4-BE49-F238E27FC236}">
                    <a16:creationId xmlns:a16="http://schemas.microsoft.com/office/drawing/2014/main" id="{6A358B62-6EB6-0FBB-C939-240D6DA37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134" y="1098332"/>
                <a:ext cx="2641600" cy="860213"/>
              </a:xfrm>
              <a:prstGeom prst="flowChartProcess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流程图: 过程 5">
                <a:extLst>
                  <a:ext uri="{FF2B5EF4-FFF2-40B4-BE49-F238E27FC236}">
                    <a16:creationId xmlns:a16="http://schemas.microsoft.com/office/drawing/2014/main" id="{31B73150-5FDA-8A75-60AB-C99452A09BFF}"/>
                  </a:ext>
                </a:extLst>
              </p:cNvPr>
              <p:cNvSpPr/>
              <p:nvPr/>
            </p:nvSpPr>
            <p:spPr>
              <a:xfrm>
                <a:off x="2506134" y="2233837"/>
                <a:ext cx="2641600" cy="860213"/>
              </a:xfrm>
              <a:prstGeom prst="flowChartProcess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猜测一个电荷密度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流程图: 过程 5">
                <a:extLst>
                  <a:ext uri="{FF2B5EF4-FFF2-40B4-BE49-F238E27FC236}">
                    <a16:creationId xmlns:a16="http://schemas.microsoft.com/office/drawing/2014/main" id="{31B73150-5FDA-8A75-60AB-C99452A09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134" y="2233837"/>
                <a:ext cx="2641600" cy="860213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流程图: 过程 6">
                <a:extLst>
                  <a:ext uri="{FF2B5EF4-FFF2-40B4-BE49-F238E27FC236}">
                    <a16:creationId xmlns:a16="http://schemas.microsoft.com/office/drawing/2014/main" id="{C48946CD-ADED-12DA-425B-E55AFF55FF0E}"/>
                  </a:ext>
                </a:extLst>
              </p:cNvPr>
              <p:cNvSpPr/>
              <p:nvPr/>
            </p:nvSpPr>
            <p:spPr>
              <a:xfrm>
                <a:off x="1032933" y="3593199"/>
                <a:ext cx="2641599" cy="727771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zh-CN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流程图: 过程 6">
                <a:extLst>
                  <a:ext uri="{FF2B5EF4-FFF2-40B4-BE49-F238E27FC236}">
                    <a16:creationId xmlns:a16="http://schemas.microsoft.com/office/drawing/2014/main" id="{C48946CD-ADED-12DA-425B-E55AFF55FF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33" y="3593199"/>
                <a:ext cx="2641599" cy="727771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流程图: 过程 7">
                <a:extLst>
                  <a:ext uri="{FF2B5EF4-FFF2-40B4-BE49-F238E27FC236}">
                    <a16:creationId xmlns:a16="http://schemas.microsoft.com/office/drawing/2014/main" id="{1EF7E42E-ABFD-D9E6-9428-930AA42BDBC3}"/>
                  </a:ext>
                </a:extLst>
              </p:cNvPr>
              <p:cNvSpPr/>
              <p:nvPr/>
            </p:nvSpPr>
            <p:spPr>
              <a:xfrm>
                <a:off x="4036906" y="3593198"/>
                <a:ext cx="2641599" cy="727771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𝑋𝐶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𝑋𝐶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流程图: 过程 7">
                <a:extLst>
                  <a:ext uri="{FF2B5EF4-FFF2-40B4-BE49-F238E27FC236}">
                    <a16:creationId xmlns:a16="http://schemas.microsoft.com/office/drawing/2014/main" id="{1EF7E42E-ABFD-D9E6-9428-930AA42BD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906" y="3593198"/>
                <a:ext cx="2641599" cy="727771"/>
              </a:xfrm>
              <a:prstGeom prst="flowChartProcess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流程图: 过程 8">
                <a:extLst>
                  <a:ext uri="{FF2B5EF4-FFF2-40B4-BE49-F238E27FC236}">
                    <a16:creationId xmlns:a16="http://schemas.microsoft.com/office/drawing/2014/main" id="{030D6281-1B09-10C3-07B2-57D3C75F2296}"/>
                  </a:ext>
                </a:extLst>
              </p:cNvPr>
              <p:cNvSpPr/>
              <p:nvPr/>
            </p:nvSpPr>
            <p:spPr>
              <a:xfrm>
                <a:off x="2008292" y="4647360"/>
                <a:ext cx="3738880" cy="727771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𝑋𝐶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流程图: 过程 8">
                <a:extLst>
                  <a:ext uri="{FF2B5EF4-FFF2-40B4-BE49-F238E27FC236}">
                    <a16:creationId xmlns:a16="http://schemas.microsoft.com/office/drawing/2014/main" id="{030D6281-1B09-10C3-07B2-57D3C75F2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292" y="4647360"/>
                <a:ext cx="3738880" cy="727771"/>
              </a:xfrm>
              <a:prstGeom prst="flowChartProcess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流程图: 过程 9">
                <a:extLst>
                  <a:ext uri="{FF2B5EF4-FFF2-40B4-BE49-F238E27FC236}">
                    <a16:creationId xmlns:a16="http://schemas.microsoft.com/office/drawing/2014/main" id="{3116FC7E-FA74-4659-FAB2-3B3AAD2DA83B}"/>
                  </a:ext>
                </a:extLst>
              </p:cNvPr>
              <p:cNvSpPr/>
              <p:nvPr/>
            </p:nvSpPr>
            <p:spPr>
              <a:xfrm>
                <a:off x="2788919" y="5701408"/>
                <a:ext cx="2177626" cy="727771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流程图: 过程 9">
                <a:extLst>
                  <a:ext uri="{FF2B5EF4-FFF2-40B4-BE49-F238E27FC236}">
                    <a16:creationId xmlns:a16="http://schemas.microsoft.com/office/drawing/2014/main" id="{3116FC7E-FA74-4659-FAB2-3B3AAD2DA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919" y="5701408"/>
                <a:ext cx="2177626" cy="727771"/>
              </a:xfrm>
              <a:prstGeom prst="flowChartProcess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流程图: 决策 10">
                <a:extLst>
                  <a:ext uri="{FF2B5EF4-FFF2-40B4-BE49-F238E27FC236}">
                    <a16:creationId xmlns:a16="http://schemas.microsoft.com/office/drawing/2014/main" id="{24E38759-5DAE-A353-418F-A47BBD1DD127}"/>
                  </a:ext>
                </a:extLst>
              </p:cNvPr>
              <p:cNvSpPr/>
              <p:nvPr/>
            </p:nvSpPr>
            <p:spPr>
              <a:xfrm>
                <a:off x="6881707" y="5609527"/>
                <a:ext cx="1937173" cy="911531"/>
              </a:xfrm>
              <a:prstGeom prst="flowChartDecision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流程图: 决策 10">
                <a:extLst>
                  <a:ext uri="{FF2B5EF4-FFF2-40B4-BE49-F238E27FC236}">
                    <a16:creationId xmlns:a16="http://schemas.microsoft.com/office/drawing/2014/main" id="{24E38759-5DAE-A353-418F-A47BBD1DD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07" y="5609527"/>
                <a:ext cx="1937173" cy="911531"/>
              </a:xfrm>
              <a:prstGeom prst="flowChartDecision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A891753-110D-A27D-1D28-FFA80CDDFA2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826934" y="1958545"/>
            <a:ext cx="0" cy="27529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A3C4674-FE44-70A6-B686-9D18A6FF46D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877732" y="5375131"/>
            <a:ext cx="0" cy="326277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1769710-5B72-BD6F-33FE-E93267F51F1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4966545" y="6065293"/>
            <a:ext cx="1915162" cy="1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2B52B365-4EAC-CA20-11B0-6973273CDEA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840760" y="2607024"/>
            <a:ext cx="499149" cy="1473201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17A719CF-59FE-A2EF-3B03-92A688876B27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4342746" y="2578238"/>
            <a:ext cx="499148" cy="1530772"/>
          </a:xfrm>
          <a:prstGeom prst="bent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4803FF6-313A-E568-FC01-A2280389179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2952537" y="3722165"/>
            <a:ext cx="326390" cy="1523999"/>
          </a:xfrm>
          <a:prstGeom prst="bent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EDA8AB77-953E-C551-9F6F-621FF909383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4454524" y="3744177"/>
            <a:ext cx="326391" cy="1479974"/>
          </a:xfrm>
          <a:prstGeom prst="bent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流程图: 过程 37">
                <a:extLst>
                  <a:ext uri="{FF2B5EF4-FFF2-40B4-BE49-F238E27FC236}">
                    <a16:creationId xmlns:a16="http://schemas.microsoft.com/office/drawing/2014/main" id="{0A87052F-3390-21E2-A019-862F3372DD51}"/>
                  </a:ext>
                </a:extLst>
              </p:cNvPr>
              <p:cNvSpPr/>
              <p:nvPr/>
            </p:nvSpPr>
            <p:spPr>
              <a:xfrm>
                <a:off x="7238153" y="2851881"/>
                <a:ext cx="1224280" cy="727771"/>
              </a:xfrm>
              <a:prstGeom prst="flowChartProcess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</a:rPr>
                  <a:t>更新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流程图: 过程 37">
                <a:extLst>
                  <a:ext uri="{FF2B5EF4-FFF2-40B4-BE49-F238E27FC236}">
                    <a16:creationId xmlns:a16="http://schemas.microsoft.com/office/drawing/2014/main" id="{0A87052F-3390-21E2-A019-862F3372D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153" y="2851881"/>
                <a:ext cx="1224280" cy="727771"/>
              </a:xfrm>
              <a:prstGeom prst="flowChartProcess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0EAEB14-17F1-6C12-577C-6915F1707044}"/>
              </a:ext>
            </a:extLst>
          </p:cNvPr>
          <p:cNvCxnSpPr>
            <a:cxnSpLocks/>
            <a:stCxn id="11" idx="0"/>
            <a:endCxn id="38" idx="2"/>
          </p:cNvCxnSpPr>
          <p:nvPr/>
        </p:nvCxnSpPr>
        <p:spPr>
          <a:xfrm flipH="1" flipV="1">
            <a:off x="7850293" y="3579652"/>
            <a:ext cx="1" cy="202987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E658525-4419-4DCC-5A0C-8D50D5D0D978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3826933" y="3215767"/>
            <a:ext cx="3411220" cy="3441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114B550-97F1-1E2A-087F-05627F1EDC82}"/>
              </a:ext>
            </a:extLst>
          </p:cNvPr>
          <p:cNvSpPr txBox="1"/>
          <p:nvPr/>
        </p:nvSpPr>
        <p:spPr>
          <a:xfrm>
            <a:off x="7850293" y="5076604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No</a:t>
            </a:r>
            <a:endParaRPr lang="zh-CN" altLang="en-US" sz="2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FDABE7A-39D2-DE1A-7D32-8BE9393F59FD}"/>
              </a:ext>
            </a:extLst>
          </p:cNvPr>
          <p:cNvSpPr txBox="1"/>
          <p:nvPr/>
        </p:nvSpPr>
        <p:spPr>
          <a:xfrm>
            <a:off x="8765663" y="5622252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Yes</a:t>
            </a:r>
            <a:endParaRPr lang="zh-CN" altLang="en-US" sz="2400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48A748-2722-CB92-15CE-0AB7B7717D3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818880" y="6065293"/>
            <a:ext cx="1225973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B830882-C51D-1E12-56DC-60A69727A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363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86614-4936-2CA2-48F1-7C5B811A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055582"/>
          </a:xfrm>
        </p:spPr>
        <p:txBody>
          <a:bodyPr/>
          <a:lstStyle/>
          <a:p>
            <a:r>
              <a:rPr lang="en-US" altLang="zh-CN" dirty="0"/>
              <a:t>DFT</a:t>
            </a:r>
            <a:r>
              <a:rPr lang="zh-CN" altLang="en-US" dirty="0"/>
              <a:t>的优点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2311D-02C1-E698-2B9C-F77E528D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可移植性 </a:t>
            </a:r>
            <a:r>
              <a:rPr lang="en-US" altLang="zh-CN" dirty="0"/>
              <a:t>(Transferability)</a:t>
            </a:r>
          </a:p>
          <a:p>
            <a:pPr marL="0" indent="0">
              <a:buNone/>
            </a:pPr>
            <a:r>
              <a:rPr lang="en-US" altLang="zh-CN" dirty="0"/>
              <a:t>	DFT</a:t>
            </a:r>
            <a:r>
              <a:rPr lang="zh-CN" altLang="en-US" dirty="0"/>
              <a:t>，以及基于</a:t>
            </a:r>
            <a:r>
              <a:rPr lang="en-US" altLang="zh-CN" dirty="0"/>
              <a:t>DFT</a:t>
            </a:r>
            <a:r>
              <a:rPr lang="zh-CN" altLang="en-US" dirty="0"/>
              <a:t>的各种理论（</a:t>
            </a:r>
            <a:r>
              <a:rPr lang="en-US" altLang="zh-CN" dirty="0"/>
              <a:t>KS</a:t>
            </a:r>
            <a:r>
              <a:rPr lang="zh-CN" altLang="en-US" dirty="0"/>
              <a:t>等）是</a:t>
            </a:r>
            <a:r>
              <a:rPr lang="zh-CN" altLang="en-US" dirty="0">
                <a:solidFill>
                  <a:srgbClr val="FF0000"/>
                </a:solidFill>
              </a:rPr>
              <a:t>第一性</a:t>
            </a:r>
            <a:r>
              <a:rPr lang="zh-CN" altLang="en-US" dirty="0"/>
              <a:t>的，是不依赖于材料的</a:t>
            </a:r>
            <a:endParaRPr lang="en-US" altLang="zh-CN" dirty="0"/>
          </a:p>
          <a:p>
            <a:r>
              <a:rPr lang="zh-CN" altLang="en-US" dirty="0"/>
              <a:t>简明性 </a:t>
            </a:r>
            <a:r>
              <a:rPr lang="en-US" altLang="zh-CN" dirty="0"/>
              <a:t>(Simplicity)</a:t>
            </a:r>
          </a:p>
          <a:p>
            <a:pPr marL="0" indent="0">
              <a:buNone/>
            </a:pPr>
            <a:r>
              <a:rPr lang="en-US" altLang="zh-CN" dirty="0"/>
              <a:t>	KS</a:t>
            </a:r>
            <a:r>
              <a:rPr lang="zh-CN" altLang="en-US" dirty="0"/>
              <a:t>方程在概念上十分类似外场中的单粒子薛定谔方程</a:t>
            </a:r>
            <a:endParaRPr lang="en-US" altLang="zh-CN" dirty="0"/>
          </a:p>
          <a:p>
            <a:r>
              <a:rPr lang="zh-CN" altLang="en-US" dirty="0"/>
              <a:t>可靠性 </a:t>
            </a:r>
            <a:r>
              <a:rPr lang="en-US" altLang="zh-CN" dirty="0"/>
              <a:t>(Reliability)</a:t>
            </a:r>
          </a:p>
          <a:p>
            <a:pPr marL="0" indent="0">
              <a:buNone/>
            </a:pPr>
            <a:r>
              <a:rPr lang="en-US" altLang="zh-CN" dirty="0"/>
              <a:t>	DFT</a:t>
            </a:r>
            <a:r>
              <a:rPr lang="zh-CN" altLang="en-US" dirty="0"/>
              <a:t>预测精度较高，能够做到理论反馈指导实验</a:t>
            </a:r>
            <a:endParaRPr lang="en-US" altLang="zh-CN" dirty="0"/>
          </a:p>
          <a:p>
            <a:r>
              <a:rPr lang="zh-CN" altLang="en-US" dirty="0"/>
              <a:t>代码共享 </a:t>
            </a:r>
            <a:r>
              <a:rPr lang="en-US" altLang="zh-CN" dirty="0"/>
              <a:t>(Code-sharing)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作为产出论文数量最多的物理方向之一，有大量开源软件和学者社区</a:t>
            </a:r>
            <a:endParaRPr lang="en-US" altLang="zh-CN" dirty="0"/>
          </a:p>
          <a:p>
            <a:r>
              <a:rPr lang="zh-CN" altLang="en-US" dirty="0"/>
              <a:t>可拓展性 </a:t>
            </a:r>
            <a:r>
              <a:rPr lang="en-US" altLang="zh-CN" dirty="0"/>
              <a:t>(Extensibility)</a:t>
            </a:r>
          </a:p>
          <a:p>
            <a:pPr marL="0" indent="0">
              <a:buNone/>
            </a:pPr>
            <a:r>
              <a:rPr lang="en-US" altLang="zh-CN" dirty="0"/>
              <a:t>	DFT</a:t>
            </a:r>
            <a:r>
              <a:rPr lang="zh-CN" altLang="en-US" dirty="0"/>
              <a:t>的框架较为自由，方法的不足可通过添加修正项弥补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914D52-42CA-7F6F-6200-2FAF272B5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856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FC285-F39C-63DD-1DA0-98283A28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64997"/>
          </a:xfrm>
        </p:spPr>
        <p:txBody>
          <a:bodyPr/>
          <a:lstStyle/>
          <a:p>
            <a:r>
              <a:rPr lang="en-US" altLang="zh-CN" dirty="0"/>
              <a:t>KS</a:t>
            </a:r>
            <a:r>
              <a:rPr lang="zh-CN" altLang="en-US" dirty="0"/>
              <a:t>方程的平面波展开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DE76A-70E9-82D2-7652-C50190E57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</a:t>
            </a:r>
            <a:r>
              <a:rPr lang="en-US" altLang="zh-CN" dirty="0"/>
              <a:t>KS</a:t>
            </a:r>
            <a:r>
              <a:rPr lang="zh-CN" altLang="en-US" dirty="0"/>
              <a:t>方程时，在数学上最简便的一种方式，是将其在平面波基底上展开，</a:t>
            </a:r>
            <a:r>
              <a:rPr lang="zh-CN" altLang="en-US" i="1" dirty="0"/>
              <a:t>类似近自由电子的中心方程</a:t>
            </a:r>
            <a:endParaRPr lang="en-US" altLang="zh-CN" i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非对角项：</a:t>
            </a:r>
            <a:r>
              <a:rPr lang="en-US" altLang="zh-CN" dirty="0"/>
              <a:t>KS</a:t>
            </a:r>
            <a:r>
              <a:rPr lang="zh-CN" altLang="en-US" dirty="0"/>
              <a:t>势能的平面波展开系数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B33CD9-DA7E-527E-4595-76EBFFA0F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508" y="1960895"/>
            <a:ext cx="7700838" cy="3008673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EEFF7C-163F-36F5-44C2-5416C34EA0B4}"/>
              </a:ext>
            </a:extLst>
          </p:cNvPr>
          <p:cNvCxnSpPr>
            <a:cxnSpLocks/>
          </p:cNvCxnSpPr>
          <p:nvPr/>
        </p:nvCxnSpPr>
        <p:spPr>
          <a:xfrm flipV="1">
            <a:off x="9116907" y="4761654"/>
            <a:ext cx="0" cy="107696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08D1FD4-D894-B639-5B6E-4915300E9FCB}"/>
              </a:ext>
            </a:extLst>
          </p:cNvPr>
          <p:cNvSpPr txBox="1"/>
          <p:nvPr/>
        </p:nvSpPr>
        <p:spPr>
          <a:xfrm>
            <a:off x="8311343" y="5838614"/>
            <a:ext cx="190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KS</a:t>
            </a:r>
            <a:r>
              <a:rPr lang="zh-CN" altLang="en-US" dirty="0"/>
              <a:t>波函数在平面波下的展开系数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15F78B-F65F-8F97-851F-2C3F787CA2B7}"/>
              </a:ext>
            </a:extLst>
          </p:cNvPr>
          <p:cNvCxnSpPr>
            <a:cxnSpLocks/>
          </p:cNvCxnSpPr>
          <p:nvPr/>
        </p:nvCxnSpPr>
        <p:spPr>
          <a:xfrm flipV="1">
            <a:off x="7765627" y="4329489"/>
            <a:ext cx="0" cy="107696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4AD7AEC-C81C-EA6B-6172-77DA23B69755}"/>
              </a:ext>
            </a:extLst>
          </p:cNvPr>
          <p:cNvSpPr txBox="1"/>
          <p:nvPr/>
        </p:nvSpPr>
        <p:spPr>
          <a:xfrm>
            <a:off x="7014249" y="5415936"/>
            <a:ext cx="190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KS</a:t>
            </a:r>
            <a:r>
              <a:rPr lang="zh-CN" altLang="en-US" dirty="0"/>
              <a:t>能量本征值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68663C-F2CE-94E9-124A-5FCEA5382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032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98853-8A6A-89B5-D654-E31DF6C2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150408"/>
          </a:xfrm>
        </p:spPr>
        <p:txBody>
          <a:bodyPr/>
          <a:lstStyle/>
          <a:p>
            <a:r>
              <a:rPr lang="en-US" altLang="zh-CN" dirty="0"/>
              <a:t>KS</a:t>
            </a:r>
            <a:r>
              <a:rPr lang="zh-CN" altLang="en-US" dirty="0"/>
              <a:t>方程的平面波展开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C8816-73C9-ED46-16E5-367E6E18A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41" y="1058449"/>
            <a:ext cx="6221725" cy="5386192"/>
          </a:xfrm>
        </p:spPr>
        <p:txBody>
          <a:bodyPr/>
          <a:lstStyle/>
          <a:p>
            <a:r>
              <a:rPr lang="en-US" altLang="zh-CN" i="1" dirty="0"/>
              <a:t>Take a guess!</a:t>
            </a:r>
          </a:p>
          <a:p>
            <a:r>
              <a:rPr lang="zh-CN" altLang="en-US" dirty="0"/>
              <a:t>为了足够精确地求解</a:t>
            </a:r>
            <a:r>
              <a:rPr lang="en-US" altLang="zh-CN" dirty="0"/>
              <a:t>KS</a:t>
            </a:r>
            <a:r>
              <a:rPr lang="zh-CN" altLang="en-US" dirty="0"/>
              <a:t>方程，需要多少平面波？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很多！</a:t>
            </a:r>
            <a:r>
              <a:rPr lang="zh-CN" altLang="en-US" dirty="0"/>
              <a:t>对于金属铝，如果要将</a:t>
            </a:r>
            <a:r>
              <a:rPr lang="en-US" altLang="zh-CN" dirty="0"/>
              <a:t>KS</a:t>
            </a:r>
            <a:r>
              <a:rPr lang="zh-CN" altLang="en-US" dirty="0"/>
              <a:t>方程求解到与实验值相近的精度，需要约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en-US" altLang="zh-CN" baseline="30000" dirty="0">
                <a:solidFill>
                  <a:srgbClr val="FF0000"/>
                </a:solidFill>
              </a:rPr>
              <a:t>6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个平面波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为什么？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波函数在靠近核的区域快速变化，在远离核的区域缓慢变化</a:t>
            </a:r>
            <a:endParaRPr lang="en-US" altLang="zh-CN" dirty="0"/>
          </a:p>
          <a:p>
            <a:r>
              <a:rPr lang="zh-CN" altLang="en-US" dirty="0"/>
              <a:t>泡利不相容原理的后果：靠近核的区域电子多，彼此都要满足正交性，导致强烈振荡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270546-1C07-044F-2979-8C3C83BB1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593" y="1058449"/>
            <a:ext cx="4406806" cy="439858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575FCD-8848-5C4E-CA07-96DFEF356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57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FB1AB-8804-EF60-39D4-9FB41A60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082675"/>
          </a:xfrm>
        </p:spPr>
        <p:txBody>
          <a:bodyPr/>
          <a:lstStyle/>
          <a:p>
            <a:r>
              <a:rPr lang="zh-CN" altLang="en-US" dirty="0"/>
              <a:t>赝势法 </a:t>
            </a:r>
            <a:r>
              <a:rPr lang="en-US" altLang="zh-CN" dirty="0"/>
              <a:t>(pseudopotential)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16516-6BA6-E843-17CA-4039C099E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实际上，我们不太关心波函数在离核特别近的区域的行为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F1E2EF-8E17-147E-B4BE-DD326593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80" y="1903307"/>
            <a:ext cx="6917516" cy="4065270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5D42C83-E9D4-F7DE-AE46-5C6BDBCE7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060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9C2C155-0C41-481C-F6F7-45B3230F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914" y="3564066"/>
            <a:ext cx="6882447" cy="30343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38EDB1A-C142-5665-8BBB-55A1F253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1" y="136525"/>
            <a:ext cx="11793255" cy="1062355"/>
          </a:xfrm>
        </p:spPr>
        <p:txBody>
          <a:bodyPr/>
          <a:lstStyle/>
          <a:p>
            <a:r>
              <a:rPr lang="zh-CN" altLang="en-US" dirty="0"/>
              <a:t>赝势法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3755D-EE0E-A8E6-3F80-C2903D2DA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41" y="1057566"/>
            <a:ext cx="6323326" cy="4107841"/>
          </a:xfrm>
        </p:spPr>
        <p:txBody>
          <a:bodyPr/>
          <a:lstStyle/>
          <a:p>
            <a:r>
              <a:rPr lang="zh-CN" altLang="en-US" dirty="0"/>
              <a:t>可以利用公式倒推，将原子的真实势场用“赝势”来替代，确保解为赝波函数</a:t>
            </a:r>
            <a:endParaRPr lang="en-US" altLang="zh-CN" dirty="0"/>
          </a:p>
          <a:p>
            <a:r>
              <a:rPr lang="zh-CN" altLang="en-US" dirty="0"/>
              <a:t>在截止半径之外，赝势和真实势、赝波函数和真实波函数，没有任何区别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EE31C9-1EA6-B8DE-D4E9-D49111EED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26" y="323858"/>
            <a:ext cx="5405670" cy="329596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C7A225-08D9-5B44-2D0D-F89425B76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970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44A86BE-2567-EEFB-1023-8AFCBE9C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136178"/>
            <a:ext cx="10515600" cy="1003095"/>
          </a:xfrm>
        </p:spPr>
        <p:txBody>
          <a:bodyPr>
            <a:normAutofit/>
          </a:bodyPr>
          <a:lstStyle/>
          <a:p>
            <a:r>
              <a:rPr lang="zh-CN" altLang="en-US" b="1" dirty="0"/>
              <a:t>超快光致相变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FB12DA0-1049-9B2C-9537-BD2E1EDB5E99}"/>
              </a:ext>
            </a:extLst>
          </p:cNvPr>
          <p:cNvGrpSpPr/>
          <p:nvPr/>
        </p:nvGrpSpPr>
        <p:grpSpPr>
          <a:xfrm>
            <a:off x="324321" y="1162879"/>
            <a:ext cx="3393072" cy="2828925"/>
            <a:chOff x="324321" y="1162879"/>
            <a:chExt cx="3393072" cy="2828925"/>
          </a:xfrm>
        </p:grpSpPr>
        <p:pic>
          <p:nvPicPr>
            <p:cNvPr id="5" name="Content Placeholder 3">
              <a:extLst>
                <a:ext uri="{FF2B5EF4-FFF2-40B4-BE49-F238E27FC236}">
                  <a16:creationId xmlns:a16="http://schemas.microsoft.com/office/drawing/2014/main" id="{66688930-1BAA-E12E-3510-EE334352C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047" t="30121" r="21569" b="15390"/>
            <a:stretch>
              <a:fillRect/>
            </a:stretch>
          </p:blipFill>
          <p:spPr>
            <a:xfrm>
              <a:off x="836960" y="1162879"/>
              <a:ext cx="2367794" cy="238870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</p:pic>
        <p:sp>
          <p:nvSpPr>
            <p:cNvPr id="6" name="Text Box 1">
              <a:extLst>
                <a:ext uri="{FF2B5EF4-FFF2-40B4-BE49-F238E27FC236}">
                  <a16:creationId xmlns:a16="http://schemas.microsoft.com/office/drawing/2014/main" id="{F8CF06A8-C588-618E-FCA3-3595C7ECF4EC}"/>
                </a:ext>
              </a:extLst>
            </p:cNvPr>
            <p:cNvSpPr txBox="1"/>
            <p:nvPr/>
          </p:nvSpPr>
          <p:spPr>
            <a:xfrm>
              <a:off x="324321" y="3622472"/>
              <a:ext cx="339307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i="1" dirty="0">
                  <a:latin typeface="Times New Roman" panose="02020603050405020304" charset="0"/>
                  <a:cs typeface="Times New Roman" panose="02020603050405020304" charset="0"/>
                </a:rPr>
                <a:t>Science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b="1" dirty="0">
                  <a:latin typeface="Times New Roman" panose="02020603050405020304" charset="0"/>
                  <a:cs typeface="Times New Roman" panose="02020603050405020304" charset="0"/>
                </a:rPr>
                <a:t>362 (6414)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</a:rPr>
                <a:t>, pp554 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(2018)</a:t>
              </a:r>
              <a:endParaRPr 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8A1A96-7341-99DD-C11F-71C9719CF5F9}"/>
              </a:ext>
            </a:extLst>
          </p:cNvPr>
          <p:cNvGrpSpPr/>
          <p:nvPr/>
        </p:nvGrpSpPr>
        <p:grpSpPr>
          <a:xfrm>
            <a:off x="3717393" y="1129868"/>
            <a:ext cx="4455192" cy="2838331"/>
            <a:chOff x="3717393" y="1129868"/>
            <a:chExt cx="4455192" cy="283833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FBC20A2-72E3-B34C-136A-C28F42DE44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875" t="35278" r="50859" b="19306"/>
            <a:stretch/>
          </p:blipFill>
          <p:spPr>
            <a:xfrm>
              <a:off x="3920567" y="1129868"/>
              <a:ext cx="3545480" cy="243055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A53C22E-498D-A0FA-FA67-9AF36601D2B5}"/>
                </a:ext>
              </a:extLst>
            </p:cNvPr>
            <p:cNvSpPr txBox="1"/>
            <p:nvPr/>
          </p:nvSpPr>
          <p:spPr>
            <a:xfrm>
              <a:off x="3717393" y="3598867"/>
              <a:ext cx="44551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npj Computational Materials </a:t>
              </a:r>
              <a:r>
                <a:rPr lang="it-IT" b="1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43 (2019)</a:t>
              </a:r>
              <a:r>
                <a:rPr lang="it-IT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E49B87-F0E7-412E-AEE5-BBC414F3B214}"/>
              </a:ext>
            </a:extLst>
          </p:cNvPr>
          <p:cNvGrpSpPr/>
          <p:nvPr/>
        </p:nvGrpSpPr>
        <p:grpSpPr>
          <a:xfrm>
            <a:off x="377686" y="4306596"/>
            <a:ext cx="7602049" cy="2237049"/>
            <a:chOff x="377686" y="4306596"/>
            <a:chExt cx="7602049" cy="223704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CABC054-13AB-51B6-5005-1B27B84A6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686" y="4306596"/>
              <a:ext cx="7602049" cy="1749426"/>
            </a:xfrm>
            <a:prstGeom prst="rect">
              <a:avLst/>
            </a:prstGeom>
          </p:spPr>
        </p:pic>
        <p:sp>
          <p:nvSpPr>
            <p:cNvPr id="10" name="Text Box 1">
              <a:extLst>
                <a:ext uri="{FF2B5EF4-FFF2-40B4-BE49-F238E27FC236}">
                  <a16:creationId xmlns:a16="http://schemas.microsoft.com/office/drawing/2014/main" id="{DAAFAFEC-7EE6-B327-48A7-079F029580FC}"/>
                </a:ext>
              </a:extLst>
            </p:cNvPr>
            <p:cNvSpPr txBox="1"/>
            <p:nvPr/>
          </p:nvSpPr>
          <p:spPr>
            <a:xfrm>
              <a:off x="470094" y="6174313"/>
              <a:ext cx="339307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fr-FR" altLang="zh-CN" b="0" i="1" dirty="0">
                  <a:solidFill>
                    <a:srgbClr val="222222"/>
                  </a:solidFill>
                  <a:effectLst/>
                  <a:latin typeface="-apple-system"/>
                </a:rPr>
                <a:t>Nature Phys</a:t>
              </a:r>
              <a:r>
                <a:rPr lang="fr-FR" altLang="zh-CN" b="0" i="0" dirty="0">
                  <a:solidFill>
                    <a:srgbClr val="222222"/>
                  </a:solidFill>
                  <a:effectLst/>
                  <a:latin typeface="-apple-system"/>
                </a:rPr>
                <a:t> </a:t>
              </a:r>
              <a:r>
                <a:rPr lang="fr-FR" altLang="zh-CN" b="1" i="0" dirty="0">
                  <a:solidFill>
                    <a:srgbClr val="222222"/>
                  </a:solidFill>
                  <a:effectLst/>
                  <a:latin typeface="-apple-system"/>
                </a:rPr>
                <a:t>15</a:t>
              </a:r>
              <a:r>
                <a:rPr lang="fr-FR" altLang="zh-CN" b="0" i="0" dirty="0">
                  <a:solidFill>
                    <a:srgbClr val="222222"/>
                  </a:solidFill>
                  <a:effectLst/>
                  <a:latin typeface="-apple-system"/>
                </a:rPr>
                <a:t>, 27–31 (2019)</a:t>
              </a:r>
              <a:endParaRPr 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861AEA3-1F82-95A9-17BB-6C022FF09F46}"/>
              </a:ext>
            </a:extLst>
          </p:cNvPr>
          <p:cNvGrpSpPr/>
          <p:nvPr/>
        </p:nvGrpSpPr>
        <p:grpSpPr>
          <a:xfrm>
            <a:off x="8139327" y="1244107"/>
            <a:ext cx="3674987" cy="3416354"/>
            <a:chOff x="8139327" y="1244107"/>
            <a:chExt cx="3674987" cy="341635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1AD7F43-4CFE-9120-87E0-99C267888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9327" y="1244107"/>
              <a:ext cx="3674987" cy="3062489"/>
            </a:xfrm>
            <a:prstGeom prst="rect">
              <a:avLst/>
            </a:prstGeom>
          </p:spPr>
        </p:pic>
        <p:sp>
          <p:nvSpPr>
            <p:cNvPr id="12" name="Text Box 1">
              <a:extLst>
                <a:ext uri="{FF2B5EF4-FFF2-40B4-BE49-F238E27FC236}">
                  <a16:creationId xmlns:a16="http://schemas.microsoft.com/office/drawing/2014/main" id="{89382396-BF8B-5064-9ADC-05A1C0CFA21B}"/>
                </a:ext>
              </a:extLst>
            </p:cNvPr>
            <p:cNvSpPr txBox="1"/>
            <p:nvPr/>
          </p:nvSpPr>
          <p:spPr>
            <a:xfrm>
              <a:off x="8139327" y="4291129"/>
              <a:ext cx="339307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i="1" dirty="0">
                  <a:latin typeface="Times New Roman" panose="02020603050405020304" charset="0"/>
                  <a:cs typeface="Times New Roman" panose="02020603050405020304" charset="0"/>
                </a:rPr>
                <a:t>Science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b="1" dirty="0">
                  <a:latin typeface="Times New Roman" panose="02020603050405020304" charset="0"/>
                  <a:cs typeface="Times New Roman" panose="02020603050405020304" charset="0"/>
                </a:rPr>
                <a:t>362 (6414)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</a:rPr>
                <a:t>, pp821 </a:t>
              </a:r>
              <a:r>
                <a:rPr lang="en-US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(2018)</a:t>
              </a:r>
              <a:endParaRPr lang="en-US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848EA9F-8479-4C53-EA1C-37A1B57E14D4}"/>
              </a:ext>
            </a:extLst>
          </p:cNvPr>
          <p:cNvSpPr txBox="1"/>
          <p:nvPr/>
        </p:nvSpPr>
        <p:spPr>
          <a:xfrm>
            <a:off x="7552186" y="5091696"/>
            <a:ext cx="4455191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/>
              <a:t>Ultrafast:</a:t>
            </a:r>
            <a:r>
              <a:rPr lang="zh-CN" altLang="en-US" sz="2400" b="1"/>
              <a:t> </a:t>
            </a:r>
            <a:r>
              <a:rPr lang="en-US" altLang="zh-CN" sz="2400"/>
              <a:t>10</a:t>
            </a:r>
            <a:r>
              <a:rPr lang="en-US" altLang="zh-CN" sz="2400" baseline="30000"/>
              <a:t>1</a:t>
            </a:r>
            <a:r>
              <a:rPr lang="en-US" altLang="zh-CN" sz="2400"/>
              <a:t>~10</a:t>
            </a:r>
            <a:r>
              <a:rPr lang="en-US" altLang="zh-CN" sz="2400" baseline="30000"/>
              <a:t>2</a:t>
            </a:r>
            <a:r>
              <a:rPr lang="zh-CN" altLang="en-US" sz="2400"/>
              <a:t> </a:t>
            </a:r>
            <a:r>
              <a:rPr lang="en-US" altLang="zh-CN" sz="2400"/>
              <a:t>femtosecond</a:t>
            </a:r>
          </a:p>
          <a:p>
            <a:r>
              <a:rPr lang="en-US" altLang="zh-CN" sz="2400"/>
              <a:t>(10</a:t>
            </a:r>
            <a:r>
              <a:rPr lang="en-US" altLang="zh-CN" sz="2400" baseline="30000"/>
              <a:t>-14</a:t>
            </a:r>
            <a:r>
              <a:rPr lang="en-US" altLang="zh-CN" sz="2400"/>
              <a:t>~10</a:t>
            </a:r>
            <a:r>
              <a:rPr lang="en-US" altLang="zh-CN" sz="2400" baseline="30000"/>
              <a:t>-13</a:t>
            </a:r>
            <a:r>
              <a:rPr lang="en-US" altLang="zh-CN" sz="2400"/>
              <a:t> second)</a:t>
            </a:r>
          </a:p>
          <a:p>
            <a:r>
              <a:rPr lang="en-US" altLang="zh-CN" sz="2400" b="1"/>
              <a:t>Low-power: </a:t>
            </a:r>
            <a:r>
              <a:rPr lang="en-US" altLang="zh-CN" sz="2400"/>
              <a:t>10</a:t>
            </a:r>
            <a:r>
              <a:rPr lang="en-US" altLang="zh-CN" sz="2400" baseline="30000"/>
              <a:t>0</a:t>
            </a:r>
            <a:r>
              <a:rPr lang="en-US" altLang="zh-CN" sz="2400"/>
              <a:t>~10</a:t>
            </a:r>
            <a:r>
              <a:rPr lang="en-US" altLang="zh-CN" sz="2400" baseline="30000"/>
              <a:t>2</a:t>
            </a:r>
            <a:r>
              <a:rPr lang="en-US" altLang="zh-CN" sz="2400"/>
              <a:t> mJ/cm</a:t>
            </a:r>
            <a:r>
              <a:rPr lang="en-US" altLang="zh-CN" sz="2400" baseline="30000"/>
              <a:t>3</a:t>
            </a:r>
          </a:p>
          <a:p>
            <a:r>
              <a:rPr lang="en-US" altLang="zh-CN" sz="2400" b="1"/>
              <a:t>Non-thermal:</a:t>
            </a:r>
            <a:r>
              <a:rPr lang="zh-CN" altLang="en-US" sz="2400" b="1"/>
              <a:t> </a:t>
            </a:r>
            <a:r>
              <a:rPr lang="en-US" altLang="zh-CN" sz="2400"/>
              <a:t>T &lt;&lt; T</a:t>
            </a:r>
            <a:r>
              <a:rPr lang="en-US" altLang="zh-CN" sz="2400" baseline="-25000"/>
              <a:t>C</a:t>
            </a:r>
            <a:endParaRPr lang="zh-CN" altLang="en-US" sz="2400" baseline="-25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69358CB-F112-157B-E36C-28839F092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518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667DF0E-59C8-B565-06C4-8E8E3D63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136179"/>
            <a:ext cx="10515600" cy="1096568"/>
          </a:xfrm>
        </p:spPr>
        <p:txBody>
          <a:bodyPr>
            <a:normAutofit/>
          </a:bodyPr>
          <a:lstStyle/>
          <a:p>
            <a:r>
              <a:rPr lang="zh-CN" altLang="en-US" b="1" dirty="0"/>
              <a:t>高次谐波与阿秒脉冲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5F897E-5763-F8AA-81BE-2D19D8C5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11" y="1314107"/>
            <a:ext cx="7339325" cy="4229786"/>
          </a:xfrm>
          <a:prstGeom prst="rect">
            <a:avLst/>
          </a:prstGeom>
        </p:spPr>
      </p:pic>
      <p:pic>
        <p:nvPicPr>
          <p:cNvPr id="2050" name="Picture 2" descr="2023诺贝尔物理学奖揭晓！了解阿秒脉冲的前世今生_澎湃号·政务_澎湃新闻-The Paper">
            <a:extLst>
              <a:ext uri="{FF2B5EF4-FFF2-40B4-BE49-F238E27FC236}">
                <a16:creationId xmlns:a16="http://schemas.microsoft.com/office/drawing/2014/main" id="{5409A12C-4CE8-E341-10D9-D8C11D05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64" y="1171575"/>
            <a:ext cx="451485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2C757F-49DD-0D52-9DAC-2D5F1EA50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43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5C5A125-D838-3DCC-89F5-E7EA710A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136179"/>
            <a:ext cx="10515600" cy="1110114"/>
          </a:xfrm>
        </p:spPr>
        <p:txBody>
          <a:bodyPr>
            <a:normAutofit/>
          </a:bodyPr>
          <a:lstStyle/>
          <a:p>
            <a:r>
              <a:rPr lang="zh-CN" altLang="en-US" b="1" dirty="0"/>
              <a:t>超快退磁与自旋动力学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B9D3888-6A2E-0C04-E82A-5C11DA7EE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20" y="1532971"/>
            <a:ext cx="7702446" cy="43021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C6842D-DF1B-CEAE-A4A0-761EABE5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878" y="3686881"/>
            <a:ext cx="3348662" cy="31711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8D59E42-D404-3785-3775-1F73A2A3E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398" y="229028"/>
            <a:ext cx="3055334" cy="3454999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68669E9-7794-C627-16F1-E94CC3802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9119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08368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762546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1828180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6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26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DA32C9-487A-4F14-9D2A-F20231C7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595" y="8960"/>
            <a:ext cx="5410731" cy="4886045"/>
          </a:xfrm>
        </p:spPr>
        <p:txBody>
          <a:bodyPr/>
          <a:lstStyle/>
          <a:p>
            <a:r>
              <a:rPr lang="en-US" altLang="zh-CN" b="1" dirty="0"/>
              <a:t>The conventional algorithm</a:t>
            </a:r>
            <a:endParaRPr lang="zh-CN" altLang="en-US" b="1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AE58AED-F7F0-4A56-A8A9-95AC42995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0836" y="8960"/>
            <a:ext cx="5181600" cy="4886045"/>
          </a:xfrm>
        </p:spPr>
        <p:txBody>
          <a:bodyPr/>
          <a:lstStyle/>
          <a:p>
            <a:r>
              <a:rPr lang="en-US" altLang="zh-CN" b="1" dirty="0"/>
              <a:t>Our algorithm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C6EA2F5-DEA0-4902-A81C-4210086827BA}"/>
                  </a:ext>
                </a:extLst>
              </p:cNvPr>
              <p:cNvSpPr/>
              <p:nvPr/>
            </p:nvSpPr>
            <p:spPr>
              <a:xfrm>
                <a:off x="1385047" y="1552018"/>
                <a:ext cx="1161551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C6EA2F5-DEA0-4902-A81C-421008682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47" y="1552018"/>
                <a:ext cx="1161551" cy="5468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0664E9-8EE5-43E1-B77C-AC8507F14945}"/>
                  </a:ext>
                </a:extLst>
              </p:cNvPr>
              <p:cNvSpPr/>
              <p:nvPr/>
            </p:nvSpPr>
            <p:spPr>
              <a:xfrm>
                <a:off x="2091271" y="2444144"/>
                <a:ext cx="1283983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0664E9-8EE5-43E1-B77C-AC8507F14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271" y="2444144"/>
                <a:ext cx="1283983" cy="546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07E111E8-4276-4BA9-958F-2F7AB70B4C98}"/>
                  </a:ext>
                </a:extLst>
              </p:cNvPr>
              <p:cNvSpPr/>
              <p:nvPr/>
            </p:nvSpPr>
            <p:spPr>
              <a:xfrm>
                <a:off x="809684" y="672129"/>
                <a:ext cx="1161551" cy="546847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zh-CN" altLang="zh-CN" b="1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𝐢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07E111E8-4276-4BA9-958F-2F7AB70B4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84" y="672129"/>
                <a:ext cx="1161551" cy="546847"/>
              </a:xfrm>
              <a:prstGeom prst="parallelogram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17E5B89-A513-4A17-9440-C4237D3BE8CF}"/>
                  </a:ext>
                </a:extLst>
              </p:cNvPr>
              <p:cNvSpPr/>
              <p:nvPr/>
            </p:nvSpPr>
            <p:spPr>
              <a:xfrm>
                <a:off x="367285" y="2444145"/>
                <a:ext cx="1468646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zh-CN" altLang="zh-CN" b="1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𝐢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17E5B89-A513-4A17-9440-C4237D3BE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5" y="2444145"/>
                <a:ext cx="1468646" cy="546847"/>
              </a:xfrm>
              <a:prstGeom prst="rect">
                <a:avLst/>
              </a:prstGeom>
              <a:blipFill>
                <a:blip r:embed="rId5"/>
                <a:stretch>
                  <a:fillRect l="-3689" t="-88172" r="-13525" b="-130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6068E007-498D-4BF2-BE78-7C7DE44A7CAB}"/>
              </a:ext>
            </a:extLst>
          </p:cNvPr>
          <p:cNvSpPr/>
          <p:nvPr/>
        </p:nvSpPr>
        <p:spPr>
          <a:xfrm>
            <a:off x="234633" y="508430"/>
            <a:ext cx="3285946" cy="262025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F035F13-68EA-493A-B88A-6E0E17E61041}"/>
              </a:ext>
            </a:extLst>
          </p:cNvPr>
          <p:cNvSpPr txBox="1"/>
          <p:nvPr/>
        </p:nvSpPr>
        <p:spPr>
          <a:xfrm>
            <a:off x="3546649" y="2279955"/>
            <a:ext cx="1809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Solve H</a:t>
            </a:r>
          </a:p>
          <a:p>
            <a:r>
              <a:rPr lang="en-US" altLang="zh-CN" b="1" dirty="0"/>
              <a:t>every 10</a:t>
            </a:r>
            <a:r>
              <a:rPr lang="en-US" altLang="zh-CN" b="1" baseline="30000" dirty="0"/>
              <a:t>-19</a:t>
            </a:r>
            <a:r>
              <a:rPr lang="en-US" altLang="zh-CN" b="1" dirty="0"/>
              <a:t> s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(0.1 atto-second)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B7DBE69-16A2-4A88-8366-8259F84727B7}"/>
                  </a:ext>
                </a:extLst>
              </p:cNvPr>
              <p:cNvSpPr/>
              <p:nvPr/>
            </p:nvSpPr>
            <p:spPr>
              <a:xfrm>
                <a:off x="6837590" y="1398557"/>
                <a:ext cx="1228166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B7DBE69-16A2-4A88-8366-8259F8472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590" y="1398557"/>
                <a:ext cx="1228166" cy="5468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F585006E-99F7-47B2-8C07-1387221BF1A9}"/>
                  </a:ext>
                </a:extLst>
              </p:cNvPr>
              <p:cNvSpPr/>
              <p:nvPr/>
            </p:nvSpPr>
            <p:spPr>
              <a:xfrm>
                <a:off x="6836279" y="2194774"/>
                <a:ext cx="1228166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F585006E-99F7-47B2-8C07-1387221BF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279" y="2194774"/>
                <a:ext cx="1228166" cy="546847"/>
              </a:xfrm>
              <a:prstGeom prst="rect">
                <a:avLst/>
              </a:prstGeom>
              <a:blipFill>
                <a:blip r:embed="rId7"/>
                <a:stretch>
                  <a:fillRect t="-83871" r="-20000" b="-126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流程图: 数据 36">
                <a:extLst>
                  <a:ext uri="{FF2B5EF4-FFF2-40B4-BE49-F238E27FC236}">
                    <a16:creationId xmlns:a16="http://schemas.microsoft.com/office/drawing/2014/main" id="{F8BB9CF3-DE06-4373-86EC-3ECCC8EF84C2}"/>
                  </a:ext>
                </a:extLst>
              </p:cNvPr>
              <p:cNvSpPr/>
              <p:nvPr/>
            </p:nvSpPr>
            <p:spPr>
              <a:xfrm>
                <a:off x="6473825" y="648012"/>
                <a:ext cx="1066804" cy="546847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zh-CN" altLang="zh-CN" b="1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𝐢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流程图: 数据 36">
                <a:extLst>
                  <a:ext uri="{FF2B5EF4-FFF2-40B4-BE49-F238E27FC236}">
                    <a16:creationId xmlns:a16="http://schemas.microsoft.com/office/drawing/2014/main" id="{F8BB9CF3-DE06-4373-86EC-3ECCC8EF8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825" y="648012"/>
                <a:ext cx="1066804" cy="546847"/>
              </a:xfrm>
              <a:prstGeom prst="flowChartInputOutpu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22DFD62D-4629-4B8A-85E1-DE9FC7D85F71}"/>
              </a:ext>
            </a:extLst>
          </p:cNvPr>
          <p:cNvSpPr txBox="1"/>
          <p:nvPr/>
        </p:nvSpPr>
        <p:spPr>
          <a:xfrm>
            <a:off x="8708212" y="185461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Initial guess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1A2DB40-7455-4078-9EC9-BCE713260213}"/>
                  </a:ext>
                </a:extLst>
              </p:cNvPr>
              <p:cNvSpPr/>
              <p:nvPr/>
            </p:nvSpPr>
            <p:spPr>
              <a:xfrm>
                <a:off x="8492467" y="2982476"/>
                <a:ext cx="1694333" cy="5468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1A2DB40-7455-4078-9EC9-BCE713260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467" y="2982476"/>
                <a:ext cx="1694333" cy="5468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66E1E87-0D80-4489-8FED-B6F1C80CF633}"/>
                  </a:ext>
                </a:extLst>
              </p:cNvPr>
              <p:cNvSpPr/>
              <p:nvPr/>
            </p:nvSpPr>
            <p:spPr>
              <a:xfrm>
                <a:off x="7688618" y="3764009"/>
                <a:ext cx="1228166" cy="5468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66E1E87-0D80-4489-8FED-B6F1C80CF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618" y="3764009"/>
                <a:ext cx="1228166" cy="5468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9744460-A0C7-4885-B720-64D0D68F9D9E}"/>
                  </a:ext>
                </a:extLst>
              </p:cNvPr>
              <p:cNvSpPr/>
              <p:nvPr/>
            </p:nvSpPr>
            <p:spPr>
              <a:xfrm>
                <a:off x="7624204" y="5353650"/>
                <a:ext cx="1356996" cy="5468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9744460-A0C7-4885-B720-64D0D68F9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04" y="5353650"/>
                <a:ext cx="1356996" cy="546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流程图: 决策 45">
                <a:extLst>
                  <a:ext uri="{FF2B5EF4-FFF2-40B4-BE49-F238E27FC236}">
                    <a16:creationId xmlns:a16="http://schemas.microsoft.com/office/drawing/2014/main" id="{26AA1643-6F68-4916-AE16-E719044B2818}"/>
                  </a:ext>
                </a:extLst>
              </p:cNvPr>
              <p:cNvSpPr/>
              <p:nvPr/>
            </p:nvSpPr>
            <p:spPr>
              <a:xfrm>
                <a:off x="9243691" y="5305372"/>
                <a:ext cx="1714076" cy="643401"/>
              </a:xfrm>
              <a:prstGeom prst="flowChartDecision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</a:rPr>
                  <a:t>?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流程图: 决策 45">
                <a:extLst>
                  <a:ext uri="{FF2B5EF4-FFF2-40B4-BE49-F238E27FC236}">
                    <a16:creationId xmlns:a16="http://schemas.microsoft.com/office/drawing/2014/main" id="{26AA1643-6F68-4916-AE16-E719044B2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91" y="5305372"/>
                <a:ext cx="1714076" cy="643401"/>
              </a:xfrm>
              <a:prstGeom prst="flowChartDecision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B9BC3AEA-34D5-4374-B4FA-64F2EC4B94C3}"/>
                  </a:ext>
                </a:extLst>
              </p:cNvPr>
              <p:cNvSpPr/>
              <p:nvPr/>
            </p:nvSpPr>
            <p:spPr>
              <a:xfrm>
                <a:off x="2013198" y="672129"/>
                <a:ext cx="1161551" cy="546847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B9BC3AEA-34D5-4374-B4FA-64F2EC4B9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198" y="672129"/>
                <a:ext cx="1161551" cy="546847"/>
              </a:xfrm>
              <a:prstGeom prst="parallelogram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平行四边形 74">
                <a:extLst>
                  <a:ext uri="{FF2B5EF4-FFF2-40B4-BE49-F238E27FC236}">
                    <a16:creationId xmlns:a16="http://schemas.microsoft.com/office/drawing/2014/main" id="{2280CBD4-D288-46FA-B407-7B855659D625}"/>
                  </a:ext>
                </a:extLst>
              </p:cNvPr>
              <p:cNvSpPr/>
              <p:nvPr/>
            </p:nvSpPr>
            <p:spPr>
              <a:xfrm>
                <a:off x="7624204" y="646762"/>
                <a:ext cx="1161551" cy="546847"/>
              </a:xfrm>
              <a:prstGeom prst="parallelogram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5" name="平行四边形 74">
                <a:extLst>
                  <a:ext uri="{FF2B5EF4-FFF2-40B4-BE49-F238E27FC236}">
                    <a16:creationId xmlns:a16="http://schemas.microsoft.com/office/drawing/2014/main" id="{2280CBD4-D288-46FA-B407-7B855659D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04" y="646762"/>
                <a:ext cx="1161551" cy="546847"/>
              </a:xfrm>
              <a:prstGeom prst="parallelogram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5D2C72AB-A1A2-48E1-8E1A-604A9FA6FF7F}"/>
                  </a:ext>
                </a:extLst>
              </p:cNvPr>
              <p:cNvSpPr/>
              <p:nvPr/>
            </p:nvSpPr>
            <p:spPr>
              <a:xfrm>
                <a:off x="7630520" y="4494022"/>
                <a:ext cx="1344361" cy="5468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5D2C72AB-A1A2-48E1-8E1A-604A9FA6F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520" y="4494022"/>
                <a:ext cx="1344361" cy="5468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2D48497D-0D03-4F8B-A787-36E4F5A407D5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 rot="5400000">
            <a:off x="7326333" y="2069434"/>
            <a:ext cx="249370" cy="13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061B4F9C-7D81-4D17-B7CE-ECD6C703654B}"/>
              </a:ext>
            </a:extLst>
          </p:cNvPr>
          <p:cNvCxnSpPr>
            <a:cxnSpLocks/>
            <a:stCxn id="75" idx="4"/>
            <a:endCxn id="35" idx="0"/>
          </p:cNvCxnSpPr>
          <p:nvPr/>
        </p:nvCxnSpPr>
        <p:spPr>
          <a:xfrm rot="5400000">
            <a:off x="7725853" y="919430"/>
            <a:ext cx="204948" cy="7533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4AACA79-BE49-4E1C-A73E-EEFA3F67CEEE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rot="16200000" flipH="1">
            <a:off x="8274571" y="1917412"/>
            <a:ext cx="240855" cy="18892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E2F9119F-3779-4C8E-AA4D-8AF43C50C078}"/>
              </a:ext>
            </a:extLst>
          </p:cNvPr>
          <p:cNvCxnSpPr>
            <a:cxnSpLocks/>
            <a:stCxn id="93" idx="4"/>
            <a:endCxn id="40" idx="0"/>
          </p:cNvCxnSpPr>
          <p:nvPr/>
        </p:nvCxnSpPr>
        <p:spPr>
          <a:xfrm rot="5400000">
            <a:off x="9578302" y="2492921"/>
            <a:ext cx="250888" cy="728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平行四边形 92">
                <a:extLst>
                  <a:ext uri="{FF2B5EF4-FFF2-40B4-BE49-F238E27FC236}">
                    <a16:creationId xmlns:a16="http://schemas.microsoft.com/office/drawing/2014/main" id="{465D1F06-B516-4B98-A004-131BF9185110}"/>
                  </a:ext>
                </a:extLst>
              </p:cNvPr>
              <p:cNvSpPr/>
              <p:nvPr/>
            </p:nvSpPr>
            <p:spPr>
              <a:xfrm>
                <a:off x="9195877" y="2184741"/>
                <a:ext cx="1743960" cy="546847"/>
              </a:xfrm>
              <a:prstGeom prst="parallelogram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平行四边形 92">
                <a:extLst>
                  <a:ext uri="{FF2B5EF4-FFF2-40B4-BE49-F238E27FC236}">
                    <a16:creationId xmlns:a16="http://schemas.microsoft.com/office/drawing/2014/main" id="{465D1F06-B516-4B98-A004-131BF9185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877" y="2184741"/>
                <a:ext cx="1743960" cy="546847"/>
              </a:xfrm>
              <a:prstGeom prst="parallelogram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887BDDD-B216-4019-AF13-0B54EFA2C122}"/>
              </a:ext>
            </a:extLst>
          </p:cNvPr>
          <p:cNvCxnSpPr>
            <a:cxnSpLocks/>
            <a:stCxn id="41" idx="2"/>
            <a:endCxn id="76" idx="0"/>
          </p:cNvCxnSpPr>
          <p:nvPr/>
        </p:nvCxnSpPr>
        <p:spPr>
          <a:xfrm>
            <a:off x="8302701" y="4310856"/>
            <a:ext cx="0" cy="18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0A1993D9-98CC-4318-BC57-34F137A6008F}"/>
              </a:ext>
            </a:extLst>
          </p:cNvPr>
          <p:cNvCxnSpPr>
            <a:cxnSpLocks/>
            <a:stCxn id="76" idx="2"/>
            <a:endCxn id="45" idx="0"/>
          </p:cNvCxnSpPr>
          <p:nvPr/>
        </p:nvCxnSpPr>
        <p:spPr>
          <a:xfrm rot="16200000" flipH="1">
            <a:off x="8146311" y="5197258"/>
            <a:ext cx="31278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62406266-F96D-4B75-9CE7-7C4D03B881D3}"/>
              </a:ext>
            </a:extLst>
          </p:cNvPr>
          <p:cNvCxnSpPr>
            <a:cxnSpLocks/>
            <a:stCxn id="37" idx="2"/>
            <a:endCxn id="45" idx="0"/>
          </p:cNvCxnSpPr>
          <p:nvPr/>
        </p:nvCxnSpPr>
        <p:spPr>
          <a:xfrm rot="10800000" flipH="1" flipV="1">
            <a:off x="6580504" y="921436"/>
            <a:ext cx="1722197" cy="4432214"/>
          </a:xfrm>
          <a:prstGeom prst="bentConnector4">
            <a:avLst>
              <a:gd name="adj1" fmla="val -13274"/>
              <a:gd name="adj2" fmla="val 969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FBDFB841-409E-4EBC-9460-CD7DF7A59D0B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8981200" y="5627073"/>
            <a:ext cx="2624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94FEDBF5-323D-4C8F-BBDC-B37925C0EF5B}"/>
              </a:ext>
            </a:extLst>
          </p:cNvPr>
          <p:cNvCxnSpPr>
            <a:cxnSpLocks/>
            <a:stCxn id="46" idx="2"/>
            <a:endCxn id="120" idx="0"/>
          </p:cNvCxnSpPr>
          <p:nvPr/>
        </p:nvCxnSpPr>
        <p:spPr>
          <a:xfrm flipH="1">
            <a:off x="10092671" y="5948773"/>
            <a:ext cx="8058" cy="15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8E4E334F-F00C-4D2C-94CB-D7B920AB0EE7}"/>
                  </a:ext>
                </a:extLst>
              </p:cNvPr>
              <p:cNvSpPr/>
              <p:nvPr/>
            </p:nvSpPr>
            <p:spPr>
              <a:xfrm>
                <a:off x="9245504" y="6107855"/>
                <a:ext cx="1694333" cy="546847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zh-CN" altLang="zh-CN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8E4E334F-F00C-4D2C-94CB-D7B920AB0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504" y="6107855"/>
                <a:ext cx="1694333" cy="5468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矩形 122">
            <a:extLst>
              <a:ext uri="{FF2B5EF4-FFF2-40B4-BE49-F238E27FC236}">
                <a16:creationId xmlns:a16="http://schemas.microsoft.com/office/drawing/2014/main" id="{F6DEE015-9B62-43DE-8325-7FE0B10B124D}"/>
              </a:ext>
            </a:extLst>
          </p:cNvPr>
          <p:cNvSpPr/>
          <p:nvPr/>
        </p:nvSpPr>
        <p:spPr>
          <a:xfrm>
            <a:off x="6111802" y="502018"/>
            <a:ext cx="5233033" cy="619461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BC52C88A-632A-4438-8100-A1CBEB935D68}"/>
              </a:ext>
            </a:extLst>
          </p:cNvPr>
          <p:cNvSpPr/>
          <p:nvPr/>
        </p:nvSpPr>
        <p:spPr>
          <a:xfrm>
            <a:off x="7540629" y="3714582"/>
            <a:ext cx="1542418" cy="136564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8298E173-D644-48C0-8012-12F472F08626}"/>
              </a:ext>
            </a:extLst>
          </p:cNvPr>
          <p:cNvSpPr txBox="1"/>
          <p:nvPr/>
        </p:nvSpPr>
        <p:spPr>
          <a:xfrm>
            <a:off x="9120039" y="3955224"/>
            <a:ext cx="1557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Inner </a:t>
            </a:r>
            <a:r>
              <a:rPr lang="en-US" altLang="zh-CN" sz="1400" b="1" dirty="0" err="1"/>
              <a:t>iter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r>
              <a:rPr lang="en-US" altLang="zh-CN" sz="1400" b="1" dirty="0"/>
              <a:t>Solve a small H</a:t>
            </a:r>
          </a:p>
          <a:p>
            <a:r>
              <a:rPr lang="en-US" altLang="zh-CN" sz="1400" b="1" dirty="0"/>
              <a:t>every 0.1~1 as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D551CC7-6813-4F63-85D2-B106820EE427}"/>
              </a:ext>
            </a:extLst>
          </p:cNvPr>
          <p:cNvSpPr txBox="1"/>
          <p:nvPr/>
        </p:nvSpPr>
        <p:spPr>
          <a:xfrm rot="16200000">
            <a:off x="10278663" y="3829682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“Leap-frog”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5D7ABB-97F7-4143-8523-42C0A775A48C}"/>
              </a:ext>
            </a:extLst>
          </p:cNvPr>
          <p:cNvSpPr txBox="1"/>
          <p:nvPr/>
        </p:nvSpPr>
        <p:spPr>
          <a:xfrm>
            <a:off x="662834" y="5742523"/>
            <a:ext cx="5348002" cy="95410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r>
              <a:rPr lang="en-US" altLang="zh-CN" sz="2800" b="1" baseline="30000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 times faster!</a:t>
            </a:r>
          </a:p>
          <a:p>
            <a:pPr algn="r"/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Can simulate picosecond dynamics</a:t>
            </a:r>
            <a:endParaRPr lang="zh-CN" altLang="en-US" sz="2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E0D63B65-CCAA-4564-A523-EED59D5FA410}"/>
              </a:ext>
            </a:extLst>
          </p:cNvPr>
          <p:cNvCxnSpPr>
            <a:cxnSpLocks/>
            <a:stCxn id="37" idx="3"/>
            <a:endCxn id="35" idx="0"/>
          </p:cNvCxnSpPr>
          <p:nvPr/>
        </p:nvCxnSpPr>
        <p:spPr>
          <a:xfrm rot="16200000" flipH="1">
            <a:off x="7074261" y="1021145"/>
            <a:ext cx="203698" cy="5511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连接符: 肘形 134">
            <a:extLst>
              <a:ext uri="{FF2B5EF4-FFF2-40B4-BE49-F238E27FC236}">
                <a16:creationId xmlns:a16="http://schemas.microsoft.com/office/drawing/2014/main" id="{A2FD6D69-280E-47F3-9CBD-D3F88793AE9B}"/>
              </a:ext>
            </a:extLst>
          </p:cNvPr>
          <p:cNvCxnSpPr>
            <a:cxnSpLocks/>
            <a:stCxn id="35" idx="1"/>
            <a:endCxn id="41" idx="0"/>
          </p:cNvCxnSpPr>
          <p:nvPr/>
        </p:nvCxnSpPr>
        <p:spPr>
          <a:xfrm rot="10800000" flipH="1" flipV="1">
            <a:off x="6837589" y="1671981"/>
            <a:ext cx="1465111" cy="2092028"/>
          </a:xfrm>
          <a:prstGeom prst="bentConnector4">
            <a:avLst>
              <a:gd name="adj1" fmla="val -15603"/>
              <a:gd name="adj2" fmla="val 929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9AA46D5-63A3-4AFA-8AE4-1F1EED6F7732}"/>
              </a:ext>
            </a:extLst>
          </p:cNvPr>
          <p:cNvSpPr txBox="1"/>
          <p:nvPr/>
        </p:nvSpPr>
        <p:spPr>
          <a:xfrm>
            <a:off x="6603372" y="3281638"/>
            <a:ext cx="2032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The linear approach</a:t>
            </a:r>
            <a:endParaRPr lang="zh-CN" altLang="en-US" sz="1600" b="1" dirty="0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F7404E06-03A5-4F4D-9E02-A9A9B1BB7327}"/>
              </a:ext>
            </a:extLst>
          </p:cNvPr>
          <p:cNvCxnSpPr>
            <a:stCxn id="10" idx="4"/>
            <a:endCxn id="6" idx="0"/>
          </p:cNvCxnSpPr>
          <p:nvPr/>
        </p:nvCxnSpPr>
        <p:spPr>
          <a:xfrm rot="16200000" flipH="1">
            <a:off x="1511620" y="1097815"/>
            <a:ext cx="333042" cy="5753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1B4DFAA4-D638-4BB2-A4FB-4D14D613412C}"/>
              </a:ext>
            </a:extLst>
          </p:cNvPr>
          <p:cNvCxnSpPr>
            <a:cxnSpLocks/>
            <a:stCxn id="47" idx="4"/>
            <a:endCxn id="6" idx="0"/>
          </p:cNvCxnSpPr>
          <p:nvPr/>
        </p:nvCxnSpPr>
        <p:spPr>
          <a:xfrm rot="5400000">
            <a:off x="2113378" y="1071422"/>
            <a:ext cx="333042" cy="6281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3C27576-7DE7-44B0-A6E6-FB119EA20246}"/>
              </a:ext>
            </a:extLst>
          </p:cNvPr>
          <p:cNvCxnSpPr>
            <a:cxnSpLocks/>
            <a:endCxn id="12" idx="0"/>
          </p:cNvCxnSpPr>
          <p:nvPr/>
        </p:nvCxnSpPr>
        <p:spPr>
          <a:xfrm rot="16200000" flipH="1">
            <a:off x="487796" y="1830333"/>
            <a:ext cx="1225168" cy="2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9A4989A4-F9E7-4F08-A440-4C3BF1C58A15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5400000">
            <a:off x="1361076" y="1839398"/>
            <a:ext cx="345280" cy="8642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F1FB182F-BBA2-433F-8AFC-F916B9A7AA15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2088418" y="1792331"/>
            <a:ext cx="1296659" cy="69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FDCD97B9-9082-40E4-BA37-FAE9F20900B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2176904" y="1887784"/>
            <a:ext cx="345279" cy="7674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A31BACAA-0E52-4066-82E8-3AE06D043720}"/>
              </a:ext>
            </a:extLst>
          </p:cNvPr>
          <p:cNvCxnSpPr>
            <a:cxnSpLocks/>
            <a:stCxn id="75" idx="4"/>
            <a:endCxn id="36" idx="0"/>
          </p:cNvCxnSpPr>
          <p:nvPr/>
        </p:nvCxnSpPr>
        <p:spPr>
          <a:xfrm rot="5400000">
            <a:off x="7327089" y="1316882"/>
            <a:ext cx="1001165" cy="754618"/>
          </a:xfrm>
          <a:prstGeom prst="bentConnector3">
            <a:avLst>
              <a:gd name="adj1" fmla="val 876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A504978B-AF6D-4967-8A0F-FC6C1D1E13FE}"/>
                  </a:ext>
                </a:extLst>
              </p:cNvPr>
              <p:cNvSpPr/>
              <p:nvPr/>
            </p:nvSpPr>
            <p:spPr>
              <a:xfrm>
                <a:off x="1262019" y="3377499"/>
                <a:ext cx="1331954" cy="5468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A504978B-AF6D-4967-8A0F-FC6C1D1E13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019" y="3377499"/>
                <a:ext cx="1331954" cy="54684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A5F06CE7-B812-42C7-BEE3-685CA6B4A99A}"/>
              </a:ext>
            </a:extLst>
          </p:cNvPr>
          <p:cNvCxnSpPr>
            <a:cxnSpLocks/>
            <a:stCxn id="12" idx="2"/>
            <a:endCxn id="97" idx="0"/>
          </p:cNvCxnSpPr>
          <p:nvPr/>
        </p:nvCxnSpPr>
        <p:spPr>
          <a:xfrm rot="16200000" flipH="1">
            <a:off x="1321549" y="2771051"/>
            <a:ext cx="386507" cy="826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71A30C16-AA69-4758-9350-6B8F7F5081C5}"/>
              </a:ext>
            </a:extLst>
          </p:cNvPr>
          <p:cNvCxnSpPr>
            <a:cxnSpLocks/>
            <a:stCxn id="8" idx="2"/>
            <a:endCxn id="97" idx="0"/>
          </p:cNvCxnSpPr>
          <p:nvPr/>
        </p:nvCxnSpPr>
        <p:spPr>
          <a:xfrm rot="5400000">
            <a:off x="2137376" y="2781612"/>
            <a:ext cx="386508" cy="8052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23690BC4-D9E1-4D30-8007-6E5B7D171995}"/>
              </a:ext>
            </a:extLst>
          </p:cNvPr>
          <p:cNvSpPr txBox="1"/>
          <p:nvPr/>
        </p:nvSpPr>
        <p:spPr>
          <a:xfrm rot="5400000">
            <a:off x="1527463" y="4093210"/>
            <a:ext cx="851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……</a:t>
            </a:r>
            <a:endParaRPr lang="zh-CN" altLang="en-US" sz="3200" b="1" dirty="0"/>
          </a:p>
        </p:txBody>
      </p: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1904DBFD-B15C-4AC3-BC8F-7FB19783D1F7}"/>
              </a:ext>
            </a:extLst>
          </p:cNvPr>
          <p:cNvCxnSpPr>
            <a:cxnSpLocks/>
            <a:stCxn id="46" idx="3"/>
            <a:endCxn id="93" idx="0"/>
          </p:cNvCxnSpPr>
          <p:nvPr/>
        </p:nvCxnSpPr>
        <p:spPr>
          <a:xfrm flipH="1" flipV="1">
            <a:off x="10067857" y="2184741"/>
            <a:ext cx="889910" cy="3442332"/>
          </a:xfrm>
          <a:prstGeom prst="bentConnector4">
            <a:avLst>
              <a:gd name="adj1" fmla="val -25688"/>
              <a:gd name="adj2" fmla="val 1066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连接符: 肘形 117">
            <a:extLst>
              <a:ext uri="{FF2B5EF4-FFF2-40B4-BE49-F238E27FC236}">
                <a16:creationId xmlns:a16="http://schemas.microsoft.com/office/drawing/2014/main" id="{EE4975EE-50B4-4F5A-8B91-06C2D464AFC9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rot="5400000">
            <a:off x="8703825" y="3128200"/>
            <a:ext cx="234686" cy="1036933"/>
          </a:xfrm>
          <a:prstGeom prst="bentConnector3">
            <a:avLst>
              <a:gd name="adj1" fmla="val 385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C6FD0C0C-09B5-47C9-B971-4F5F1E0B96E4}"/>
              </a:ext>
            </a:extLst>
          </p:cNvPr>
          <p:cNvSpPr txBox="1"/>
          <p:nvPr/>
        </p:nvSpPr>
        <p:spPr>
          <a:xfrm>
            <a:off x="9660592" y="77130"/>
            <a:ext cx="2440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pitchFamily="2" charset="-122"/>
              </a:rPr>
              <a:t>PRL 114, 063004 (2015)</a:t>
            </a:r>
            <a:endParaRPr lang="zh-CN" altLang="en-US" b="1" dirty="0">
              <a:highlight>
                <a:srgbClr val="FFFF00"/>
              </a:highligh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45C4AE-44A2-B097-600E-34E30B6C7B9A}"/>
              </a:ext>
            </a:extLst>
          </p:cNvPr>
          <p:cNvSpPr txBox="1"/>
          <p:nvPr/>
        </p:nvSpPr>
        <p:spPr>
          <a:xfrm>
            <a:off x="6218918" y="5956053"/>
            <a:ext cx="3207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Solve H</a:t>
            </a:r>
          </a:p>
          <a:p>
            <a:r>
              <a:rPr lang="en-US" altLang="zh-CN" b="1" dirty="0"/>
              <a:t>every 10</a:t>
            </a:r>
            <a:r>
              <a:rPr lang="en-US" altLang="zh-CN" b="1" baseline="30000" dirty="0"/>
              <a:t>-16</a:t>
            </a:r>
            <a:r>
              <a:rPr lang="en-US" altLang="zh-CN" b="1" dirty="0"/>
              <a:t> s (</a:t>
            </a:r>
            <a:r>
              <a:rPr lang="en-US" altLang="zh-CN" b="1" dirty="0">
                <a:solidFill>
                  <a:srgbClr val="FF0000"/>
                </a:solidFill>
              </a:rPr>
              <a:t>0.1 femtosecond</a:t>
            </a:r>
            <a:r>
              <a:rPr lang="en-US" altLang="zh-CN" b="1" dirty="0"/>
              <a:t>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DA8FD-7193-E889-6A50-0F38303EC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1251" y="4746428"/>
            <a:ext cx="3430997" cy="86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724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ED499DC-83C6-9ED7-641D-797AB390C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2941" y="118748"/>
            <a:ext cx="3430997" cy="86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707BB2-CDE6-11BE-F364-202C638E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529" y="550390"/>
            <a:ext cx="5439830" cy="27061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A0EB6A-6AEA-C485-8EF9-71E48C667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91" y="1069377"/>
            <a:ext cx="6093177" cy="226047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EDEB91-1A30-2FFA-BA0B-76693A5B5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899" y="3256568"/>
            <a:ext cx="4314825" cy="358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 descr="手机屏幕截图&#10;&#10;AI 生成的内容可能不正确。">
            <a:extLst>
              <a:ext uri="{FF2B5EF4-FFF2-40B4-BE49-F238E27FC236}">
                <a16:creationId xmlns:a16="http://schemas.microsoft.com/office/drawing/2014/main" id="{1F73496B-5C78-F992-9080-77C30A1C8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33" b="4431"/>
          <a:stretch>
            <a:fillRect/>
          </a:stretch>
        </p:blipFill>
        <p:spPr>
          <a:xfrm>
            <a:off x="5659624" y="3528150"/>
            <a:ext cx="6305809" cy="1231900"/>
          </a:xfrm>
          <a:prstGeom prst="rect">
            <a:avLst/>
          </a:prstGeom>
        </p:spPr>
      </p:pic>
      <p:pic>
        <p:nvPicPr>
          <p:cNvPr id="15" name="图片 14" descr="QR 代码&#10;&#10;AI 生成的内容可能不正确。">
            <a:extLst>
              <a:ext uri="{FF2B5EF4-FFF2-40B4-BE49-F238E27FC236}">
                <a16:creationId xmlns:a16="http://schemas.microsoft.com/office/drawing/2014/main" id="{A7ABD8C0-6560-7914-F1CE-0AF959D8F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219" y="4958349"/>
            <a:ext cx="1784140" cy="1826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C5F4531-5897-EA2E-D90A-F512604D0A57}"/>
              </a:ext>
            </a:extLst>
          </p:cNvPr>
          <p:cNvSpPr txBox="1"/>
          <p:nvPr/>
        </p:nvSpPr>
        <p:spPr>
          <a:xfrm>
            <a:off x="6096000" y="5050201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多种计算案例视频教学</a:t>
            </a:r>
            <a:endParaRPr lang="en-US" altLang="zh-CN" dirty="0"/>
          </a:p>
          <a:p>
            <a:r>
              <a:rPr lang="zh-CN" altLang="en-US" dirty="0"/>
              <a:t>涵盖器件、材料、化学、原子物理等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8525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4515</TotalTime>
  <Words>3187</Words>
  <Application>Microsoft Office PowerPoint</Application>
  <PresentationFormat>宽屏</PresentationFormat>
  <Paragraphs>428</Paragraphs>
  <Slides>33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-apple-system</vt:lpstr>
      <vt:lpstr>微软雅黑</vt:lpstr>
      <vt:lpstr>Aptos</vt:lpstr>
      <vt:lpstr>arial</vt:lpstr>
      <vt:lpstr>arial</vt:lpstr>
      <vt:lpstr>Calibri</vt:lpstr>
      <vt:lpstr>Cambria Math</vt:lpstr>
      <vt:lpstr>Times New Roman</vt:lpstr>
      <vt:lpstr>Office 2013 - 2022 主题</vt:lpstr>
      <vt:lpstr>固体物理（2班） Solid-State Physics</vt:lpstr>
      <vt:lpstr>密度泛函理论</vt:lpstr>
      <vt:lpstr>预测电子结构的强力工具——密度泛函理论 (DFT)</vt:lpstr>
      <vt:lpstr>DFT是一个非常活跃的研究领域</vt:lpstr>
      <vt:lpstr>Independent-electron approximation</vt:lpstr>
      <vt:lpstr>Independent-electron approximation</vt:lpstr>
      <vt:lpstr>Independent-electron approximation</vt:lpstr>
      <vt:lpstr>Independent-electron approximation</vt:lpstr>
      <vt:lpstr>电子-电子作用的复杂性：指数灾难</vt:lpstr>
      <vt:lpstr>Hartree方法</vt:lpstr>
      <vt:lpstr>PowerPoint 演示文稿</vt:lpstr>
      <vt:lpstr>PowerPoint 演示文稿</vt:lpstr>
      <vt:lpstr>PowerPoint 演示文稿</vt:lpstr>
      <vt:lpstr>Hartree项、交换项、还有什么？</vt:lpstr>
      <vt:lpstr>Kohn-Sham方程</vt:lpstr>
      <vt:lpstr>密度泛函理论 (density functional theory)</vt:lpstr>
      <vt:lpstr>密度泛函理论 (density functional theory)</vt:lpstr>
      <vt:lpstr>具体的泛函形式？</vt:lpstr>
      <vt:lpstr>能量的泛函形式</vt:lpstr>
      <vt:lpstr>Kohn-Sham方程</vt:lpstr>
      <vt:lpstr>交换关联函数</vt:lpstr>
      <vt:lpstr>PowerPoint 演示文稿</vt:lpstr>
      <vt:lpstr>KS方程的自洽求解</vt:lpstr>
      <vt:lpstr>DFT的优点</vt:lpstr>
      <vt:lpstr>KS方程的平面波展开</vt:lpstr>
      <vt:lpstr>KS方程的平面波展开</vt:lpstr>
      <vt:lpstr>赝势法 (pseudopotential)</vt:lpstr>
      <vt:lpstr>赝势法</vt:lpstr>
      <vt:lpstr>超快光致相变</vt:lpstr>
      <vt:lpstr>高次谐波与阿秒脉冲</vt:lpstr>
      <vt:lpstr>超快退磁与自旋动力学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2026-10-13T11:43:58Z</dcterms:modified>
</cp:coreProperties>
</file>